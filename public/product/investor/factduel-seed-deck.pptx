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All three are on the page, so nobody has to go looking for them.</a:t>
            </a:r>
          </a:p>
          <a:p/>
          <a:p>
            <a:r>
              <a:t>The product runs the entire game in a browser with no install and no account since 13 September 2026 (numbers.md §7.2) — a static build served from the repository's own Pages workflow, and it is live once the repository owner has pointed Pages at the gh-pages branch. Confirm the link resolves before the deck is sent, and again the morning of a meeting; do not assume it. A complete bot duel takes about fifteen seconds. The static build carries bot duels in all three modes; two-device friend duels genuinely need a server and are disabled in that build, with an on-screen notice saying so — which is why the headline and the first line both say bot rather than promising a head-to-head match. Slide 5 has the full boundary list. Publishing the link changes nothing about the zeroes: no accounts, no users, no revenue.</a:t>
            </a:r>
          </a:p>
          <a:p/>
          <a:p>
            <a:r>
              <a:t>If they want the ask math before slide 13: 4 engineers x $15,000/month x 18 months = $1,080,000, rounded to a raise of about $1.2M, inside YC's $500k-$1.5M band (numbers.md §4.5). YC's own worked example is five engineers; the four-engineer headcount is ours, and the $15k is YC's undated editorial rule of thumb, very likely understated today — that caveat is on slide 13 and should be volunteered, not defended.</a:t>
            </a:r>
          </a:p>
          <a:p/>
          <a:p>
            <a:r>
              <a:t>A duel is designed as a 3-4 minute unit, set against GameAnalytics' estimated 3.1-3.5 minute median mobile session (CY2025, iOS and Android app-store installs, not web; North America 3.64 minutes — numbers.md §3.2). That is a design target, never a measured FACT//DUEL session length: we have never measured one (§5.15). The claim itself stays in the body of slide 4.</a:t>
            </a:r>
          </a:p>
          <a:p/>
          <a:p>
            <a:r>
              <a:t>Add founder name and contact details before sending; do not add anything else.</a:t>
            </a:r>
          </a:p>
          <a:p/>
          <a:p>
            <a:r>
              <a:t>SOURCES: slide 1's existing seven sources carry forward unchanged, plus one new entry — "FACT//DUEL internal: public/product/investor/numbers.md §4.4 and §4.5 (company disclosure)" — because body lines 3-4 now rest on §4.5 (the ask arithmetic) and §4.4 milestones 2-3 (the cohort target).</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GameAnalytics' 2026 benchmark set — 16,000+ mobile games, nine regions, iOS and Android, calendar year 2025 — estimates the median session at 3.1-3.5 minutes and North America at 3.64 minutes across 4.23 sessions a day (numbers.md §3.2). Slide 1's notes carry the 3.1-3.5 median; the 3.64 North America figure and the app-store-not-web qualifier live only here, so say both out loud if the session benchmark comes up. A duel is designed as a 3-4 minute unit against that estimate — a design target, not a FACT//DUEL measurement. Every one of those benchmarks is measured on app-store installs while we are a browser product with no install step: numbers.md §5.14 calls that the single largest methodological risk in the model, and slide 11 carries it as a named risk. Since 13 September 2026 the app records session count and engaged time per device (lib/analytics.mjs, §7.1), so the absence of our own session length is missing players, not a missing instrument.</a:t>
            </a:r>
          </a:p>
          <a:p/>
          <a:p>
            <a:r>
              <a:t>The full loop, all of it product description read off our own repository and none of it audited: XP and levels, day streaks, daily quests, achievements, a device-local rank, gems, cosmetics (lib/progression.mjs). None of it carries a measured retention benefit. Do not attach one to any mechanic.</a:t>
            </a:r>
          </a:p>
          <a:p/>
          <a:p>
            <a:r>
              <a:t>The Duolingo comparison is bounded: §1.6 is the section that calls that streak/XP/quest loop mechanically identical in shape to ours, and §1.1 is the $1,037.6M ÷ 133.1M MAU anchor. Cosmetics is ours and is deliberately not claimed as part of that anchor.</a:t>
            </a:r>
          </a:p>
          <a:p/>
          <a:p>
            <a:r>
              <a:t>Solo expeditions and a static event calendar are intended to cover the days when nobody wants a live opponent; that claim, and everything that can be checked about it, is on slide 5.</a:t>
            </a:r>
          </a:p>
          <a:p/>
          <a:p>
            <a:r>
              <a:t>§2.3 concludes the comparables died of monetisation and long-tail retention rather than distribution. Sequencing is our response to that, and it is untested: nothing in the evidence base shows that deferring monetisation avoids this category's failure mode. "Zero revenue" is an absence caused by having no users, never a decision to decline revenue — only the sequencing is a choice.</a:t>
            </a:r>
          </a:p>
          <a:p/>
          <a:p>
            <a:r>
              <a:t>Files an investor can open for the product description: lib/progression.mjs, lib/expeditions.mjs, lib/events-data.mjs, app/screens/play/opponent-picker.tsx.</a:t>
            </a:r>
          </a:p>
          <a:p/>
          <a:p>
            <a:r>
              <a:t>SOURCES — REQUIRED ADDITION: because Duolingo is now named on the slide face, this slide's sources array must gain https://www.sec.gov/Archives/edgar/data/1562088/000162828026012246/q4fy25duolingo12-31x25shar.htm and "FACT//DUEL internal: public/product/investor/numbers.md §1.1 and §1.6 (company disclosure)". Without it the on-face Duolingo reference is unsourced.</a:t>
            </a:r>
          </a:p>
          <a:p/>
          <a:p>
            <a:r>
              <a:t>IMAGE: recommend dropping the uncaptioned phone-arena.png. Hale's nine named distractions include "photos with no titles or captions"; the arena shots are already carried with captions in deck.md, and slides 5 and 19 carry the product shots.</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"FACT//DUEL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FACT//DUEL bar because there is no FACT//DUEL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Longest-dwell slide in a seed deck at 64 seconds in DocSend's estimates, so it is the densest page here and the one to rehearse hardest. The argument in one breath: the category does monetise, just not as consumer trivia IAP.</a:t>
            </a:r>
          </a:p>
          <a:p/>
          <a:p>
            <a:r>
              <a:t>Say the chart's caveat out loud before anyone asks, because the chart annualises. The $5.33M bar is the $102.5K weekly peak times 52, and that is the strongest possible form of the number. The weekly figures on the slide are the honest ones: Sensor Tower's Q2 2025 US iOS estimates put Kahoot at a $38.5K/week peak in mid-June falling to $28.2K, Trivia Crack Premium at about $33K, GeoGuessr at $31K falling to $28.7K. Stack the peaks and it is about $102.5K a week; on quarter-end values about $90K. These are modelled estimates of gross consumer spend before Apple's 15-30% commission — not audited and not company-reported revenue — and they are more than a year old. Do not annualise the stacked peak as a run rate. Full figures and both readings of the gap are on appendix slide 14 (§1.6).</a:t>
            </a:r>
          </a:p>
          <a:p/>
          <a:p>
            <a:r>
              <a:t>If challenged on Kahoot as a counter-example: Kahoot collected $146.0M in FY2022 at a 95% gross margin, but through per-presenter B2B and education subscriptions at $19-$79 a month. That is not a consumer habit subscription and must not be presented as one. FY2022 is its last comparable year — it went private on 23 Jan 2024 and has published no audited consolidated group figures since, and the parent-only Norwegian statutory accounts are not group results.</a:t>
            </a:r>
          </a:p>
          <a:p/>
          <a:p>
            <a:r>
              <a:t>On Duolingo, keep the two periods apart: $1,037.6M is FY2025 total revenue; the 12.7M of 140.6M MAU (9.03%) is a 30 June 2026 snapshot (§2.1). The FY2025 pair is 12.2M of 133.1M (9.17%). Neither ratio is filed as a ratio — both are our own arithmetic on separately disclosed subscriber and MAU counts.</a:t>
            </a:r>
          </a:p>
          <a:p/>
          <a:p>
            <a:r>
              <a:t>The cross-check is the point of the slide and it argues against us: at base-case Year-3 MAU of 105,900 (P), a Duolingo-rate subscription at Sporcle's $43.99/yr Orange individual price yields $420,666 (P) while our install-economics model yields $1,630,517 (P) — a 3.88x divergence, which is why §4.3 and §1.5 require the base-case Year-3 band to be presented as $0.4M-$1.6M (P) and not $1.6M. Note the scope: that band is the base case only. Conservative Y3 is $92,202 / $85,570 and optimistic Y3 is $7,560,784 / $1,436,647, both outside it. In the conservative case the two routes land within 8% of each other, which is the reason to trust the conservative case and distrust the base case.</a:t>
            </a:r>
          </a:p>
          <a:p/>
          <a:p>
            <a:r>
              <a:t>Two ceilings to state before being asked: base-case revenue per MAU of $15.40/yr (P) already exceeds both real anchors (MAG $13.07, Duolingo $7.80), and break-even blended cost per install is $1.36 (P) in the base case against Trivia Royale's sourced $0.20 or less — necessary, and demonstrably not sufficient.</a:t>
            </a:r>
          </a:p>
          <a:p/>
          <a:p>
            <a:r>
              <a:t>We have no verified CAC or genre ARPDAU benchmark and we will not quote one. All scenario figures are (P): plans built on third-party benchmarks with zero company data behind them, and the Year-3 install volume and the 20% monthly churn are flagged in §4.2 as chosen assumptions with no source at all.</a:t>
            </a:r>
          </a:p>
          <a:p/>
          <a:p>
            <a:r>
              <a:t>SOURCES</a:t>
            </a:r>
          </a:p>
          <a:p>
            <a:r>
              <a:t>- https://sensortower.com/blog/2025-q2-ios-top-5-trivia%20games-revenue-us-604118ed241bc16eb8b8453a</a:t>
            </a:r>
          </a:p>
          <a:p>
            <a:r>
              <a:t>- https://www.sec.gov/Archives/edgar/data/1562088/000162828026012246/q4fy25duolingo12-31x25shar.htm</a:t>
            </a:r>
          </a:p>
          <a:p>
            <a:r>
              <a:t>- https://www.sec.gov/Archives/edgar/data/1562088/000162828026053603/duol-20260630.htm</a:t>
            </a:r>
          </a:p>
          <a:p>
            <a:r>
              <a:t>- https://www.sec.gov/Archives/edgar/data/1562088/000162828026053299/q2fy26duolingo6-30x26share.htm</a:t>
            </a:r>
          </a:p>
          <a:p>
            <a:r>
              <a:t>- https://kahoot.com/files/2023/02/4Q22_Kahoot_quarterly_report.pdf</a:t>
            </a:r>
          </a:p>
          <a:p>
            <a:r>
              <a:t>- https://www.sporcle.com/memberships/</a:t>
            </a:r>
          </a:p>
          <a:p>
            <a:r>
              <a:t>- https://www.appsflyer.com/resources/reports/app-marketing-monetization-report/</a:t>
            </a:r>
          </a:p>
          <a:p>
            <a:r>
              <a:t>- https://www.gameanalytics.com/reports/2026-mobile-pc-gaming-benchmarks</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risk has a named response rather than a reassurance.</a:t>
            </a:r>
          </a:p>
          <a:p/>
          <a:p>
            <a:r>
              <a:t>Long-tail retention: at a median D30 of 0.68-0.79% a game's MAU is almost entirely the current month's new installs — in our own base case the retained resident base is 5,900 of 105,900 MAU (P), 5.6% — so retention is not a metric in this category, it is the business, and that is why the entire raise is pointed at it. The 0.68-0.79% band is GameAnalytics' global all-genre median, not trivia-specific; the model's base case uses the North American 1.18%. Trivia Royale's 45% D1 is a company statement to TechCrunch, not audited, and its closure was announced on 23 Feb 2021 (§2.3).</a:t>
            </a:r>
          </a:p>
          <a:p/>
          <a:p>
            <a:r>
              <a:t>Opponent integrity: the $42.9M award was a jury verdict for willful infringement of a Skillz platform patent, not damages awarded for running bots — the bots named 'Cucumbers' and 'Guides' were trial evidence — and it is a verdict rather than a collected settlement. Our answer is milestone 5 in §4.4: an opponent-integrity answer ships before monetisation. Do not describe bot internals an investor cannot verify in the repository.</a:t>
            </a:r>
          </a:p>
          <a:p/>
          <a:p>
            <a:r>
              <a:t>Benchmark transfer is the largest methodological risk in the whole model and is stated rather than buried: we have no verified benchmark for web-first game retention, web-first acquisition cost or web-first payer conversion; §7.3 confirms §5.14 stands unchanged; and the cohort the round buys is what replaces the assumption with data — our own instrument is now the route to a web-first number rather than a request for one. Note the scope: it is every benchmark in §3. Duolingo's 9.03% MAU-to-paid and Sporcle's $43.99/yr web price are not store-measured.</a:t>
            </a:r>
          </a:p>
          <a:p/>
          <a:p>
            <a:r>
              <a:t>Measurement selection is a risk we raise against ourselves: the cohort report is built on an opt-in anonymous daily ping (§7.1), so its denominator is devices that consented, and the honest presentation of the first cohort number names the consent rate next to the retention rate. Do not offer a correction factor — we have no evidence base for one. Say the countervailing design choices in the same breath: aggregate-only reporting, no per-device row, and suppression of any bucket describing fewer than five devices; appendix G (slide 20) documents them.</a:t>
            </a:r>
          </a:p>
          <a:p/>
          <a:p>
            <a:r>
              <a:t>Content depth: there is no separate content budget in §4.5, which funds four engineers and nothing else, and §4.4 milestone 4 still requires us to set a target and a production rate.</a:t>
            </a:r>
          </a:p>
          <a:p/>
          <a:p>
            <a:r>
              <a:t>If an investor adds a risk we have not listed, that is a good outcome — write it down and answer it in the follow-up, not on the spot.</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only because someone asked for it. a16z lists detailed three-to-five-year projections among the things not to include, wants 12-18 month milestones instead, and its anchoring rule cannot even be satisfied here because we have no historical data to anchor to — which is itself the most honest sentence on the page.</a:t>
            </a:r>
          </a:p>
          <a:p/>
          <a:p>
            <a:r>
              <a:t>Inputs, all third-party: D30 retention of 0.68% / 1.18% / 1.70% (global median low, North American median, global P75 from GameAnalytics); install-to-payer of 5.08% / 11.14% / 18.46% (AppsFlyer NA repeat payer, NA one-time payer, and a derived $1.34/$7.26 ratio used only as an optimistic ceiling and labelled derived); ARPPU held at AppsFlyer's casual D90 $7.26 in all three; ad revenue per install $0.00 in the conservative case because we are a web app with no mediation stack today. Monthly churn of the retained base is fixed at 20% across all scenarios — an unsourced modelling assumption, held constant so it cannot flatter any scenario.</a:t>
            </a:r>
          </a:p>
          <a:p/>
          <a:p>
            <a:r>
              <a:t>Three stress tests all point the same way: the conservative case is genuinely conservative, and the base case is not. Base-case revenue per MAU of $15.40 exceeds both real anchors (MAG $13.07, Duolingo $7.80), so any scenario that out-monetises Duolingo per active user is a ceiling and not a target. Per-MAU revenue also looks high partly because high churn makes annual installs about 11x steady-state MAU — throughput, not intensity.</a:t>
            </a:r>
          </a:p>
          <a:p/>
          <a:p>
            <a:r>
              <a:t>STRUCTURE: kind "appendix", chart "scenarios", the three-row scenario table and all seven sources carry forward.</a:t>
            </a:r>
          </a:p>
          <a:p/>
          <a:p>
            <a:r>
              <a:t>SOURCES</a:t>
            </a:r>
          </a:p>
          <a:p>
            <a:r>
              <a:t>- https://www.gameanalytics.com/reports/2026-mobile-pc-gaming-benchmarks</a:t>
            </a:r>
          </a:p>
          <a:p>
            <a:r>
              <a:t>- https://www.appsflyer.com/resources/reports/app-marketing-monetization-report/</a:t>
            </a:r>
          </a:p>
          <a:p>
            <a:r>
              <a:t>- https://www.sec.gov/Archives/edgar/data/1562088/000162828026053299/q2fy26duolingo6-30x26share.htm</a:t>
            </a:r>
          </a:p>
          <a:p>
            <a:r>
              <a:t>- https://www.sporcle.com/memberships/</a:t>
            </a:r>
          </a:p>
          <a:p>
            <a:r>
              <a:t>- https://techcrunch.com/2020/07/10/how-thor-fridrikssons-trivia-royale-earned-2-5m-downloads-in-3-weeks/</a:t>
            </a:r>
          </a:p>
          <a:p>
            <a:r>
              <a:t>- https://a16z.com/the-insiders-guide-to-data-rooms-what-to-know-before-you-raise/</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the events calendar and the limited modes.</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bank is 54 sample questions,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10-K — Glu Mobile FY2016 (QuizUp mark)</a:t>
            </a:r>
          </a:p>
          <a:p>
            <a:r>
              <a:t>  https://www.sec.gov/Archives/edgar/data/1366246/000155837017001621/gluu-20161231x10k.htm</a:t>
            </a:r>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Sensor Tower — Q2 2025 US iOS trivia revenue (est.)</a:t>
            </a:r>
          </a:p>
          <a:p>
            <a:r>
              <a:t>  https://sensortower.com/blog/2025-q2-ios-top-5-trivia%20games-revenue-us-604118ed241bc16eb8b8453a</a:t>
            </a:r>
          </a:p>
          <a:p>
            <a:r>
              <a:t>- SEC — Duolingo Q2 FY2026 10-Q (user counts at 30 Jun 2026)</a:t>
            </a:r>
          </a:p>
          <a:p>
            <a:r>
              <a:t>  https://www.sec.gov/Archives/edgar/data/1562088/000162828026053603/duol-20260630.htm</a:t>
            </a:r>
          </a:p>
          <a:p>
            <a:r>
              <a:t>- SEC — Duolingo Q2 FY2026 shareholder letter</a:t>
            </a:r>
          </a:p>
          <a:p>
            <a:r>
              <a:t>  https://www.sec.gov/Archives/edgar/data/1562088/000162828026053299/q2fy26duolingo6-30x26share.htm</a:t>
            </a:r>
          </a:p>
          <a:p>
            <a:r>
              <a:t>- Kahoot! — Q4 2022 quarterly report</a:t>
            </a:r>
          </a:p>
          <a:p>
            <a:r>
              <a:t>  https://kahoot.com/files/2023/02/4Q22_Kahoot_quarterly_report.pdf</a:t>
            </a:r>
          </a:p>
          <a:p>
            <a:r>
              <a:t>- Sporcle — Orange membership pricing</a:t>
            </a:r>
          </a:p>
          <a:p>
            <a:r>
              <a:t>  https://www.sporcle.com/memberships/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AppsFlyer — State of App Monetization 2026</a:t>
            </a:r>
          </a:p>
          <a:p>
            <a:r>
              <a:t>  https://www.appsflyer.com/resources/reports/app-marketing-monetization-report/</a:t>
            </a:r>
          </a:p>
          <a:p>
            <a:r>
              <a:t>- FACT//DUEL internal — numbers.md §4.1-§4.3</a:t>
            </a:r>
          </a:p>
          <a:p>
            <a:r>
              <a:t>  FACT//DUEL internal: public/product/investor/numbers.md §4.1-§4.3</a:t>
            </a:r>
          </a:p>
          <a:p>
            <a:r>
              <a:t>- Google Play — Kahoot! listing</a:t>
            </a:r>
          </a:p>
          <a:p>
            <a:r>
              <a:t>  https://play.google.com/store/apps/details?id=no.mobitroll.kahoot.android&amp;hl=en_US&amp;gl=US</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a:p>
            <a:r>
              <a:t>- The Business Research Company — fan engagement</a:t>
            </a:r>
          </a:p>
          <a:p>
            <a:r>
              <a:t>  https://www.thebusinessresearchcompany.com/report/fan-engagement-global-market-report</a:t>
            </a:r>
          </a:p>
          <a:p>
            <a:r>
              <a:t>- market.us — fan engagement market</a:t>
            </a:r>
          </a:p>
          <a:p>
            <a:r>
              <a:t>  https://market.us/report/fan-engagement-market/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a16z — The Insider's Guide to Data Rooms</a:t>
            </a:r>
          </a:p>
          <a:p>
            <a:r>
              <a:t>  https://a16z.com/the-insiders-guide-to-data-rooms-what-to-know-before-you-raise/</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FACT</a:t>
            </a:r>
            <a:r>
              <a:rPr sz="6200" b="1" i="0" spc="50">
                <a:solidFill>
                  <a:srgbClr val="D4FF3A"/>
                </a:solidFill>
                <a:latin typeface="Arial"/>
              </a:rPr>
              <a:t>//</a:t>
            </a:r>
            <a:r>
              <a:rPr sz="6200" b="1" i="0" spc="50">
                <a:solidFill>
                  <a:srgbClr val="F7F6EF"/>
                </a:solidFill>
                <a:latin typeface="Arial"/>
              </a:rPr>
              <a:t>DUEL</a:t>
            </a:r>
          </a:p>
          <a:p>
            <a:pPr>
              <a:lnSpc>
                <a:spcPct val="108000"/>
              </a:lnSpc>
              <a:spcBef>
                <a:spcPts val="1400"/>
              </a:spcBef>
            </a:pPr>
            <a:r>
              <a:rPr sz="2600" b="1" i="0">
                <a:solidFill>
                  <a:srgbClr val="D4FF3A"/>
                </a:solidFill>
                <a:latin typeface="Arial"/>
              </a:rPr>
              <a:t>A 1v1 sports-and-science trivia duel,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281432"/>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sports-and-science trivia duel: habit loop first, retention proof next, business last.</a:t>
            </a:r>
          </a:p>
        </p:txBody>
      </p:sp>
      <p:sp>
        <p:nvSpPr>
          <p:cNvPr id="5" name="TextBox 4"/>
          <p:cNvSpPr txBox="1"/>
          <p:nvPr/>
        </p:nvSpPr>
        <p:spPr>
          <a:xfrm>
            <a:off x="566928" y="3865880"/>
            <a:ext cx="9960559" cy="1273048"/>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Play a full bot duel on a phone or laptop: https://occult-kranti.github.io/fact-duel/ — no install, no account, no server.</a:t>
            </a:r>
          </a:p>
          <a:p>
            <a:pPr marL="255604" indent="-255604">
              <a:lnSpc>
                <a:spcPct val="116000"/>
              </a:lnSpc>
              <a:spcBef>
                <a:spcPts val="825"/>
              </a:spcBef>
              <a:buClr>
                <a:srgbClr val="D4FF3A"/>
              </a:buClr>
              <a:buFont typeface="Arial"/>
              <a:buChar char="—"/>
            </a:pPr>
            <a:r>
              <a:rPr sz="1500" b="0" i="0">
                <a:solidFill>
                  <a:srgbClr val="F7F6EF"/>
                </a:solidFill>
                <a:latin typeface="Arial"/>
              </a:rPr>
              <a:t>Zero users outside a private playtest. Zero revenue. 54 sample questions.</a:t>
            </a:r>
          </a:p>
          <a:p>
            <a:pPr marL="255604" indent="-255604">
              <a:lnSpc>
                <a:spcPct val="116000"/>
              </a:lnSpc>
              <a:spcBef>
                <a:spcPts val="825"/>
              </a:spcBef>
              <a:buClr>
                <a:srgbClr val="D4FF3A"/>
              </a:buClr>
              <a:buFont typeface="Arial"/>
              <a:buChar char="—"/>
            </a:pPr>
            <a:r>
              <a:rPr sz="1500" b="0" i="0">
                <a:solidFill>
                  <a:srgbClr val="F7F6EF"/>
                </a:solidFill>
                <a:latin typeface="Arial"/>
              </a:rPr>
              <a:t>Raising about </a:t>
            </a:r>
            <a:r>
              <a:rPr sz="1500" b="0" i="0">
                <a:solidFill>
                  <a:srgbClr val="FFC83D"/>
                </a:solidFill>
                <a:latin typeface="Arial"/>
              </a:rPr>
              <a:t>$1.2M</a:t>
            </a:r>
            <a:r>
              <a:rPr sz="1500" b="0" i="0">
                <a:solidFill>
                  <a:srgbClr val="F7F6EF"/>
                </a:solidFill>
                <a:latin typeface="Arial"/>
              </a:rPr>
              <a:t> </a:t>
            </a:r>
            <a:r>
              <a:rPr sz="1500" b="1" i="0">
                <a:solidFill>
                  <a:srgbClr val="4EE1FF"/>
                </a:solidFill>
                <a:latin typeface="Arial"/>
              </a:rPr>
              <a:t>(P)</a:t>
            </a:r>
            <a:r>
              <a:rPr sz="1500" b="0" i="0">
                <a:solidFill>
                  <a:srgbClr val="F7F6EF"/>
                </a:solidFill>
                <a:latin typeface="Arial"/>
              </a:rPr>
              <a:t> for 18 months to buy the retention data this deck does not have.</a:t>
            </a:r>
          </a:p>
          <a:p>
            <a:pPr marL="255604" indent="-255604">
              <a:lnSpc>
                <a:spcPct val="116000"/>
              </a:lnSpc>
              <a:spcBef>
                <a:spcPts val="825"/>
              </a:spcBef>
              <a:buClr>
                <a:srgbClr val="D4FF3A"/>
              </a:buClr>
              <a:buFont typeface="Arial"/>
              <a:buChar char="—"/>
            </a:pPr>
            <a:r>
              <a:rPr sz="1500" b="0" i="0">
                <a:solidFill>
                  <a:srgbClr val="F7F6EF"/>
                </a:solidFill>
                <a:latin typeface="Arial"/>
              </a:rPr>
              <a:t>What that buys: a published D1/D7/D30 cohort of 1,000+ players (numbers.md §4.4).</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FACT//DUEL has no users outside a private playtest and no revenue.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bet is sequencing: build the habit loop, prove retention, then monetise.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the gate. Monetisation is downstream of a number we do not have.</a:t>
            </a:r>
          </a:p>
          <a:p>
            <a:pPr marL="306731" indent="-306731">
              <a:lnSpc>
                <a:spcPct val="116000"/>
              </a:lnSpc>
              <a:spcBef>
                <a:spcPts val="990"/>
              </a:spcBef>
              <a:buClr>
                <a:srgbClr val="D4FF3A"/>
              </a:buClr>
              <a:buFont typeface="Arial"/>
              <a:buChar char="—"/>
            </a:pPr>
            <a:r>
              <a:rPr sz="1800" b="0" i="0">
                <a:solidFill>
                  <a:srgbClr val="F7F6EF"/>
                </a:solidFill>
                <a:latin typeface="Arial"/>
              </a:rPr>
              <a:t>Around the duel, product description rather than audited fact: XP, streaks, quests, cosmetics — copying the streak/XP/quest shape Duolingo monetises (§1.1, §1.6).</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for the duel or any mechanic around it (numbers.md §5.15, §7.1).</a:t>
            </a:r>
          </a:p>
          <a:p>
            <a:pPr marL="306731" indent="-306731">
              <a:lnSpc>
                <a:spcPct val="116000"/>
              </a:lnSpc>
              <a:spcBef>
                <a:spcPts val="990"/>
              </a:spcBef>
              <a:buClr>
                <a:srgbClr val="D4FF3A"/>
              </a:buClr>
              <a:buFont typeface="Arial"/>
              <a:buChar char="—"/>
            </a:pPr>
            <a:r>
              <a:rPr sz="1800" b="0" i="0">
                <a:solidFill>
                  <a:srgbClr val="F7F6EF"/>
                </a:solidFill>
                <a:latin typeface="Arial"/>
              </a:rPr>
              <a:t>Zero revenue today (status paragraph, §5.15). Monetisation is sequenced last by choice; nothing in our evidence base proves that choice works.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Open https://occult-kranti.github.io/fact-duel/ on a phone: the static build runs the entire game in a browser, keeping the real duel engine.</a:t>
            </a:r>
          </a:p>
          <a:p>
            <a:pPr marL="255604" indent="-255604">
              <a:lnSpc>
                <a:spcPct val="116000"/>
              </a:lnSpc>
              <a:spcBef>
                <a:spcPts val="825"/>
              </a:spcBef>
              <a:buClr>
                <a:srgbClr val="D4FF3A"/>
              </a:buClr>
              <a:buFont typeface="Arial"/>
              <a:buChar char="—"/>
            </a:pPr>
            <a:r>
              <a:rPr sz="1500" b="0" i="0">
                <a:solidFill>
                  <a:srgbClr val="F7F6EF"/>
                </a:solidFill>
                <a:latin typeface="Arial"/>
              </a:rPr>
              <a:t>Two-device friend duels need a server and are disabled in that build, with an on-screen notice.</a:t>
            </a:r>
          </a:p>
          <a:p>
            <a:pPr marL="255604" indent="-255604">
              <a:lnSpc>
                <a:spcPct val="116000"/>
              </a:lnSpc>
              <a:spcBef>
                <a:spcPts val="825"/>
              </a:spcBef>
              <a:buClr>
                <a:srgbClr val="D4FF3A"/>
              </a:buClr>
              <a:buFont typeface="Arial"/>
              <a:buChar char="—"/>
            </a:pPr>
            <a:r>
              <a:rPr sz="1500" b="0" i="0">
                <a:solidFill>
                  <a:srgbClr val="F7F6EF"/>
                </a:solidFill>
                <a:latin typeface="Arial"/>
              </a:rPr>
              <a:t>Between duels: solo expedition routes and a hand-checked static event calendar — no live feed, no scores API, no rights deal.</a:t>
            </a:r>
          </a:p>
          <a:p>
            <a:pPr marL="255604" indent="-255604">
              <a:lnSpc>
                <a:spcPct val="116000"/>
              </a:lnSpc>
              <a:spcBef>
                <a:spcPts val="825"/>
              </a:spcBef>
              <a:buClr>
                <a:srgbClr val="D4FF3A"/>
              </a:buClr>
              <a:buFont typeface="Arial"/>
              <a:buChar char="—"/>
            </a:pPr>
            <a:r>
              <a:rPr sz="1500" b="0" i="0">
                <a:solidFill>
                  <a:srgbClr val="F7F6EF"/>
                </a:solidFill>
                <a:latin typeface="Arial"/>
              </a:rPr>
              <a:t>The practice opponent carries a BOT badge (app/screens/play/opponent-picker.tsx); a full integrity answer is milestone 5 (§4.4), before monetisation.</a:t>
            </a:r>
          </a:p>
          <a:p>
            <a:pPr marL="255604" indent="-255604">
              <a:lnSpc>
                <a:spcPct val="116000"/>
              </a:lnSpc>
              <a:spcBef>
                <a:spcPts val="825"/>
              </a:spcBef>
              <a:buClr>
                <a:srgbClr val="D4FF3A"/>
              </a:buClr>
              <a:buFont typeface="Arial"/>
              <a:buChar char="—"/>
            </a:pPr>
            <a:r>
              <a:rPr sz="1500" b="0" i="0">
                <a:solidFill>
                  <a:srgbClr val="F7F6EF"/>
                </a:solidFill>
                <a:latin typeface="Arial"/>
              </a:rPr>
              <a:t>Playable is not traction: no users outside a private playtest, no revenue, 54 sample questions,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55604" indent="-255604">
              <a:lnSpc>
                <a:spcPct val="116000"/>
              </a:lnSpc>
              <a:buClr>
                <a:srgbClr val="D4FF3A"/>
              </a:buClr>
              <a:buFont typeface="Arial"/>
              <a:buChar char="—"/>
            </a:pPr>
            <a:r>
              <a:rPr sz="1500" b="0" i="0">
                <a:solidFill>
                  <a:srgbClr val="F7F6EF"/>
                </a:solidFill>
                <a:latin typeface="Arial"/>
              </a:rPr>
              <a:t>Shipped 13 Sep 2026, tested: per-device D1/D7/D30 returns a boolean, never a rate (numbers.md §7.1; Appendix G).</a:t>
            </a:r>
          </a:p>
          <a:p>
            <a:pPr marL="255604" indent="-255604">
              <a:lnSpc>
                <a:spcPct val="116000"/>
              </a:lnSpc>
              <a:spcBef>
                <a:spcPts val="825"/>
              </a:spcBef>
              <a:buClr>
                <a:srgbClr val="D4FF3A"/>
              </a:buClr>
              <a:buFont typeface="Arial"/>
              <a:buChar char="—"/>
            </a:pPr>
            <a:r>
              <a:rPr sz="1500" b="0" i="0">
                <a:solidFill>
                  <a:srgbClr val="F7F6EF"/>
                </a:solidFill>
                <a:latin typeface="Arial"/>
              </a:rPr>
              <a:t>Also shipped: opt-in anonymous cohort ping, aggregate-only, buckets under five devices suppressed. A rate becomes computable the day there are players.</a:t>
            </a:r>
          </a:p>
          <a:p>
            <a:pPr marL="255604" indent="-255604">
              <a:lnSpc>
                <a:spcPct val="116000"/>
              </a:lnSpc>
              <a:spcBef>
                <a:spcPts val="825"/>
              </a:spcBef>
              <a:buClr>
                <a:srgbClr val="D4FF3A"/>
              </a:buClr>
              <a:buFont typeface="Arial"/>
              <a:buChar char="—"/>
            </a:pPr>
            <a:r>
              <a:rPr sz="1500" b="0" i="0">
                <a:solidFill>
                  <a:srgbClr val="F7F6EF"/>
                </a:solidFill>
                <a:latin typeface="Arial"/>
              </a:rPr>
              <a:t>Milestone 1 was accounts; measurement landed without them. Milestones 1-2 are de-risked, not done — accounts remain unbuilt.</a:t>
            </a:r>
          </a:p>
          <a:p>
            <a:pPr marL="255604" indent="-255604">
              <a:lnSpc>
                <a:spcPct val="116000"/>
              </a:lnSpc>
              <a:spcBef>
                <a:spcPts val="825"/>
              </a:spcBef>
              <a:buClr>
                <a:srgbClr val="D4FF3A"/>
              </a:buClr>
              <a:buFont typeface="Arial"/>
              <a:buChar char="—"/>
            </a:pPr>
            <a:r>
              <a:rPr sz="1500" b="0" i="0">
                <a:solidFill>
                  <a:srgbClr val="F7F6EF"/>
                </a:solidFill>
                <a:latin typeface="Arial"/>
              </a:rPr>
              <a:t>Milestone 2: publish D1/D7/D30 against GameAnalytics NA medians 23.28%/4.97%/1.18% (third-party estimates, 16,000+ mobile games, iOS and Android, CY2025).</a:t>
            </a:r>
          </a:p>
          <a:p>
            <a:pPr marL="255604" indent="-255604">
              <a:lnSpc>
                <a:spcPct val="116000"/>
              </a:lnSpc>
              <a:spcBef>
                <a:spcPts val="825"/>
              </a:spcBef>
              <a:buClr>
                <a:srgbClr val="D4FF3A"/>
              </a:buClr>
              <a:buFont typeface="Arial"/>
              <a:buChar char="—"/>
            </a:pPr>
            <a:r>
              <a:rPr sz="150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We model on Duolingo's habit-subscription economics, not consumer trivia IAP.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Sensor Tower — Q2 2025 US iOS trivia revenue (est.)  ·  SEC — Duolingo FY2025 shareholder letter  ·  SEC — Duolingo Q2 FY2026 10-Q (user counts at 30 Jun 2026)</a:t>
            </a:r>
          </a:p>
          <a:p>
            <a:pPr>
              <a:lnSpc>
                <a:spcPct val="115000"/>
              </a:lnSpc>
            </a:pPr>
            <a:r>
              <a:rPr sz="800" b="0" i="0">
                <a:solidFill>
                  <a:srgbClr val="A6ADBA"/>
                </a:solidFill>
                <a:latin typeface="Arial"/>
              </a:rPr>
              <a:t>SEC — Duolingo Q2 FY2026 shareholder letter  ·  Kahoot! — Q4 2022 quarterly report  ·  Sporcle — Orange membership pricing  ·  AppsFlyer — State of App Monetization 2026</a:t>
            </a:r>
          </a:p>
          <a:p>
            <a:pPr>
              <a:lnSpc>
                <a:spcPct val="115000"/>
              </a:lnSpc>
            </a:pPr>
            <a:r>
              <a:rPr sz="800" b="0" i="0">
                <a:solidFill>
                  <a:srgbClr val="A6ADBA"/>
                </a:solidFill>
                <a:latin typeface="Arial"/>
              </a:rPr>
              <a:t>GameAnalytics — 2026 Mobile &amp; PC Gaming Benchmarks  ·  FACT//DUEL internal — numbers.md §4.1-§4.3</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Trivia IAP, US iOS top three: ~</a:t>
            </a:r>
            <a:r>
              <a:rPr sz="1550" b="0" i="0">
                <a:solidFill>
                  <a:srgbClr val="FFC83D"/>
                </a:solidFill>
                <a:latin typeface="Arial"/>
              </a:rPr>
              <a:t>$102.5K</a:t>
            </a:r>
            <a:r>
              <a:rPr sz="1550" b="0" i="0">
                <a:solidFill>
                  <a:srgbClr val="F7F6EF"/>
                </a:solidFill>
                <a:latin typeface="Arial"/>
              </a:rPr>
              <a:t>/week peak Q2 2025, ~</a:t>
            </a:r>
            <a:r>
              <a:rPr sz="1550" b="0" i="0">
                <a:solidFill>
                  <a:srgbClr val="FFC83D"/>
                </a:solidFill>
                <a:latin typeface="Arial"/>
              </a:rPr>
              <a:t>$90K</a:t>
            </a:r>
            <a:r>
              <a:rPr sz="1550" b="0" i="0">
                <a:solidFill>
                  <a:srgbClr val="F7F6EF"/>
                </a:solidFill>
                <a:latin typeface="Arial"/>
              </a:rPr>
              <a:t> quarter-end — Sensor Tower's modelled estimate, before Apple's 15-30% cut.</a:t>
            </a:r>
          </a:p>
          <a:p>
            <a:pPr marL="264121" indent="-264121">
              <a:lnSpc>
                <a:spcPct val="116000"/>
              </a:lnSpc>
              <a:spcBef>
                <a:spcPts val="852"/>
              </a:spcBef>
              <a:buClr>
                <a:srgbClr val="D4FF3A"/>
              </a:buClr>
              <a:buFont typeface="Arial"/>
              <a:buChar char="—"/>
            </a:pPr>
            <a:r>
              <a:rPr sz="1550" b="0" i="0">
                <a:solidFill>
                  <a:srgbClr val="F7F6EF"/>
                </a:solidFill>
                <a:latin typeface="Arial"/>
              </a:rPr>
              <a:t>Duolingo: </a:t>
            </a:r>
            <a:r>
              <a:rPr sz="1550" b="0" i="0">
                <a:solidFill>
                  <a:srgbClr val="FFC83D"/>
                </a:solidFill>
                <a:latin typeface="Arial"/>
              </a:rPr>
              <a:t>$1,037.6M</a:t>
            </a:r>
            <a:r>
              <a:rPr sz="1550" b="0" i="0">
                <a:solidFill>
                  <a:srgbClr val="F7F6EF"/>
                </a:solidFill>
                <a:latin typeface="Arial"/>
              </a:rPr>
              <a:t> FY2025 revenue on a streak-and-quest loop. A later period, 30 Jun 2026: 12.7M of 140.6M MAU paid, 9.03%.</a:t>
            </a:r>
          </a:p>
          <a:p>
            <a:pPr marL="264121" indent="-264121">
              <a:lnSpc>
                <a:spcPct val="116000"/>
              </a:lnSpc>
              <a:spcBef>
                <a:spcPts val="852"/>
              </a:spcBef>
              <a:buClr>
                <a:srgbClr val="D4FF3A"/>
              </a:buClr>
              <a:buFont typeface="Arial"/>
              <a:buChar char="—"/>
            </a:pPr>
            <a:r>
              <a:rPr sz="1550" b="0" i="0">
                <a:solidFill>
                  <a:srgbClr val="F7F6EF"/>
                </a:solidFill>
                <a:latin typeface="Arial"/>
              </a:rPr>
              <a:t>Cross-check at base-case Year-3 scale: 105,900 MAU x 9.03% x </a:t>
            </a:r>
            <a:r>
              <a:rPr sz="1550" b="0" i="0">
                <a:solidFill>
                  <a:srgbClr val="FFC83D"/>
                </a:solidFill>
                <a:latin typeface="Arial"/>
              </a:rPr>
              <a:t>$43.99</a:t>
            </a:r>
            <a:r>
              <a:rPr sz="1550" b="0" i="0">
                <a:solidFill>
                  <a:srgbClr val="F7F6EF"/>
                </a:solidFill>
                <a:latin typeface="Arial"/>
              </a:rPr>
              <a:t>/yr = </a:t>
            </a:r>
            <a:r>
              <a:rPr sz="1550" b="0" i="0">
                <a:solidFill>
                  <a:srgbClr val="FFC83D"/>
                </a:solidFill>
                <a:latin typeface="Arial"/>
              </a:rPr>
              <a:t>$420,666</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versus </a:t>
            </a:r>
            <a:r>
              <a:rPr sz="1550" b="0" i="0">
                <a:solidFill>
                  <a:srgbClr val="FFC83D"/>
                </a:solidFill>
                <a:latin typeface="Arial"/>
              </a:rPr>
              <a:t>$1,630,517</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from install economics.</a:t>
            </a:r>
          </a:p>
          <a:p>
            <a:pPr marL="264121" indent="-264121">
              <a:lnSpc>
                <a:spcPct val="116000"/>
              </a:lnSpc>
              <a:spcBef>
                <a:spcPts val="852"/>
              </a:spcBef>
              <a:buClr>
                <a:srgbClr val="D4FF3A"/>
              </a:buClr>
              <a:buFont typeface="Arial"/>
              <a:buChar char="—"/>
            </a:pPr>
            <a:r>
              <a:rPr sz="1550" b="0" i="0">
                <a:solidFill>
                  <a:srgbClr val="F7F6EF"/>
                </a:solidFill>
                <a:latin typeface="Arial"/>
              </a:rPr>
              <a:t>Diverging 3.88x, the base case's Year-3 revenue is a band — </a:t>
            </a:r>
            <a:r>
              <a:rPr sz="1550" b="0" i="0">
                <a:solidFill>
                  <a:srgbClr val="FFC83D"/>
                </a:solidFill>
                <a:latin typeface="Arial"/>
              </a:rPr>
              <a:t>$0.4M</a:t>
            </a:r>
            <a:r>
              <a:rPr sz="1550" b="0" i="0">
                <a:solidFill>
                  <a:srgbClr val="F7F6EF"/>
                </a:solidFill>
                <a:latin typeface="Arial"/>
              </a:rPr>
              <a:t>-</a:t>
            </a:r>
            <a:r>
              <a:rPr sz="1550" b="0" i="0">
                <a:solidFill>
                  <a:srgbClr val="FFC83D"/>
                </a:solidFill>
                <a:latin typeface="Arial"/>
              </a:rPr>
              <a:t>$1.6M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not </a:t>
            </a:r>
            <a:r>
              <a:rPr sz="1550" b="0" i="0">
                <a:solidFill>
                  <a:srgbClr val="FFC83D"/>
                </a:solidFill>
                <a:latin typeface="Arial"/>
              </a:rPr>
              <a:t>$1.6M</a:t>
            </a:r>
            <a:r>
              <a:rPr sz="1550" b="0" i="0">
                <a:solidFill>
                  <a:srgbClr val="F7F6EF"/>
                </a:solidFill>
                <a:latin typeface="Arial"/>
              </a:rPr>
              <a:t>. Today: zero users, zero revenue.</a:t>
            </a:r>
          </a:p>
          <a:p>
            <a:pPr marL="264121" indent="-264121">
              <a:lnSpc>
                <a:spcPct val="116000"/>
              </a:lnSpc>
              <a:spcBef>
                <a:spcPts val="852"/>
              </a:spcBef>
              <a:buClr>
                <a:srgbClr val="D4FF3A"/>
              </a:buClr>
              <a:buFont typeface="Arial"/>
              <a:buChar char="—"/>
            </a:pPr>
            <a:r>
              <a:rPr sz="1550" b="0" i="0">
                <a:solidFill>
                  <a:srgbClr val="FFC83D"/>
                </a:solidFill>
                <a:latin typeface="Arial"/>
              </a:rPr>
              <a:t>$43.99</a:t>
            </a:r>
            <a:r>
              <a:rPr sz="1550" b="0" i="0">
                <a:solidFill>
                  <a:srgbClr val="F7F6EF"/>
                </a:solidFill>
                <a:latin typeface="Arial"/>
              </a:rPr>
              <a:t>/yr: Sporcle Orange individual. 9.03%: our arithmetic on Duolingo's filed counts, not a filed ratio. Year-3 installs, 20% monthly churn: unsourced.</a:t>
            </a:r>
          </a:p>
        </p:txBody>
      </p:sp>
      <p:pic>
        <p:nvPicPr>
          <p:cNvPr id="8" name="Picture 7" descr="where-money-is.png"/>
          <p:cNvPicPr>
            <a:picLocks noChangeAspect="1"/>
          </p:cNvPicPr>
          <p:nvPr/>
        </p:nvPicPr>
        <p:blipFill>
          <a:blip r:embed="rId2"/>
          <a:stretch>
            <a:fillRect/>
          </a:stretch>
        </p:blipFill>
        <p:spPr>
          <a:xfrm>
            <a:off x="6001207" y="2398531"/>
            <a:ext cx="5623560" cy="310335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7" cy="2314696"/>
        </p:xfrm>
        <a:graphic>
          <a:graphicData uri="http://schemas.openxmlformats.org/drawingml/2006/table">
            <a:tbl>
              <a:tblPr>
                <a:tableStyleId>{2D5ABB26-0587-4C30-8999-92F81FD0307C}</a:tableStyleId>
              </a:tblPr>
              <a:tblGrid>
                <a:gridCol w="1690589"/>
                <a:gridCol w="2795829"/>
                <a:gridCol w="2549103"/>
                <a:gridCol w="1402042"/>
                <a:gridCol w="2620274"/>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FACT//DUEL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two risks that emptied this category lead the list, and set the milestones.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Long-tail retention. Trivia Royale reported 45% D1 iOS — company-stated to TechCrunch, not audited — and closed eight months after launch.</a:t>
            </a:r>
          </a:p>
          <a:p>
            <a:pPr marL="281154" indent="-281154">
              <a:lnSpc>
                <a:spcPct val="116000"/>
              </a:lnSpc>
              <a:spcBef>
                <a:spcPts val="907"/>
              </a:spcBef>
              <a:buClr>
                <a:srgbClr val="D4FF3A"/>
              </a:buClr>
              <a:buFont typeface="Arial"/>
              <a:buChar char="—"/>
            </a:pPr>
            <a:r>
              <a:rPr sz="1650" b="0" i="0">
                <a:solidFill>
                  <a:srgbClr val="F7F6EF"/>
                </a:solidFill>
                <a:latin typeface="Arial"/>
              </a:rPr>
              <a:t>Global median D30 across 16,000+ mobile games is 0.68-0.79% (GameAnalytics est., CY2025); the North American median is 1.18%.</a:t>
            </a:r>
          </a:p>
          <a:p>
            <a:pPr marL="281154" indent="-281154">
              <a:lnSpc>
                <a:spcPct val="116000"/>
              </a:lnSpc>
              <a:spcBef>
                <a:spcPts val="907"/>
              </a:spcBef>
              <a:buClr>
                <a:srgbClr val="D4FF3A"/>
              </a:buClr>
              <a:buFont typeface="Arial"/>
              <a:buChar char="—"/>
            </a:pPr>
            <a:r>
              <a:rPr sz="1650" b="0" i="0">
                <a:solidFill>
                  <a:srgbClr val="F7F6EF"/>
                </a:solidFill>
                <a:latin typeface="Arial"/>
              </a:rPr>
              <a:t>Opponent integrity. Skillz won a </a:t>
            </a:r>
            <a:r>
              <a:rPr sz="1650" b="0" i="0">
                <a:solidFill>
                  <a:srgbClr val="FFC83D"/>
                </a:solidFill>
                <a:latin typeface="Arial"/>
              </a:rPr>
              <a:t>$42.9M</a:t>
            </a:r>
            <a:r>
              <a:rPr sz="1650" b="0" i="0">
                <a:solidFill>
                  <a:srgbClr val="F7F6EF"/>
                </a:solidFill>
                <a:latin typeface="Arial"/>
              </a:rPr>
              <a:t> jury verdict against AviaGames for willful patent infringement (9 Feb 2024); trial evidence showed bots run against paying humans.</a:t>
            </a:r>
          </a:p>
          <a:p>
            <a:pPr marL="281154" indent="-281154">
              <a:lnSpc>
                <a:spcPct val="116000"/>
              </a:lnSpc>
              <a:spcBef>
                <a:spcPts val="907"/>
              </a:spcBef>
              <a:buClr>
                <a:srgbClr val="D4FF3A"/>
              </a:buClr>
              <a:buFont typeface="Arial"/>
              <a:buChar char="—"/>
            </a:pPr>
            <a:r>
              <a:rPr sz="1650" b="0" i="0">
                <a:solidFill>
                  <a:srgbClr val="F7F6EF"/>
                </a:solidFill>
                <a:latin typeface="Arial"/>
              </a:rPr>
              <a:t>Benchmark transfer. Every retention, session and per-install benchmark in our model is measured on app-store installs, not web (§5.14, §7.3).</a:t>
            </a:r>
          </a:p>
          <a:p>
            <a:pPr marL="281154" indent="-281154">
              <a:lnSpc>
                <a:spcPct val="116000"/>
              </a:lnSpc>
              <a:spcBef>
                <a:spcPts val="907"/>
              </a:spcBef>
              <a:buClr>
                <a:srgbClr val="D4FF3A"/>
              </a:buClr>
              <a:buFont typeface="Arial"/>
              <a:buChar char="—"/>
            </a:pPr>
            <a:r>
              <a:rPr sz="1650" b="0" i="0">
                <a:solidFill>
                  <a:srgbClr val="F7F6EF"/>
                </a:solidFill>
                <a:latin typeface="Arial"/>
              </a:rPr>
              <a:t>Measurement selection. The cohort rate counts only devices that opt into the anonymous ping — consenting devices, not all. We will publish it as exactly that.</a:t>
            </a:r>
          </a:p>
          <a:p>
            <a:pPr marL="281154" indent="-281154">
              <a:lnSpc>
                <a:spcPct val="116000"/>
              </a:lnSpc>
              <a:spcBef>
                <a:spcPts val="907"/>
              </a:spcBef>
              <a:buClr>
                <a:srgbClr val="D4FF3A"/>
              </a:buClr>
              <a:buFont typeface="Arial"/>
              <a:buChar char="—"/>
            </a:pPr>
            <a:r>
              <a:rPr sz="1650" b="0" i="0">
                <a:solidFill>
                  <a:srgbClr val="F7F6EF"/>
                </a:solidFill>
                <a:latin typeface="Arial"/>
              </a:rPr>
              <a:t>Content depth. 54 sample questions is a demo bank; the ask funds four engineers and no content line (§4.4).</a:t>
            </a:r>
          </a:p>
          <a:p>
            <a:pPr marL="281154" indent="-281154">
              <a:lnSpc>
                <a:spcPct val="116000"/>
              </a:lnSpc>
              <a:spcBef>
                <a:spcPts val="907"/>
              </a:spcBef>
              <a:buClr>
                <a:srgbClr val="D4FF3A"/>
              </a:buClr>
              <a:buFont typeface="Arial"/>
              <a:buChar char="—"/>
            </a:pPr>
            <a:r>
              <a:rPr sz="1650" b="0" i="0">
                <a:solidFill>
                  <a:srgbClr val="F7F6EF"/>
                </a:solidFill>
                <a:latin typeface="Arial"/>
              </a:rPr>
              <a:t>Model honesty. Our base case </a:t>
            </a:r>
            <a:r>
              <a:rPr sz="1650" b="1" i="0">
                <a:solidFill>
                  <a:srgbClr val="4EE1FF"/>
                </a:solidFill>
                <a:latin typeface="Arial"/>
              </a:rPr>
              <a:t>(P)</a:t>
            </a:r>
            <a:r>
              <a:rPr sz="1650" b="0" i="0">
                <a:solidFill>
                  <a:srgbClr val="F7F6EF"/>
                </a:solidFill>
                <a:latin typeface="Arial"/>
              </a:rPr>
              <a:t> out-monetises a 9.03%-conversion subscription at </a:t>
            </a:r>
            <a:r>
              <a:rPr sz="1650" b="0" i="0">
                <a:solidFill>
                  <a:srgbClr val="FFC83D"/>
                </a:solidFill>
                <a:latin typeface="Arial"/>
              </a:rPr>
              <a:t>$43.99</a:t>
            </a:r>
            <a:r>
              <a:rPr sz="1650" b="0" i="0">
                <a:solidFill>
                  <a:srgbClr val="F7F6EF"/>
                </a:solidFill>
                <a:latin typeface="Arial"/>
              </a:rPr>
              <a:t>/yr by 3.88x. We flag it, not hide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a published D1/D7/D30 cohort of 1,000+ players; growth of the bank from 54 questions, to a target and rate we must still set.</a:t>
            </a:r>
          </a:p>
          <a:p>
            <a:pPr marL="264121" indent="-264121">
              <a:lnSpc>
                <a:spcPct val="116000"/>
              </a:lnSpc>
              <a:spcBef>
                <a:spcPts val="852"/>
              </a:spcBef>
              <a:buClr>
                <a:srgbClr val="D4FF3A"/>
              </a:buClr>
              <a:buFont typeface="Arial"/>
              <a:buChar char="—"/>
            </a:pPr>
            <a:r>
              <a:rPr sz="1550" b="0" i="0">
                <a:solidFill>
                  <a:srgbClr val="F7F6EF"/>
                </a:solidFill>
                <a:latin typeface="Arial"/>
              </a:rPr>
              <a:t>Plus an opponent-integrity answer and one validated monetisation route. The measurement layer already shipped, tested, on 13 Sep 2026 (§7.1). Then we come back with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Three-year scenarios, all figures (P): plans built on third-party benchmarks.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SEC — Duolingo Q2 FY2026 shareholder letter  ·  Sporcle — Orange membership pricing</a:t>
            </a:r>
          </a:p>
          <a:p>
            <a:pPr>
              <a:lnSpc>
                <a:spcPct val="115000"/>
              </a:lnSpc>
            </a:pPr>
            <a:r>
              <a:rPr sz="800" b="0" i="0">
                <a:solidFill>
                  <a:srgbClr val="A6ADBA"/>
                </a:solidFill>
                <a:latin typeface="Arial"/>
              </a:rPr>
              <a:t>TechCrunch — Trivia Royale, 2.5M downloads in 3 weeks  ·  a16z — The Insider's Guide to Data Rooms  ·  FACT//DUEL internal — numbers.md §4.1-§4.3</a:t>
            </a:r>
          </a:p>
        </p:txBody>
      </p:sp>
      <p:sp>
        <p:nvSpPr>
          <p:cNvPr id="7" name="TextBox 6"/>
          <p:cNvSpPr txBox="1"/>
          <p:nvPr/>
        </p:nvSpPr>
        <p:spPr>
          <a:xfrm>
            <a:off x="566928" y="1719072"/>
            <a:ext cx="11057839" cy="1219580"/>
          </a:xfrm>
          <a:prstGeom prst="rect">
            <a:avLst/>
          </a:prstGeom>
          <a:noFill/>
        </p:spPr>
        <p:txBody>
          <a:bodyPr wrap="square" lIns="0" rIns="0" tIns="0" bIns="0" anchor="t">
            <a:spAutoFit/>
          </a:bodyPr>
          <a:lstStyle/>
          <a:p>
            <a:pPr marL="230028" indent="-230028">
              <a:lnSpc>
                <a:spcPct val="116000"/>
              </a:lnSpc>
              <a:buClr>
                <a:srgbClr val="4EE1FF"/>
              </a:buClr>
              <a:buFont typeface="Arial"/>
              <a:buChar char="—"/>
            </a:pPr>
            <a:r>
              <a:rPr sz="1350" b="0" i="0">
                <a:solidFill>
                  <a:srgbClr val="F7F6EF"/>
                </a:solidFill>
                <a:latin typeface="Arial"/>
              </a:rPr>
              <a:t>One model, three input sets; only D30 retention, payer rate and install volume change. Install volumes are chosen assumptions with no company data behind them.</a:t>
            </a:r>
          </a:p>
          <a:p>
            <a:pPr marL="230028" indent="-230028">
              <a:lnSpc>
                <a:spcPct val="116000"/>
              </a:lnSpc>
              <a:spcBef>
                <a:spcPts val="742"/>
              </a:spcBef>
              <a:buClr>
                <a:srgbClr val="4EE1FF"/>
              </a:buClr>
              <a:buFont typeface="Arial"/>
              <a:buChar char="—"/>
            </a:pPr>
            <a:r>
              <a:rPr sz="1350" b="0" i="0">
                <a:solidFill>
                  <a:srgbClr val="F7F6EF"/>
                </a:solidFill>
                <a:latin typeface="Arial"/>
              </a:rPr>
              <a:t>Even the optimistic case assumes only median casual per-install monetisation; all optimism sits in volume.</a:t>
            </a:r>
          </a:p>
          <a:p>
            <a:pPr marL="230028" indent="-230028">
              <a:lnSpc>
                <a:spcPct val="116000"/>
              </a:lnSpc>
              <a:spcBef>
                <a:spcPts val="742"/>
              </a:spcBef>
              <a:buClr>
                <a:srgbClr val="4EE1FF"/>
              </a:buClr>
              <a:buFont typeface="Arial"/>
              <a:buChar char="—"/>
            </a:pPr>
            <a:r>
              <a:rPr sz="1350" b="0" i="0">
                <a:solidFill>
                  <a:srgbClr val="F7F6EF"/>
                </a:solidFill>
                <a:latin typeface="Arial"/>
              </a:rPr>
              <a:t>Subscription cross-check: conservative agrees within 8%; base diverges 3.88x; optimistic 5.26x. Break-even cost per install </a:t>
            </a:r>
            <a:r>
              <a:rPr sz="1350" b="0" i="0">
                <a:solidFill>
                  <a:srgbClr val="FFC83D"/>
                </a:solidFill>
                <a:latin typeface="Arial"/>
              </a:rPr>
              <a:t>$0.37</a:t>
            </a:r>
            <a:r>
              <a:rPr sz="1350" b="0" i="0">
                <a:solidFill>
                  <a:srgbClr val="F7F6EF"/>
                </a:solidFill>
                <a:latin typeface="Arial"/>
              </a:rPr>
              <a:t> / </a:t>
            </a:r>
            <a:r>
              <a:rPr sz="1350" b="0" i="0">
                <a:solidFill>
                  <a:srgbClr val="FFC83D"/>
                </a:solidFill>
                <a:latin typeface="Arial"/>
              </a:rPr>
              <a:t>$1.36</a:t>
            </a:r>
            <a:r>
              <a:rPr sz="1350" b="0" i="0">
                <a:solidFill>
                  <a:srgbClr val="F7F6EF"/>
                </a:solidFill>
                <a:latin typeface="Arial"/>
              </a:rPr>
              <a:t> / </a:t>
            </a:r>
            <a:r>
              <a:rPr sz="1350" b="0" i="0">
                <a:solidFill>
                  <a:srgbClr val="FFC83D"/>
                </a:solidFill>
                <a:latin typeface="Arial"/>
              </a:rPr>
              <a:t>$1.89</a:t>
            </a:r>
            <a:r>
              <a:rPr sz="1350" b="0" i="0">
                <a:solidFill>
                  <a:srgbClr val="F7F6EF"/>
                </a:solidFill>
                <a:latin typeface="Arial"/>
              </a:rPr>
              <a:t> — Trivia Royale's was under </a:t>
            </a:r>
            <a:r>
              <a:rPr sz="1350" b="0" i="0">
                <a:solidFill>
                  <a:srgbClr val="FFC83D"/>
                </a:solidFill>
                <a:latin typeface="Arial"/>
              </a:rPr>
              <a:t>$0.20,</a:t>
            </a:r>
            <a:r>
              <a:rPr sz="1350" b="0" i="0">
                <a:solidFill>
                  <a:srgbClr val="F7F6EF"/>
                </a:solidFill>
                <a:latin typeface="Arial"/>
              </a:rPr>
              <a:t> and it still died.</a:t>
            </a:r>
          </a:p>
        </p:txBody>
      </p:sp>
      <p:graphicFrame>
        <p:nvGraphicFramePr>
          <p:cNvPr id="8" name="Table 7"/>
          <p:cNvGraphicFramePr>
            <a:graphicFrameLocks noGrp="1"/>
          </p:cNvGraphicFramePr>
          <p:nvPr/>
        </p:nvGraphicFramePr>
        <p:xfrm>
          <a:off x="566928" y="3176397"/>
          <a:ext cx="6238949" cy="2730624"/>
        </p:xfrm>
        <a:graphic>
          <a:graphicData uri="http://schemas.openxmlformats.org/drawingml/2006/table">
            <a:tbl>
              <a:tblPr>
                <a:tableStyleId>{2D5ABB26-0587-4C30-8999-92F81FD0307C}</a:tableStyleId>
              </a:tblPr>
              <a:tblGrid>
                <a:gridCol w="965571"/>
                <a:gridCol w="776233"/>
                <a:gridCol w="824370"/>
                <a:gridCol w="832018"/>
                <a:gridCol w="1008185"/>
                <a:gridCol w="1832572"/>
              </a:tblGrid>
              <a:tr h="682656">
                <a:tc>
                  <a:txBody>
                    <a:bodyPr wrap="square"/>
                    <a:lstStyle/>
                    <a:p>
                      <a:pPr>
                        <a:lnSpc>
                          <a:spcPct val="114000"/>
                        </a:lnSpc>
                      </a:pPr>
                      <a:r>
                        <a:rPr sz="105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installs</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Rev / install</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revenue</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Y3 steady MAU</a:t>
                      </a:r>
                    </a:p>
                  </a:txBody>
                  <a:tcPr marL="64008" marR="64008" marT="41148" marB="41148" anchor="ctr">
                    <a:solidFill>
                      <a:srgbClr val="121821"/>
                    </a:solidFill>
                  </a:tcPr>
                </a:tc>
                <a:tc>
                  <a:txBody>
                    <a:bodyPr wrap="square"/>
                    <a:lstStyle/>
                    <a:p>
                      <a:pPr>
                        <a:lnSpc>
                          <a:spcPct val="114000"/>
                        </a:lnSpc>
                      </a:pPr>
                      <a:r>
                        <a:rPr sz="1050" b="1" i="0">
                          <a:solidFill>
                            <a:srgbClr val="D4FF3A"/>
                          </a:solidFill>
                          <a:latin typeface="Arial"/>
                        </a:rPr>
                        <a:t>Subscription cross-check</a:t>
                      </a:r>
                    </a:p>
                  </a:txBody>
                  <a:tcPr marL="64008" marR="64008" marT="41148" marB="41148" anchor="ctr">
                    <a:solidFill>
                      <a:srgbClr val="121821"/>
                    </a:solidFill>
                  </a:tcPr>
                </a:tc>
              </a:tr>
              <a:tr h="682656">
                <a:tc>
                  <a:txBody>
                    <a:bodyPr wrap="square"/>
                    <a:lstStyle/>
                    <a:p>
                      <a:pPr>
                        <a:lnSpc>
                          <a:spcPct val="114000"/>
                        </a:lnSpc>
                      </a:pPr>
                      <a:r>
                        <a:rPr sz="105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$85,570 — agrees within 8%</a:t>
                      </a:r>
                    </a:p>
                  </a:txBody>
                  <a:tcPr marL="64008" marR="64008" marT="41148" marB="41148" anchor="ctr">
                    <a:solidFill>
                      <a:srgbClr val="121821"/>
                    </a:solidFill>
                  </a:tcPr>
                </a:tc>
              </a:tr>
              <a:tr h="682656">
                <a:tc>
                  <a:txBody>
                    <a:bodyPr wrap="square"/>
                    <a:lstStyle/>
                    <a:p>
                      <a:pPr>
                        <a:lnSpc>
                          <a:spcPct val="114000"/>
                        </a:lnSpc>
                      </a:pPr>
                      <a:r>
                        <a:rPr sz="105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1,200,000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$1,630,517</a:t>
                      </a:r>
                    </a:p>
                  </a:txBody>
                  <a:tcPr marL="64008" marR="64008" marT="41148" marB="41148" anchor="ctr">
                    <a:solidFill>
                      <a:srgbClr val="0D131B"/>
                    </a:solidFill>
                  </a:tcPr>
                </a:tc>
                <a:tc>
                  <a:txBody>
                    <a:bodyPr wrap="square"/>
                    <a:lstStyle/>
                    <a:p>
                      <a:pPr>
                        <a:lnSpc>
                          <a:spcPct val="114000"/>
                        </a:lnSpc>
                      </a:pPr>
                      <a:r>
                        <a:rPr sz="1050" b="0" i="0">
                          <a:solidFill>
                            <a:srgbClr val="F7F6EF"/>
                          </a:solidFill>
                          <a:latin typeface="Arial"/>
                        </a:rPr>
                        <a:t>105,900</a:t>
                      </a:r>
                    </a:p>
                  </a:txBody>
                  <a:tcPr marL="64008" marR="64008" marT="41148" marB="41148" anchor="ctr">
                    <a:solidFill>
                      <a:srgbClr val="0D131B"/>
                    </a:solidFill>
                  </a:tcPr>
                </a:tc>
                <a:tc>
                  <a:txBody>
                    <a:bodyPr wrap="square"/>
                    <a:lstStyle/>
                    <a:p>
                      <a:pPr>
                        <a:lnSpc>
                          <a:spcPct val="114000"/>
                        </a:lnSpc>
                      </a:pPr>
                      <a:r>
                        <a:rPr sz="1050" b="0" i="0">
                          <a:solidFill>
                            <a:srgbClr val="FFC83D"/>
                          </a:solidFill>
                          <a:latin typeface="Arial"/>
                        </a:rPr>
                        <a:t>$420,666 — 3.88x divergence</a:t>
                      </a:r>
                    </a:p>
                  </a:txBody>
                  <a:tcPr marL="64008" marR="64008" marT="41148" marB="41148" anchor="ctr">
                    <a:solidFill>
                      <a:srgbClr val="0D131B"/>
                    </a:solidFill>
                  </a:tcPr>
                </a:tc>
              </a:tr>
              <a:tr h="682656">
                <a:tc>
                  <a:txBody>
                    <a:bodyPr wrap="square"/>
                    <a:lstStyle/>
                    <a:p>
                      <a:pPr>
                        <a:lnSpc>
                          <a:spcPct val="114000"/>
                        </a:lnSpc>
                      </a:pPr>
                      <a:r>
                        <a:rPr sz="105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105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1050" b="0" i="0">
                          <a:solidFill>
                            <a:srgbClr val="FFC83D"/>
                          </a:solidFill>
                          <a:latin typeface="Arial"/>
                        </a:rPr>
                        <a:t>$1,436,647 — 5.26x divergence</a:t>
                      </a:r>
                    </a:p>
                  </a:txBody>
                  <a:tcPr marL="64008" marR="64008" marT="41148" marB="41148" anchor="ctr">
                    <a:solidFill>
                      <a:srgbClr val="121821"/>
                    </a:solidFill>
                  </a:tcPr>
                </a:tc>
              </a:tr>
            </a:tbl>
          </a:graphicData>
        </a:graphic>
      </p:graphicFrame>
      <p:pic>
        <p:nvPicPr>
          <p:cNvPr id="9" name="Picture 8" descr="scenarios.png"/>
          <p:cNvPicPr>
            <a:picLocks noChangeAspect="1"/>
          </p:cNvPicPr>
          <p:nvPr/>
        </p:nvPicPr>
        <p:blipFill>
          <a:blip r:embed="rId2"/>
          <a:stretch>
            <a:fillRect/>
          </a:stretch>
        </p:blipFill>
        <p:spPr>
          <a:xfrm>
            <a:off x="7103951" y="3176397"/>
            <a:ext cx="4515350" cy="2730627"/>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FACT//DUEL: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55604" indent="-255604">
              <a:lnSpc>
                <a:spcPct val="116000"/>
              </a:lnSpc>
              <a:buClr>
                <a:srgbClr val="4EE1FF"/>
              </a:buClr>
              <a:buFont typeface="Arial"/>
              <a:buChar char="—"/>
            </a:pPr>
            <a:r>
              <a:rPr sz="1500" b="0" i="0">
                <a:solidFill>
                  <a:srgbClr val="F7F6EF"/>
                </a:solidFill>
                <a:latin typeface="Arial"/>
              </a:rPr>
              <a:t>Player record, badges, stamps and the Locker: the long-tail progression surface, all device-local. None of it is a ranked or verified record, none is sent to a server, and reset clears it.</a:t>
            </a:r>
          </a:p>
          <a:p>
            <a:pPr marL="255604" indent="-255604">
              <a:lnSpc>
                <a:spcPct val="116000"/>
              </a:lnSpc>
              <a:spcBef>
                <a:spcPts val="825"/>
              </a:spcBef>
              <a:buClr>
                <a:srgbClr val="4EE1FF"/>
              </a:buClr>
              <a:buFont typeface="Arial"/>
              <a:buChar char="—"/>
            </a:pPr>
            <a:r>
              <a:rPr sz="15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55604" indent="-255604">
              <a:lnSpc>
                <a:spcPct val="116000"/>
              </a:lnSpc>
              <a:spcBef>
                <a:spcPts val="825"/>
              </a:spcBef>
              <a:buClr>
                <a:srgbClr val="4EE1FF"/>
              </a:buClr>
              <a:buFont typeface="Arial"/>
              <a:buChar char="—"/>
            </a:pPr>
            <a:r>
              <a:rPr sz="15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66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3331962"/>
        </p:xfrm>
        <a:graphic>
          <a:graphicData uri="http://schemas.openxmlformats.org/drawingml/2006/table">
            <a:tbl>
              <a:tblPr>
                <a:tableStyleId>{2D5ABB26-0587-4C30-8999-92F81FD0307C}</a:tableStyleId>
              </a:tblPr>
              <a:tblGrid>
                <a:gridCol w="6526338"/>
                <a:gridCol w="2845280"/>
                <a:gridCol w="1686220"/>
              </a:tblGrid>
              <a:tr h="185109">
                <a:tc>
                  <a:txBody>
                    <a:bodyPr wrap="square"/>
                    <a:lstStyle/>
                    <a:p>
                      <a:pPr>
                        <a:lnSpc>
                          <a:spcPct val="114000"/>
                        </a:lnSpc>
                      </a:pPr>
                      <a:r>
                        <a:rPr sz="7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00" b="1" i="0">
                          <a:solidFill>
                            <a:srgbClr val="D4FF3A"/>
                          </a:solidFill>
                          <a:latin typeface="Arial"/>
                        </a:rPr>
                        <a:t>Cited on</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1, 12, 13</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1, 12</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1, 4, 8, 9, 11, 15</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1, 5, 12</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1, 8</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1, 4, 5, 10, 11</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1</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2, 7, 10, 14</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2, 6, 10, 18</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2, 10</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3, 11, 15, 17, 18</a:t>
                      </a:r>
                    </a:p>
                  </a:txBody>
                  <a:tcPr marL="64008" marR="64008" marT="41148" marB="41148" anchor="ctr">
                    <a:solidFill>
                      <a:srgbClr val="121821"/>
                    </a:solidFill>
                  </a:tcPr>
                </a:tc>
              </a:tr>
              <a:tr h="185109">
                <a:tc>
                  <a:txBody>
                    <a:bodyPr wrap="square"/>
                    <a:lstStyle/>
                    <a:p>
                      <a:pPr>
                        <a:lnSpc>
                          <a:spcPct val="114000"/>
                        </a:lnSpc>
                      </a:pPr>
                      <a:r>
                        <a:rPr sz="7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00" b="0" i="0">
                          <a:solidFill>
                            <a:srgbClr val="F7F6EF"/>
                          </a:solidFill>
                          <a:latin typeface="Arial"/>
                        </a:rPr>
                        <a:t>3, 17</a:t>
                      </a:r>
                    </a:p>
                  </a:txBody>
                  <a:tcPr marL="64008" marR="64008" marT="41148" marB="41148" anchor="ctr">
                    <a:solidFill>
                      <a:srgbClr val="0D131B"/>
                    </a:solidFill>
                  </a:tcPr>
                </a:tc>
              </a:tr>
              <a:tr h="185109">
                <a:tc>
                  <a:txBody>
                    <a:bodyPr wrap="square"/>
                    <a:lstStyle/>
                    <a:p>
                      <a:pPr>
                        <a:lnSpc>
                          <a:spcPct val="114000"/>
                        </a:lnSpc>
                      </a:pPr>
                      <a:r>
                        <a:rPr sz="7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00" b="0" i="0">
                          <a:solidFill>
                            <a:srgbClr val="F7F6EF"/>
                          </a:solidFill>
                          <a:latin typeface="Arial"/>
                        </a:rPr>
                        <a:t>3</a:t>
                      </a:r>
                    </a:p>
                  </a:txBody>
                  <a:tcPr marL="64008" marR="64008" marT="41148" marB="41148" anchor="ctr">
                    <a:solidFill>
                      <a:srgbClr val="121821"/>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0"/>
        </p:xfrm>
        <a:graphic>
          <a:graphicData uri="http://schemas.openxmlformats.org/drawingml/2006/table">
            <a:tbl>
              <a:tblPr>
                <a:tableStyleId>{2D5ABB26-0587-4C30-8999-92F81FD0307C}</a:tableStyleId>
              </a:tblPr>
              <a:tblGrid>
                <a:gridCol w="7004197"/>
                <a:gridCol w="2680107"/>
                <a:gridCol w="1373534"/>
              </a:tblGrid>
              <a:tr h="205965">
                <a:tc>
                  <a:txBody>
                    <a:bodyPr wrap="square"/>
                    <a:lstStyle/>
                    <a:p>
                      <a:pPr>
                        <a:lnSpc>
                          <a:spcPct val="114000"/>
                        </a:lnSpc>
                      </a:pPr>
                      <a:r>
                        <a:rPr sz="8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Cited on</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10-K — Glu Mobile FY2016 (QuizUp mark)</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3, 17</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8-K — Glu Mobile / QuizUp acquisition</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3, 17</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§3.2, status paragraph and §5.15</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repository — product code, unaudited</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4, 5, 8, 19, 20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 Duolingo FY2025 shareholder letter</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audited filing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4, 6, 7, 9</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§1.1 and §1.6</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4</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 status paragraph, §4.4 and §7.1-§7.2</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§2.3, §4.3 and §4.4</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5, 11</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EMARKETER — second-screen engagement during live sport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6, 16</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AppTweak — US store conversion benchmarks, CY2025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7, 18</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§3.5, §5.2 and §5.14</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7, 11</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 status paragraph, §4.4 and §7.1</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8</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9, 10, 14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 Duolingo Q2 FY2026 10-Q (user counts at 30 Jun 2026)</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9, 11, 15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Kahoot! — Q4 2022 quarterly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9, 10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Sporcle — Orange membership pricing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9, 11, 15</a:t>
                      </a:r>
                    </a:p>
                  </a:txBody>
                  <a:tcPr marL="64008" marR="64008" marT="41148" marB="41148" anchor="ctr">
                    <a:solidFill>
                      <a:srgbClr val="121821"/>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3707370"/>
        </p:xfrm>
        <a:graphic>
          <a:graphicData uri="http://schemas.openxmlformats.org/drawingml/2006/table">
            <a:tbl>
              <a:tblPr>
                <a:tableStyleId>{2D5ABB26-0587-4C30-8999-92F81FD0307C}</a:tableStyleId>
              </a:tblPr>
              <a:tblGrid>
                <a:gridCol w="6418869"/>
                <a:gridCol w="3324343"/>
                <a:gridCol w="1314625"/>
              </a:tblGrid>
              <a:tr h="205965">
                <a:tc>
                  <a:txBody>
                    <a:bodyPr wrap="square"/>
                    <a:lstStyle/>
                    <a:p>
                      <a:pPr>
                        <a:lnSpc>
                          <a:spcPct val="114000"/>
                        </a:lnSpc>
                      </a:pPr>
                      <a:r>
                        <a:rPr sz="8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850" b="1" i="0">
                          <a:solidFill>
                            <a:srgbClr val="D4FF3A"/>
                          </a:solidFill>
                          <a:latin typeface="Arial"/>
                        </a:rPr>
                        <a:t>Cited on</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AppsFlyer — State of App Monetization 2026</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9, 15</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§4.1-§4.3</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9, 15</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Google Play — Kahoot! listing</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10, 17</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10, 17</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11</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12</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Carta — State of Private Markets, Q3 2025</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Crunchbase — US seed funding, 2025</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FACT//DUEL internal — numbers.md §4.4, §4.5 and §5.8</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13</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FACT//DUEL internal — numbers.md §7.1 and §7.3</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13, 18, 20</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Fact.MR — second-screen sports apps market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r h="205965">
                <a:tc>
                  <a:txBody>
                    <a:bodyPr wrap="square"/>
                    <a:lstStyle/>
                    <a:p>
                      <a:pPr>
                        <a:lnSpc>
                          <a:spcPct val="114000"/>
                        </a:lnSpc>
                      </a:pPr>
                      <a:r>
                        <a:rPr sz="850" b="1" i="0">
                          <a:solidFill>
                            <a:srgbClr val="F7F6EF"/>
                          </a:solidFill>
                          <a:latin typeface="Arial"/>
                        </a:rPr>
                        <a:t>The Business Research Company — fan engagement</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0D131B"/>
                    </a:solidFill>
                  </a:tcPr>
                </a:tc>
              </a:tr>
              <a:tr h="205965">
                <a:tc>
                  <a:txBody>
                    <a:bodyPr wrap="square"/>
                    <a:lstStyle/>
                    <a:p>
                      <a:pPr>
                        <a:lnSpc>
                          <a:spcPct val="114000"/>
                        </a:lnSpc>
                      </a:pPr>
                      <a:r>
                        <a:rPr sz="850" b="1" i="0">
                          <a:solidFill>
                            <a:srgbClr val="F7F6EF"/>
                          </a:solidFill>
                          <a:latin typeface="Arial"/>
                        </a:rPr>
                        <a:t>market.us — fan engagement market</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850" b="0" i="0">
                          <a:solidFill>
                            <a:srgbClr val="F7F6EF"/>
                          </a:solidFill>
                          <a:latin typeface="Arial"/>
                        </a:rPr>
                        <a:t>14</a:t>
                      </a:r>
                    </a:p>
                  </a:txBody>
                  <a:tcPr marL="64008" marR="64008" marT="41148" marB="41148" anchor="ctr">
                    <a:solidFill>
                      <a:srgbClr val="121821"/>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6"/>
        </p:xfrm>
        <a:graphic>
          <a:graphicData uri="http://schemas.openxmlformats.org/drawingml/2006/table">
            <a:tbl>
              <a:tblPr>
                <a:tableStyleId>{2D5ABB26-0587-4C30-8999-92F81FD0307C}</a:tableStyleId>
              </a:tblPr>
              <a:tblGrid>
                <a:gridCol w="7453186"/>
                <a:gridCol w="2658443"/>
                <a:gridCol w="946209"/>
              </a:tblGrid>
              <a:tr h="231711">
                <a:tc>
                  <a:txBody>
                    <a:bodyPr wrap="square"/>
                    <a:lstStyle/>
                    <a:p>
                      <a:pPr>
                        <a:lnSpc>
                          <a:spcPct val="114000"/>
                        </a:lnSpc>
                      </a:pPr>
                      <a:r>
                        <a:rPr sz="10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000" b="1" i="0">
                          <a:solidFill>
                            <a:srgbClr val="D4FF3A"/>
                          </a:solidFill>
                          <a:latin typeface="Arial"/>
                        </a:rPr>
                        <a:t>Cited on</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14</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a16z — The Insider's Guide to Data Rooms</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15</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FSGA / Angus Reid 2026 — participation research</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FSGA 2025 — next-generation engagement research</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ICC — global cricket market research</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Nielsen — 2025 Global Sports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Newzoo — Global Games Market 2025</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Paul Graham — How to convince investors</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a16z — 16 More Startup Metrics</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16</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SEC Form D — HQ Trivia</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SEC Form D — Teatime Games (Trivia Royale)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17</a:t>
                      </a:r>
                    </a:p>
                  </a:txBody>
                  <a:tcPr marL="64008" marR="64008" marT="41148" marB="41148" anchor="ctr">
                    <a:solidFill>
                      <a:srgbClr val="121821"/>
                    </a:solidFill>
                  </a:tcPr>
                </a:tc>
              </a:tr>
              <a:tr h="231711">
                <a:tc>
                  <a:txBody>
                    <a:bodyPr wrap="square"/>
                    <a:lstStyle/>
                    <a:p>
                      <a:pPr>
                        <a:lnSpc>
                          <a:spcPct val="114000"/>
                        </a:lnSpc>
                      </a:pPr>
                      <a:r>
                        <a:rPr sz="1000" b="1" i="0">
                          <a:solidFill>
                            <a:srgbClr val="F7F6EF"/>
                          </a:solidFill>
                          <a:latin typeface="Arial"/>
                        </a:rPr>
                        <a:t>FACT//DUEL internal — numbers.md §5 (failed verification and unresolved items)</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000" b="0" i="0">
                          <a:solidFill>
                            <a:srgbClr val="F7F6EF"/>
                          </a:solidFill>
                          <a:latin typeface="Arial"/>
                        </a:rPr>
                        <a:t>18</a:t>
                      </a:r>
                    </a:p>
                  </a:txBody>
                  <a:tcPr marL="64008" marR="64008" marT="41148" marB="41148" anchor="ctr">
                    <a:solidFill>
                      <a:srgbClr val="0D131B"/>
                    </a:solidFill>
                  </a:tcPr>
                </a:tc>
              </a:tr>
              <a:tr h="231711">
                <a:tc>
                  <a:txBody>
                    <a:bodyPr wrap="square"/>
                    <a:lstStyle/>
                    <a:p>
                      <a:pPr>
                        <a:lnSpc>
                          <a:spcPct val="114000"/>
                        </a:lnSpc>
                      </a:pPr>
                      <a:r>
                        <a:rPr sz="1000" b="1" i="0">
                          <a:solidFill>
                            <a:srgbClr val="F7F6EF"/>
                          </a:solidFill>
                          <a:latin typeface="Arial"/>
                        </a:rPr>
                        <a:t>FACT//DUEL internal — numbers.md — status paragraph, §7.1 and §7.2</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000" b="0" i="0">
                          <a:solidFill>
                            <a:srgbClr val="F7F6EF"/>
                          </a:solidFill>
                          <a:latin typeface="Arial"/>
                        </a:rPr>
                        <a:t>19</a:t>
                      </a:r>
                    </a:p>
                  </a:txBody>
                  <a:tcPr marL="64008" marR="64008" marT="41148" marB="41148" anchor="ctr">
                    <a:solidFill>
                      <a:srgbClr val="121821"/>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