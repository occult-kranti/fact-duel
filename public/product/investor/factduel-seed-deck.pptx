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YC/Hale's rule for a title page is legible, simple, obvious. DocSend estimates 26 seconds on the company-purpose section (third-party estimate, numbers.md §4.6), so this page does exactly two jobs: name the thing, and pre-empt the only question that matters. Say the zero out loud in the first fifteen seconds of any meeting. DocSend's strongest negative finding, quoted as published: "VCs spend 80 percent more time evaluating the traction of companies that didn't raise money successfully" (third-party estimate) — that is a finding about companies that did not raise, not about decks, and it is why the ambiguity is removed on page one. The ask applies YC's $15k-per-engineer-per-month rule of thumb to our own four-engineer plan: 4 x $15,000 x 18 = $1,080,000, rounded up to a raise of about $1.2M inside YC's $500k-$1.5M band (numbers.md §4.5). YC's own worked example is five engineers (15k x 5 x 18 = $1.35mm); the four-engineer headcount is ours, not YC's, and the $15k figure is YC's undated editorial rule of thumb, very likely understated today — that caveat is on slide 14 and should be volunteered, not defended. The 3-4 minute duel is a design target set against GameAnalytics' median session, not an observed FACT//DUEL session length: we have never measured one (numbers.md §5.15). Add founder name and contact details before sending; do not add anything else.</a:t>
            </a:r>
          </a:p>
          <a:p/>
          <a:p>
            <a:r>
              <a:t>SOURCES</a:t>
            </a:r>
          </a:p>
          <a:p>
            <a:r>
              <a:t>- FACT//DUEL internal: public/product/investor/numbers.md — status paragraph and §5.15 (company disclosure)</a:t>
            </a:r>
          </a:p>
          <a:p>
            <a:r>
              <a:t>- https://www.ycombinator.com/library/4A-a-guide-to-seed-fundraising</a:t>
            </a:r>
          </a:p>
          <a:p>
            <a:r>
              <a:t>- https://www.ycombinator.com/library/4T-how-to-design-a-better-pitch-deck</a:t>
            </a:r>
          </a:p>
          <a:p>
            <a:r>
              <a:t>- https://www.gameanalytics.com/reports/2026-mobile-pc-gaming-benchmarks</a:t>
            </a:r>
          </a:p>
          <a:p>
            <a:r>
              <a:t>- https://web.archive.org/web/20260622084020/https://www.docsend.com/blog/what-vcs-really-want-to-see-inside-your-seed-deck/</a:t>
            </a:r>
          </a:p>
          <a:p>
            <a:r>
              <a:t>- https://web.archive.org/web/20240302210508/https://www.docsend.com/blog/what-vcs-really-want-to-see-inside-your-seed-deck/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CRV asks for a traction teaser in the first two or three slides. We have no traction, so the credibility hook has to be evidence instead: this slide plus slide 3. Every line is store data or a filed interim report, verified 13 Sep 2026, not an analyst estimate. Caveats to volunteer rather than be caught on: 267,939,837 is Google Play's own internal lifetime install count and the store itself displays only '100M+'; it is installs, not users; and the widely-quoted '600 million downloads' for Trivia Crack is PR-originated and does not survive checking (numbers.md §5.4), so we deliberately use the smaller, verifiable number. Do not say the category is unmaintained or abandoned — it is not. QuizDuel ships builds (10 Sep 2026), Quizion's listing was updated 13 Aug 2026 and Psych!'s Android build on 26 May 2026. The defensible claim is the one numbers.md §2.2 makes: the 1v1 duel format has an installed-base history in the hundreds of millions and essentially no maintained incumbent. MAG's DAU and MAU are group-level across its whole portfolio rather than QuizDuel standalone, and they are nine-month averages for Sep 2025 to May 2026; the quarter alone is milder, at -12% and -9%, and the slide says both. Expect the obvious challenge: 'maybe the format is dead for a reason.' The answer is slide 3, and the honest version is that we agree the reason exists and we have named it.</a:t>
            </a:r>
          </a:p>
          <a:p/>
          <a:p>
            <a:r>
              <a:t>SOURCES</a:t>
            </a:r>
          </a:p>
          <a:p>
            <a:r>
              <a:t>- https://play.google.com/store/apps/details?id=com.etermax.preguntados.lite&amp;hl=en_US&amp;gl=US</a:t>
            </a:r>
          </a:p>
          <a:p>
            <a:r>
              <a:t>- https://storage.mfn.se/8d863483-ccc8-4f02-b0c5-d37d899b23e8/mag-interim-report-eng-2025-26-q3.pdf</a:t>
            </a:r>
          </a:p>
          <a:p>
            <a:r>
              <a:t>- https://itunes.apple.com/lookup?id=1484354626&amp;country=us</a:t>
            </a:r>
          </a:p>
          <a:p>
            <a:r>
              <a:t>- https://itunes.apple.com/lookup?id=1484354626&amp;country=de</a:t>
            </a:r>
          </a:p>
          <a:p>
            <a:r>
              <a:t>- https://play.google.com/store/apps/details?id=com.quizion.app&amp;hl=en_US</a:t>
            </a:r>
          </a:p>
          <a:p>
            <a:r>
              <a:t>- https://play.google.com/store/apps/details?id=live.trivia&amp;hl=en_US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that decides whether an investor trusts the rest of the deck. Trivia Royale is the cleanest natural experiment in the category: built by QuizUp's own founder, it took 2.5M downloads at a blended $0.20 or less each on a launch budget under $500,000 (about 40% of it to TikTok influencers), it reported 45% day-one iOS retention, and it was gone in eight months because revenue was insufficient and funding talks collapsed. Caveats that belong on the page and not only here: the download count, the budget and the 45% D1 are all Teatime Games statements to TechCrunch — press reports, not filings, not audited; the $0.20 is blended cost per download including organic and viral, not a paid CPI; and both HQ Trivia install figures are rounded Sensor Tower modelled estimates, which is why the slide says about 3% rather than a ratio to three significant figures. Do not present 45% D1 as a percentile placement against a benchmark: it is iOS-only and company-reported, while the GameAnalytics medians are measured on iOS and Android app-store installs, so the comparison is not like-for-like (numbers.md §5.14). HQ Trivia's story does not stop in February 2020 — the franchise was bought, relaunched on 29 Mar 2020, played its last official game on 17 Nov 2022 and was delisted from both stores on 5 Aug 2023 — say so before an investor who knows the history says it for you. Glu's $3.2M fair-value mark on QuizUp is the honest ceiling to attach to a large unmonetised trivia audience, and the ~$32.4M of Plain Vanilla equity behind it comes from the SEC filings. The takeaway to say out loud: any pitch in this category that leads with 'we will go viral' is arguing the case that was already settled and ignoring the case that killed everyone. If asked what we would do differently, do not answer with features — answer with slide 4.</a:t>
            </a:r>
          </a:p>
          <a:p/>
          <a:p>
            <a:r>
              <a:t>SOURCES</a:t>
            </a:r>
          </a:p>
          <a:p>
            <a:r>
              <a:t>- https://techcrunch.com/2020/07/10/how-thor-fridrikssons-trivia-royale-earned-2-5m-downloads-in-3-weeks/</a:t>
            </a:r>
          </a:p>
          <a:p>
            <a:r>
              <a:t>- https://techcrunch.com/2020/02/14/hq-trivia-shuts-down/</a:t>
            </a:r>
          </a:p>
          <a:p>
            <a:r>
              <a:t>- https://techcrunch.com/2018/08/14/hq-trivia-apple-tv/</a:t>
            </a:r>
          </a:p>
          <a:p>
            <a:r>
              <a:t>- https://www.sec.gov/Archives/edgar/data/1366246/000155837017001621/gluu-20161231x10k.htm</a:t>
            </a:r>
          </a:p>
          <a:p>
            <a:r>
              <a:t>- https://www.sec.gov/Archives/edgar/data/1366246/000155837016010604/gluu-20161215x8k.htm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session-length line is a design argument, not a traction claim, and the slide now says so on its face: GameAnalytics' 2026 benchmark set (16,000+ games, nine regions, iOS and Android, calendar year 2025) estimates the median session at 3.1-3.5 minutes and North America at 3.64 minutes across 4.23 sessions a day — all of it measured on app-store installs rather than on the web, which numbers.md §5.14 calls the single largest methodological risk in the model. We have measured no session length of our own; §5.15 lists it among the things we do not know. The loop around the duel is product description taken from our own repository, not an audited inventory and not a retention claim: do not attach a retention benefit to any of these mechanics, because we have not measured one and cannot until milestone 1 lands. Nothing in the evidence base shows that deferring monetisation avoids this category's failure mode — §2.3 says the comparables died of monetisation and long-tail retention, and sequencing is our response to that, untested. The honest claim is sequencing discipline, not novelty: we are copying a known-good loop rather than inventing one. Files an investor can open for the product description: lib/progression.mjs, lib/expeditions.mjs, lib/events-data.mjs, app/screens/play/opponent-picker.tsx.</a:t>
            </a:r>
          </a:p>
          <a:p/>
          <a:p>
            <a:r>
              <a:t>SOURCES</a:t>
            </a:r>
          </a:p>
          <a:p>
            <a:r>
              <a:t>- https://www.gameanalytics.com/reports/2026-mobile-pc-gaming-benchmarks</a:t>
            </a:r>
          </a:p>
          <a:p>
            <a:r>
              <a:t>- FACT//DUEL internal: public/product/investor/numbers.md §3.2, status paragraph and §5.15 (company disclosure)</a:t>
            </a:r>
          </a:p>
          <a:p>
            <a:r>
              <a:t>- FACT//DUEL internal: repository — product code, unaudited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Product is the second-longest dwell in DocSend's per-section estimates at 59 seconds (third-party estimate, numbers.md §4.6), so this slide and slide 6 have to be readable at a glance. Walk the screenshots rather than the feature list. Two things to volunteer: device-local progression means a cleared browser clears the profile, and it means D1/D7/D30 are not merely unmeasured but architecturally unmeasurable — not 'we haven't yet' but cannot — which is exactly why milestone one on slide 9 is accounts and server-side progression. On opponents: the practice opponent carries a BOT badge in the opponent picker (app/screens/play/opponent-picker.tsx), and the full answer to 'is my opponent real' is milestone five in numbers.md §4.4, which ships before monetisation. Do not assert anything about how the bot is implemented, how progression is stored or how the transport is sized that an investor cannot open the repository and check for themselves — after Skillz v. AviaGames this is the area where an unverifiable claim does the most damage. Do not present the build as released: it is a private beta with zero users outside a private playtest. A founder may add shipped counts here, but only counts they can point at in the repository.</a:t>
            </a:r>
          </a:p>
          <a:p/>
          <a:p>
            <a:r>
              <a:t>SOURCES</a:t>
            </a:r>
          </a:p>
          <a:p>
            <a:r>
              <a:t>- FACT//DUEL internal: public/product/investor/numbers.md — status paragraph, §4.4 and §5.15 (company disclosure)</a:t>
            </a:r>
          </a:p>
          <a:p>
            <a:r>
              <a:t>- FACT//DUEL internal: repository — product code, unaudited</a:t>
            </a:r>
          </a:p>
          <a:p>
            <a:r>
              <a:t>- https://web.archive.org/web/20260622084020/https://www.docsend.com/blog/what-vcs-really-want-to-see-inside-your-seed-deck/</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strategic point of this slide is a hypothesis, not a finding. numbers.md §2.3 concludes that the binding constraints in this category were monetisation and long-tail retention rather than distribution, and nothing in the evidence base identifies an 'empty day' as the cause of any shutdown; this surface is our untested answer to the long-tail half of that diagnosis. Be precise about what is not here: no live feed, no results service, and no partnership with any league, broadcaster or rights holder — none is claimed anywhere in this deck. The calendar is hand-assembled and the date it was last checked is printed in the app (lib/events-data.mjs, app/screens/events-screen.tsx), which is the part an investor can verify without taking our word for it. We have no content production cost, no curation rate and no vendor quote anywhere in the evidence base, so do not describe the calendar as cheap or low-risk: describe it as unpriced. State 54 plainly rather than saying 'a growing bank' — §4.4 milestone 4 requires us to state 54, then set a target and a production rate, and we have set neither. There is no content line in the use of funds: §4.5 funds four engineers and nothing else.</a:t>
            </a:r>
          </a:p>
          <a:p/>
          <a:p>
            <a:r>
              <a:t>SOURCES</a:t>
            </a:r>
          </a:p>
          <a:p>
            <a:r>
              <a:t>- FACT//DUEL internal: public/product/investor/numbers.md — status paragraph and §5.15 (company disclosure)</a:t>
            </a:r>
          </a:p>
          <a:p>
            <a:r>
              <a:t>- FACT//DUEL internal: public/product/investor/numbers.md §2.3, §4.3 and §4.4 (company disclosure)</a:t>
            </a:r>
          </a:p>
          <a:p>
            <a:r>
              <a:t>- FACT//DUEL internal: repository — product code, unaudited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gets 29 seconds in DocSend's per-section estimates, so it carries one number and one arithmetic line and nothing else. The method note — Paul Graham's definition used literally, x customers x $y per year, with no penetration percentage anywhere in TAM or SAM, which is a16z's toothbrush failure case avoided — and the FSGA participation research now sit on appendix slide 17, where their figures actually appear. Three things to say before being asked. First, 216.8M is an EMARKETER forecast for full-year 2026, published April 2026: a modelled projection of second-screen behaviour generally, not a count, and not a live-sport-only population. Second, neither end of the ARPU band is reported by anybody — $7.80 is Duolingo's FY2025 revenue divided by the 133.1M MAU reported at 31 December 2025, a ratio Duolingo does not publish and one that mixes a full-year flow with a period-end stock, and $13.07 is MAG Interactive's nine-month group net sales divided by group MAU and annualised, from an unaudited interim report covering its whole portfolio rather than QuizDuel. Third, TAM-A is an upper bound with no activation, retention or conversion discount applied; Graham's own framing is that investors do not expect you to collect it. SAM ($704M-$1.18bn) and SOM — 0.14%-0.23% of SAM, labelled (P) on the chart and in appendix slide 17 — are a chosen target with zero company data behind them, never a projection. We deliberately exclude Europe, Latin America and every science-audience bloc, which makes the number smaller: say so, it is a credibility asset. One line worth saying: two paid research firms size game-based learning 3.93x apart for the identical year, so no vendor top-down number can discipline this plan.</a:t>
            </a:r>
          </a:p>
          <a:p/>
          <a:p>
            <a:r>
              <a:t>SOURCES</a:t>
            </a:r>
          </a:p>
          <a:p>
            <a:r>
              <a:t>- https://www.emarketer.com/content/second-screen-engagement-during-live-sports</a:t>
            </a:r>
          </a:p>
          <a:p>
            <a:r>
              <a:t>- https://www.sec.gov/Archives/edgar/data/1562088/000162828026012246/q4fy25duolingo12-31x25shar.htm</a:t>
            </a:r>
          </a:p>
          <a:p>
            <a:r>
              <a:t>- https://storage.mfn.se/8d863483-ccc8-4f02-b0c5-d37d899b23e8/mag-interim-report-eng-2025-26-q3.pdf</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Least-read slide in the deck at 23 seconds in DocSend's estimates, so it makes one point: the timing argument is behavioural and competitive, not technological. Resist any temptation to invent an AI or platform-shift narrative — we do not have one, and a fabricated one is the fastest way to lose a reader. The store-conversion figures need their caveats attached in the same breath as the numbers, not after them: they are AppTweak estimates, US-only, calendar year 2025, App Store only, established during our own verification pass rather than taken from the original claim (which turned out to be inverted — the 8.2% iOS figure in circulation is wrong), and numbers.md §6 marks the row re-confirm before use. They are also platform-split: trivia converts worst on iOS and above average on Google Play, and the slide says both rather than quoting the flattering half. The web-first line is an argument and not a measured advantage; §5.14 says we have no verified benchmark for web-first retention, acquisition cost or payer conversion. On Duolingo, use the FY2025 pair — $1,037.6M of total revenue with 12.2M paid subscribers against 133.1M MAU at year-end — and do not mix in the 30 June 2026 figures, which belong to slide 10. $1,037.6M is total revenue: nothing in the evidence base breaks out subscription revenue, so do not attribute the whole of it to subscriptions. And say 'no maintained incumbent in the live 1v1 duel', not 'an unattended category': QuizDuel, Quizion and Psych! all ship builds.</a:t>
            </a:r>
          </a:p>
          <a:p/>
          <a:p>
            <a:r>
              <a:t>SOURCES</a:t>
            </a:r>
          </a:p>
          <a:p>
            <a:r>
              <a:t>- https://play.google.com/store/apps/details?id=com.etermax.preguntados.lite&amp;hl=en_US&amp;gl=US</a:t>
            </a:r>
          </a:p>
          <a:p>
            <a:r>
              <a:t>- https://www.sec.gov/Archives/edgar/data/1562088/000162828026012246/q4fy25duolingo12-31x25shar.htm</a:t>
            </a:r>
          </a:p>
          <a:p>
            <a:r>
              <a:t>- https://www.apptweak.com/</a:t>
            </a:r>
          </a:p>
          <a:p>
            <a:r>
              <a:t>- FACT//DUEL internal: public/product/investor/numbers.md §3.5, §5.2 and §5.14 (company disclosure)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DocSend's finding is that VCs spend 80 percent more time evaluating the traction of companies that didn't raise money successfully: a vague traction slide invites the inspection that kills the round, so the honest move is to state zero and move on. Say it in one sentence and do not soften it — no waitlist presented as users, no playtest presented as a cohort, no pilot presented as revenue. Progression is device-local, so we cannot measure D1/D7/D30 at all today: not 'have not yet' but cannot, architecturally, which is a consequence of the build rather than a design goal, and it is why milestone one is the account layer. The three GameAnalytics medians are a vendor benchmark — 16,000+ mobile games, nine regions, iOS and Android, calendar year 2025, published 24 Aug 2026 — labelled as estimates on the slide face, and every one of them is measured on app-store installs while we are a browser product with no install step and no push notifications. numbers.md §5.14 calls that the single largest methodological risk in the model; slide 12 carries it as a named risk. The chart plots only those benchmark bars: there is no FACT//DUEL retention bar because there is no FACT//DUEL retention number. The remaining milestones from §4.4 are on the slide; their supporting figures — the Skillz v. AviaGames verdict, Sporcle's $43.99/yr and the 9% MAU-to-paid target — are sourced on slides 12 and 10, where they are printed, rather than here.</a:t>
            </a:r>
          </a:p>
          <a:p/>
          <a:p>
            <a:r>
              <a:t>SOURCES</a:t>
            </a:r>
          </a:p>
          <a:p>
            <a:r>
              <a:t>- FACT//DUEL internal: public/product/investor/numbers.md — status paragraph, §4.4 and §5.15 (company disclosure)</a:t>
            </a:r>
          </a:p>
          <a:p>
            <a:r>
              <a:t>- https://www.gameanalytics.com/reports/2026-mobile-pc-gaming-benchmarks</a:t>
            </a:r>
          </a:p>
          <a:p>
            <a:r>
              <a:t>- https://web.archive.org/web/20240302210508/https://www.docsend.com/blog/what-vcs-really-want-to-see-inside-your-seed-deck/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longest-dwell slide in a seed deck at 64 seconds in DocSend's estimates, so it is the densest page here and the one to rehearse hardest. The argument in one breath: the category does monetise, just not as consumer trivia IAP. Sensor Tower's Q2 2025 US iOS estimates put Kahoot at a $38.5K/week peak in mid-June falling to $28.2K, Trivia Crack Premium at about $33K and GeoGuessr at $31K falling to $28.7K — about $102.5K a week if you stack the peaks, and about $90K a week on quarter-end values. Do not annualise the stacked peak as though it were a run rate, and say out loud that these are modelled estimates of gross spend before Apple's commission, and that they are more than a year old. Against that: Kahoot collected $146.0M in FY2022 at a 95% gross margin, but through per-presenter B2B and education subscriptions at $19-$79 a month, which is not a consumer habit subscription and should not be presented as one; and Duolingo collects over a billion dollars a year of total revenue from a streak-and-quest loop mechanically the same shape as ours, converting 9.17% of MAU to paid across FY2025 and 9.03% at 30 June 2026. Neither ratio is filed as a ratio: both are our own arithmetic on separately disclosed subscriber and MAU counts. The cross-check is the point of the slide and it argues against us: at base-case Year-3 MAU of 105,900 (P), a Duolingo-rate subscription at Sporcle's price yields $420,666 (P) while our install-economics model yields $1,630,517 (P), a 3.88x divergence, which is why the honest Year-3 band is $0.4M-$1.6M (P) and not $1.6M. In the conservative case the two routes land within 8% of each other, which is the reason to trust the conservative case and distrust the base case. Two ceilings to state before being asked: base-case revenue per MAU of $15.40/yr (P) already exceeds both real anchors (MAG $13.07, Duolingo $7.80), and break-even blended cost per install is $1.36 (P) in the base case against Trivia Royale's sourced $0.20 or less — necessary, and demonstrably not sufficient. We have no verified CAC or genre ARPDAU benchmark and we will not quote one. All scenario figures are (P): plans built on third-party benchmarks, with zero company data behind them, and the Year-3 install volume and the 20% monthly churn are flagged in numbers.md §4.2 as chosen assumptions with no source at all.</a:t>
            </a:r>
          </a:p>
          <a:p/>
          <a:p>
            <a:r>
              <a:t>SOURCES</a:t>
            </a:r>
          </a:p>
          <a:p>
            <a:r>
              <a:t>- https://sensortower.com/blog/2025-q2-ios-top-5-trivia%20games-revenue-us-604118ed241bc16eb8b8453a</a:t>
            </a:r>
          </a:p>
          <a:p>
            <a:r>
              <a:t>- https://www.sec.gov/Archives/edgar/data/1562088/000162828026012246/q4fy25duolingo12-31x25shar.htm</a:t>
            </a:r>
          </a:p>
          <a:p>
            <a:r>
              <a:t>- https://www.sec.gov/Archives/edgar/data/1562088/000162828026053603/duol-20260630.htm</a:t>
            </a:r>
          </a:p>
          <a:p>
            <a:r>
              <a:t>- https://www.sec.gov/Archives/edgar/data/1562088/000162828026053299/q2fy26duolingo6-30x26share.htm</a:t>
            </a:r>
          </a:p>
          <a:p>
            <a:r>
              <a:t>- https://kahoot.com/files/2023/02/4Q22_Kahoot_quarterly_report.pdf</a:t>
            </a:r>
          </a:p>
          <a:p>
            <a:r>
              <a:t>- https://www.sporcle.com/memberships/</a:t>
            </a:r>
          </a:p>
          <a:p>
            <a:r>
              <a:t>- https://www.appsflyer.com/resources/reports/app-marketing-monetization-report/</a:t>
            </a:r>
          </a:p>
          <a:p>
            <a:r>
              <a:t>- https://www.gameanalytics.com/reports/2026-mobile-pc-gaming-benchmarks</a:t>
            </a:r>
          </a:p>
          <a:p>
            <a:r>
              <a:t>- FACT//DUEL internal: public/product/investor/numbers.md §4.1-§4.3</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Competition gets 34 seconds in DocSend's estimates, so the table has to do the work and the bullets only frame it. Putting our own row in with zeroes is deliberate: it is the row an investor would otherwise add themselves. Read the column headings literally — lifetime installs are cumulative store installs, not users and not an active base, and Trivia Crack's 267,939,837 is Google Play's internal count against a store display of '100M+'. Caveats: Trivia Crack's weekly figure is a Sensor Tower modelled estimate for the Trivia Crack Premium SKU in Q2 2025, not disclosed revenue and not current; MAG's MAU and net sales are group-level across its whole portfolio and the MAU figure is a nine-month average for Sep 2025 to May 2026, which is why the row is labelled MAG Interactive rather than QuizDuel; nothing in the evidence base establishes whether QuizDuel's duel is live or turn-based, so the cell says the status is not verified; Kahoot has published no audited consolidated group figures since delisting on 23 Jan 2024, so FY2022 is the last comparable full year and the parent-only Norwegian statutory accounts are not group results; Wayground's $44M is a sum across disclosed rounds of which only the $31.5M Series B has a source URL in our evidence base, and the frequently-cited ~$300M valuation appears in no primary source and is deliberately absent. Both large-base rows that say 'No' never ran a 1v1 duel at all, which is why the first bullet says the one that ran it has left it rather than that they all walked away. Skillz is the adjacent warning and it cuts both ways: revenue fell from $380.2M to $104.5M and paying MAU from 513,000 to 141,000 while monthly ARPPU held at about $62, and the company posted net losses of $187.9M in FY2021 and $70.4M in FY2025 — per-payer monetisation is not the same thing as a profitable business, and Skillz is a real-money cash-tournament product, which a free knowledge duel is not.</a:t>
            </a:r>
          </a:p>
          <a:p/>
          <a:p>
            <a:r>
              <a:t>SOURCES</a:t>
            </a:r>
          </a:p>
          <a:p>
            <a:r>
              <a:t>- https://play.google.com/store/apps/details?id=com.etermax.preguntados.lite&amp;hl=en_US&amp;gl=US</a:t>
            </a:r>
          </a:p>
          <a:p>
            <a:r>
              <a:t>- https://sensortower.com/blog/2025-q2-ios-top-5-trivia%20games-revenue-us-604118ed241bc16eb8b8453a</a:t>
            </a:r>
          </a:p>
          <a:p>
            <a:r>
              <a:t>- https://storage.mfn.se/8d863483-ccc8-4f02-b0c5-d37d899b23e8/mag-interim-report-eng-2025-26-q3.pdf</a:t>
            </a:r>
          </a:p>
          <a:p>
            <a:r>
              <a:t>- https://itunes.apple.com/lookup?id=1484354626&amp;country=us</a:t>
            </a:r>
          </a:p>
          <a:p>
            <a:r>
              <a:t>- https://itunes.apple.com/lookup?id=1484354626&amp;country=de</a:t>
            </a:r>
          </a:p>
          <a:p>
            <a:r>
              <a:t>- https://play.google.com/store/apps/details?id=no.mobitroll.kahoot.android&amp;hl=en_US&amp;gl=US</a:t>
            </a:r>
          </a:p>
          <a:p>
            <a:r>
              <a:t>- https://kahoot.com/files/2023/02/4Q22_Kahoot_quarterly_report.pdf</a:t>
            </a:r>
          </a:p>
          <a:p>
            <a:r>
              <a:t>- https://newsweb.oslobors.no/message/608893</a:t>
            </a:r>
          </a:p>
          <a:p>
            <a:r>
              <a:t>- https://www.prnewswire.com/news-releases/quizizz-gains-momentum-raises-31-5-million-to-motivate-every-student-301322655.html</a:t>
            </a:r>
          </a:p>
          <a:p>
            <a:r>
              <a:t>- https://itunes.apple.com/lookup?id=1160249042&amp;country=us</a:t>
            </a:r>
          </a:p>
          <a:p>
            <a:r>
              <a:t>- https://play.google.com/store/apps/details?id=com.quizion.app&amp;hl=en_US</a:t>
            </a:r>
          </a:p>
          <a:p>
            <a:r>
              <a:t>- https://play.google.com/store/apps/details?id=live.trivia&amp;hl=en_US</a:t>
            </a:r>
          </a:p>
          <a:p>
            <a:r>
              <a:t>- https://www.sec.gov/Archives/edgar/data/1801661/000180166126000019/q425skillzex991-earningsre.htm</a:t>
            </a:r>
          </a:p>
          <a:p>
            <a:r>
              <a:t>- https://www.sec.gov/Archives/edgar/data/1801661/000180166123000003/ex991_fy22q4-8xkxearningsr.htm</a:t>
            </a:r>
          </a:p>
          <a:p>
            <a:r>
              <a:t>- FACT//DUEL internal: public/product/investor/numbers.md — status paragraph and §5.15 (company disclosure)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risk has a named response rather than a reassurance. Long-tail retention: the structural fact is that at a median D30 of 0.68-0.79% a game's MAU is almost entirely the current month's new installs — in our own base case the retained resident base is 5,900 of 105,900 MAU (P), 5.6% — so retention is not a metric in this category, it is the business, and that is why the entire raise is pointed at it. Note that the 0.68-0.79% band is GameAnalytics' global all-genre median, not a trivia-specific figure, and that the model's base case uses the North American 1.18%. Trivia Royale's 45% D1 is a company statement to TechCrunch, not audited; its closure was announced on 23 Feb 2021 (numbers.md §2.3). Opponent integrity: the $42.9M award was a jury verdict for willful infringement of a Skillz platform patent, not damages awarded for running bots — the bots named 'Cucumbers' and 'Guides' were trial evidence — and it is a verdict rather than a collected settlement. Our own answer to it is milestone five in numbers.md §4.4: an opponent-integrity answer ships before monetisation. Do not describe bot internals that an investor cannot verify in the repository. Benchmark transfer is the largest methodological risk in the whole model and is stated rather than buried: we have no verified benchmark for web-first game retention, web-first acquisition cost or web-first payer conversion, and the milestone-one cohort is what replaces the assumption with data. Note the scope — it is every benchmark in numbers.md §3; Duolingo's 9.03% MAU-to-paid and Sporcle's $43.99/yr web price are not store-measured. Content depth: there is no separate content budget in §4.5, which funds four engineers and nothing else, and §4.4 milestone 4 still requires us to set a target and a production rate. If an investor adds a risk we have not listed, that is a good outcome — write it down and answer it in the follow-up, not on the spot.</a:t>
            </a:r>
          </a:p>
          <a:p/>
          <a:p>
            <a:r>
              <a:t>SOURCES</a:t>
            </a:r>
          </a:p>
          <a:p>
            <a:r>
              <a:t>- https://techcrunch.com/2020/07/10/how-thor-fridrikssons-trivia-royale-earned-2-5m-downloads-in-3-weeks/</a:t>
            </a:r>
          </a:p>
          <a:p>
            <a:r>
              <a:t>- https://www.gameanalytics.com/reports/2026-mobile-pc-gaming-benchmarks</a:t>
            </a:r>
          </a:p>
          <a:p>
            <a:r>
              <a:t>- https://www.sec.gov/Archives/edgar/data/1801661/000180166124000100/sklz-20231231.htm</a:t>
            </a:r>
          </a:p>
          <a:p>
            <a:r>
              <a:t>- https://www.sporcle.com/memberships/</a:t>
            </a:r>
          </a:p>
          <a:p>
            <a:r>
              <a:t>- https://www.sec.gov/Archives/edgar/data/1562088/000162828026053299/q2fy26duolingo6-30x26share.htm</a:t>
            </a:r>
          </a:p>
          <a:p>
            <a:r>
              <a:t>- FACT//DUEL internal: public/product/investor/numbers.md §2.3, §4.3 and §4.4 (company disclosure)</a:t>
            </a:r>
          </a:p>
          <a:p>
            <a:r>
              <a:t>- FACT//DUEL internal: public/product/investor/numbers.md §3.5, §5.2 and §5.14 (company disclosure)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intentionally unfinished and must not be filled in by anyone but the founder. YC's own framing is that investors invest in teams, not slides, and one of the 17 DON'Ts in its seed fundraising guide is 'Be dishonest in any way' — this deck's whole credibility strategy is that every claim survives checking, so no advisor, hire, partner or customer appears anywhere in it until one is real and has agreed in writing. The role list is derived from the funded milestones rather than from an org chart: milestone one is the account and analytics layer, which is why backend leads the list. Content and question production is named because §4.4 requires it, but it is not funded by the ask arithmetic, which covers four engineers and nothing else — do not present it as a costed hire. The four-engineer, 18-month shape is a plan built on YC's undated $15k-per-engineer-per-month rule of thumb, which slide 14 flags as very likely understated today. DocSend estimates 38 seconds on the team section (third-party estimate, numbers.md §4.6); a blank placeholder sent to an investor spends all 38 of them badly, so the deck is not sendable until this page is real.</a:t>
            </a:r>
          </a:p>
          <a:p/>
          <a:p>
            <a:r>
              <a:t>SOURCES</a:t>
            </a:r>
          </a:p>
          <a:p>
            <a:r>
              <a:t>- FACT//DUEL internal: public/product/investor/numbers.md §4.4 and §4.5</a:t>
            </a:r>
          </a:p>
          <a:p>
            <a:r>
              <a:t>- https://www.ycombinator.com/library/4A-a-guide-to-seed-fundraising</a:t>
            </a:r>
          </a:p>
          <a:p>
            <a:r>
              <a:t>- https://www.ycombinator.com/library/4T-how-to-design-a-better-pitch-deck</a:t>
            </a:r>
          </a:p>
          <a:p>
            <a:r>
              <a:t>- https://web.archive.org/web/20260622084020/https://www.docsend.com/blog/what-vcs-really-want-to-see-inside-your-seed-deck/</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ask uses YC's structure — N months x team x cost = $X, with dilution against a published median — and the arithmetic is shown so it can be checked in the 32 seconds this slide gets. Caveats to volunteer rather than defend. YC's $15,000 per engineer per month and its $500k-$1.5M band are undated editorial rules of thumb, not measured or inflation-indexed 2026 figures, and are very likely understated today; we use the structure and expect to substitute a current, defensible cost base once the team on slide 13 is real. Both the $1,080,000 and the ~$1.2M are therefore marked (P). Carta's $16.0M is the Q3 2025 median seed pre-money, up 14% YoY, in a quarter with about 17% down rounds; the 6.98% is what a $1.2M round would cost at that median, which is an illustration rather than a price, and it is an optimistic illustration — Crunchbase reports that more than half of 2025 US seed dollars went into rounds of $10M or larger, so that median is set by rounds an order of magnitude bigger than this ask. We do not quote Carta's Q4 2025 all-time-high post-money: our evidence base contains no primary Carta Q4 2025 source, the figure is all-sector with no consumer split, and Carta's own Q1 2026 note says early-stage primary valuations softened (numbers.md §5.8). Quote YC's dilution sentence in full — the second half, that most rounds require up to 20%, is the part that makes 6.98% unremarkable rather than exceptional. On the question bank: state 54 as the baseline and say plainly that the target and production rate are still to be set (§4.4 milestone 4), rather than promising 'a larger bank'. Base-case Year-1 revenue of $101,907 (P) is immaterial to runway and should be described that way — the raise buys 18 months to produce the retention data we do not have, which is the entire thesis of the round. No detailed financial model belongs in this conversation: a16z, YC and CRV all put three-to-five-year projections in the appendix or the data room, and ours is in appendix slide 16 where it can be interrogated rather than performed.</a:t>
            </a:r>
          </a:p>
          <a:p/>
          <a:p>
            <a:r>
              <a:t>SOURCES</a:t>
            </a:r>
          </a:p>
          <a:p>
            <a:r>
              <a:t>- https://www.ycombinator.com/library/4A-a-guide-to-seed-fundraising</a:t>
            </a:r>
          </a:p>
          <a:p>
            <a:r>
              <a:t>- https://carta.com/data/state-of-private-markets-q3-2025/</a:t>
            </a:r>
          </a:p>
          <a:p>
            <a:r>
              <a:t>- https://news.crunchbase.com/venture/average-seed-funding-amounts-deals-grew-2025/</a:t>
            </a:r>
          </a:p>
          <a:p>
            <a:r>
              <a:t>- FACT//DUEL internal: public/product/investor/numbers.md §4.4, §4.5 and §5.8</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both readings and let the investor pick; a deck that only presents the thesis reading of a 1,000x gap has not understood it. The vendor disagreement is itself evidence: IMARC sizes game-based learning at $24.5bn for the same year MarketsandMarkets sizes it at $6.23bn, a 3.93x spread, and market.us sizes fan engagement at 2.00x The Business Research Company's figure. When two paid research firms differ by four times on the same market in the same year, neither number can discipline a business plan, which is the empirical case for the bottom-up construction on slide 7. Note also that our own TAM-A of $1.69-2.83bn sits below the top-down range, because we count only US second-screen adults at observed per-user revenue while the vendors count sponsorship, ticketing, merchandising and B2B platform spend we will never touch. All Sensor Tower figures are modelled estimates of gross consumer spend, before Apple's 15-30% cut.</a:t>
            </a:r>
          </a:p>
          <a:p/>
          <a:p>
            <a:r>
              <a:t>SOURCES</a:t>
            </a:r>
          </a:p>
          <a:p>
            <a:r>
              <a:t>- https://www.factmr.com/report/second-screen-sports-apps-market</a:t>
            </a:r>
          </a:p>
          <a:p>
            <a:r>
              <a:t>- https://www.thebusinessresearchcompany.com/report/fan-engagement-global-market-report</a:t>
            </a:r>
          </a:p>
          <a:p>
            <a:r>
              <a:t>- https://market.us/report/fan-engagement-market/</a:t>
            </a:r>
          </a:p>
          <a:p>
            <a:r>
              <a:t>- https://www.marketsandmarkets.com/Market-Reports/game-based-learning-market-169115901.html</a:t>
            </a:r>
          </a:p>
          <a:p>
            <a:r>
              <a:t>- https://www.imarcgroup.com/game-based-learning-market</a:t>
            </a:r>
          </a:p>
          <a:p>
            <a:r>
              <a:t>- https://sensortower.com/blog/2025-q2-ios-top-5-trivia%20games-revenue-us-604118ed241bc16eb8b8453a</a:t>
            </a:r>
          </a:p>
          <a:p>
            <a:r>
              <a:t>- https://play.google.com/store/apps/details?id=com.etermax.preguntados.lite&amp;hl=en_US&amp;gl=US</a:t>
            </a:r>
          </a:p>
          <a:p>
            <a:r>
              <a:t>- https://www.sensortower.com/blog/state-of-mobile-2026</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page exists only because someone asked for it. a16z lists detailed three-to-five-year projections among the things not to include, wants 12-18 month milestones instead, and its anchoring rule cannot even be satisfied here because we have no historical data to anchor to — which is itself the most honest sentence on the page. Inputs, all third-party: D30 retention of 0.68% / 1.18% / 1.70% (global median low, North American median, global P75 from GameAnalytics); install-to-payer of 5.08% / 11.14% / 18.46% (AppsFlyer NA repeat payer, NA one-time payer, and a derived $1.34/$7.26 ratio used only as an optimistic ceiling and labelled derived); ARPPU held at AppsFlyer's casual D90 $7.26 in all three; ad revenue per install $0.00 in the conservative case because we are a web app with no mediation stack today. Monthly churn of the retained base is fixed at 20% across all scenarios — an unsourced modelling assumption, held constant so it cannot flatter any scenario. Three stress tests all point the same way: the conservative case is genuinely conservative, and the base case is not. Base-case revenue per MAU of $15.40 exceeds both real anchors (MAG $13.07, Duolingo $7.80), so any scenario that out-monetises Duolingo per active user is a ceiling and not a target. Per-MAU revenue also looks high partly because high churn makes annual installs about 11x steady-state MAU — throughput, not intensity.</a:t>
            </a:r>
          </a:p>
          <a:p/>
          <a:p>
            <a:r>
              <a:t>SOURCES</a:t>
            </a:r>
          </a:p>
          <a:p>
            <a:r>
              <a:t>- https://www.gameanalytics.com/reports/2026-mobile-pc-gaming-benchmarks</a:t>
            </a:r>
          </a:p>
          <a:p>
            <a:r>
              <a:t>- https://www.appsflyer.com/resources/reports/app-marketing-monetization-report/</a:t>
            </a:r>
          </a:p>
          <a:p>
            <a:r>
              <a:t>- https://www.sec.gov/Archives/edgar/data/1562088/000162828026053299/q2fy26duolingo6-30x26share.htm</a:t>
            </a:r>
          </a:p>
          <a:p>
            <a:r>
              <a:t>- https://www.sporcle.com/memberships/</a:t>
            </a:r>
          </a:p>
          <a:p>
            <a:r>
              <a:t>- https://techcrunch.com/2020/07/10/how-thor-fridrikssons-trivia-royale-earned-2-5m-downloads-in-3-weeks/</a:t>
            </a:r>
          </a:p>
          <a:p>
            <a:r>
              <a:t>- https://a16z.com/the-insiders-guide-to-data-rooms-what-to-know-before-you-raise/</a:t>
            </a:r>
          </a:p>
          <a:p>
            <a:r>
              <a:t>- FACT//DUEL internal: public/product/investor/numbers.md §4.1-§4.3</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flaws to disclose before anyone finds them. First, a nesting inconsistency: TAM-A is US-only at 216.8M while SAM includes Canada at 90.3M (82.8M US plus about 7.5M Canadian), so roughly 7.5M people sit in SAM but not TAM-A. It is immaterial and it is flagged rather than smoothed over. Second, TAM-B is in this deck only as an upper bound with its own refutation attached. Why SAM is genuinely addressable rather than merely large, both from FSGA 2026: 66% of 13-20-year-old season-long fantasy players update lineups daily, with an average starting age of 14 and a $100 median annual spend, and 51% of participants do both fantasy and betting, up from 49%. That is a daily-habit, already-spending, competitively-motivated audience — the behavioural profile a 1v1 duel is built for. Nielsen's '51% of people globally are fans of football' is deliberately not converted to a headcount because we have no verified population denominator for it; we use only its 62M US soccer fans and the ICC's 1bn+ cricket figure. Aggregator fan-base numbers circulating for other sports failed verification and are excluded.</a:t>
            </a:r>
          </a:p>
          <a:p/>
          <a:p>
            <a:r>
              <a:t>SOURCES</a:t>
            </a:r>
          </a:p>
          <a:p>
            <a:r>
              <a:t>- https://www.emarketer.com/content/second-screen-engagement-during-live-sports</a:t>
            </a:r>
          </a:p>
          <a:p>
            <a:r>
              <a:t>- https://members.thefsga.org/news/Details/new-fsga-research-details-growing-role-of-ai-prediction-markets-in-fantasy-sports-and-sports-betting-341850</a:t>
            </a:r>
          </a:p>
          <a:p>
            <a:r>
              <a:t>- https://members.thefsga.org/news/Details/new-fsga-research-highlights-industry-stability-and-next-generation-growth-in-fantasy-sports-and-sports-betting-305937</a:t>
            </a:r>
          </a:p>
          <a:p>
            <a:r>
              <a:t>- https://www.icc-cricket.com/media-releases/first-global-market-research-project-unveils-more-than-one-billion-cricket-fans</a:t>
            </a:r>
          </a:p>
          <a:p>
            <a:r>
              <a:t>- https://www.nielsen.com/news-center/2025/the-future-of-sport-nielsens-2025-report-reveals-growth-drivers/</a:t>
            </a:r>
          </a:p>
          <a:p>
            <a:r>
              <a:t>- https://newzoo.com/articles/global-games-market-2025</a:t>
            </a:r>
          </a:p>
          <a:p>
            <a:r>
              <a:t>- https://paulgraham.com/convince.html</a:t>
            </a:r>
          </a:p>
          <a:p>
            <a:r>
              <a:t>- https://a16z.com/16-more-startup-metrics/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Precision notes that matter if challenged. QuizUp's '20 million users' is a company statement from 19 May 2014 describing a six-month registration milestone, not a measured peak — we quote it as claimed, attributed and dated. HQ Trivia's decline figure is the comparison of 67,000 installs in January 2020 against roughly 2 million a month in February 2018, which is about 3% — both figures are rounded Sensor Tower estimates, so we do not quote a ratio to three significant figures; it relaunched on 29 Mar 2020, played its last game on 17 Nov 2022 and was delisted from stores on 5 Aug 2023. Trivia Royale's 45% D1 and sub-$500,000 budget are company statements to TechCrunch, not audited, and the sub-$0.20 per download is blended including organic and viral rather than a paid CPI. Skillz's monthly ARPPU was $61.75 in FY2021 (derived) and $61.70 in FY2025 (stated) — essentially flat while the paying base fell 73%, which is the cleanest available evidence that competitive-play users monetise well and churn hard.</a:t>
            </a:r>
          </a:p>
          <a:p/>
          <a:p>
            <a:r>
              <a:t>SOURCES</a:t>
            </a:r>
          </a:p>
          <a:p>
            <a:r>
              <a:t>- https://techcrunch.com/2020/02/14/hq-trivia-shuts-down/</a:t>
            </a:r>
          </a:p>
          <a:p>
            <a:r>
              <a:t>- https://www.sec.gov/Archives/edgar/data/1734125/000173412518000001/xslFormDX01/primary_doc.xml</a:t>
            </a:r>
          </a:p>
          <a:p>
            <a:r>
              <a:t>- https://www.sec.gov/Archives/edgar/data/1366246/000155837017001621/gluu-20161231x10k.htm</a:t>
            </a:r>
          </a:p>
          <a:p>
            <a:r>
              <a:t>- https://www.sec.gov/Archives/edgar/data/1366246/000155837016010604/gluu-20161215x8k.htm</a:t>
            </a:r>
          </a:p>
          <a:p>
            <a:r>
              <a:t>- https://techcrunch.com/2020/07/10/how-thor-fridrikssons-trivia-royale-earned-2-5m-downloads-in-3-weeks/</a:t>
            </a:r>
          </a:p>
          <a:p>
            <a:r>
              <a:t>- https://www.sec.gov/Archives/edgar/data/1717682/000171768218000001/primary_doc.xml</a:t>
            </a:r>
          </a:p>
          <a:p>
            <a:r>
              <a:t>- https://www.sec.gov/Archives/edgar/data/1801661/000180166123000003/ex991_fy22q4-8xkxearningsr.htm</a:t>
            </a:r>
          </a:p>
          <a:p>
            <a:r>
              <a:t>- https://www.sec.gov/Archives/edgar/data/1801661/000180166126000019/q425skillzex991-earningsre.htm</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page is a credibility instrument, not an apology. Specific exclusions an investor may expect to see and will not: no genre ARPDAU band (traced to one consultant's blog, relabelled as a benchmark by a secondary source; the only company-reported figure in our base is MAG Interactive's 9.0 US cents group ARPDAU for the nine months to May 2026); no Trivia Crack '600 million downloads' or '150 million active users' (PR-originated, and the second describes etermax company-wide); no ~$300M Wayground valuation (no primary source); no Sensor Tower puzzle-genre revenue figures (gated report, secondary summary, and the framing is wrong twice over); no IPM figures for trivia (gated, unverified); and no aggregator global fan-base counts, one of which is contradicted by the sport's own governing body. On store conversion we corrected a claim in our own favour's opposite direction and kept the correction. The single largest methodological risk is benchmark transfer to web, and the only thing that resolves it is our own instrumented cohort — which is what the raise funds.</a:t>
            </a:r>
          </a:p>
          <a:p/>
          <a:p>
            <a:r>
              <a:t>SOURCES</a:t>
            </a:r>
          </a:p>
          <a:p>
            <a:r>
              <a:t>- FACT//DUEL internal: public/product/investor/numbers.md §5 (failed verification and unresolved items)</a:t>
            </a:r>
          </a:p>
          <a:p>
            <a:r>
              <a:t>- https://storage.mfn.se/8d863483-ccc8-4f02-b0c5-d37d899b23e8/mag-interim-report-eng-2025-26-q3.pdf</a:t>
            </a:r>
          </a:p>
          <a:p>
            <a:r>
              <a:t>- https://techcrunch.com/2020/07/10/how-thor-fridrikssons-trivia-royale-earned-2-5m-downloads-in-3-weeks/</a:t>
            </a:r>
          </a:p>
          <a:p>
            <a:r>
              <a:t>- https://www.apptweak.com/</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Offer the playtest link rather than describing the product a third time; a founder who hands over a working link at this point converts more than one who adds a slide. Be exact about what the playtest is and is not: it is a private beta with no accounts, no server-side progression and 54 sample questions, it produces no retention data, and the people in it are not users in any sense this deck would count. If asked about engineering rigour, the repository's own release record is the place to point — it lists the automated regression suites, the TypeScript and production-build gates, and, just as importantly, the checks that were not performed, including physical-device play, assistive-technology evaluation and any WAN or capacity testing. Quote specific counts from that record only if you have re-read it that day.</a:t>
            </a:r>
          </a:p>
          <a:p/>
          <a:p>
            <a:r>
              <a:t>SOURCES</a:t>
            </a:r>
          </a:p>
          <a:p>
            <a:r>
              <a:t>- FACT//DUEL internal: public/product/investor/numbers.md — status paragraph and §5.15 (company disclosure)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§4.3 of numbers.md reproduced in full, so that anyone who wants to check the arithmetic can do it on the page instead of asking for a spreadsheet. Two things to say before they are asked. First, the only thing that changes between scenarios is three inputs — D30 retention, install-to-payer rate and install volume; the model itself is identical, ARPPU is held at AppsFlyer's casual D90 $7.26 in all three, and monthly churn of the retained base is held at 20% everywhere so it cannot flatter one case. Second, the install volumes are chosen assumptions with no company data behind them, which is why appendix H lists them as assumptions rather than inputs. Revenue per MAU rises across scenarios only because higher churn makes annual installs about 11x steady-state MAU — that is throughput, not better monetisation, and it is the reason the subscription cross-check on slide 10 exists.</a:t>
            </a:r>
          </a:p>
          <a:p/>
          <a:p>
            <a:r>
              <a:t>SOURCES</a:t>
            </a:r>
          </a:p>
          <a:p>
            <a:r>
              <a:t>- https://www.gameanalytics.com/reports/2026-mobile-pc-gaming-benchmarks</a:t>
            </a:r>
          </a:p>
          <a:p>
            <a:r>
              <a:t>- https://www.appsflyer.com/resources/reports/app-marketing-monetization-report/</a:t>
            </a:r>
          </a:p>
          <a:p>
            <a:r>
              <a:t>- FACT//DUEL internal: public/product/investor/numbers.md §4.1-§4.3</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point of showing the inputs separately from the outputs is that an investor can replace any one of them and re-run the model without our help. Even the optimistic case assumes only median casual per-install monetisation — AppsFlyer's own $1.34 IAP plus $0.55 ad revenue — so all of the optimism sits in install volume and none of it in monetisation quality. The derived 18.46% payer rate is arithmetic on two published figures that may rest on different samples and windows, and it sits well above the 11.14% North American 30-day figure, which is why it is used only as a ceiling and labelled derived. The conservative case carries $0.00 of ad revenue because we are a web app with no mediation stack today. On break-even cost per install: Trivia Royale's sourced blended figure of under $0.20 is inside all three of ours, and that company still died with 2.5M downloads and 45% D1, so clearing break-even is necessary and demonstrably not sufficient.</a:t>
            </a:r>
          </a:p>
          <a:p/>
          <a:p>
            <a:r>
              <a:t>SOURCES</a:t>
            </a:r>
          </a:p>
          <a:p>
            <a:r>
              <a:t>- https://www.gameanalytics.com/reports/2026-mobile-pc-gaming-benchmarks</a:t>
            </a:r>
          </a:p>
          <a:p>
            <a:r>
              <a:t>- https://www.appsflyer.com/resources/reports/app-marketing-monetization-report/</a:t>
            </a:r>
          </a:p>
          <a:p>
            <a:r>
              <a:t>- https://techcrunch.com/2020/07/10/how-thor-fridrikssons-trivia-royale-earned-2-5m-downloads-in-3-weeks/</a:t>
            </a:r>
          </a:p>
          <a:p>
            <a:r>
              <a:t>- https://www.sec.gov/Archives/edgar/data/1562088/000162828026012246/q4fy25duolingo12-31x25shar.htm</a:t>
            </a:r>
          </a:p>
          <a:p>
            <a:r>
              <a:t>- https://storage.mfn.se/8d863483-ccc8-4f02-b0c5-d37d899b23e8/mag-interim-report-eng-2025-26-q3.pdf</a:t>
            </a:r>
          </a:p>
          <a:p>
            <a:r>
              <a:t>- FACT//DUEL internal: public/product/investor/numbers.md §4.1-§4.3</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this page alongside appendix E. The kinds matter more than the count: an audited filing and a vendor's modelled estimate are not the same evidence, and the deck says which is which every time it uses one. Where a figure is a modelled estimate — every Sensor Tower number, every GameAnalytics and AppsFlyer benchmark, the AppTweak conversion figures — it is labelled as an estimate on the slide that carries it. Full URLs for this page:</a:t>
            </a:r>
          </a:p>
          <a:p/>
          <a:p>
            <a:r>
              <a:t>- FACT//DUEL internal — numbers.md — status paragraph and §5.15</a:t>
            </a:r>
          </a:p>
          <a:p>
            <a:r>
              <a:t>  FACT//DUEL internal: public/product/investor/numbers.md — status paragraph and §5.15 (company disclosure)</a:t>
            </a:r>
          </a:p>
          <a:p>
            <a:r>
              <a:t>- Y Combinator — A guide to seed fundraising</a:t>
            </a:r>
          </a:p>
          <a:p>
            <a:r>
              <a:t>  https://www.ycombinator.com/library/4A-a-guide-to-seed-fundraising</a:t>
            </a:r>
          </a:p>
          <a:p>
            <a:r>
              <a:t>- Y Combinator — How to design a better pitch deck</a:t>
            </a:r>
          </a:p>
          <a:p>
            <a:r>
              <a:t>  https://www.ycombinator.com/library/4T-how-to-design-a-better-pitch-deck</a:t>
            </a:r>
          </a:p>
          <a:p>
            <a:r>
              <a:t>- GameAnalytics — 2026 Mobile &amp; PC Gaming Benchmarks</a:t>
            </a:r>
          </a:p>
          <a:p>
            <a:r>
              <a:t>  https://www.gameanalytics.com/reports/2026-mobile-pc-gaming-benchmarks</a:t>
            </a:r>
          </a:p>
          <a:p>
            <a:r>
              <a:t>- DocSend — per-section dwell times</a:t>
            </a:r>
          </a:p>
          <a:p>
            <a:r>
              <a:t>  https://web.archive.org/web/20260622084020/https://www.docsend.com/blog/what-vcs-really-want-to-see-inside-your-seed-deck/</a:t>
            </a:r>
          </a:p>
          <a:p>
            <a:r>
              <a:t>- DocSend — what VCs want inside a seed deck</a:t>
            </a:r>
          </a:p>
          <a:p>
            <a:r>
              <a:t>  https://web.archive.org/web/20240302210508/https://www.docsend.com/blog/what-vcs-really-want-to-see-inside-your-seed-deck/</a:t>
            </a:r>
          </a:p>
          <a:p>
            <a:r>
              <a:t>- Google Play — Trivia Crack listing</a:t>
            </a:r>
          </a:p>
          <a:p>
            <a:r>
              <a:t>  https://play.google.com/store/apps/details?id=com.etermax.preguntados.lite&amp;hl=en_US&amp;gl=US</a:t>
            </a:r>
          </a:p>
          <a:p>
            <a:r>
              <a:t>- MAG Interactive — Q3 2025/26 interim report</a:t>
            </a:r>
          </a:p>
          <a:p>
            <a:r>
              <a:t>  https://storage.mfn.se/8d863483-ccc8-4f02-b0c5-d37d899b23e8/mag-interim-report-eng-2025-26-q3.pdf</a:t>
            </a:r>
          </a:p>
          <a:p>
            <a:r>
              <a:t>- Apple lookup API — QuizDuel listing (US storefront)</a:t>
            </a:r>
          </a:p>
          <a:p>
            <a:r>
              <a:t>  https://itunes.apple.com/lookup?id=1484354626&amp;country=us</a:t>
            </a:r>
          </a:p>
          <a:p>
            <a:r>
              <a:t>- Apple lookup API — QuizDuel listing</a:t>
            </a:r>
          </a:p>
          <a:p>
            <a:r>
              <a:t>  https://itunes.apple.com/lookup?id=1484354626&amp;country=de</a:t>
            </a:r>
          </a:p>
          <a:p>
            <a:r>
              <a:t>- Google Play — Quizion listing</a:t>
            </a:r>
          </a:p>
          <a:p>
            <a:r>
              <a:t>  https://play.google.com/store/apps/details?id=com.quizion.app&amp;hl=en_US</a:t>
            </a:r>
          </a:p>
          <a:p>
            <a:r>
              <a:t>- Google Play — TRIVIA GO! listing</a:t>
            </a:r>
          </a:p>
          <a:p>
            <a:r>
              <a:t>  https://play.google.com/store/apps/details?id=live.trivia&amp;hl=en_US</a:t>
            </a:r>
          </a:p>
          <a:p>
            <a:r>
              <a:t>- TechCrunch — Trivia Royale, 2.5M downloads in 3 weeks</a:t>
            </a:r>
          </a:p>
          <a:p>
            <a:r>
              <a:t>  https://techcrunch.com/2020/07/10/how-thor-fridrikssons-trivia-royale-earned-2-5m-downloads-in-3-weeks/</a:t>
            </a:r>
          </a:p>
          <a:p>
            <a:r>
              <a:t>- TechCrunch — HQ Trivia shuts down</a:t>
            </a:r>
          </a:p>
          <a:p>
            <a:r>
              <a:t>  https://techcrunch.com/2020/02/14/hq-trivia-shuts-down/</a:t>
            </a:r>
          </a:p>
          <a:p>
            <a:r>
              <a:t>- TechCrunch — HQ Trivia peak concurrent record</a:t>
            </a:r>
          </a:p>
          <a:p>
            <a:r>
              <a:t>  https://techcrunch.com/2018/08/14/hq-trivia-apple-tv/</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register, continued. Full URLs for this page:</a:t>
            </a:r>
          </a:p>
          <a:p/>
          <a:p>
            <a:r>
              <a:t>- SEC 10-K — Glu Mobile FY2016 (QuizUp mark)</a:t>
            </a:r>
          </a:p>
          <a:p>
            <a:r>
              <a:t>  https://www.sec.gov/Archives/edgar/data/1366246/000155837017001621/gluu-20161231x10k.htm</a:t>
            </a:r>
          </a:p>
          <a:p>
            <a:r>
              <a:t>- SEC 8-K — Glu Mobile / QuizUp acquisition</a:t>
            </a:r>
          </a:p>
          <a:p>
            <a:r>
              <a:t>  https://www.sec.gov/Archives/edgar/data/1366246/000155837016010604/gluu-20161215x8k.htm</a:t>
            </a:r>
          </a:p>
          <a:p>
            <a:r>
              <a:t>- FACT//DUEL internal — numbers.md §3.2, status paragraph and §5.15</a:t>
            </a:r>
          </a:p>
          <a:p>
            <a:r>
              <a:t>  FACT//DUEL internal: public/product/investor/numbers.md §3.2, status paragraph and §5.15 (company disclosure)</a:t>
            </a:r>
          </a:p>
          <a:p>
            <a:r>
              <a:t>- FACT//DUEL internal — repository — product code, unaudited</a:t>
            </a:r>
          </a:p>
          <a:p>
            <a:r>
              <a:t>  FACT//DUEL internal: repository — product code, unaudited</a:t>
            </a:r>
          </a:p>
          <a:p>
            <a:r>
              <a:t>- FACT//DUEL internal — numbers.md — status paragraph, §4.4 and §5.15</a:t>
            </a:r>
          </a:p>
          <a:p>
            <a:r>
              <a:t>  FACT//DUEL internal: public/product/investor/numbers.md — status paragraph, §4.4 and §5.15 (company disclosure)</a:t>
            </a:r>
          </a:p>
          <a:p>
            <a:r>
              <a:t>- FACT//DUEL internal — numbers.md §2.3, §4.3 and §4.4</a:t>
            </a:r>
          </a:p>
          <a:p>
            <a:r>
              <a:t>  FACT//DUEL internal: public/product/investor/numbers.md §2.3, §4.3 and §4.4 (company disclosure)</a:t>
            </a:r>
          </a:p>
          <a:p>
            <a:r>
              <a:t>- EMARKETER — second-screen engagement during live sport</a:t>
            </a:r>
          </a:p>
          <a:p>
            <a:r>
              <a:t>  https://www.emarketer.com/content/second-screen-engagement-during-live-sports</a:t>
            </a:r>
          </a:p>
          <a:p>
            <a:r>
              <a:t>- SEC — Duolingo FY2025 shareholder letter</a:t>
            </a:r>
          </a:p>
          <a:p>
            <a:r>
              <a:t>  https://www.sec.gov/Archives/edgar/data/1562088/000162828026012246/q4fy25duolingo12-31x25shar.htm</a:t>
            </a:r>
          </a:p>
          <a:p>
            <a:r>
              <a:t>- AppTweak — US store conversion benchmarks, CY2025</a:t>
            </a:r>
          </a:p>
          <a:p>
            <a:r>
              <a:t>  https://www.apptweak.com/</a:t>
            </a:r>
          </a:p>
          <a:p>
            <a:r>
              <a:t>- FACT//DUEL internal — numbers.md §3.5, §5.2 and §5.14</a:t>
            </a:r>
          </a:p>
          <a:p>
            <a:r>
              <a:t>  FACT//DUEL internal: public/product/investor/numbers.md §3.5, §5.2 and §5.14 (company disclosure)</a:t>
            </a:r>
          </a:p>
          <a:p>
            <a:r>
              <a:t>- Sensor Tower — Q2 2025 US iOS trivia revenue (est.)</a:t>
            </a:r>
          </a:p>
          <a:p>
            <a:r>
              <a:t>  https://sensortower.com/blog/2025-q2-ios-top-5-trivia%20games-revenue-us-604118ed241bc16eb8b8453a</a:t>
            </a:r>
          </a:p>
          <a:p>
            <a:r>
              <a:t>- SEC — Duolingo Q2 FY2026 10-Q (user counts at 30 Jun 2026)</a:t>
            </a:r>
          </a:p>
          <a:p>
            <a:r>
              <a:t>  https://www.sec.gov/Archives/edgar/data/1562088/000162828026053603/duol-20260630.htm</a:t>
            </a:r>
          </a:p>
          <a:p>
            <a:r>
              <a:t>- SEC — Duolingo Q2 FY2026 shareholder letter</a:t>
            </a:r>
          </a:p>
          <a:p>
            <a:r>
              <a:t>  https://www.sec.gov/Archives/edgar/data/1562088/000162828026053299/q2fy26duolingo6-30x26share.htm</a:t>
            </a:r>
          </a:p>
          <a:p>
            <a:r>
              <a:t>- Kahoot! — Q4 2022 quarterly report</a:t>
            </a:r>
          </a:p>
          <a:p>
            <a:r>
              <a:t>  https://kahoot.com/files/2023/02/4Q22_Kahoot_quarterly_report.pdf</a:t>
            </a:r>
          </a:p>
          <a:p>
            <a:r>
              <a:t>- Sporcle — Orange membership pricing</a:t>
            </a:r>
          </a:p>
          <a:p>
            <a:r>
              <a:t>  https://www.sporcle.com/memberships/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register, continued. Full URLs for this page:</a:t>
            </a:r>
          </a:p>
          <a:p/>
          <a:p>
            <a:r>
              <a:t>- AppsFlyer — State of App Monetization 2026</a:t>
            </a:r>
          </a:p>
          <a:p>
            <a:r>
              <a:t>  https://www.appsflyer.com/resources/reports/app-marketing-monetization-report/</a:t>
            </a:r>
          </a:p>
          <a:p>
            <a:r>
              <a:t>- FACT//DUEL internal — numbers.md §4.1-§4.3</a:t>
            </a:r>
          </a:p>
          <a:p>
            <a:r>
              <a:t>  FACT//DUEL internal: public/product/investor/numbers.md §4.1-§4.3</a:t>
            </a:r>
          </a:p>
          <a:p>
            <a:r>
              <a:t>- Google Play — Kahoot! listing</a:t>
            </a:r>
          </a:p>
          <a:p>
            <a:r>
              <a:t>  https://play.google.com/store/apps/details?id=no.mobitroll.kahoot.android&amp;hl=en_US&amp;gl=US</a:t>
            </a:r>
          </a:p>
          <a:p>
            <a:r>
              <a:t>- Oslo Børs — Kahoot! delisting notice</a:t>
            </a:r>
          </a:p>
          <a:p>
            <a:r>
              <a:t>  https://newsweb.oslobors.no/message/608893</a:t>
            </a:r>
          </a:p>
          <a:p>
            <a:r>
              <a:t>- PR Newswire — Quizizz $31.5M Series B</a:t>
            </a:r>
          </a:p>
          <a:p>
            <a:r>
              <a:t>  https://www.prnewswire.com/news-releases/quizizz-gains-momentum-raises-31-5-million-to-motivate-every-student-301322655.html</a:t>
            </a:r>
          </a:p>
          <a:p>
            <a:r>
              <a:t>- Apple lookup API — Wayground listing</a:t>
            </a:r>
          </a:p>
          <a:p>
            <a:r>
              <a:t>  https://itunes.apple.com/lookup?id=1160249042&amp;country=us</a:t>
            </a:r>
          </a:p>
          <a:p>
            <a:r>
              <a:t>- SEC 8-K — Skillz FY2025 results</a:t>
            </a:r>
          </a:p>
          <a:p>
            <a:r>
              <a:t>  https://www.sec.gov/Archives/edgar/data/1801661/000180166126000019/q425skillzex991-earningsre.htm</a:t>
            </a:r>
          </a:p>
          <a:p>
            <a:r>
              <a:t>- SEC 8-K — Skillz FY2022 results (FY2021 peak)</a:t>
            </a:r>
          </a:p>
          <a:p>
            <a:r>
              <a:t>  https://www.sec.gov/Archives/edgar/data/1801661/000180166123000003/ex991_fy22q4-8xkxearningsr.htm</a:t>
            </a:r>
          </a:p>
          <a:p>
            <a:r>
              <a:t>- SEC 10-K — Skillz FY2023 (Skillz v. AviaGames)</a:t>
            </a:r>
          </a:p>
          <a:p>
            <a:r>
              <a:t>  https://www.sec.gov/Archives/edgar/data/1801661/000180166124000100/sklz-20231231.htm</a:t>
            </a:r>
          </a:p>
          <a:p>
            <a:r>
              <a:t>- FACT//DUEL internal — numbers.md §4.4 and §4.5</a:t>
            </a:r>
          </a:p>
          <a:p>
            <a:r>
              <a:t>  FACT//DUEL internal: public/product/investor/numbers.md §4.4 and §4.5</a:t>
            </a:r>
          </a:p>
          <a:p>
            <a:r>
              <a:t>- Carta — State of Private Markets, Q3 2025</a:t>
            </a:r>
          </a:p>
          <a:p>
            <a:r>
              <a:t>  https://carta.com/data/state-of-private-markets-q3-2025/</a:t>
            </a:r>
          </a:p>
          <a:p>
            <a:r>
              <a:t>- Crunchbase — US seed funding, 2025</a:t>
            </a:r>
          </a:p>
          <a:p>
            <a:r>
              <a:t>  https://news.crunchbase.com/venture/average-seed-funding-amounts-deals-grew-2025/</a:t>
            </a:r>
          </a:p>
          <a:p>
            <a:r>
              <a:t>- FACT//DUEL internal — numbers.md §4.4, §4.5 and §5.8</a:t>
            </a:r>
          </a:p>
          <a:p>
            <a:r>
              <a:t>  FACT//DUEL internal: public/product/investor/numbers.md §4.4, §4.5 and §5.8</a:t>
            </a:r>
          </a:p>
          <a:p>
            <a:r>
              <a:t>- Fact.MR — second-screen sports apps market</a:t>
            </a:r>
          </a:p>
          <a:p>
            <a:r>
              <a:t>  https://www.factmr.com/report/second-screen-sports-apps-market</a:t>
            </a:r>
          </a:p>
          <a:p>
            <a:r>
              <a:t>- The Business Research Company — fan engagement</a:t>
            </a:r>
          </a:p>
          <a:p>
            <a:r>
              <a:t>  https://www.thebusinessresearchcompany.com/report/fan-engagement-global-market-report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register, continued. Full URLs for this page:</a:t>
            </a:r>
          </a:p>
          <a:p/>
          <a:p>
            <a:r>
              <a:t>- market.us — fan engagement market</a:t>
            </a:r>
          </a:p>
          <a:p>
            <a:r>
              <a:t>  https://market.us/report/fan-engagement-market/</a:t>
            </a:r>
          </a:p>
          <a:p>
            <a:r>
              <a:t>- MarketsandMarkets — game-based learning</a:t>
            </a:r>
          </a:p>
          <a:p>
            <a:r>
              <a:t>  https://www.marketsandmarkets.com/Market-Reports/game-based-learning-market-169115901.html</a:t>
            </a:r>
          </a:p>
          <a:p>
            <a:r>
              <a:t>- IMARC — game-based learning</a:t>
            </a:r>
          </a:p>
          <a:p>
            <a:r>
              <a:t>  https://www.imarcgroup.com/game-based-learning-market</a:t>
            </a:r>
          </a:p>
          <a:p>
            <a:r>
              <a:t>- Sensor Tower — State of Mobile 2026</a:t>
            </a:r>
          </a:p>
          <a:p>
            <a:r>
              <a:t>  https://www.sensortower.com/blog/state-of-mobile-2026</a:t>
            </a:r>
          </a:p>
          <a:p>
            <a:r>
              <a:t>- a16z — The Insider's Guide to Data Rooms</a:t>
            </a:r>
          </a:p>
          <a:p>
            <a:r>
              <a:t>  https://a16z.com/the-insiders-guide-to-data-rooms-what-to-know-before-you-raise/</a:t>
            </a:r>
          </a:p>
          <a:p>
            <a:r>
              <a:t>- FSGA / Angus Reid 2026 — participation research</a:t>
            </a:r>
          </a:p>
          <a:p>
            <a:r>
              <a:t>  https://members.thefsga.org/news/Details/new-fsga-research-details-growing-role-of-ai-prediction-markets-in-fantasy-sports-and-sports-betting-341850</a:t>
            </a:r>
          </a:p>
          <a:p>
            <a:r>
              <a:t>- FSGA 2025 — next-generation engagement research</a:t>
            </a:r>
          </a:p>
          <a:p>
            <a:r>
              <a:t>  https://members.thefsga.org/news/Details/new-fsga-research-highlights-industry-stability-and-next-generation-growth-in-fantasy-sports-and-sports-betting-305937</a:t>
            </a:r>
          </a:p>
          <a:p>
            <a:r>
              <a:t>- ICC — global cricket market research</a:t>
            </a:r>
          </a:p>
          <a:p>
            <a:r>
              <a:t>  https://www.icc-cricket.com/media-releases/first-global-market-research-project-unveils-more-than-one-billion-cricket-fans</a:t>
            </a:r>
          </a:p>
          <a:p>
            <a:r>
              <a:t>- Nielsen — 2025 Global Sports Report</a:t>
            </a:r>
          </a:p>
          <a:p>
            <a:r>
              <a:t>  https://www.nielsen.com/news-center/2025/the-future-of-sport-nielsens-2025-report-reveals-growth-drivers/</a:t>
            </a:r>
          </a:p>
          <a:p>
            <a:r>
              <a:t>- Newzoo — Global Games Market 2025</a:t>
            </a:r>
          </a:p>
          <a:p>
            <a:r>
              <a:t>  https://newzoo.com/articles/global-games-market-2025</a:t>
            </a:r>
          </a:p>
          <a:p>
            <a:r>
              <a:t>- Paul Graham — How to convince investors</a:t>
            </a:r>
          </a:p>
          <a:p>
            <a:r>
              <a:t>  https://paulgraham.com/convince.html</a:t>
            </a:r>
          </a:p>
          <a:p>
            <a:r>
              <a:t>- a16z — 16 More Startup Metrics</a:t>
            </a:r>
          </a:p>
          <a:p>
            <a:r>
              <a:t>  https://a16z.com/16-more-startup-metrics/</a:t>
            </a:r>
          </a:p>
          <a:p>
            <a:r>
              <a:t>- SEC Form D — HQ Trivia</a:t>
            </a:r>
          </a:p>
          <a:p>
            <a:r>
              <a:t>  https://www.sec.gov/Archives/edgar/data/1734125/000173412518000001/xslFormDX01/primary_doc.xml</a:t>
            </a:r>
          </a:p>
          <a:p>
            <a:r>
              <a:t>- SEC Form D — Teatime Games (Trivia Royale)</a:t>
            </a:r>
          </a:p>
          <a:p>
            <a:r>
              <a:t>  https://www.sec.gov/Archives/edgar/data/1717682/000171768218000001/primary_doc.xml</a:t>
            </a:r>
          </a:p>
          <a:p>
            <a:r>
              <a:t>- FACT//DUEL internal — numbers.md §5 (failed verification and unresolved items)</a:t>
            </a:r>
          </a:p>
          <a:p>
            <a:r>
              <a:t>  FACT//DUEL internal: public/product/investor/numbers.md §5 (failed verification and unresolved items)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0.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1.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2.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3.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1335024"/>
            <a:ext cx="11057839" cy="1499616"/>
          </a:xfrm>
        </p:spPr>
        <p:txBody>
          <a:bodyPr wrap="square" lIns="0" rIns="0" tIns="0" bIns="0"/>
          <a:lstStyle/>
          <a:p>
            <a:pPr>
              <a:lnSpc>
                <a:spcPct val="100000"/>
              </a:lnSpc>
            </a:pPr>
            <a:r>
              <a:rPr sz="6200" b="1" i="0" spc="50">
                <a:solidFill>
                  <a:srgbClr val="F7F6EF"/>
                </a:solidFill>
                <a:latin typeface="Arial"/>
              </a:rPr>
              <a:t>FACT</a:t>
            </a:r>
            <a:r>
              <a:rPr sz="6200" b="1" i="0" spc="50">
                <a:solidFill>
                  <a:srgbClr val="D4FF3A"/>
                </a:solidFill>
                <a:latin typeface="Arial"/>
              </a:rPr>
              <a:t>//</a:t>
            </a:r>
            <a:r>
              <a:rPr sz="6200" b="1" i="0" spc="50">
                <a:solidFill>
                  <a:srgbClr val="F7F6EF"/>
                </a:solidFill>
                <a:latin typeface="Arial"/>
              </a:rPr>
              <a:t>DUEL</a:t>
            </a:r>
          </a:p>
          <a:p>
            <a:pPr>
              <a:lnSpc>
                <a:spcPct val="108000"/>
              </a:lnSpc>
              <a:spcBef>
                <a:spcPts val="1400"/>
              </a:spcBef>
            </a:pPr>
            <a:r>
              <a:rPr sz="2600" b="1" i="0">
                <a:solidFill>
                  <a:srgbClr val="D4FF3A"/>
                </a:solidFill>
                <a:latin typeface="Arial"/>
              </a:rPr>
              <a:t>The 1v1 knowledge duel, rebuilt for a daily habit loop.</a:t>
            </a:r>
          </a:p>
        </p:txBody>
      </p:sp>
      <p:sp>
        <p:nvSpPr>
          <p:cNvPr id="3" name="TextBox 2"/>
          <p:cNvSpPr txBox="1"/>
          <p:nvPr/>
        </p:nvSpPr>
        <p:spPr>
          <a:xfrm>
            <a:off x="566928" y="969264"/>
            <a:ext cx="11057839" cy="274320"/>
          </a:xfrm>
          <a:prstGeom prst="rect">
            <a:avLst/>
          </a:prstGeom>
          <a:noFill/>
        </p:spPr>
        <p:txBody>
          <a:bodyPr wrap="square" lIns="0" rIns="0" tIns="0" bIns="0" anchor="t">
            <a:spAutoFit/>
          </a:bodyPr>
          <a:lstStyle/>
          <a:p>
            <a:r>
              <a:rPr sz="1100" b="1" i="0" spc="180">
                <a:solidFill>
                  <a:srgbClr val="D4FF3A"/>
                </a:solidFill>
                <a:latin typeface="Arial"/>
              </a:rPr>
              <a:t>SEED ROUND — SEPTEMBER 2026</a:t>
            </a:r>
          </a:p>
        </p:txBody>
      </p:sp>
      <p:sp>
        <p:nvSpPr>
          <p:cNvPr id="4" name="TextBox 3"/>
          <p:cNvSpPr txBox="1"/>
          <p:nvPr/>
        </p:nvSpPr>
        <p:spPr>
          <a:xfrm>
            <a:off x="566928" y="2962656"/>
            <a:ext cx="9594799" cy="281432"/>
          </a:xfrm>
          <a:prstGeom prst="rect">
            <a:avLst/>
          </a:prstGeom>
          <a:noFill/>
        </p:spPr>
        <p:txBody>
          <a:bodyPr wrap="square" lIns="0" rIns="0" tIns="0" bIns="0" anchor="t">
            <a:spAutoFit/>
          </a:bodyPr>
          <a:lstStyle/>
          <a:p>
            <a:pPr>
              <a:lnSpc>
                <a:spcPct val="120000"/>
              </a:lnSpc>
            </a:pPr>
            <a:r>
              <a:rPr sz="1600" b="0" i="0">
                <a:solidFill>
                  <a:srgbClr val="A6ADBA"/>
                </a:solidFill>
                <a:latin typeface="Arial"/>
              </a:rPr>
              <a:t>A 1v1 sports-and-science knowledge duel, built as a daily habit before it is built as a business.</a:t>
            </a:r>
          </a:p>
        </p:txBody>
      </p:sp>
      <p:sp>
        <p:nvSpPr>
          <p:cNvPr id="5" name="TextBox 4"/>
          <p:cNvSpPr txBox="1"/>
          <p:nvPr/>
        </p:nvSpPr>
        <p:spPr>
          <a:xfrm>
            <a:off x="566928" y="3509264"/>
            <a:ext cx="9960559" cy="1629663"/>
          </a:xfrm>
          <a:prstGeom prst="rect">
            <a:avLst/>
          </a:prstGeom>
          <a:noFill/>
        </p:spPr>
        <p:txBody>
          <a:bodyPr wrap="square" lIns="0" rIns="0" tIns="0" bIns="0" anchor="t">
            <a:spAutoFit/>
          </a:bodyPr>
          <a:lstStyle/>
          <a:p>
            <a:pPr marL="264121" indent="-264121">
              <a:lnSpc>
                <a:spcPct val="116000"/>
              </a:lnSpc>
              <a:buClr>
                <a:srgbClr val="D4FF3A"/>
              </a:buClr>
              <a:buFont typeface="Arial"/>
              <a:buChar char="—"/>
            </a:pPr>
            <a:r>
              <a:rPr sz="1550" b="0" i="0">
                <a:solidFill>
                  <a:srgbClr val="F7F6EF"/>
                </a:solidFill>
                <a:latin typeface="Arial"/>
              </a:rPr>
              <a:t>A head-to-head duel on sports and science, designed as a 3-4 minute unit against the 3.1-3.5 minute median mobile session (GameAnalytics estimate).</a:t>
            </a:r>
          </a:p>
          <a:p>
            <a:pPr marL="264121" indent="-264121">
              <a:lnSpc>
                <a:spcPct val="116000"/>
              </a:lnSpc>
              <a:spcBef>
                <a:spcPts val="852"/>
              </a:spcBef>
              <a:buClr>
                <a:srgbClr val="D4FF3A"/>
              </a:buClr>
              <a:buFont typeface="Arial"/>
              <a:buChar char="—"/>
            </a:pPr>
            <a:r>
              <a:rPr sz="1550" b="0" i="0">
                <a:solidFill>
                  <a:srgbClr val="F7F6EF"/>
                </a:solidFill>
                <a:latin typeface="Arial"/>
              </a:rPr>
              <a:t>Private beta today: no accounts, no server-side progression, 54 sample questions.</a:t>
            </a:r>
          </a:p>
          <a:p>
            <a:pPr marL="264121" indent="-264121">
              <a:lnSpc>
                <a:spcPct val="116000"/>
              </a:lnSpc>
              <a:spcBef>
                <a:spcPts val="852"/>
              </a:spcBef>
              <a:buClr>
                <a:srgbClr val="D4FF3A"/>
              </a:buClr>
              <a:buFont typeface="Arial"/>
              <a:buChar char="—"/>
            </a:pPr>
            <a:r>
              <a:rPr sz="1550" b="0" i="0">
                <a:solidFill>
                  <a:srgbClr val="F7F6EF"/>
                </a:solidFill>
                <a:latin typeface="Arial"/>
              </a:rPr>
              <a:t>Zero users outside a private playtest. Zero revenue. Stated here so it is never a discovery later.</a:t>
            </a:r>
          </a:p>
          <a:p>
            <a:pPr marL="264121" indent="-264121">
              <a:lnSpc>
                <a:spcPct val="116000"/>
              </a:lnSpc>
              <a:spcBef>
                <a:spcPts val="852"/>
              </a:spcBef>
              <a:buClr>
                <a:srgbClr val="D4FF3A"/>
              </a:buClr>
              <a:buFont typeface="Arial"/>
              <a:buChar char="—"/>
            </a:pPr>
            <a:r>
              <a:rPr sz="1550" b="0" i="0">
                <a:solidFill>
                  <a:srgbClr val="F7F6EF"/>
                </a:solidFill>
                <a:latin typeface="Arial"/>
              </a:rPr>
              <a:t>Raising about </a:t>
            </a:r>
            <a:r>
              <a:rPr sz="1550" b="0" i="0">
                <a:solidFill>
                  <a:srgbClr val="FFC83D"/>
                </a:solidFill>
                <a:latin typeface="Arial"/>
              </a:rPr>
              <a:t>$1.2M</a:t>
            </a:r>
            <a:r>
              <a:rPr sz="1550" b="0" i="0">
                <a:solidFill>
                  <a:srgbClr val="F7F6EF"/>
                </a:solidFill>
                <a:latin typeface="Arial"/>
              </a:rPr>
              <a:t> for 18 months to buy one thing: the retention data this deck does not have.</a:t>
            </a:r>
          </a:p>
        </p:txBody>
      </p:sp>
      <p:sp>
        <p:nvSpPr>
          <p:cNvPr id="6" name="Rectangle 5"/>
          <p:cNvSpPr/>
          <p:nvPr/>
        </p:nvSpPr>
        <p:spPr>
          <a:xfrm>
            <a:off x="566928" y="6035040"/>
            <a:ext cx="11057839" cy="11887"/>
          </a:xfrm>
          <a:prstGeom prst="rect">
            <a:avLst/>
          </a:prstGeom>
          <a:solidFill>
            <a:srgbClr val="D4F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6144768"/>
            <a:ext cx="9869119" cy="548640"/>
          </a:xfrm>
          <a:prstGeom prst="rect">
            <a:avLst/>
          </a:prstGeom>
          <a:noFill/>
        </p:spPr>
        <p:txBody>
          <a:bodyPr wrap="square" lIns="0" rIns="0" tIns="0" bIns="0" anchor="t">
            <a:spAutoFit/>
          </a:bodyPr>
          <a:lstStyle/>
          <a:p>
            <a:pPr>
              <a:lnSpc>
                <a:spcPct val="120000"/>
              </a:lnSpc>
            </a:pPr>
            <a:r>
              <a:rPr sz="800" b="0" i="0">
                <a:solidFill>
                  <a:srgbClr val="A6ADBA"/>
                </a:solidFill>
                <a:latin typeface="Arial"/>
              </a:rPr>
              <a:t>Confidential. Prepared for the named recipient only; not for distribution or publication. Every number carries its source. Figures marked (P) are a plan, not a forecast. FACT//DUEL has no users and no revenue.</a:t>
            </a:r>
          </a:p>
        </p:txBody>
      </p:sp>
      <p:sp>
        <p:nvSpPr>
          <p:cNvPr id="8" name="TextBox 7"/>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September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1682496"/>
          </a:xfrm>
        </p:spPr>
        <p:txBody>
          <a:bodyPr wrap="square" lIns="0" rIns="0" tIns="0" bIns="0" anchor="t"/>
          <a:lstStyle/>
          <a:p>
            <a:pPr>
              <a:lnSpc>
                <a:spcPct val="108000"/>
              </a:lnSpc>
            </a:pPr>
            <a:r>
              <a:rPr sz="4000" b="1" i="0">
                <a:solidFill>
                  <a:srgbClr val="F7F6EF"/>
                </a:solidFill>
                <a:latin typeface="Arial"/>
              </a:rPr>
              <a:t>A format with hundreds of millions of lifetime installs, and essentially no maintained incumbent.</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D4FF3A"/>
                </a:solidFill>
                <a:latin typeface="Arial"/>
              </a:rPr>
              <a:t>THE PROBLEM — THE VACUUM</a:t>
            </a:r>
          </a:p>
        </p:txBody>
      </p:sp>
      <p:sp>
        <p:nvSpPr>
          <p:cNvPr id="4" name="Rectangle 3"/>
          <p:cNvSpPr/>
          <p:nvPr/>
        </p:nvSpPr>
        <p:spPr>
          <a:xfrm>
            <a:off x="566928" y="6035040"/>
            <a:ext cx="11057839" cy="11887"/>
          </a:xfrm>
          <a:prstGeom prst="rect">
            <a:avLst/>
          </a:prstGeom>
          <a:solidFill>
            <a:srgbClr val="D4F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2</a:t>
            </a:r>
          </a:p>
        </p:txBody>
      </p:sp>
      <p:sp>
        <p:nvSpPr>
          <p:cNvPr id="6" name="TextBox 5"/>
          <p:cNvSpPr txBox="1"/>
          <p:nvPr/>
        </p:nvSpPr>
        <p:spPr>
          <a:xfrm>
            <a:off x="566928" y="6144768"/>
            <a:ext cx="9869119" cy="548640"/>
          </a:xfrm>
          <a:prstGeom prst="rect">
            <a:avLst/>
          </a:prstGeom>
          <a:noFill/>
        </p:spPr>
        <p:txBody>
          <a:bodyPr wrap="square" lIns="0" rIns="0" tIns="0" bIns="0" anchor="t">
            <a:spAutoFit/>
          </a:bodyPr>
          <a:lstStyle/>
          <a:p>
            <a:pPr>
              <a:lnSpc>
                <a:spcPct val="115000"/>
              </a:lnSpc>
            </a:pPr>
            <a:r>
              <a:rPr sz="800" b="0" i="0">
                <a:solidFill>
                  <a:srgbClr val="A6ADBA"/>
                </a:solidFill>
                <a:latin typeface="Arial"/>
              </a:rPr>
              <a:t>Sources: Google Play — Trivia Crack listing  ·  MAG Interactive — Q3 2025/26 interim report  ·  Apple lookup API — QuizDuel listing (US storefront)  ·  Apple lookup API — QuizDuel listing</a:t>
            </a:r>
          </a:p>
          <a:p>
            <a:pPr>
              <a:lnSpc>
                <a:spcPct val="115000"/>
              </a:lnSpc>
            </a:pPr>
            <a:r>
              <a:rPr sz="800" b="0" i="0">
                <a:solidFill>
                  <a:srgbClr val="A6ADBA"/>
                </a:solidFill>
                <a:latin typeface="Arial"/>
              </a:rPr>
              <a:t>Google Play — Quizion listing  ·  Google Play — TRIVIA GO! listing</a:t>
            </a:r>
          </a:p>
        </p:txBody>
      </p:sp>
      <p:sp>
        <p:nvSpPr>
          <p:cNvPr id="7" name="TextBox 6"/>
          <p:cNvSpPr txBox="1"/>
          <p:nvPr/>
        </p:nvSpPr>
        <p:spPr>
          <a:xfrm>
            <a:off x="566928" y="2542032"/>
            <a:ext cx="5114239" cy="3364991"/>
          </a:xfrm>
          <a:prstGeom prst="rect">
            <a:avLst/>
          </a:prstGeom>
          <a:noFill/>
        </p:spPr>
        <p:txBody>
          <a:bodyPr wrap="square" lIns="0" rIns="0" tIns="0" bIns="0" anchor="t">
            <a:spAutoFit/>
          </a:bodyPr>
          <a:lstStyle/>
          <a:p>
            <a:pPr marL="212995" indent="-212995">
              <a:lnSpc>
                <a:spcPct val="116000"/>
              </a:lnSpc>
              <a:buClr>
                <a:srgbClr val="D4FF3A"/>
              </a:buClr>
              <a:buFont typeface="Arial"/>
              <a:buChar char="—"/>
            </a:pPr>
            <a:r>
              <a:rPr sz="1250" b="0" i="0">
                <a:solidFill>
                  <a:srgbClr val="F7F6EF"/>
                </a:solidFill>
                <a:latin typeface="Arial"/>
              </a:rPr>
              <a:t>Trivia Crack: 267,939,837 lifetime Android installs per Google Play's internal store data, displayed publicly as 100M+ — installs, not users.</a:t>
            </a:r>
          </a:p>
          <a:p>
            <a:pPr marL="212995" indent="-212995">
              <a:lnSpc>
                <a:spcPct val="116000"/>
              </a:lnSpc>
              <a:spcBef>
                <a:spcPts val="687"/>
              </a:spcBef>
              <a:buClr>
                <a:srgbClr val="D4FF3A"/>
              </a:buClr>
              <a:buFont typeface="Arial"/>
              <a:buChar char="—"/>
            </a:pPr>
            <a:r>
              <a:rPr sz="1250" b="0" i="0">
                <a:solidFill>
                  <a:srgbClr val="F7F6EF"/>
                </a:solidFill>
                <a:latin typeface="Arial"/>
              </a:rPr>
              <a:t>Its Play listing is now retitled around a FOX TV tie-in: the largest lifetime install base in the category has left the duel.</a:t>
            </a:r>
          </a:p>
          <a:p>
            <a:pPr marL="212995" indent="-212995">
              <a:lnSpc>
                <a:spcPct val="116000"/>
              </a:lnSpc>
              <a:spcBef>
                <a:spcPts val="687"/>
              </a:spcBef>
              <a:buClr>
                <a:srgbClr val="D4FF3A"/>
              </a:buClr>
              <a:buFont typeface="Arial"/>
              <a:buChar char="—"/>
            </a:pPr>
            <a:r>
              <a:rPr sz="1250" b="0" i="0">
                <a:solidFill>
                  <a:srgbClr val="F7F6EF"/>
                </a:solidFill>
                <a:latin typeface="Arial"/>
              </a:rPr>
              <a:t>QuizDuel's owner MAG Interactive: nine-month average group DAU -14% and MAU -13% YoY (Sep 2025 - May 2026); for Q3 alone, -12% and -9%.</a:t>
            </a:r>
          </a:p>
          <a:p>
            <a:pPr marL="212995" indent="-212995">
              <a:lnSpc>
                <a:spcPct val="116000"/>
              </a:lnSpc>
              <a:spcBef>
                <a:spcPts val="687"/>
              </a:spcBef>
              <a:buClr>
                <a:srgbClr val="D4FF3A"/>
              </a:buClr>
              <a:buFont typeface="Arial"/>
              <a:buChar char="—"/>
            </a:pPr>
            <a:r>
              <a:rPr sz="1250" b="0" i="0">
                <a:solidFill>
                  <a:srgbClr val="F7F6EF"/>
                </a:solidFill>
                <a:latin typeface="Arial"/>
              </a:rPr>
              <a:t>QuizDuel itself is live and maintained — iOS build updated 10 Sep 2026 — and tiny in the US: 3.51 stars from 78 US iOS ratings.</a:t>
            </a:r>
          </a:p>
          <a:p>
            <a:pPr marL="212995" indent="-212995">
              <a:lnSpc>
                <a:spcPct val="116000"/>
              </a:lnSpc>
              <a:spcBef>
                <a:spcPts val="687"/>
              </a:spcBef>
              <a:buClr>
                <a:srgbClr val="D4FF3A"/>
              </a:buClr>
              <a:buFont typeface="Arial"/>
              <a:buChar char="—"/>
            </a:pPr>
            <a:r>
              <a:rPr sz="1250" b="0" i="0">
                <a:solidFill>
                  <a:srgbClr val="F7F6EF"/>
                </a:solidFill>
                <a:latin typeface="Arial"/>
              </a:rPr>
              <a:t>Everything else marketing itself as live 1v1: Quizion, 10+ downloads (updated 13 Aug 2026); TRIVIA GO!, 10K+, no update since 22 May 2025.</a:t>
            </a:r>
          </a:p>
          <a:p>
            <a:pPr marL="212995" indent="-212995">
              <a:lnSpc>
                <a:spcPct val="116000"/>
              </a:lnSpc>
              <a:spcBef>
                <a:spcPts val="687"/>
              </a:spcBef>
              <a:buClr>
                <a:srgbClr val="D4FF3A"/>
              </a:buClr>
              <a:buFont typeface="Arial"/>
              <a:buChar char="—"/>
            </a:pPr>
            <a:r>
              <a:rPr sz="1250" b="0" i="0">
                <a:solidFill>
                  <a:srgbClr val="F7F6EF"/>
                </a:solidFill>
                <a:latin typeface="Arial"/>
              </a:rPr>
              <a:t>The format proved demand at scale and has essentially no maintained incumbent. That gap is the entire reason to keep reading.</a:t>
            </a:r>
          </a:p>
        </p:txBody>
      </p:sp>
      <p:pic>
        <p:nvPicPr>
          <p:cNvPr id="8" name="Picture 7" descr="vacuum.png"/>
          <p:cNvPicPr>
            <a:picLocks noChangeAspect="1"/>
          </p:cNvPicPr>
          <p:nvPr/>
        </p:nvPicPr>
        <p:blipFill>
          <a:blip r:embed="rId2"/>
          <a:stretch>
            <a:fillRect/>
          </a:stretch>
        </p:blipFill>
        <p:spPr>
          <a:xfrm>
            <a:off x="6143566" y="2542032"/>
            <a:ext cx="5338840" cy="3364991"/>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1133856"/>
          </a:xfrm>
        </p:spPr>
        <p:txBody>
          <a:bodyPr wrap="square" lIns="0" rIns="0" tIns="0" bIns="0" anchor="t"/>
          <a:lstStyle/>
          <a:p>
            <a:pPr>
              <a:lnSpc>
                <a:spcPct val="108000"/>
              </a:lnSpc>
            </a:pPr>
            <a:r>
              <a:rPr sz="4000" b="1" i="0">
                <a:solidFill>
                  <a:srgbClr val="F7F6EF"/>
                </a:solidFill>
                <a:latin typeface="Arial"/>
              </a:rPr>
              <a:t>It did not die of distribution. It died of monetisation and long-tail retention.</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D4FF3A"/>
                </a:solidFill>
                <a:latin typeface="Arial"/>
              </a:rPr>
              <a:t>THE GRAVEYARD</a:t>
            </a:r>
          </a:p>
        </p:txBody>
      </p:sp>
      <p:sp>
        <p:nvSpPr>
          <p:cNvPr id="4" name="Rectangle 3"/>
          <p:cNvSpPr/>
          <p:nvPr/>
        </p:nvSpPr>
        <p:spPr>
          <a:xfrm>
            <a:off x="566928" y="6035040"/>
            <a:ext cx="11057839" cy="11887"/>
          </a:xfrm>
          <a:prstGeom prst="rect">
            <a:avLst/>
          </a:prstGeom>
          <a:solidFill>
            <a:srgbClr val="D4F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3</a:t>
            </a:r>
          </a:p>
        </p:txBody>
      </p:sp>
      <p:sp>
        <p:nvSpPr>
          <p:cNvPr id="6" name="TextBox 5"/>
          <p:cNvSpPr txBox="1"/>
          <p:nvPr/>
        </p:nvSpPr>
        <p:spPr>
          <a:xfrm>
            <a:off x="566928" y="6144768"/>
            <a:ext cx="9869119" cy="548640"/>
          </a:xfrm>
          <a:prstGeom prst="rect">
            <a:avLst/>
          </a:prstGeom>
          <a:noFill/>
        </p:spPr>
        <p:txBody>
          <a:bodyPr wrap="square" lIns="0" rIns="0" tIns="0" bIns="0" anchor="t">
            <a:spAutoFit/>
          </a:bodyPr>
          <a:lstStyle/>
          <a:p>
            <a:pPr>
              <a:lnSpc>
                <a:spcPct val="115000"/>
              </a:lnSpc>
            </a:pPr>
            <a:r>
              <a:rPr sz="800" b="0" i="0">
                <a:solidFill>
                  <a:srgbClr val="A6ADBA"/>
                </a:solidFill>
                <a:latin typeface="Arial"/>
              </a:rPr>
              <a:t>Sources: TechCrunch — Trivia Royale, 2.5M downloads in 3 weeks  ·  TechCrunch — HQ Trivia shuts down  ·  TechCrunch — HQ Trivia peak concurrent record  ·  SEC 10-K — Glu Mobile FY2016 (QuizUp mark)</a:t>
            </a:r>
          </a:p>
          <a:p>
            <a:pPr>
              <a:lnSpc>
                <a:spcPct val="115000"/>
              </a:lnSpc>
            </a:pPr>
            <a:r>
              <a:rPr sz="800" b="0" i="0">
                <a:solidFill>
                  <a:srgbClr val="A6ADBA"/>
                </a:solidFill>
                <a:latin typeface="Arial"/>
              </a:rPr>
              <a:t>SEC 8-K — Glu Mobile / QuizUp acquisition</a:t>
            </a:r>
          </a:p>
        </p:txBody>
      </p:sp>
      <p:sp>
        <p:nvSpPr>
          <p:cNvPr id="7" name="TextBox 6"/>
          <p:cNvSpPr txBox="1"/>
          <p:nvPr/>
        </p:nvSpPr>
        <p:spPr>
          <a:xfrm>
            <a:off x="566928" y="1993392"/>
            <a:ext cx="5114239" cy="3913631"/>
          </a:xfrm>
          <a:prstGeom prst="rect">
            <a:avLst/>
          </a:prstGeom>
          <a:noFill/>
        </p:spPr>
        <p:txBody>
          <a:bodyPr wrap="square" lIns="0" rIns="0" tIns="0" bIns="0" anchor="t">
            <a:spAutoFit/>
          </a:bodyPr>
          <a:lstStyle/>
          <a:p>
            <a:pPr marL="221512" indent="-221512">
              <a:lnSpc>
                <a:spcPct val="116000"/>
              </a:lnSpc>
              <a:buClr>
                <a:srgbClr val="D4FF3A"/>
              </a:buClr>
              <a:buFont typeface="Arial"/>
              <a:buChar char="—"/>
            </a:pPr>
            <a:r>
              <a:rPr sz="1300" b="0" i="0">
                <a:solidFill>
                  <a:srgbClr val="F7F6EF"/>
                </a:solidFill>
                <a:latin typeface="Arial"/>
              </a:rPr>
              <a:t>Trivia Royale: 2.5M downloads in about three weeks on a launch budget under </a:t>
            </a:r>
            <a:r>
              <a:rPr sz="1300" b="0" i="0">
                <a:solidFill>
                  <a:srgbClr val="FFC83D"/>
                </a:solidFill>
                <a:latin typeface="Arial"/>
              </a:rPr>
              <a:t>$500,000</a:t>
            </a:r>
            <a:r>
              <a:rPr sz="1300" b="0" i="0">
                <a:solidFill>
                  <a:srgbClr val="F7F6EF"/>
                </a:solidFill>
                <a:latin typeface="Arial"/>
              </a:rPr>
              <a:t> — a blended </a:t>
            </a:r>
            <a:r>
              <a:rPr sz="1300" b="0" i="0">
                <a:solidFill>
                  <a:srgbClr val="FFC83D"/>
                </a:solidFill>
                <a:latin typeface="Arial"/>
              </a:rPr>
              <a:t>$0.20</a:t>
            </a:r>
            <a:r>
              <a:rPr sz="1300" b="0" i="0">
                <a:solidFill>
                  <a:srgbClr val="F7F6EF"/>
                </a:solidFill>
                <a:latin typeface="Arial"/>
              </a:rPr>
              <a:t> or less per download, organic and viral included. Company-reported to TechCrunch, not audited.</a:t>
            </a:r>
          </a:p>
          <a:p>
            <a:pPr marL="221512" indent="-221512">
              <a:lnSpc>
                <a:spcPct val="116000"/>
              </a:lnSpc>
              <a:spcBef>
                <a:spcPts val="715"/>
              </a:spcBef>
              <a:buClr>
                <a:srgbClr val="D4FF3A"/>
              </a:buClr>
              <a:buFont typeface="Arial"/>
              <a:buChar char="—"/>
            </a:pPr>
            <a:r>
              <a:rPr sz="1300" b="0" i="0">
                <a:solidFill>
                  <a:srgbClr val="F7F6EF"/>
                </a:solidFill>
                <a:latin typeface="Arial"/>
              </a:rPr>
              <a:t>45% day-one iOS retention, around 30 minutes of use a day — both company-reported to TechCrunch, not audited. Closed eight months after launch.</a:t>
            </a:r>
          </a:p>
          <a:p>
            <a:pPr marL="221512" indent="-221512">
              <a:lnSpc>
                <a:spcPct val="116000"/>
              </a:lnSpc>
              <a:spcBef>
                <a:spcPts val="715"/>
              </a:spcBef>
              <a:buClr>
                <a:srgbClr val="D4FF3A"/>
              </a:buClr>
              <a:buFont typeface="Arial"/>
              <a:buChar char="—"/>
            </a:pPr>
            <a:r>
              <a:rPr sz="1300" b="0" i="0">
                <a:solidFill>
                  <a:srgbClr val="F7F6EF"/>
                </a:solidFill>
                <a:latin typeface="Arial"/>
              </a:rPr>
              <a:t>HQ Trivia: 2.38M peak concurrent (28 Mar 2018), then roughly 67,000 monthly installs in Jan 2020, about 3% of the ~2M/month Feb 2018 rate (Sensor Tower estimates).</a:t>
            </a:r>
          </a:p>
          <a:p>
            <a:pPr marL="221512" indent="-221512">
              <a:lnSpc>
                <a:spcPct val="116000"/>
              </a:lnSpc>
              <a:spcBef>
                <a:spcPts val="715"/>
              </a:spcBef>
              <a:buClr>
                <a:srgbClr val="D4FF3A"/>
              </a:buClr>
              <a:buFont typeface="Arial"/>
              <a:buChar char="—"/>
            </a:pPr>
            <a:r>
              <a:rPr sz="1300" b="0" i="0">
                <a:solidFill>
                  <a:srgbClr val="F7F6EF"/>
                </a:solidFill>
                <a:latin typeface="Arial"/>
              </a:rPr>
              <a:t>It did not end there: bought and relaunched 29 Mar 2020, last official game 17 Nov 2022, removed from both stores 5 Aug 2023.</a:t>
            </a:r>
          </a:p>
          <a:p>
            <a:pPr marL="221512" indent="-221512">
              <a:lnSpc>
                <a:spcPct val="116000"/>
              </a:lnSpc>
              <a:spcBef>
                <a:spcPts val="715"/>
              </a:spcBef>
              <a:buClr>
                <a:srgbClr val="D4FF3A"/>
              </a:buClr>
              <a:buFont typeface="Arial"/>
              <a:buChar char="—"/>
            </a:pPr>
            <a:r>
              <a:rPr sz="1300" b="0" i="0">
                <a:solidFill>
                  <a:srgbClr val="F7F6EF"/>
                </a:solidFill>
                <a:latin typeface="Arial"/>
              </a:rPr>
              <a:t>QuizUp: about </a:t>
            </a:r>
            <a:r>
              <a:rPr sz="1300" b="0" i="0">
                <a:solidFill>
                  <a:srgbClr val="FFC83D"/>
                </a:solidFill>
                <a:latin typeface="Arial"/>
              </a:rPr>
              <a:t>$32.4M</a:t>
            </a:r>
            <a:r>
              <a:rPr sz="1300" b="0" i="0">
                <a:solidFill>
                  <a:srgbClr val="F7F6EF"/>
                </a:solidFill>
                <a:latin typeface="Arial"/>
              </a:rPr>
              <a:t> of equity raised; sold to Glu in 2016 for </a:t>
            </a:r>
            <a:r>
              <a:rPr sz="1300" b="0" i="0">
                <a:solidFill>
                  <a:srgbClr val="FFC83D"/>
                </a:solidFill>
                <a:latin typeface="Arial"/>
              </a:rPr>
              <a:t>$7.5M</a:t>
            </a:r>
            <a:r>
              <a:rPr sz="1300" b="0" i="0">
                <a:solidFill>
                  <a:srgbClr val="F7F6EF"/>
                </a:solidFill>
                <a:latin typeface="Arial"/>
              </a:rPr>
              <a:t> of cancelled notes, booked at </a:t>
            </a:r>
            <a:r>
              <a:rPr sz="1300" b="0" i="0">
                <a:solidFill>
                  <a:srgbClr val="FFC83D"/>
                </a:solidFill>
                <a:latin typeface="Arial"/>
              </a:rPr>
              <a:t>$3.2M</a:t>
            </a:r>
            <a:r>
              <a:rPr sz="1300" b="0" i="0">
                <a:solidFill>
                  <a:srgbClr val="F7F6EF"/>
                </a:solidFill>
                <a:latin typeface="Arial"/>
              </a:rPr>
              <a:t> fair value.</a:t>
            </a:r>
          </a:p>
          <a:p>
            <a:pPr marL="221512" indent="-221512">
              <a:lnSpc>
                <a:spcPct val="116000"/>
              </a:lnSpc>
              <a:spcBef>
                <a:spcPts val="715"/>
              </a:spcBef>
              <a:buClr>
                <a:srgbClr val="D4FF3A"/>
              </a:buClr>
              <a:buFont typeface="Arial"/>
              <a:buChar char="—"/>
            </a:pPr>
            <a:r>
              <a:rPr sz="1300" b="0" i="0">
                <a:solidFill>
                  <a:srgbClr val="F7F6EF"/>
                </a:solidFill>
                <a:latin typeface="Arial"/>
              </a:rPr>
              <a:t>Near-free acquisition and elite D1 were necessary and demonstrably not sufficient. Distribution was never the binding constraint here — monetisation and long-tail retention were.</a:t>
            </a:r>
          </a:p>
        </p:txBody>
      </p:sp>
      <p:pic>
        <p:nvPicPr>
          <p:cNvPr id="8" name="Picture 7" descr="graveyard.png"/>
          <p:cNvPicPr>
            <a:picLocks noChangeAspect="1"/>
          </p:cNvPicPr>
          <p:nvPr/>
        </p:nvPicPr>
        <p:blipFill>
          <a:blip r:embed="rId2"/>
          <a:stretch>
            <a:fillRect/>
          </a:stretch>
        </p:blipFill>
        <p:spPr>
          <a:xfrm>
            <a:off x="6001207" y="2306255"/>
            <a:ext cx="5623560" cy="3287904"/>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1133856"/>
          </a:xfrm>
        </p:spPr>
        <p:txBody>
          <a:bodyPr wrap="square" lIns="0" rIns="0" tIns="0" bIns="0" anchor="t"/>
          <a:lstStyle/>
          <a:p>
            <a:pPr>
              <a:lnSpc>
                <a:spcPct val="108000"/>
              </a:lnSpc>
            </a:pPr>
            <a:r>
              <a:rPr sz="4000" b="1" i="0">
                <a:solidFill>
                  <a:srgbClr val="F7F6EF"/>
                </a:solidFill>
                <a:latin typeface="Arial"/>
              </a:rPr>
              <a:t>So the bet is sequencing: build the habit loop first, prove retention, then monetise.</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D4FF3A"/>
                </a:solidFill>
                <a:latin typeface="Arial"/>
              </a:rPr>
              <a:t>THE SOLUTION</a:t>
            </a:r>
          </a:p>
        </p:txBody>
      </p:sp>
      <p:sp>
        <p:nvSpPr>
          <p:cNvPr id="4" name="Rectangle 3"/>
          <p:cNvSpPr/>
          <p:nvPr/>
        </p:nvSpPr>
        <p:spPr>
          <a:xfrm>
            <a:off x="566928" y="6035040"/>
            <a:ext cx="11057839" cy="11887"/>
          </a:xfrm>
          <a:prstGeom prst="rect">
            <a:avLst/>
          </a:prstGeom>
          <a:solidFill>
            <a:srgbClr val="D4F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4</a:t>
            </a:r>
          </a:p>
        </p:txBody>
      </p:sp>
      <p:sp>
        <p:nvSpPr>
          <p:cNvPr id="6" name="TextBox 5"/>
          <p:cNvSpPr txBox="1"/>
          <p:nvPr/>
        </p:nvSpPr>
        <p:spPr>
          <a:xfrm>
            <a:off x="566928" y="6144768"/>
            <a:ext cx="9869119" cy="548640"/>
          </a:xfrm>
          <a:prstGeom prst="rect">
            <a:avLst/>
          </a:prstGeom>
          <a:noFill/>
        </p:spPr>
        <p:txBody>
          <a:bodyPr wrap="square" lIns="0" rIns="0" tIns="0" bIns="0" anchor="t">
            <a:spAutoFit/>
          </a:bodyPr>
          <a:lstStyle/>
          <a:p>
            <a:pPr>
              <a:lnSpc>
                <a:spcPct val="115000"/>
              </a:lnSpc>
            </a:pPr>
            <a:r>
              <a:rPr sz="800" b="0" i="0">
                <a:solidFill>
                  <a:srgbClr val="A6ADBA"/>
                </a:solidFill>
                <a:latin typeface="Arial"/>
              </a:rPr>
              <a:t>Sources: GameAnalytics — 2026 Mobile &amp; PC Gaming Benchmarks  ·  FACT//DUEL internal — numbers.md §3.2, status paragraph and §5.15  ·  FACT//DUEL internal — repository — product code, unaudited</a:t>
            </a:r>
          </a:p>
        </p:txBody>
      </p:sp>
      <p:sp>
        <p:nvSpPr>
          <p:cNvPr id="7" name="TextBox 6"/>
          <p:cNvSpPr txBox="1"/>
          <p:nvPr/>
        </p:nvSpPr>
        <p:spPr>
          <a:xfrm>
            <a:off x="566928" y="1993392"/>
            <a:ext cx="4754880" cy="3913631"/>
          </a:xfrm>
          <a:prstGeom prst="rect">
            <a:avLst/>
          </a:prstGeom>
          <a:noFill/>
        </p:spPr>
        <p:txBody>
          <a:bodyPr wrap="square" lIns="0" rIns="0" tIns="0" bIns="0" anchor="t">
            <a:spAutoFit/>
          </a:bodyPr>
          <a:lstStyle/>
          <a:p>
            <a:pPr marL="230028" indent="-230028">
              <a:lnSpc>
                <a:spcPct val="116000"/>
              </a:lnSpc>
              <a:buClr>
                <a:srgbClr val="D4FF3A"/>
              </a:buClr>
              <a:buFont typeface="Arial"/>
              <a:buChar char="—"/>
            </a:pPr>
            <a:r>
              <a:rPr sz="1350" b="0" i="0">
                <a:solidFill>
                  <a:srgbClr val="F7F6EF"/>
                </a:solidFill>
                <a:latin typeface="Arial"/>
              </a:rPr>
              <a:t>GameAnalytics estimates the median mobile game session at 3.1-3.5 min and North America at 3.64 min (CY2025, iOS and Android installs — not web).</a:t>
            </a:r>
          </a:p>
          <a:p>
            <a:pPr marL="230028" indent="-230028">
              <a:lnSpc>
                <a:spcPct val="116000"/>
              </a:lnSpc>
              <a:spcBef>
                <a:spcPts val="742"/>
              </a:spcBef>
              <a:buClr>
                <a:srgbClr val="D4FF3A"/>
              </a:buClr>
              <a:buFont typeface="Arial"/>
              <a:buChar char="—"/>
            </a:pPr>
            <a:r>
              <a:rPr sz="1350" b="0" i="0">
                <a:solidFill>
                  <a:srgbClr val="F7F6EF"/>
                </a:solidFill>
                <a:latin typeface="Arial"/>
              </a:rPr>
              <a:t>A duel is designed as a 3-4 minute unit. We have measured no session length of our own (numbers.md §5.15).</a:t>
            </a:r>
          </a:p>
          <a:p>
            <a:pPr marL="230028" indent="-230028">
              <a:lnSpc>
                <a:spcPct val="116000"/>
              </a:lnSpc>
              <a:spcBef>
                <a:spcPts val="742"/>
              </a:spcBef>
              <a:buClr>
                <a:srgbClr val="D4FF3A"/>
              </a:buClr>
              <a:buFont typeface="Arial"/>
              <a:buChar char="—"/>
            </a:pPr>
            <a:r>
              <a:rPr sz="1350" b="0" i="0">
                <a:solidFill>
                  <a:srgbClr val="F7F6EF"/>
                </a:solidFill>
                <a:latin typeface="Arial"/>
              </a:rPr>
              <a:t>Around the duel, product description rather than audited fact: XP and levels, day streaks, daily quests, achievements, a device-local rank, gems, cosmetics.</a:t>
            </a:r>
          </a:p>
          <a:p>
            <a:pPr marL="230028" indent="-230028">
              <a:lnSpc>
                <a:spcPct val="116000"/>
              </a:lnSpc>
              <a:spcBef>
                <a:spcPts val="742"/>
              </a:spcBef>
              <a:buClr>
                <a:srgbClr val="D4FF3A"/>
              </a:buClr>
              <a:buFont typeface="Arial"/>
              <a:buChar char="—"/>
            </a:pPr>
            <a:r>
              <a:rPr sz="1350" b="0" i="0">
                <a:solidFill>
                  <a:srgbClr val="F7F6EF"/>
                </a:solidFill>
                <a:latin typeface="Arial"/>
              </a:rPr>
              <a:t>Solo expeditions and a static event calendar are intended to cover the days when nobody wants a live opponent. No retention benefit has been measured.</a:t>
            </a:r>
          </a:p>
          <a:p>
            <a:pPr marL="230028" indent="-230028">
              <a:lnSpc>
                <a:spcPct val="116000"/>
              </a:lnSpc>
              <a:spcBef>
                <a:spcPts val="742"/>
              </a:spcBef>
              <a:buClr>
                <a:srgbClr val="D4FF3A"/>
              </a:buClr>
              <a:buFont typeface="Arial"/>
              <a:buChar char="—"/>
            </a:pPr>
            <a:r>
              <a:rPr sz="1350" b="0" i="0">
                <a:solidFill>
                  <a:srgbClr val="F7F6EF"/>
                </a:solidFill>
                <a:latin typeface="Arial"/>
              </a:rPr>
              <a:t>Zero revenue today (numbers.md status paragraph, §5.15). Monetisation is sequenced last by choice, and that choice is unproven.</a:t>
            </a:r>
          </a:p>
          <a:p>
            <a:pPr marL="230028" indent="-230028">
              <a:lnSpc>
                <a:spcPct val="116000"/>
              </a:lnSpc>
              <a:spcBef>
                <a:spcPts val="742"/>
              </a:spcBef>
              <a:buClr>
                <a:srgbClr val="D4FF3A"/>
              </a:buClr>
              <a:buFont typeface="Arial"/>
              <a:buChar char="—"/>
            </a:pPr>
            <a:r>
              <a:rPr sz="1350" b="0" i="0">
                <a:solidFill>
                  <a:srgbClr val="F7F6EF"/>
                </a:solidFill>
                <a:latin typeface="Arial"/>
              </a:rPr>
              <a:t>The comparables on slide 3 failed on monetisation and long-tail retention. Retention is the gate; monetisation is downstream of a number we do not have.</a:t>
            </a:r>
          </a:p>
        </p:txBody>
      </p:sp>
      <p:sp>
        <p:nvSpPr>
          <p:cNvPr id="8" name="Rectangle 7"/>
          <p:cNvSpPr/>
          <p:nvPr/>
        </p:nvSpPr>
        <p:spPr>
          <a:xfrm>
            <a:off x="5669280" y="2277317"/>
            <a:ext cx="4325464" cy="3345781"/>
          </a:xfrm>
          <a:prstGeom prst="rect">
            <a:avLst/>
          </a:prstGeom>
          <a:solidFill>
            <a:srgbClr val="1218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desktop-arena.png"/>
          <p:cNvPicPr>
            <a:picLocks noChangeAspect="1"/>
          </p:cNvPicPr>
          <p:nvPr/>
        </p:nvPicPr>
        <p:blipFill>
          <a:blip r:embed="rId2"/>
          <a:stretch>
            <a:fillRect/>
          </a:stretch>
        </p:blipFill>
        <p:spPr>
          <a:xfrm>
            <a:off x="5769864" y="2377901"/>
            <a:ext cx="4124296" cy="2577685"/>
          </a:xfrm>
          <a:prstGeom prst="rect">
            <a:avLst/>
          </a:prstGeom>
        </p:spPr>
      </p:pic>
      <p:sp>
        <p:nvSpPr>
          <p:cNvPr id="10" name="TextBox 9"/>
          <p:cNvSpPr txBox="1"/>
          <p:nvPr/>
        </p:nvSpPr>
        <p:spPr>
          <a:xfrm>
            <a:off x="5769864" y="5019594"/>
            <a:ext cx="4124296" cy="457200"/>
          </a:xfrm>
          <a:prstGeom prst="rect">
            <a:avLst/>
          </a:prstGeom>
          <a:noFill/>
        </p:spPr>
        <p:txBody>
          <a:bodyPr wrap="square" lIns="0" rIns="0" tIns="0" bIns="0" anchor="t">
            <a:spAutoFit/>
          </a:bodyPr>
          <a:lstStyle/>
          <a:p>
            <a:pPr>
              <a:lnSpc>
                <a:spcPct val="112000"/>
              </a:lnSpc>
            </a:pPr>
            <a:r>
              <a:rPr sz="950" b="0" i="0">
                <a:solidFill>
                  <a:srgbClr val="A6ADBA"/>
                </a:solidFill>
                <a:latin typeface="Arial"/>
              </a:rPr>
              <a:t>Choosing a format and an opponent. The practice opponent carries a BOT badge (app/screens/play/opponent-picker.tsx).</a:t>
            </a:r>
          </a:p>
        </p:txBody>
      </p:sp>
      <p:sp>
        <p:nvSpPr>
          <p:cNvPr id="11" name="Rectangle 10"/>
          <p:cNvSpPr/>
          <p:nvPr/>
        </p:nvSpPr>
        <p:spPr>
          <a:xfrm>
            <a:off x="10232488" y="2277317"/>
            <a:ext cx="1392278" cy="3345781"/>
          </a:xfrm>
          <a:prstGeom prst="rect">
            <a:avLst/>
          </a:prstGeom>
          <a:solidFill>
            <a:srgbClr val="1218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phone-arena.png"/>
          <p:cNvPicPr>
            <a:picLocks noChangeAspect="1"/>
          </p:cNvPicPr>
          <p:nvPr/>
        </p:nvPicPr>
        <p:blipFill>
          <a:blip r:embed="rId3"/>
          <a:stretch>
            <a:fillRect/>
          </a:stretch>
        </p:blipFill>
        <p:spPr>
          <a:xfrm>
            <a:off x="10333072" y="2377901"/>
            <a:ext cx="1191110" cy="2577685"/>
          </a:xfrm>
          <a:prstGeom prst="rect">
            <a:avLst/>
          </a:prstGeom>
        </p:spPr>
      </p:pic>
      <p:sp>
        <p:nvSpPr>
          <p:cNvPr id="13" name="TextBox 12"/>
          <p:cNvSpPr txBox="1"/>
          <p:nvPr/>
        </p:nvSpPr>
        <p:spPr>
          <a:xfrm>
            <a:off x="10333072" y="5019594"/>
            <a:ext cx="1191110" cy="457200"/>
          </a:xfrm>
          <a:prstGeom prst="rect">
            <a:avLst/>
          </a:prstGeom>
          <a:noFill/>
        </p:spPr>
        <p:txBody>
          <a:bodyPr wrap="square" lIns="0" rIns="0" tIns="0" bIns="0" anchor="t">
            <a:spAutoFit/>
          </a:bodyPr>
          <a:lstStyle/>
          <a:p>
            <a:pPr>
              <a:lnSpc>
                <a:spcPct val="112000"/>
              </a:lnSpc>
            </a:pPr>
            <a:r>
              <a:rPr sz="950" b="0" i="0">
                <a:solidFill>
                  <a:srgbClr val="A6ADBA"/>
                </a:solidFill>
                <a:latin typeface="Arial"/>
              </a:rPr>
              <a:t>The same choice on a phone.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1133856"/>
          </a:xfrm>
        </p:spPr>
        <p:txBody>
          <a:bodyPr wrap="square" lIns="0" rIns="0" tIns="0" bIns="0" anchor="t"/>
          <a:lstStyle/>
          <a:p>
            <a:pPr>
              <a:lnSpc>
                <a:spcPct val="108000"/>
              </a:lnSpc>
            </a:pPr>
            <a:r>
              <a:rPr sz="4000" b="1" i="0">
                <a:solidFill>
                  <a:srgbClr val="F7F6EF"/>
                </a:solidFill>
                <a:latin typeface="Arial"/>
              </a:rPr>
              <a:t>The loop is playable in private beta. The measurement layer is the thing that is not.</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D4FF3A"/>
                </a:solidFill>
                <a:latin typeface="Arial"/>
              </a:rPr>
              <a:t>PRODUCT — THE DAILY LOOP</a:t>
            </a:r>
          </a:p>
        </p:txBody>
      </p:sp>
      <p:sp>
        <p:nvSpPr>
          <p:cNvPr id="4" name="Rectangle 3"/>
          <p:cNvSpPr/>
          <p:nvPr/>
        </p:nvSpPr>
        <p:spPr>
          <a:xfrm>
            <a:off x="566928" y="6035040"/>
            <a:ext cx="11057839" cy="11887"/>
          </a:xfrm>
          <a:prstGeom prst="rect">
            <a:avLst/>
          </a:prstGeom>
          <a:solidFill>
            <a:srgbClr val="D4F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5</a:t>
            </a:r>
          </a:p>
        </p:txBody>
      </p:sp>
      <p:sp>
        <p:nvSpPr>
          <p:cNvPr id="6" name="TextBox 5"/>
          <p:cNvSpPr txBox="1"/>
          <p:nvPr/>
        </p:nvSpPr>
        <p:spPr>
          <a:xfrm>
            <a:off x="566928" y="6144768"/>
            <a:ext cx="9869119" cy="548640"/>
          </a:xfrm>
          <a:prstGeom prst="rect">
            <a:avLst/>
          </a:prstGeom>
          <a:noFill/>
        </p:spPr>
        <p:txBody>
          <a:bodyPr wrap="square" lIns="0" rIns="0" tIns="0" bIns="0" anchor="t">
            <a:spAutoFit/>
          </a:bodyPr>
          <a:lstStyle/>
          <a:p>
            <a:pPr>
              <a:lnSpc>
                <a:spcPct val="115000"/>
              </a:lnSpc>
            </a:pPr>
            <a:r>
              <a:rPr sz="800" b="0" i="0">
                <a:solidFill>
                  <a:srgbClr val="A6ADBA"/>
                </a:solidFill>
                <a:latin typeface="Arial"/>
              </a:rPr>
              <a:t>Sources: FACT//DUEL internal — numbers.md — status paragraph, §4.4 and §5.15  ·  FACT//DUEL internal — repository — product code, unaudited  ·  DocSend — per-section dwell times</a:t>
            </a:r>
          </a:p>
        </p:txBody>
      </p:sp>
      <p:sp>
        <p:nvSpPr>
          <p:cNvPr id="7" name="TextBox 6"/>
          <p:cNvSpPr txBox="1"/>
          <p:nvPr/>
        </p:nvSpPr>
        <p:spPr>
          <a:xfrm>
            <a:off x="566928" y="1993392"/>
            <a:ext cx="4754880" cy="3913631"/>
          </a:xfrm>
          <a:prstGeom prst="rect">
            <a:avLst/>
          </a:prstGeom>
          <a:noFill/>
        </p:spPr>
        <p:txBody>
          <a:bodyPr wrap="square" lIns="0" rIns="0" tIns="0" bIns="0" anchor="t">
            <a:spAutoFit/>
          </a:bodyPr>
          <a:lstStyle/>
          <a:p>
            <a:pPr marL="255604" indent="-255604">
              <a:lnSpc>
                <a:spcPct val="116000"/>
              </a:lnSpc>
              <a:buClr>
                <a:srgbClr val="D4FF3A"/>
              </a:buClr>
              <a:buFont typeface="Arial"/>
              <a:buChar char="—"/>
            </a:pPr>
            <a:r>
              <a:rPr sz="1500" b="0" i="0">
                <a:solidFill>
                  <a:srgbClr val="F7F6EF"/>
                </a:solidFill>
                <a:latin typeface="Arial"/>
              </a:rPr>
              <a:t>A private-beta web app with a device-local progression loop and 54 sample questions (numbers.md status paragraph, §5.15).</a:t>
            </a:r>
          </a:p>
          <a:p>
            <a:pPr marL="255604" indent="-255604">
              <a:lnSpc>
                <a:spcPct val="116000"/>
              </a:lnSpc>
              <a:spcBef>
                <a:spcPts val="825"/>
              </a:spcBef>
              <a:buClr>
                <a:srgbClr val="D4FF3A"/>
              </a:buClr>
              <a:buFont typeface="Arial"/>
              <a:buChar char="—"/>
            </a:pPr>
            <a:r>
              <a:rPr sz="1500" b="0" i="0">
                <a:solidFill>
                  <a:srgbClr val="F7F6EF"/>
                </a:solidFill>
                <a:latin typeface="Arial"/>
              </a:rPr>
              <a:t>Zero users outside a private playtest and zero revenue: nothing on this page is a traction claim.</a:t>
            </a:r>
          </a:p>
          <a:p>
            <a:pPr marL="255604" indent="-255604">
              <a:lnSpc>
                <a:spcPct val="116000"/>
              </a:lnSpc>
              <a:spcBef>
                <a:spcPts val="825"/>
              </a:spcBef>
              <a:buClr>
                <a:srgbClr val="D4FF3A"/>
              </a:buClr>
              <a:buFont typeface="Arial"/>
              <a:buChar char="—"/>
            </a:pPr>
            <a:r>
              <a:rPr sz="1500" b="0" i="0">
                <a:solidFill>
                  <a:srgbClr val="F7F6EF"/>
                </a:solidFill>
                <a:latin typeface="Arial"/>
              </a:rPr>
              <a:t>Progression is device-local. There are no accounts, and none of it reaches a server.</a:t>
            </a:r>
          </a:p>
          <a:p>
            <a:pPr marL="255604" indent="-255604">
              <a:lnSpc>
                <a:spcPct val="116000"/>
              </a:lnSpc>
              <a:spcBef>
                <a:spcPts val="825"/>
              </a:spcBef>
              <a:buClr>
                <a:srgbClr val="D4FF3A"/>
              </a:buClr>
              <a:buFont typeface="Arial"/>
              <a:buChar char="—"/>
            </a:pPr>
            <a:r>
              <a:rPr sz="1500" b="0" i="0">
                <a:solidFill>
                  <a:srgbClr val="F7F6EF"/>
                </a:solidFill>
                <a:latin typeface="Arial"/>
              </a:rPr>
              <a:t>The practice opponent carries a BOT badge in the opponent picker. A full opponent-integrity answer is milestone 5 in numbers.md §4.4 — it ships before monetisation.</a:t>
            </a:r>
          </a:p>
          <a:p>
            <a:pPr marL="255604" indent="-255604">
              <a:lnSpc>
                <a:spcPct val="116000"/>
              </a:lnSpc>
              <a:spcBef>
                <a:spcPts val="825"/>
              </a:spcBef>
              <a:buClr>
                <a:srgbClr val="D4FF3A"/>
              </a:buClr>
              <a:buFont typeface="Arial"/>
              <a:buChar char="—"/>
            </a:pPr>
            <a:r>
              <a:rPr sz="1500" b="0" i="0">
                <a:solidFill>
                  <a:srgbClr val="F7F6EF"/>
                </a:solidFill>
                <a:latin typeface="Arial"/>
              </a:rPr>
              <a:t>That is the honest boundary of this build: we can ship the loop; we cannot measure whether it holds — architecturally, not yet.</a:t>
            </a:r>
          </a:p>
        </p:txBody>
      </p:sp>
      <p:sp>
        <p:nvSpPr>
          <p:cNvPr id="8" name="Rectangle 7"/>
          <p:cNvSpPr/>
          <p:nvPr/>
        </p:nvSpPr>
        <p:spPr>
          <a:xfrm>
            <a:off x="5669280" y="2277317"/>
            <a:ext cx="4325464" cy="3345781"/>
          </a:xfrm>
          <a:prstGeom prst="rect">
            <a:avLst/>
          </a:prstGeom>
          <a:solidFill>
            <a:srgbClr val="1218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desktop-home.png"/>
          <p:cNvPicPr>
            <a:picLocks noChangeAspect="1"/>
          </p:cNvPicPr>
          <p:nvPr/>
        </p:nvPicPr>
        <p:blipFill>
          <a:blip r:embed="rId2"/>
          <a:stretch>
            <a:fillRect/>
          </a:stretch>
        </p:blipFill>
        <p:spPr>
          <a:xfrm>
            <a:off x="5769864" y="2377901"/>
            <a:ext cx="4124296" cy="2577685"/>
          </a:xfrm>
          <a:prstGeom prst="rect">
            <a:avLst/>
          </a:prstGeom>
        </p:spPr>
      </p:pic>
      <p:sp>
        <p:nvSpPr>
          <p:cNvPr id="10" name="TextBox 9"/>
          <p:cNvSpPr txBox="1"/>
          <p:nvPr/>
        </p:nvSpPr>
        <p:spPr>
          <a:xfrm>
            <a:off x="5769864" y="5019594"/>
            <a:ext cx="4124296" cy="457200"/>
          </a:xfrm>
          <a:prstGeom prst="rect">
            <a:avLst/>
          </a:prstGeom>
          <a:noFill/>
        </p:spPr>
        <p:txBody>
          <a:bodyPr wrap="square" lIns="0" rIns="0" tIns="0" bIns="0" anchor="t">
            <a:spAutoFit/>
          </a:bodyPr>
          <a:lstStyle/>
          <a:p>
            <a:pPr>
              <a:lnSpc>
                <a:spcPct val="112000"/>
              </a:lnSpc>
            </a:pPr>
            <a:r>
              <a:rPr sz="950" b="0" i="0">
                <a:solidFill>
                  <a:srgbClr val="A6ADBA"/>
                </a:solidFill>
                <a:latin typeface="Arial"/>
              </a:rPr>
              <a:t>Home: level and XP, day streak, gems, Arena Rank, the day's quests, one-tap duel.</a:t>
            </a:r>
          </a:p>
        </p:txBody>
      </p:sp>
      <p:sp>
        <p:nvSpPr>
          <p:cNvPr id="11" name="Rectangle 10"/>
          <p:cNvSpPr/>
          <p:nvPr/>
        </p:nvSpPr>
        <p:spPr>
          <a:xfrm>
            <a:off x="10232488" y="2277317"/>
            <a:ext cx="1392278" cy="3345781"/>
          </a:xfrm>
          <a:prstGeom prst="rect">
            <a:avLst/>
          </a:prstGeom>
          <a:solidFill>
            <a:srgbClr val="1218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phone-home.png"/>
          <p:cNvPicPr>
            <a:picLocks noChangeAspect="1"/>
          </p:cNvPicPr>
          <p:nvPr/>
        </p:nvPicPr>
        <p:blipFill>
          <a:blip r:embed="rId3"/>
          <a:stretch>
            <a:fillRect/>
          </a:stretch>
        </p:blipFill>
        <p:spPr>
          <a:xfrm>
            <a:off x="10333072" y="2377901"/>
            <a:ext cx="1191110" cy="2577685"/>
          </a:xfrm>
          <a:prstGeom prst="rect">
            <a:avLst/>
          </a:prstGeom>
        </p:spPr>
      </p:pic>
      <p:sp>
        <p:nvSpPr>
          <p:cNvPr id="13" name="TextBox 12"/>
          <p:cNvSpPr txBox="1"/>
          <p:nvPr/>
        </p:nvSpPr>
        <p:spPr>
          <a:xfrm>
            <a:off x="10333072" y="5019594"/>
            <a:ext cx="1191110" cy="457200"/>
          </a:xfrm>
          <a:prstGeom prst="rect">
            <a:avLst/>
          </a:prstGeom>
          <a:noFill/>
        </p:spPr>
        <p:txBody>
          <a:bodyPr wrap="square" lIns="0" rIns="0" tIns="0" bIns="0" anchor="t">
            <a:spAutoFit/>
          </a:bodyPr>
          <a:lstStyle/>
          <a:p>
            <a:pPr>
              <a:lnSpc>
                <a:spcPct val="112000"/>
              </a:lnSpc>
            </a:pPr>
            <a:r>
              <a:rPr sz="950" b="0" i="0">
                <a:solidFill>
                  <a:srgbClr val="A6ADBA"/>
                </a:solidFill>
                <a:latin typeface="Arial"/>
              </a:rPr>
              <a:t>Home on a phone.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1133856"/>
          </a:xfrm>
        </p:spPr>
        <p:txBody>
          <a:bodyPr wrap="square" lIns="0" rIns="0" tIns="0" bIns="0" anchor="t"/>
          <a:lstStyle/>
          <a:p>
            <a:pPr>
              <a:lnSpc>
                <a:spcPct val="108000"/>
              </a:lnSpc>
            </a:pPr>
            <a:r>
              <a:rPr sz="4000" b="1" i="0">
                <a:solidFill>
                  <a:srgbClr val="F7F6EF"/>
                </a:solidFill>
                <a:latin typeface="Arial"/>
              </a:rPr>
              <a:t>Solo routes and a static event calendar are built for the days without a duel.</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D4FF3A"/>
                </a:solidFill>
                <a:latin typeface="Arial"/>
              </a:rPr>
              <a:t>PRODUCT — THE NON-DUEL SURFACE</a:t>
            </a:r>
          </a:p>
        </p:txBody>
      </p:sp>
      <p:sp>
        <p:nvSpPr>
          <p:cNvPr id="4" name="Rectangle 3"/>
          <p:cNvSpPr/>
          <p:nvPr/>
        </p:nvSpPr>
        <p:spPr>
          <a:xfrm>
            <a:off x="566928" y="6035040"/>
            <a:ext cx="11057839" cy="11887"/>
          </a:xfrm>
          <a:prstGeom prst="rect">
            <a:avLst/>
          </a:prstGeom>
          <a:solidFill>
            <a:srgbClr val="D4F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6</a:t>
            </a:r>
          </a:p>
        </p:txBody>
      </p:sp>
      <p:sp>
        <p:nvSpPr>
          <p:cNvPr id="6" name="TextBox 5"/>
          <p:cNvSpPr txBox="1"/>
          <p:nvPr/>
        </p:nvSpPr>
        <p:spPr>
          <a:xfrm>
            <a:off x="566928" y="6144768"/>
            <a:ext cx="9869119" cy="548640"/>
          </a:xfrm>
          <a:prstGeom prst="rect">
            <a:avLst/>
          </a:prstGeom>
          <a:noFill/>
        </p:spPr>
        <p:txBody>
          <a:bodyPr wrap="square" lIns="0" rIns="0" tIns="0" bIns="0" anchor="t">
            <a:spAutoFit/>
          </a:bodyPr>
          <a:lstStyle/>
          <a:p>
            <a:pPr>
              <a:lnSpc>
                <a:spcPct val="115000"/>
              </a:lnSpc>
            </a:pPr>
            <a:r>
              <a:rPr sz="800" b="0" i="0">
                <a:solidFill>
                  <a:srgbClr val="A6ADBA"/>
                </a:solidFill>
                <a:latin typeface="Arial"/>
              </a:rPr>
              <a:t>Sources: FACT//DUEL internal — numbers.md — status paragraph and §5.15  ·  FACT//DUEL internal — numbers.md §2.3, §4.3 and §4.4  ·  FACT//DUEL internal — repository — product code, unaudited</a:t>
            </a:r>
          </a:p>
        </p:txBody>
      </p:sp>
      <p:sp>
        <p:nvSpPr>
          <p:cNvPr id="7" name="TextBox 6"/>
          <p:cNvSpPr txBox="1"/>
          <p:nvPr/>
        </p:nvSpPr>
        <p:spPr>
          <a:xfrm>
            <a:off x="566928" y="1993392"/>
            <a:ext cx="4754880" cy="3913631"/>
          </a:xfrm>
          <a:prstGeom prst="rect">
            <a:avLst/>
          </a:prstGeom>
          <a:noFill/>
        </p:spPr>
        <p:txBody>
          <a:bodyPr wrap="square" lIns="0" rIns="0" tIns="0" bIns="0" anchor="t">
            <a:spAutoFit/>
          </a:bodyPr>
          <a:lstStyle/>
          <a:p>
            <a:pPr marL="221512" indent="-221512">
              <a:lnSpc>
                <a:spcPct val="116000"/>
              </a:lnSpc>
              <a:buClr>
                <a:srgbClr val="D4FF3A"/>
              </a:buClr>
              <a:buFont typeface="Arial"/>
              <a:buChar char="—"/>
            </a:pPr>
            <a:r>
              <a:rPr sz="1300" b="0" i="0">
                <a:solidFill>
                  <a:srgbClr val="F7F6EF"/>
                </a:solidFill>
                <a:latin typeface="Arial"/>
              </a:rPr>
              <a:t>Solo expeditions are short untimed routes with a Steady-or-Bold risk choice locked in before each answer (lib/expeditions.mjs).</a:t>
            </a:r>
          </a:p>
          <a:p>
            <a:pPr marL="221512" indent="-221512">
              <a:lnSpc>
                <a:spcPct val="116000"/>
              </a:lnSpc>
              <a:spcBef>
                <a:spcPts val="715"/>
              </a:spcBef>
              <a:buClr>
                <a:srgbClr val="D4FF3A"/>
              </a:buClr>
              <a:buFont typeface="Arial"/>
              <a:buChar char="—"/>
            </a:pPr>
            <a:r>
              <a:rPr sz="1300" b="0" i="0">
                <a:solidFill>
                  <a:srgbClr val="F7F6EF"/>
                </a:solidFill>
                <a:latin typeface="Arial"/>
              </a:rPr>
              <a:t>Limited-time modes are derived from the calendar: one opens on a real fixture or announcement and closes when its window closes (lib/events.mjs).</a:t>
            </a:r>
          </a:p>
          <a:p>
            <a:pPr marL="221512" indent="-221512">
              <a:lnSpc>
                <a:spcPct val="116000"/>
              </a:lnSpc>
              <a:spcBef>
                <a:spcPts val="715"/>
              </a:spcBef>
              <a:buClr>
                <a:srgbClr val="D4FF3A"/>
              </a:buClr>
              <a:buFont typeface="Arial"/>
              <a:buChar char="—"/>
            </a:pPr>
            <a:r>
              <a:rPr sz="1300" b="0" i="0">
                <a:solidFill>
                  <a:srgbClr val="F7F6EF"/>
                </a:solidFill>
                <a:latin typeface="Arial"/>
              </a:rPr>
              <a:t>The calendar is static and hand-checked, and the date it was last verified is printed in the app. No live feed, no scores API, no rights deal (lib/events-data.mjs).</a:t>
            </a:r>
          </a:p>
          <a:p>
            <a:pPr marL="221512" indent="-221512">
              <a:lnSpc>
                <a:spcPct val="116000"/>
              </a:lnSpc>
              <a:spcBef>
                <a:spcPts val="715"/>
              </a:spcBef>
              <a:buClr>
                <a:srgbClr val="D4FF3A"/>
              </a:buClr>
              <a:buFont typeface="Arial"/>
              <a:buChar char="—"/>
            </a:pPr>
            <a:r>
              <a:rPr sz="1300" b="0" i="0">
                <a:solidFill>
                  <a:srgbClr val="F7F6EF"/>
                </a:solidFill>
                <a:latin typeface="Arial"/>
              </a:rPr>
              <a:t>No cadence and no retention effect is claimed for any of it: with zero users, retention is unmeasurable in principle (numbers.md §5.15).</a:t>
            </a:r>
          </a:p>
          <a:p>
            <a:pPr marL="221512" indent="-221512">
              <a:lnSpc>
                <a:spcPct val="116000"/>
              </a:lnSpc>
              <a:spcBef>
                <a:spcPts val="715"/>
              </a:spcBef>
              <a:buClr>
                <a:srgbClr val="D4FF3A"/>
              </a:buClr>
              <a:buFont typeface="Arial"/>
              <a:buChar char="—"/>
            </a:pPr>
            <a:r>
              <a:rPr sz="1300" b="0" i="0">
                <a:solidFill>
                  <a:srgbClr val="F7F6EF"/>
                </a:solidFill>
                <a:latin typeface="Arial"/>
              </a:rPr>
              <a:t>The graveyard died of monetisation and long-tail retention (§2.3). This surface is our untested answer to the second of those.</a:t>
            </a:r>
          </a:p>
          <a:p>
            <a:pPr marL="221512" indent="-221512">
              <a:lnSpc>
                <a:spcPct val="116000"/>
              </a:lnSpc>
              <a:spcBef>
                <a:spcPts val="715"/>
              </a:spcBef>
              <a:buClr>
                <a:srgbClr val="D4FF3A"/>
              </a:buClr>
              <a:buFont typeface="Arial"/>
              <a:buChar char="—"/>
            </a:pPr>
            <a:r>
              <a:rPr sz="1300" b="0" i="0">
                <a:solidFill>
                  <a:srgbClr val="F7F6EF"/>
                </a:solidFill>
                <a:latin typeface="Arial"/>
              </a:rPr>
              <a:t>The bank is 54 sample questions today. Growing it is milestone 4: a target and a production rate we have not set yet.</a:t>
            </a:r>
          </a:p>
        </p:txBody>
      </p:sp>
      <p:sp>
        <p:nvSpPr>
          <p:cNvPr id="8" name="Rectangle 7"/>
          <p:cNvSpPr/>
          <p:nvPr/>
        </p:nvSpPr>
        <p:spPr>
          <a:xfrm>
            <a:off x="5669280" y="2277317"/>
            <a:ext cx="4325464" cy="3345781"/>
          </a:xfrm>
          <a:prstGeom prst="rect">
            <a:avLst/>
          </a:prstGeom>
          <a:solidFill>
            <a:srgbClr val="1218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desktop-journeys.png"/>
          <p:cNvPicPr>
            <a:picLocks noChangeAspect="1"/>
          </p:cNvPicPr>
          <p:nvPr/>
        </p:nvPicPr>
        <p:blipFill>
          <a:blip r:embed="rId2"/>
          <a:stretch>
            <a:fillRect/>
          </a:stretch>
        </p:blipFill>
        <p:spPr>
          <a:xfrm>
            <a:off x="5769864" y="2377901"/>
            <a:ext cx="4124296" cy="2577685"/>
          </a:xfrm>
          <a:prstGeom prst="rect">
            <a:avLst/>
          </a:prstGeom>
        </p:spPr>
      </p:pic>
      <p:sp>
        <p:nvSpPr>
          <p:cNvPr id="10" name="TextBox 9"/>
          <p:cNvSpPr txBox="1"/>
          <p:nvPr/>
        </p:nvSpPr>
        <p:spPr>
          <a:xfrm>
            <a:off x="5769864" y="5019594"/>
            <a:ext cx="4124296" cy="457200"/>
          </a:xfrm>
          <a:prstGeom prst="rect">
            <a:avLst/>
          </a:prstGeom>
          <a:noFill/>
        </p:spPr>
        <p:txBody>
          <a:bodyPr wrap="square" lIns="0" rIns="0" tIns="0" bIns="0" anchor="t">
            <a:spAutoFit/>
          </a:bodyPr>
          <a:lstStyle/>
          <a:p>
            <a:pPr>
              <a:lnSpc>
                <a:spcPct val="112000"/>
              </a:lnSpc>
            </a:pPr>
            <a:r>
              <a:rPr sz="950" b="0" i="0">
                <a:solidFill>
                  <a:srgbClr val="A6ADBA"/>
                </a:solidFill>
                <a:latin typeface="Arial"/>
              </a:rPr>
              <a:t>Expeditions: short untimed routes, a Steady-or-Bold choice, a stamp for finishing one.</a:t>
            </a:r>
          </a:p>
        </p:txBody>
      </p:sp>
      <p:sp>
        <p:nvSpPr>
          <p:cNvPr id="11" name="Rectangle 10"/>
          <p:cNvSpPr/>
          <p:nvPr/>
        </p:nvSpPr>
        <p:spPr>
          <a:xfrm>
            <a:off x="10232488" y="2277317"/>
            <a:ext cx="1392278" cy="3345781"/>
          </a:xfrm>
          <a:prstGeom prst="rect">
            <a:avLst/>
          </a:prstGeom>
          <a:solidFill>
            <a:srgbClr val="1218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phone-journeys.png"/>
          <p:cNvPicPr>
            <a:picLocks noChangeAspect="1"/>
          </p:cNvPicPr>
          <p:nvPr/>
        </p:nvPicPr>
        <p:blipFill>
          <a:blip r:embed="rId3"/>
          <a:stretch>
            <a:fillRect/>
          </a:stretch>
        </p:blipFill>
        <p:spPr>
          <a:xfrm>
            <a:off x="10333072" y="2377901"/>
            <a:ext cx="1191110" cy="2577685"/>
          </a:xfrm>
          <a:prstGeom prst="rect">
            <a:avLst/>
          </a:prstGeom>
        </p:spPr>
      </p:pic>
      <p:sp>
        <p:nvSpPr>
          <p:cNvPr id="13" name="TextBox 12"/>
          <p:cNvSpPr txBox="1"/>
          <p:nvPr/>
        </p:nvSpPr>
        <p:spPr>
          <a:xfrm>
            <a:off x="10333072" y="5019594"/>
            <a:ext cx="1191110" cy="457200"/>
          </a:xfrm>
          <a:prstGeom prst="rect">
            <a:avLst/>
          </a:prstGeom>
          <a:noFill/>
        </p:spPr>
        <p:txBody>
          <a:bodyPr wrap="square" lIns="0" rIns="0" tIns="0" bIns="0" anchor="t">
            <a:spAutoFit/>
          </a:bodyPr>
          <a:lstStyle/>
          <a:p>
            <a:pPr>
              <a:lnSpc>
                <a:spcPct val="112000"/>
              </a:lnSpc>
            </a:pPr>
            <a:r>
              <a:rPr sz="950" b="0" i="0">
                <a:solidFill>
                  <a:srgbClr val="A6ADBA"/>
                </a:solidFill>
                <a:latin typeface="Arial"/>
              </a:rPr>
              <a:t>Expeditions on a phone.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1133856"/>
          </a:xfrm>
        </p:spPr>
        <p:txBody>
          <a:bodyPr wrap="square" lIns="0" rIns="0" tIns="0" bIns="0" anchor="t"/>
          <a:lstStyle/>
          <a:p>
            <a:pPr>
              <a:lnSpc>
                <a:spcPct val="108000"/>
              </a:lnSpc>
            </a:pPr>
            <a:r>
              <a:rPr sz="4000" b="1" i="0">
                <a:solidFill>
                  <a:srgbClr val="F7F6EF"/>
                </a:solidFill>
                <a:latin typeface="Arial"/>
              </a:rPr>
              <a:t>TAM-A $1.69bn – $2.83bn, sized bottom-up from one population forecast and two filings.</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D4FF3A"/>
                </a:solidFill>
                <a:latin typeface="Arial"/>
              </a:rPr>
              <a:t>MARKET</a:t>
            </a:r>
          </a:p>
        </p:txBody>
      </p:sp>
      <p:sp>
        <p:nvSpPr>
          <p:cNvPr id="4" name="Rectangle 3"/>
          <p:cNvSpPr/>
          <p:nvPr/>
        </p:nvSpPr>
        <p:spPr>
          <a:xfrm>
            <a:off x="566928" y="6035040"/>
            <a:ext cx="11057839" cy="11887"/>
          </a:xfrm>
          <a:prstGeom prst="rect">
            <a:avLst/>
          </a:prstGeom>
          <a:solidFill>
            <a:srgbClr val="D4F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7</a:t>
            </a:r>
          </a:p>
        </p:txBody>
      </p:sp>
      <p:sp>
        <p:nvSpPr>
          <p:cNvPr id="6" name="TextBox 5"/>
          <p:cNvSpPr txBox="1"/>
          <p:nvPr/>
        </p:nvSpPr>
        <p:spPr>
          <a:xfrm>
            <a:off x="566928" y="6144768"/>
            <a:ext cx="9869119" cy="548640"/>
          </a:xfrm>
          <a:prstGeom prst="rect">
            <a:avLst/>
          </a:prstGeom>
          <a:noFill/>
        </p:spPr>
        <p:txBody>
          <a:bodyPr wrap="square" lIns="0" rIns="0" tIns="0" bIns="0" anchor="t">
            <a:spAutoFit/>
          </a:bodyPr>
          <a:lstStyle/>
          <a:p>
            <a:pPr>
              <a:lnSpc>
                <a:spcPct val="115000"/>
              </a:lnSpc>
            </a:pPr>
            <a:r>
              <a:rPr sz="800" b="0" i="0">
                <a:solidFill>
                  <a:srgbClr val="A6ADBA"/>
                </a:solidFill>
                <a:latin typeface="Arial"/>
              </a:rPr>
              <a:t>Sources: EMARKETER — second-screen engagement during live sport  ·  SEC — Duolingo FY2025 shareholder letter  ·  MAG Interactive — Q3 2025/26 interim report</a:t>
            </a:r>
          </a:p>
        </p:txBody>
      </p:sp>
      <p:sp>
        <p:nvSpPr>
          <p:cNvPr id="7" name="TextBox 6"/>
          <p:cNvSpPr txBox="1"/>
          <p:nvPr/>
        </p:nvSpPr>
        <p:spPr>
          <a:xfrm>
            <a:off x="566928" y="1993392"/>
            <a:ext cx="5114239" cy="3913631"/>
          </a:xfrm>
          <a:prstGeom prst="rect">
            <a:avLst/>
          </a:prstGeom>
          <a:noFill/>
        </p:spPr>
        <p:txBody>
          <a:bodyPr wrap="square" lIns="0" rIns="0" tIns="0" bIns="0" anchor="t">
            <a:spAutoFit/>
          </a:bodyPr>
          <a:lstStyle/>
          <a:p>
            <a:pPr marL="272638" indent="-272638">
              <a:lnSpc>
                <a:spcPct val="116000"/>
              </a:lnSpc>
              <a:buClr>
                <a:srgbClr val="D4FF3A"/>
              </a:buClr>
              <a:buFont typeface="Arial"/>
              <a:buChar char="—"/>
            </a:pPr>
            <a:r>
              <a:rPr sz="1600" b="0" i="0">
                <a:solidFill>
                  <a:srgbClr val="F7F6EF"/>
                </a:solidFill>
                <a:latin typeface="Arial"/>
              </a:rPr>
              <a:t>EMARKETER forecasts 216.8M US adults — 80.6% of the adult population — using a smartphone as a second screen in 2026 (forecast published April 2026).</a:t>
            </a:r>
          </a:p>
          <a:p>
            <a:pPr marL="272638" indent="-272638">
              <a:lnSpc>
                <a:spcPct val="116000"/>
              </a:lnSpc>
              <a:spcBef>
                <a:spcPts val="880"/>
              </a:spcBef>
              <a:buClr>
                <a:srgbClr val="D4FF3A"/>
              </a:buClr>
              <a:buFont typeface="Arial"/>
              <a:buChar char="—"/>
            </a:pPr>
            <a:r>
              <a:rPr sz="1600" b="0" i="0">
                <a:solidFill>
                  <a:srgbClr val="F7F6EF"/>
                </a:solidFill>
                <a:latin typeface="Arial"/>
              </a:rPr>
              <a:t>216.8M x </a:t>
            </a:r>
            <a:r>
              <a:rPr sz="1600" b="0" i="0">
                <a:solidFill>
                  <a:srgbClr val="FFC83D"/>
                </a:solidFill>
                <a:latin typeface="Arial"/>
              </a:rPr>
              <a:t>$7.80</a:t>
            </a:r>
            <a:r>
              <a:rPr sz="1600" b="0" i="0">
                <a:solidFill>
                  <a:srgbClr val="F7F6EF"/>
                </a:solidFill>
                <a:latin typeface="Arial"/>
              </a:rPr>
              <a:t>-</a:t>
            </a:r>
            <a:r>
              <a:rPr sz="1600" b="0" i="0">
                <a:solidFill>
                  <a:srgbClr val="FFC83D"/>
                </a:solidFill>
                <a:latin typeface="Arial"/>
              </a:rPr>
              <a:t>$13.07</a:t>
            </a:r>
            <a:r>
              <a:rPr sz="1600" b="0" i="0">
                <a:solidFill>
                  <a:srgbClr val="F7F6EF"/>
                </a:solidFill>
                <a:latin typeface="Arial"/>
              </a:rPr>
              <a:t> revenue per active user per year = TAM-A </a:t>
            </a:r>
            <a:r>
              <a:rPr sz="1600" b="0" i="0">
                <a:solidFill>
                  <a:srgbClr val="FFC83D"/>
                </a:solidFill>
                <a:latin typeface="Arial"/>
              </a:rPr>
              <a:t>$1.69bn</a:t>
            </a:r>
            <a:r>
              <a:rPr sz="1600" b="0" i="0">
                <a:solidFill>
                  <a:srgbClr val="F7F6EF"/>
                </a:solidFill>
                <a:latin typeface="Arial"/>
              </a:rPr>
              <a:t> - </a:t>
            </a:r>
            <a:r>
              <a:rPr sz="1600" b="0" i="0">
                <a:solidFill>
                  <a:srgbClr val="FFC83D"/>
                </a:solidFill>
                <a:latin typeface="Arial"/>
              </a:rPr>
              <a:t>$2.83bn</a:t>
            </a:r>
            <a:r>
              <a:rPr sz="1600" b="0" i="0">
                <a:solidFill>
                  <a:srgbClr val="F7F6EF"/>
                </a:solidFill>
                <a:latin typeface="Arial"/>
              </a:rPr>
              <a:t>. An upper bound: no activation, retention or conversion discount is applied.</a:t>
            </a:r>
          </a:p>
          <a:p>
            <a:pPr marL="272638" indent="-272638">
              <a:lnSpc>
                <a:spcPct val="116000"/>
              </a:lnSpc>
              <a:spcBef>
                <a:spcPts val="880"/>
              </a:spcBef>
              <a:buClr>
                <a:srgbClr val="D4FF3A"/>
              </a:buClr>
              <a:buFont typeface="Arial"/>
              <a:buChar char="—"/>
            </a:pPr>
            <a:r>
              <a:rPr sz="1600" b="0" i="0">
                <a:solidFill>
                  <a:srgbClr val="F7F6EF"/>
                </a:solidFill>
                <a:latin typeface="Arial"/>
              </a:rPr>
              <a:t>Neither end is reported by anyone; both are derived. Low: Duolingo FY2025 revenue ÷ the 133.1M MAU reported at 31 Dec 2025 — a ratio Duolingo does not publish.</a:t>
            </a:r>
          </a:p>
          <a:p>
            <a:pPr marL="272638" indent="-272638">
              <a:lnSpc>
                <a:spcPct val="116000"/>
              </a:lnSpc>
              <a:spcBef>
                <a:spcPts val="880"/>
              </a:spcBef>
              <a:buClr>
                <a:srgbClr val="D4FF3A"/>
              </a:buClr>
              <a:buFont typeface="Arial"/>
              <a:buChar char="—"/>
            </a:pPr>
            <a:r>
              <a:rPr sz="1600" b="0" i="0">
                <a:solidFill>
                  <a:srgbClr val="F7F6EF"/>
                </a:solidFill>
                <a:latin typeface="Arial"/>
              </a:rPr>
              <a:t>High: MAG Interactive nine-month group net sales ÷ group MAU, annualised — group-level across its whole portfolio, unaudited interim, not QuizDuel standalone.</a:t>
            </a:r>
          </a:p>
        </p:txBody>
      </p:sp>
      <p:pic>
        <p:nvPicPr>
          <p:cNvPr id="8" name="Picture 7" descr="tam-sam-som.png"/>
          <p:cNvPicPr>
            <a:picLocks noChangeAspect="1"/>
          </p:cNvPicPr>
          <p:nvPr/>
        </p:nvPicPr>
        <p:blipFill>
          <a:blip r:embed="rId2"/>
          <a:stretch>
            <a:fillRect/>
          </a:stretch>
        </p:blipFill>
        <p:spPr>
          <a:xfrm>
            <a:off x="6001207" y="2241140"/>
            <a:ext cx="5623560" cy="3418134"/>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1682496"/>
          </a:xfrm>
        </p:spPr>
        <p:txBody>
          <a:bodyPr wrap="square" lIns="0" rIns="0" tIns="0" bIns="0" anchor="t"/>
          <a:lstStyle/>
          <a:p>
            <a:pPr>
              <a:lnSpc>
                <a:spcPct val="108000"/>
              </a:lnSpc>
            </a:pPr>
            <a:r>
              <a:rPr sz="4000" b="1" i="0">
                <a:solidFill>
                  <a:srgbClr val="F7F6EF"/>
                </a:solidFill>
                <a:latin typeface="Arial"/>
              </a:rPr>
              <a:t>Why now: the duel has no maintained incumbent, and a habit loop passed $1bn of total revenue.</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D4FF3A"/>
                </a:solidFill>
                <a:latin typeface="Arial"/>
              </a:rPr>
              <a:t>WHY NOW</a:t>
            </a:r>
          </a:p>
        </p:txBody>
      </p:sp>
      <p:sp>
        <p:nvSpPr>
          <p:cNvPr id="4" name="Rectangle 3"/>
          <p:cNvSpPr/>
          <p:nvPr/>
        </p:nvSpPr>
        <p:spPr>
          <a:xfrm>
            <a:off x="566928" y="6035040"/>
            <a:ext cx="11057839" cy="11887"/>
          </a:xfrm>
          <a:prstGeom prst="rect">
            <a:avLst/>
          </a:prstGeom>
          <a:solidFill>
            <a:srgbClr val="D4F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8</a:t>
            </a:r>
          </a:p>
        </p:txBody>
      </p:sp>
      <p:sp>
        <p:nvSpPr>
          <p:cNvPr id="6" name="TextBox 5"/>
          <p:cNvSpPr txBox="1"/>
          <p:nvPr/>
        </p:nvSpPr>
        <p:spPr>
          <a:xfrm>
            <a:off x="566928" y="6144768"/>
            <a:ext cx="9869119" cy="548640"/>
          </a:xfrm>
          <a:prstGeom prst="rect">
            <a:avLst/>
          </a:prstGeom>
          <a:noFill/>
        </p:spPr>
        <p:txBody>
          <a:bodyPr wrap="square" lIns="0" rIns="0" tIns="0" bIns="0" anchor="t">
            <a:spAutoFit/>
          </a:bodyPr>
          <a:lstStyle/>
          <a:p>
            <a:pPr>
              <a:lnSpc>
                <a:spcPct val="115000"/>
              </a:lnSpc>
            </a:pPr>
            <a:r>
              <a:rPr sz="800" b="0" i="0">
                <a:solidFill>
                  <a:srgbClr val="A6ADBA"/>
                </a:solidFill>
                <a:latin typeface="Arial"/>
              </a:rPr>
              <a:t>Sources: Google Play — Trivia Crack listing  ·  SEC — Duolingo FY2025 shareholder letter  ·  AppTweak — US store conversion benchmarks, CY2025  ·  FACT//DUEL internal — numbers.md §3.5, §5.2 and §5.14</a:t>
            </a:r>
          </a:p>
        </p:txBody>
      </p:sp>
      <p:sp>
        <p:nvSpPr>
          <p:cNvPr id="7" name="TextBox 6"/>
          <p:cNvSpPr txBox="1"/>
          <p:nvPr/>
        </p:nvSpPr>
        <p:spPr>
          <a:xfrm>
            <a:off x="566928" y="2542032"/>
            <a:ext cx="11057839" cy="3364991"/>
          </a:xfrm>
          <a:prstGeom prst="rect">
            <a:avLst/>
          </a:prstGeom>
          <a:noFill/>
        </p:spPr>
        <p:txBody>
          <a:bodyPr wrap="square" lIns="0" rIns="0" tIns="0" bIns="0" anchor="t">
            <a:spAutoFit/>
          </a:bodyPr>
          <a:lstStyle/>
          <a:p>
            <a:pPr marL="289671" indent="-289671">
              <a:lnSpc>
                <a:spcPct val="116000"/>
              </a:lnSpc>
              <a:buClr>
                <a:srgbClr val="D4FF3A"/>
              </a:buClr>
              <a:buFont typeface="Arial"/>
              <a:buChar char="—"/>
            </a:pPr>
            <a:r>
              <a:rPr sz="1700" b="0" i="0">
                <a:solidFill>
                  <a:srgbClr val="F7F6EF"/>
                </a:solidFill>
                <a:latin typeface="Arial"/>
              </a:rPr>
              <a:t>Trivia Crack's listing is now built around a FOX TV tie-in. The largest lifetime Android install base in the category — 267,939,837 installs, Google Play's own count — has pivoted away from duels.</a:t>
            </a:r>
          </a:p>
          <a:p>
            <a:pPr marL="289671" indent="-289671">
              <a:lnSpc>
                <a:spcPct val="116000"/>
              </a:lnSpc>
              <a:spcBef>
                <a:spcPts val="935"/>
              </a:spcBef>
              <a:buClr>
                <a:srgbClr val="D4FF3A"/>
              </a:buClr>
              <a:buFont typeface="Arial"/>
              <a:buChar char="—"/>
            </a:pPr>
            <a:r>
              <a:rPr sz="1700" b="0" i="0">
                <a:solidFill>
                  <a:srgbClr val="F7F6EF"/>
                </a:solidFill>
                <a:latin typeface="Arial"/>
              </a:rPr>
              <a:t>Duolingo, a habit app built on a streak/XP/quest loop, passed </a:t>
            </a:r>
            <a:r>
              <a:rPr sz="1700" b="0" i="0">
                <a:solidFill>
                  <a:srgbClr val="FFC83D"/>
                </a:solidFill>
                <a:latin typeface="Arial"/>
              </a:rPr>
              <a:t>$1bn</a:t>
            </a:r>
            <a:r>
              <a:rPr sz="1700" b="0" i="0">
                <a:solidFill>
                  <a:srgbClr val="F7F6EF"/>
                </a:solidFill>
                <a:latin typeface="Arial"/>
              </a:rPr>
              <a:t> of total revenue: </a:t>
            </a:r>
            <a:r>
              <a:rPr sz="1700" b="0" i="0">
                <a:solidFill>
                  <a:srgbClr val="FFC83D"/>
                </a:solidFill>
                <a:latin typeface="Arial"/>
              </a:rPr>
              <a:t>$1,037.6M</a:t>
            </a:r>
            <a:r>
              <a:rPr sz="1700" b="0" i="0">
                <a:solidFill>
                  <a:srgbClr val="F7F6EF"/>
                </a:solidFill>
                <a:latin typeface="Arial"/>
              </a:rPr>
              <a:t> in FY2025, with 12.2M paid subscribers at year-end 2025.</a:t>
            </a:r>
          </a:p>
          <a:p>
            <a:pPr marL="289671" indent="-289671">
              <a:lnSpc>
                <a:spcPct val="116000"/>
              </a:lnSpc>
              <a:spcBef>
                <a:spcPts val="935"/>
              </a:spcBef>
              <a:buClr>
                <a:srgbClr val="D4FF3A"/>
              </a:buClr>
              <a:buFont typeface="Arial"/>
              <a:buChar char="—"/>
            </a:pPr>
            <a:r>
              <a:rPr sz="1700" b="0" i="0">
                <a:solidFill>
                  <a:srgbClr val="F7F6EF"/>
                </a:solidFill>
                <a:latin typeface="Arial"/>
              </a:rPr>
              <a:t>On US iOS in CY2025, AppTweak estimates trivia has the lowest page-view-to-install rate of about 38 categories: 5.2% against an 8.56% all-category average.</a:t>
            </a:r>
          </a:p>
          <a:p>
            <a:pPr marL="289671" indent="-289671">
              <a:lnSpc>
                <a:spcPct val="116000"/>
              </a:lnSpc>
              <a:spcBef>
                <a:spcPts val="935"/>
              </a:spcBef>
              <a:buClr>
                <a:srgbClr val="D4FF3A"/>
              </a:buClr>
              <a:buFont typeface="Arial"/>
              <a:buChar char="—"/>
            </a:pPr>
            <a:r>
              <a:rPr sz="1700" b="0" i="0">
                <a:solidFill>
                  <a:srgbClr val="F7F6EF"/>
                </a:solidFill>
                <a:latin typeface="Arial"/>
              </a:rPr>
              <a:t>On Google Play the same pass puts trivia above average: 19.8% against 16.15%. Both were read from AppTweak chart data in our own verification pass and are flagged for re-confirmation (§5.2).</a:t>
            </a:r>
          </a:p>
          <a:p>
            <a:pPr marL="289671" indent="-289671">
              <a:lnSpc>
                <a:spcPct val="116000"/>
              </a:lnSpc>
              <a:spcBef>
                <a:spcPts val="935"/>
              </a:spcBef>
              <a:buClr>
                <a:srgbClr val="D4FF3A"/>
              </a:buClr>
              <a:buFont typeface="Arial"/>
              <a:buChar char="—"/>
            </a:pPr>
            <a:r>
              <a:rPr sz="1700" b="0" i="0">
                <a:solidFill>
                  <a:srgbClr val="F7F6EF"/>
                </a:solidFill>
                <a:latin typeface="Arial"/>
              </a:rPr>
              <a:t>A web-first product has no iOS product page at all — an argument, not a measured advantage: we have no verified web-first conversion benchmark of any kind (§5.14).</a:t>
            </a:r>
          </a:p>
          <a:p>
            <a:pPr marL="289671" indent="-289671">
              <a:lnSpc>
                <a:spcPct val="116000"/>
              </a:lnSpc>
              <a:spcBef>
                <a:spcPts val="935"/>
              </a:spcBef>
              <a:buClr>
                <a:srgbClr val="D4FF3A"/>
              </a:buClr>
              <a:buFont typeface="Arial"/>
              <a:buChar char="—"/>
            </a:pPr>
            <a:r>
              <a:rPr sz="1700" b="0" i="0">
                <a:solidFill>
                  <a:srgbClr val="F7F6EF"/>
                </a:solidFill>
                <a:latin typeface="Arial"/>
              </a:rPr>
              <a:t>Nothing here depends on a new technology. It depends on a 1v1 duel format with no maintained incumbent.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1682496"/>
          </a:xfrm>
        </p:spPr>
        <p:txBody>
          <a:bodyPr wrap="square" lIns="0" rIns="0" tIns="0" bIns="0" anchor="t"/>
          <a:lstStyle/>
          <a:p>
            <a:pPr>
              <a:lnSpc>
                <a:spcPct val="108000"/>
              </a:lnSpc>
            </a:pPr>
            <a:r>
              <a:rPr sz="4000" b="1" i="0">
                <a:solidFill>
                  <a:srgbClr val="F7F6EF"/>
                </a:solidFill>
                <a:latin typeface="Arial"/>
              </a:rPr>
              <a:t>Zero users. Zero revenue. Retention unmeasurable — architecturally, not just not yet. That is what the round fixes.</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D4FF3A"/>
                </a:solidFill>
                <a:latin typeface="Arial"/>
              </a:rPr>
              <a:t>TRACTION — STATED PLAINLY</a:t>
            </a:r>
          </a:p>
        </p:txBody>
      </p:sp>
      <p:sp>
        <p:nvSpPr>
          <p:cNvPr id="4" name="Rectangle 3"/>
          <p:cNvSpPr/>
          <p:nvPr/>
        </p:nvSpPr>
        <p:spPr>
          <a:xfrm>
            <a:off x="566928" y="6035040"/>
            <a:ext cx="11057839" cy="11887"/>
          </a:xfrm>
          <a:prstGeom prst="rect">
            <a:avLst/>
          </a:prstGeom>
          <a:solidFill>
            <a:srgbClr val="D4F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9</a:t>
            </a:r>
          </a:p>
        </p:txBody>
      </p:sp>
      <p:sp>
        <p:nvSpPr>
          <p:cNvPr id="6" name="TextBox 5"/>
          <p:cNvSpPr txBox="1"/>
          <p:nvPr/>
        </p:nvSpPr>
        <p:spPr>
          <a:xfrm>
            <a:off x="566928" y="6144768"/>
            <a:ext cx="9869119" cy="548640"/>
          </a:xfrm>
          <a:prstGeom prst="rect">
            <a:avLst/>
          </a:prstGeom>
          <a:noFill/>
        </p:spPr>
        <p:txBody>
          <a:bodyPr wrap="square" lIns="0" rIns="0" tIns="0" bIns="0" anchor="t">
            <a:spAutoFit/>
          </a:bodyPr>
          <a:lstStyle/>
          <a:p>
            <a:pPr>
              <a:lnSpc>
                <a:spcPct val="115000"/>
              </a:lnSpc>
            </a:pPr>
            <a:r>
              <a:rPr sz="800" b="0" i="0">
                <a:solidFill>
                  <a:srgbClr val="A6ADBA"/>
                </a:solidFill>
                <a:latin typeface="Arial"/>
              </a:rPr>
              <a:t>Sources: FACT//DUEL internal — numbers.md — status paragraph, §4.4 and §5.15  ·  GameAnalytics — 2026 Mobile &amp; PC Gaming Benchmarks  ·  DocSend — what VCs want inside a seed deck</a:t>
            </a:r>
          </a:p>
        </p:txBody>
      </p:sp>
      <p:sp>
        <p:nvSpPr>
          <p:cNvPr id="7" name="TextBox 6"/>
          <p:cNvSpPr txBox="1"/>
          <p:nvPr/>
        </p:nvSpPr>
        <p:spPr>
          <a:xfrm>
            <a:off x="566928" y="2542032"/>
            <a:ext cx="5114239" cy="3364991"/>
          </a:xfrm>
          <a:prstGeom prst="rect">
            <a:avLst/>
          </a:prstGeom>
          <a:noFill/>
        </p:spPr>
        <p:txBody>
          <a:bodyPr wrap="square" lIns="0" rIns="0" tIns="0" bIns="0" anchor="t">
            <a:spAutoFit/>
          </a:bodyPr>
          <a:lstStyle/>
          <a:p>
            <a:pPr marL="230028" indent="-230028">
              <a:lnSpc>
                <a:spcPct val="116000"/>
              </a:lnSpc>
              <a:buClr>
                <a:srgbClr val="D4FF3A"/>
              </a:buClr>
              <a:buFont typeface="Arial"/>
              <a:buChar char="—"/>
            </a:pPr>
            <a:r>
              <a:rPr sz="1350" b="0" i="0">
                <a:solidFill>
                  <a:srgbClr val="F7F6EF"/>
                </a:solidFill>
                <a:latin typeface="Arial"/>
              </a:rPr>
              <a:t>No accounts, no server-side progression, 54 sample questions, zero users outside a private playtest, zero revenue.</a:t>
            </a:r>
          </a:p>
          <a:p>
            <a:pPr marL="230028" indent="-230028">
              <a:lnSpc>
                <a:spcPct val="116000"/>
              </a:lnSpc>
              <a:spcBef>
                <a:spcPts val="742"/>
              </a:spcBef>
              <a:buClr>
                <a:srgbClr val="D4FF3A"/>
              </a:buClr>
              <a:buFont typeface="Arial"/>
              <a:buChar char="—"/>
            </a:pPr>
            <a:r>
              <a:rPr sz="1350" b="0" i="0">
                <a:solidFill>
                  <a:srgbClr val="F7F6EF"/>
                </a:solidFill>
                <a:latin typeface="Arial"/>
              </a:rPr>
              <a:t>Milestone 1 — ship accounts and server-side progression. Nothing else is measurable until this lands.</a:t>
            </a:r>
          </a:p>
          <a:p>
            <a:pPr marL="230028" indent="-230028">
              <a:lnSpc>
                <a:spcPct val="116000"/>
              </a:lnSpc>
              <a:spcBef>
                <a:spcPts val="742"/>
              </a:spcBef>
              <a:buClr>
                <a:srgbClr val="D4FF3A"/>
              </a:buClr>
              <a:buFont typeface="Arial"/>
              <a:buChar char="—"/>
            </a:pPr>
            <a:r>
              <a:rPr sz="1350" b="0" i="0">
                <a:solidFill>
                  <a:srgbClr val="F7F6EF"/>
                </a:solidFill>
                <a:latin typeface="Arial"/>
              </a:rPr>
              <a:t>Milestone 2 — publish D1/D7/D30 against GameAnalytics estimates (16,000+ mobile games, iOS and Android, CY2025): NA medians 23.28% / 4.97% / 1.18%.</a:t>
            </a:r>
          </a:p>
          <a:p>
            <a:pPr marL="230028" indent="-230028">
              <a:lnSpc>
                <a:spcPct val="116000"/>
              </a:lnSpc>
              <a:spcBef>
                <a:spcPts val="742"/>
              </a:spcBef>
              <a:buClr>
                <a:srgbClr val="D4FF3A"/>
              </a:buClr>
              <a:buFont typeface="Arial"/>
              <a:buChar char="—"/>
            </a:pPr>
            <a:r>
              <a:rPr sz="1350" b="0" i="0">
                <a:solidFill>
                  <a:srgbClr val="F7F6EF"/>
                </a:solidFill>
                <a:latin typeface="Arial"/>
              </a:rPr>
              <a:t>Target — beat that 4.97% NA median D7 on a cohort of at least 1,000 players. The benchmark is measured on app-store installs and we are a web app, so transfer is unproven.</a:t>
            </a:r>
          </a:p>
          <a:p>
            <a:pPr marL="230028" indent="-230028">
              <a:lnSpc>
                <a:spcPct val="116000"/>
              </a:lnSpc>
              <a:spcBef>
                <a:spcPts val="742"/>
              </a:spcBef>
              <a:buClr>
                <a:srgbClr val="D4FF3A"/>
              </a:buClr>
              <a:buFont typeface="Arial"/>
              <a:buChar char="—"/>
            </a:pPr>
            <a:r>
              <a:rPr sz="1350" b="0" i="0">
                <a:solidFill>
                  <a:srgbClr val="F7F6EF"/>
                </a:solidFill>
                <a:latin typeface="Arial"/>
              </a:rPr>
              <a:t>Milestones 4-6 — grow the bank from 54 questions, ship an opponent-integrity answer before monetisation, validate exactly one monetisation route.</a:t>
            </a:r>
          </a:p>
        </p:txBody>
      </p:sp>
      <p:pic>
        <p:nvPicPr>
          <p:cNvPr id="8" name="Picture 7" descr="retention-bar.png"/>
          <p:cNvPicPr>
            <a:picLocks noChangeAspect="1"/>
          </p:cNvPicPr>
          <p:nvPr/>
        </p:nvPicPr>
        <p:blipFill>
          <a:blip r:embed="rId2"/>
          <a:stretch>
            <a:fillRect/>
          </a:stretch>
        </p:blipFill>
        <p:spPr>
          <a:xfrm>
            <a:off x="6301004" y="2542032"/>
            <a:ext cx="5023965" cy="3364992"/>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1682496"/>
          </a:xfrm>
        </p:spPr>
        <p:txBody>
          <a:bodyPr wrap="square" lIns="0" rIns="0" tIns="0" bIns="0" anchor="t"/>
          <a:lstStyle/>
          <a:p>
            <a:pPr>
              <a:lnSpc>
                <a:spcPct val="108000"/>
              </a:lnSpc>
            </a:pPr>
            <a:r>
              <a:rPr sz="4000" b="1" i="0">
                <a:solidFill>
                  <a:srgbClr val="F7F6EF"/>
                </a:solidFill>
                <a:latin typeface="Arial"/>
              </a:rPr>
              <a:t>We copy the habit subscription, not trivia IAP — and here is the cross-check that keeps us honest.</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D4FF3A"/>
                </a:solidFill>
                <a:latin typeface="Arial"/>
              </a:rPr>
              <a:t>BUSINESS MODEL</a:t>
            </a:r>
          </a:p>
        </p:txBody>
      </p:sp>
      <p:sp>
        <p:nvSpPr>
          <p:cNvPr id="4" name="Rectangle 3"/>
          <p:cNvSpPr/>
          <p:nvPr/>
        </p:nvSpPr>
        <p:spPr>
          <a:xfrm>
            <a:off x="566928" y="6035040"/>
            <a:ext cx="11057839" cy="11887"/>
          </a:xfrm>
          <a:prstGeom prst="rect">
            <a:avLst/>
          </a:prstGeom>
          <a:solidFill>
            <a:srgbClr val="D4F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10</a:t>
            </a:r>
          </a:p>
        </p:txBody>
      </p:sp>
      <p:sp>
        <p:nvSpPr>
          <p:cNvPr id="6" name="TextBox 5"/>
          <p:cNvSpPr txBox="1"/>
          <p:nvPr/>
        </p:nvSpPr>
        <p:spPr>
          <a:xfrm>
            <a:off x="566928" y="6144768"/>
            <a:ext cx="9869119" cy="548640"/>
          </a:xfrm>
          <a:prstGeom prst="rect">
            <a:avLst/>
          </a:prstGeom>
          <a:noFill/>
        </p:spPr>
        <p:txBody>
          <a:bodyPr wrap="square" lIns="0" rIns="0" tIns="0" bIns="0" anchor="t">
            <a:spAutoFit/>
          </a:bodyPr>
          <a:lstStyle/>
          <a:p>
            <a:pPr>
              <a:lnSpc>
                <a:spcPct val="115000"/>
              </a:lnSpc>
            </a:pPr>
            <a:r>
              <a:rPr sz="800" b="0" i="0">
                <a:solidFill>
                  <a:srgbClr val="A6ADBA"/>
                </a:solidFill>
                <a:latin typeface="Arial"/>
              </a:rPr>
              <a:t>Sources: Sensor Tower — Q2 2025 US iOS trivia revenue (est.)  ·  SEC — Duolingo FY2025 shareholder letter  ·  SEC — Duolingo Q2 FY2026 10-Q (user counts at 30 Jun 2026)</a:t>
            </a:r>
          </a:p>
          <a:p>
            <a:pPr>
              <a:lnSpc>
                <a:spcPct val="115000"/>
              </a:lnSpc>
            </a:pPr>
            <a:r>
              <a:rPr sz="800" b="0" i="0">
                <a:solidFill>
                  <a:srgbClr val="A6ADBA"/>
                </a:solidFill>
                <a:latin typeface="Arial"/>
              </a:rPr>
              <a:t>SEC — Duolingo Q2 FY2026 shareholder letter  ·  Kahoot! — Q4 2022 quarterly report  ·  Sporcle — Orange membership pricing  ·  AppsFlyer — State of App Monetization 2026</a:t>
            </a:r>
          </a:p>
          <a:p>
            <a:pPr>
              <a:lnSpc>
                <a:spcPct val="115000"/>
              </a:lnSpc>
            </a:pPr>
            <a:r>
              <a:rPr sz="800" b="0" i="0">
                <a:solidFill>
                  <a:srgbClr val="A6ADBA"/>
                </a:solidFill>
                <a:latin typeface="Arial"/>
              </a:rPr>
              <a:t>GameAnalytics — 2026 Mobile &amp; PC Gaming Benchmarks  ·  FACT//DUEL internal — numbers.md §4.1-§4.3</a:t>
            </a:r>
          </a:p>
        </p:txBody>
      </p:sp>
      <p:sp>
        <p:nvSpPr>
          <p:cNvPr id="7" name="TextBox 6"/>
          <p:cNvSpPr txBox="1"/>
          <p:nvPr/>
        </p:nvSpPr>
        <p:spPr>
          <a:xfrm>
            <a:off x="566928" y="2542032"/>
            <a:ext cx="5114239" cy="3364991"/>
          </a:xfrm>
          <a:prstGeom prst="rect">
            <a:avLst/>
          </a:prstGeom>
          <a:noFill/>
        </p:spPr>
        <p:txBody>
          <a:bodyPr wrap="square" lIns="0" rIns="0" tIns="0" bIns="0" anchor="t">
            <a:spAutoFit/>
          </a:bodyPr>
          <a:lstStyle/>
          <a:p>
            <a:pPr marL="178928" indent="-178928">
              <a:lnSpc>
                <a:spcPct val="116000"/>
              </a:lnSpc>
              <a:buClr>
                <a:srgbClr val="D4FF3A"/>
              </a:buClr>
              <a:buFont typeface="Arial"/>
              <a:buChar char="—"/>
            </a:pPr>
            <a:r>
              <a:rPr sz="1050" b="0" i="0">
                <a:solidFill>
                  <a:srgbClr val="F7F6EF"/>
                </a:solidFill>
                <a:latin typeface="Arial"/>
              </a:rPr>
              <a:t>Trivia IAP is the dead end: Sensor Tower estimates the top three true trivia apps on US iOS at ~</a:t>
            </a:r>
            <a:r>
              <a:rPr sz="1050" b="0" i="0">
                <a:solidFill>
                  <a:srgbClr val="FFC83D"/>
                </a:solidFill>
                <a:latin typeface="Arial"/>
              </a:rPr>
              <a:t>$102.5K</a:t>
            </a:r>
            <a:r>
              <a:rPr sz="1050" b="0" i="0">
                <a:solidFill>
                  <a:srgbClr val="F7F6EF"/>
                </a:solidFill>
                <a:latin typeface="Arial"/>
              </a:rPr>
              <a:t> in their peak weeks of Q2 2025, and ~</a:t>
            </a:r>
            <a:r>
              <a:rPr sz="1050" b="0" i="0">
                <a:solidFill>
                  <a:srgbClr val="FFC83D"/>
                </a:solidFill>
                <a:latin typeface="Arial"/>
              </a:rPr>
              <a:t>$90K</a:t>
            </a:r>
            <a:r>
              <a:rPr sz="1050" b="0" i="0">
                <a:solidFill>
                  <a:srgbClr val="F7F6EF"/>
                </a:solidFill>
                <a:latin typeface="Arial"/>
              </a:rPr>
              <a:t> by quarter end.</a:t>
            </a:r>
          </a:p>
          <a:p>
            <a:pPr marL="178928" indent="-178928">
              <a:lnSpc>
                <a:spcPct val="116000"/>
              </a:lnSpc>
              <a:spcBef>
                <a:spcPts val="577"/>
              </a:spcBef>
              <a:buClr>
                <a:srgbClr val="D4FF3A"/>
              </a:buClr>
              <a:buFont typeface="Arial"/>
              <a:buChar char="—"/>
            </a:pPr>
            <a:r>
              <a:rPr sz="1050" b="0" i="0">
                <a:solidFill>
                  <a:srgbClr val="F7F6EF"/>
                </a:solidFill>
                <a:latin typeface="Arial"/>
              </a:rPr>
              <a:t>Those are modelled estimates of gross consumer spend before Apple's 15-30% cut, not audited or company-reported revenue — and they are Q2 2025, not current.</a:t>
            </a:r>
          </a:p>
          <a:p>
            <a:pPr marL="178928" indent="-178928">
              <a:lnSpc>
                <a:spcPct val="116000"/>
              </a:lnSpc>
              <a:spcBef>
                <a:spcPts val="577"/>
              </a:spcBef>
              <a:buClr>
                <a:srgbClr val="D4FF3A"/>
              </a:buClr>
              <a:buFont typeface="Arial"/>
              <a:buChar char="—"/>
            </a:pPr>
            <a:r>
              <a:rPr sz="1050" b="0" i="0">
                <a:solidFill>
                  <a:srgbClr val="F7F6EF"/>
                </a:solidFill>
                <a:latin typeface="Arial"/>
              </a:rPr>
              <a:t>Habit subscriptions are not the dead end: Duolingo took </a:t>
            </a:r>
            <a:r>
              <a:rPr sz="1050" b="0" i="0">
                <a:solidFill>
                  <a:srgbClr val="FFC83D"/>
                </a:solidFill>
                <a:latin typeface="Arial"/>
              </a:rPr>
              <a:t>$1,037.6M</a:t>
            </a:r>
            <a:r>
              <a:rPr sz="1050" b="0" i="0">
                <a:solidFill>
                  <a:srgbClr val="F7F6EF"/>
                </a:solidFill>
                <a:latin typeface="Arial"/>
              </a:rPr>
              <a:t> of FY2025 revenue at a 9.17% FY2025 MAU-to-paid ratio (12.2M of 133.1M).</a:t>
            </a:r>
          </a:p>
          <a:p>
            <a:pPr marL="178928" indent="-178928">
              <a:lnSpc>
                <a:spcPct val="116000"/>
              </a:lnSpc>
              <a:spcBef>
                <a:spcPts val="577"/>
              </a:spcBef>
              <a:buClr>
                <a:srgbClr val="D4FF3A"/>
              </a:buClr>
              <a:buFont typeface="Arial"/>
              <a:buChar char="—"/>
            </a:pPr>
            <a:r>
              <a:rPr sz="1050" b="0" i="0">
                <a:solidFill>
                  <a:srgbClr val="F7F6EF"/>
                </a:solidFill>
                <a:latin typeface="Arial"/>
              </a:rPr>
              <a:t>Kahoot collected </a:t>
            </a:r>
            <a:r>
              <a:rPr sz="1050" b="0" i="0">
                <a:solidFill>
                  <a:srgbClr val="FFC83D"/>
                </a:solidFill>
                <a:latin typeface="Arial"/>
              </a:rPr>
              <a:t>$146.0M</a:t>
            </a:r>
            <a:r>
              <a:rPr sz="1050" b="0" i="0">
                <a:solidFill>
                  <a:srgbClr val="F7F6EF"/>
                </a:solidFill>
                <a:latin typeface="Arial"/>
              </a:rPr>
              <a:t> in FY2022 at a 95% gross margin — but from B2B/education subscriptions, and FY2022 is its last comparable year before going private.</a:t>
            </a:r>
          </a:p>
          <a:p>
            <a:pPr marL="178928" indent="-178928">
              <a:lnSpc>
                <a:spcPct val="116000"/>
              </a:lnSpc>
              <a:spcBef>
                <a:spcPts val="577"/>
              </a:spcBef>
              <a:buClr>
                <a:srgbClr val="D4FF3A"/>
              </a:buClr>
              <a:buFont typeface="Arial"/>
              <a:buChar char="—"/>
            </a:pPr>
            <a:r>
              <a:rPr sz="1050" b="0" i="0">
                <a:solidFill>
                  <a:srgbClr val="F7F6EF"/>
                </a:solidFill>
                <a:latin typeface="Arial"/>
              </a:rPr>
              <a:t>Our cross-check at base-case Year-3 scale </a:t>
            </a:r>
            <a:r>
              <a:rPr sz="1050" b="1" i="0">
                <a:solidFill>
                  <a:srgbClr val="4EE1FF"/>
                </a:solidFill>
                <a:latin typeface="Arial"/>
              </a:rPr>
              <a:t>(P)</a:t>
            </a:r>
            <a:r>
              <a:rPr sz="1050" b="0" i="0">
                <a:solidFill>
                  <a:srgbClr val="F7F6EF"/>
                </a:solidFill>
                <a:latin typeface="Arial"/>
              </a:rPr>
              <a:t>: 105,900 MAU x 9.03% x </a:t>
            </a:r>
            <a:r>
              <a:rPr sz="1050" b="0" i="0">
                <a:solidFill>
                  <a:srgbClr val="FFC83D"/>
                </a:solidFill>
                <a:latin typeface="Arial"/>
              </a:rPr>
              <a:t>$43.99</a:t>
            </a:r>
            <a:r>
              <a:rPr sz="1050" b="0" i="0">
                <a:solidFill>
                  <a:srgbClr val="F7F6EF"/>
                </a:solidFill>
                <a:latin typeface="Arial"/>
              </a:rPr>
              <a:t> = </a:t>
            </a:r>
            <a:r>
              <a:rPr sz="1050" b="0" i="0">
                <a:solidFill>
                  <a:srgbClr val="FFC83D"/>
                </a:solidFill>
                <a:latin typeface="Arial"/>
              </a:rPr>
              <a:t>$420,666</a:t>
            </a:r>
            <a:r>
              <a:rPr sz="1050" b="0" i="0">
                <a:solidFill>
                  <a:srgbClr val="F7F6EF"/>
                </a:solidFill>
                <a:latin typeface="Arial"/>
              </a:rPr>
              <a:t> </a:t>
            </a:r>
            <a:r>
              <a:rPr sz="1050" b="1" i="0">
                <a:solidFill>
                  <a:srgbClr val="4EE1FF"/>
                </a:solidFill>
                <a:latin typeface="Arial"/>
              </a:rPr>
              <a:t>(P)</a:t>
            </a:r>
            <a:r>
              <a:rPr sz="1050" b="0" i="0">
                <a:solidFill>
                  <a:srgbClr val="F7F6EF"/>
                </a:solidFill>
                <a:latin typeface="Arial"/>
              </a:rPr>
              <a:t>. The install-economics route gives </a:t>
            </a:r>
            <a:r>
              <a:rPr sz="1050" b="0" i="0">
                <a:solidFill>
                  <a:srgbClr val="FFC83D"/>
                </a:solidFill>
                <a:latin typeface="Arial"/>
              </a:rPr>
              <a:t>$1,630,517</a:t>
            </a:r>
            <a:r>
              <a:rPr sz="1050" b="0" i="0">
                <a:solidFill>
                  <a:srgbClr val="F7F6EF"/>
                </a:solidFill>
                <a:latin typeface="Arial"/>
              </a:rPr>
              <a:t> </a:t>
            </a:r>
            <a:r>
              <a:rPr sz="1050" b="1" i="0">
                <a:solidFill>
                  <a:srgbClr val="4EE1FF"/>
                </a:solidFill>
                <a:latin typeface="Arial"/>
              </a:rPr>
              <a:t>(P)</a:t>
            </a:r>
            <a:r>
              <a:rPr sz="1050" b="0" i="0">
                <a:solidFill>
                  <a:srgbClr val="F7F6EF"/>
                </a:solidFill>
                <a:latin typeface="Arial"/>
              </a:rPr>
              <a:t> — 3.88x more.</a:t>
            </a:r>
          </a:p>
          <a:p>
            <a:pPr marL="178928" indent="-178928">
              <a:lnSpc>
                <a:spcPct val="116000"/>
              </a:lnSpc>
              <a:spcBef>
                <a:spcPts val="577"/>
              </a:spcBef>
              <a:buClr>
                <a:srgbClr val="D4FF3A"/>
              </a:buClr>
              <a:buFont typeface="Arial"/>
              <a:buChar char="—"/>
            </a:pPr>
            <a:r>
              <a:rPr sz="1050" b="0" i="0">
                <a:solidFill>
                  <a:srgbClr val="F7F6EF"/>
                </a:solidFill>
                <a:latin typeface="Arial"/>
              </a:rPr>
              <a:t>So we present </a:t>
            </a:r>
            <a:r>
              <a:rPr sz="1050" b="0" i="0">
                <a:solidFill>
                  <a:srgbClr val="FFC83D"/>
                </a:solidFill>
                <a:latin typeface="Arial"/>
              </a:rPr>
              <a:t>$0.4M</a:t>
            </a:r>
            <a:r>
              <a:rPr sz="1050" b="0" i="0">
                <a:solidFill>
                  <a:srgbClr val="F7F6EF"/>
                </a:solidFill>
                <a:latin typeface="Arial"/>
              </a:rPr>
              <a:t> - </a:t>
            </a:r>
            <a:r>
              <a:rPr sz="1050" b="0" i="0">
                <a:solidFill>
                  <a:srgbClr val="FFC83D"/>
                </a:solidFill>
                <a:latin typeface="Arial"/>
              </a:rPr>
              <a:t>$1.6M</a:t>
            </a:r>
            <a:r>
              <a:rPr sz="1050" b="0" i="0">
                <a:solidFill>
                  <a:srgbClr val="F7F6EF"/>
                </a:solidFill>
                <a:latin typeface="Arial"/>
              </a:rPr>
              <a:t> </a:t>
            </a:r>
            <a:r>
              <a:rPr sz="1050" b="1" i="0">
                <a:solidFill>
                  <a:srgbClr val="4EE1FF"/>
                </a:solidFill>
                <a:latin typeface="Arial"/>
              </a:rPr>
              <a:t>(P)</a:t>
            </a:r>
            <a:r>
              <a:rPr sz="1050" b="0" i="0">
                <a:solidFill>
                  <a:srgbClr val="F7F6EF"/>
                </a:solidFill>
                <a:latin typeface="Arial"/>
              </a:rPr>
              <a:t>. </a:t>
            </a:r>
            <a:r>
              <a:rPr sz="1050" b="0" i="0">
                <a:solidFill>
                  <a:srgbClr val="FFC83D"/>
                </a:solidFill>
                <a:latin typeface="Arial"/>
              </a:rPr>
              <a:t>$43.99</a:t>
            </a:r>
            <a:r>
              <a:rPr sz="1050" b="0" i="0">
                <a:solidFill>
                  <a:srgbClr val="F7F6EF"/>
                </a:solidFill>
                <a:latin typeface="Arial"/>
              </a:rPr>
              <a:t> is Sporcle's annual price; 9.03% is derived from Duolingo's filed subscriber and MAU counts at 30 Jun 2026. Neither is ours.</a:t>
            </a:r>
          </a:p>
          <a:p>
            <a:pPr marL="178928" indent="-178928">
              <a:lnSpc>
                <a:spcPct val="116000"/>
              </a:lnSpc>
              <a:spcBef>
                <a:spcPts val="577"/>
              </a:spcBef>
              <a:buClr>
                <a:srgbClr val="D4FF3A"/>
              </a:buClr>
              <a:buFont typeface="Arial"/>
              <a:buChar char="—"/>
            </a:pPr>
            <a:r>
              <a:rPr sz="1050" b="0" i="0">
                <a:solidFill>
                  <a:srgbClr val="F7F6EF"/>
                </a:solidFill>
                <a:latin typeface="Arial"/>
              </a:rPr>
              <a:t>That base-case scale </a:t>
            </a:r>
            <a:r>
              <a:rPr sz="1050" b="1" i="0">
                <a:solidFill>
                  <a:srgbClr val="4EE1FF"/>
                </a:solidFill>
                <a:latin typeface="Arial"/>
              </a:rPr>
              <a:t>(P)</a:t>
            </a:r>
            <a:r>
              <a:rPr sz="1050" b="0" i="0">
                <a:solidFill>
                  <a:srgbClr val="F7F6EF"/>
                </a:solidFill>
                <a:latin typeface="Arial"/>
              </a:rPr>
              <a:t> rests on chosen inputs: Year-3 install volume and 20% monthly churn have no company data behind them.</a:t>
            </a:r>
          </a:p>
        </p:txBody>
      </p:sp>
      <p:pic>
        <p:nvPicPr>
          <p:cNvPr id="8" name="Picture 7" descr="where-money-is.png"/>
          <p:cNvPicPr>
            <a:picLocks noChangeAspect="1"/>
          </p:cNvPicPr>
          <p:nvPr/>
        </p:nvPicPr>
        <p:blipFill>
          <a:blip r:embed="rId2"/>
          <a:stretch>
            <a:fillRect/>
          </a:stretch>
        </p:blipFill>
        <p:spPr>
          <a:xfrm>
            <a:off x="6001207" y="2672851"/>
            <a:ext cx="5623560" cy="3103353"/>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1682496"/>
          </a:xfrm>
        </p:spPr>
        <p:txBody>
          <a:bodyPr wrap="square" lIns="0" rIns="0" tIns="0" bIns="0" anchor="t"/>
          <a:lstStyle/>
          <a:p>
            <a:pPr>
              <a:lnSpc>
                <a:spcPct val="108000"/>
              </a:lnSpc>
            </a:pPr>
            <a:r>
              <a:rPr sz="4000" b="1" i="0">
                <a:solidFill>
                  <a:srgbClr val="F7F6EF"/>
                </a:solidFill>
                <a:latin typeface="Arial"/>
              </a:rPr>
              <a:t>Scale without maintenance, or maintenance without scale: in the live 1v1 duel, nobody holds both.</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D4FF3A"/>
                </a:solidFill>
                <a:latin typeface="Arial"/>
              </a:rPr>
              <a:t>LANDSCAPE</a:t>
            </a:r>
          </a:p>
        </p:txBody>
      </p:sp>
      <p:sp>
        <p:nvSpPr>
          <p:cNvPr id="4" name="Rectangle 3"/>
          <p:cNvSpPr/>
          <p:nvPr/>
        </p:nvSpPr>
        <p:spPr>
          <a:xfrm>
            <a:off x="566928" y="6035040"/>
            <a:ext cx="11057839" cy="11887"/>
          </a:xfrm>
          <a:prstGeom prst="rect">
            <a:avLst/>
          </a:prstGeom>
          <a:solidFill>
            <a:srgbClr val="D4F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11</a:t>
            </a:r>
          </a:p>
        </p:txBody>
      </p:sp>
      <p:sp>
        <p:nvSpPr>
          <p:cNvPr id="6" name="TextBox 5"/>
          <p:cNvSpPr txBox="1"/>
          <p:nvPr/>
        </p:nvSpPr>
        <p:spPr>
          <a:xfrm>
            <a:off x="566928" y="6144768"/>
            <a:ext cx="9869119" cy="548640"/>
          </a:xfrm>
          <a:prstGeom prst="rect">
            <a:avLst/>
          </a:prstGeom>
          <a:noFill/>
        </p:spPr>
        <p:txBody>
          <a:bodyPr wrap="square" lIns="0" rIns="0" tIns="0" bIns="0" anchor="t">
            <a:spAutoFit/>
          </a:bodyPr>
          <a:lstStyle/>
          <a:p>
            <a:pPr>
              <a:lnSpc>
                <a:spcPct val="115000"/>
              </a:lnSpc>
            </a:pPr>
            <a:r>
              <a:rPr sz="800" b="0" i="0">
                <a:solidFill>
                  <a:srgbClr val="A6ADBA"/>
                </a:solidFill>
                <a:latin typeface="Arial"/>
              </a:rPr>
              <a:t>Sources: Google Play — Trivia Crack listing  ·  Sensor Tower — Q2 2025 US iOS trivia revenue (est.)  ·  MAG Interactive — Q3 2025/26 interim report  ·  Apple lookup API — QuizDuel listing (US storefront)</a:t>
            </a:r>
          </a:p>
          <a:p>
            <a:pPr>
              <a:lnSpc>
                <a:spcPct val="115000"/>
              </a:lnSpc>
            </a:pPr>
            <a:r>
              <a:rPr sz="800" b="0" i="0">
                <a:solidFill>
                  <a:srgbClr val="A6ADBA"/>
                </a:solidFill>
                <a:latin typeface="Arial"/>
              </a:rPr>
              <a:t>Apple lookup API — QuizDuel listing  ·  Google Play — Kahoot! listing  ·  Kahoot! — Q4 2022 quarterly report  ·  Oslo Børs — Kahoot! delisting notice  ·  PR Newswire — Quizizz $31.5M Series B</a:t>
            </a:r>
          </a:p>
          <a:p>
            <a:pPr>
              <a:lnSpc>
                <a:spcPct val="115000"/>
              </a:lnSpc>
            </a:pPr>
            <a:r>
              <a:rPr sz="800" b="0" i="0">
                <a:solidFill>
                  <a:srgbClr val="A6ADBA"/>
                </a:solidFill>
                <a:latin typeface="Arial"/>
              </a:rPr>
              <a:t>Apple lookup API — Wayground listing  ·  Google Play — Quizion listing  ·  Google Play — TRIVIA GO! listing  ·  SEC 8-K — Skillz FY2025 results  ·  SEC 8-K — Skillz FY2022 results (FY2021 peak)</a:t>
            </a:r>
          </a:p>
        </p:txBody>
      </p:sp>
      <p:sp>
        <p:nvSpPr>
          <p:cNvPr id="7" name="TextBox 6"/>
          <p:cNvSpPr txBox="1"/>
          <p:nvPr/>
        </p:nvSpPr>
        <p:spPr>
          <a:xfrm>
            <a:off x="566928" y="2542032"/>
            <a:ext cx="11057839" cy="1266570"/>
          </a:xfrm>
          <a:prstGeom prst="rect">
            <a:avLst/>
          </a:prstGeom>
          <a:noFill/>
        </p:spPr>
        <p:txBody>
          <a:bodyPr wrap="square" lIns="0" rIns="0" tIns="0" bIns="0" anchor="t">
            <a:spAutoFit/>
          </a:bodyPr>
          <a:lstStyle/>
          <a:p>
            <a:pPr marL="221512" indent="-221512">
              <a:lnSpc>
                <a:spcPct val="116000"/>
              </a:lnSpc>
              <a:buClr>
                <a:srgbClr val="D4FF3A"/>
              </a:buClr>
              <a:buFont typeface="Arial"/>
              <a:buChar char="—"/>
            </a:pPr>
            <a:r>
              <a:rPr sz="1300" b="0" i="0">
                <a:solidFill>
                  <a:srgbClr val="F7F6EF"/>
                </a:solidFill>
                <a:latin typeface="Arial"/>
              </a:rPr>
              <a:t>Of the products that own the installed base, the one that ran the duel has left it; the rest never ran one.</a:t>
            </a:r>
          </a:p>
          <a:p>
            <a:pPr marL="221512" indent="-221512">
              <a:lnSpc>
                <a:spcPct val="116000"/>
              </a:lnSpc>
              <a:spcBef>
                <a:spcPts val="715"/>
              </a:spcBef>
              <a:buClr>
                <a:srgbClr val="D4FF3A"/>
              </a:buClr>
              <a:buFont typeface="Arial"/>
              <a:buChar char="—"/>
            </a:pPr>
            <a:r>
              <a:rPr sz="1300" b="0" i="0">
                <a:solidFill>
                  <a:srgbClr val="F7F6EF"/>
                </a:solidFill>
                <a:latin typeface="Arial"/>
              </a:rPr>
              <a:t>Skillz FY2021 to FY2025: monthly ARPPU essentially flat — </a:t>
            </a:r>
            <a:r>
              <a:rPr sz="1300" b="0" i="0">
                <a:solidFill>
                  <a:srgbClr val="FFC83D"/>
                </a:solidFill>
                <a:latin typeface="Arial"/>
              </a:rPr>
              <a:t>$61.75</a:t>
            </a:r>
            <a:r>
              <a:rPr sz="1300" b="0" i="0">
                <a:solidFill>
                  <a:srgbClr val="F7F6EF"/>
                </a:solidFill>
                <a:latin typeface="Arial"/>
              </a:rPr>
              <a:t> (derived) to </a:t>
            </a:r>
            <a:r>
              <a:rPr sz="1300" b="0" i="0">
                <a:solidFill>
                  <a:srgbClr val="FFC83D"/>
                </a:solidFill>
                <a:latin typeface="Arial"/>
              </a:rPr>
              <a:t>$61.70</a:t>
            </a:r>
            <a:r>
              <a:rPr sz="1300" b="0" i="0">
                <a:solidFill>
                  <a:srgbClr val="F7F6EF"/>
                </a:solidFill>
                <a:latin typeface="Arial"/>
              </a:rPr>
              <a:t> (stated) — while paying MAU fell from 513,000 to 141,000.</a:t>
            </a:r>
          </a:p>
          <a:p>
            <a:pPr marL="221512" indent="-221512">
              <a:lnSpc>
                <a:spcPct val="116000"/>
              </a:lnSpc>
              <a:spcBef>
                <a:spcPts val="715"/>
              </a:spcBef>
              <a:buClr>
                <a:srgbClr val="D4FF3A"/>
              </a:buClr>
              <a:buFont typeface="Arial"/>
              <a:buChar char="—"/>
            </a:pPr>
            <a:r>
              <a:rPr sz="1300" b="0" i="0">
                <a:solidFill>
                  <a:srgbClr val="F7F6EF"/>
                </a:solidFill>
                <a:latin typeface="Arial"/>
              </a:rPr>
              <a:t>Competitive-play users monetise extraordinarily well per payer and churn extraordinarily hard — in a real-money cash-tournament product, and Skillz has never been profitable.</a:t>
            </a:r>
          </a:p>
          <a:p>
            <a:pPr marL="221512" indent="-221512">
              <a:lnSpc>
                <a:spcPct val="116000"/>
              </a:lnSpc>
              <a:spcBef>
                <a:spcPts val="715"/>
              </a:spcBef>
              <a:buClr>
                <a:srgbClr val="D4FF3A"/>
              </a:buClr>
              <a:buFont typeface="Arial"/>
              <a:buChar char="—"/>
            </a:pPr>
            <a:r>
              <a:rPr sz="1300" b="0" i="0">
                <a:solidFill>
                  <a:srgbClr val="F7F6EF"/>
                </a:solidFill>
                <a:latin typeface="Arial"/>
              </a:rPr>
              <a:t>Our axis is being the maintained 1v1 duel, with a long-tail loop built to earn a return visit. That is untested, and milestone 1 is what tests it.</a:t>
            </a:r>
          </a:p>
        </p:txBody>
      </p:sp>
      <p:graphicFrame>
        <p:nvGraphicFramePr>
          <p:cNvPr id="8" name="Table 7"/>
          <p:cNvGraphicFramePr>
            <a:graphicFrameLocks noGrp="1"/>
          </p:cNvGraphicFramePr>
          <p:nvPr/>
        </p:nvGraphicFramePr>
        <p:xfrm>
          <a:off x="566928" y="4046347"/>
          <a:ext cx="11057837" cy="1860672"/>
        </p:xfrm>
        <a:graphic>
          <a:graphicData uri="http://schemas.openxmlformats.org/drawingml/2006/table">
            <a:tbl>
              <a:tblPr>
                <a:tableStyleId>{2D5ABB26-0587-4C30-8999-92F81FD0307C}</a:tableStyleId>
              </a:tblPr>
              <a:tblGrid>
                <a:gridCol w="1565466"/>
                <a:gridCol w="2710246"/>
                <a:gridCol w="2429973"/>
                <a:gridCol w="1781670"/>
                <a:gridCol w="2570482"/>
              </a:tblGrid>
              <a:tr h="190656">
                <a:tc>
                  <a:txBody>
                    <a:bodyPr wrap="square"/>
                    <a:lstStyle/>
                    <a:p>
                      <a:pPr>
                        <a:lnSpc>
                          <a:spcPct val="114000"/>
                        </a:lnSpc>
                      </a:pPr>
                      <a:r>
                        <a:rPr sz="700" b="1" i="0">
                          <a:solidFill>
                            <a:srgbClr val="D4FF3A"/>
                          </a:solidFill>
                          <a:latin typeface="Arial"/>
                        </a:rPr>
                        <a:t>Product</a:t>
                      </a:r>
                    </a:p>
                  </a:txBody>
                  <a:tcPr marL="64008" marR="64008" marT="41148" marB="41148" anchor="ctr">
                    <a:solidFill>
                      <a:srgbClr val="121821"/>
                    </a:solidFill>
                  </a:tcPr>
                </a:tc>
                <a:tc>
                  <a:txBody>
                    <a:bodyPr wrap="square"/>
                    <a:lstStyle/>
                    <a:p>
                      <a:pPr>
                        <a:lnSpc>
                          <a:spcPct val="114000"/>
                        </a:lnSpc>
                      </a:pPr>
                      <a:r>
                        <a:rPr sz="700" b="1" i="0">
                          <a:solidFill>
                            <a:srgbClr val="D4FF3A"/>
                          </a:solidFill>
                          <a:latin typeface="Arial"/>
                        </a:rPr>
                        <a:t>Scale (metric as stated)</a:t>
                      </a:r>
                    </a:p>
                  </a:txBody>
                  <a:tcPr marL="64008" marR="64008" marT="41148" marB="41148" anchor="ctr">
                    <a:solidFill>
                      <a:srgbClr val="121821"/>
                    </a:solidFill>
                  </a:tcPr>
                </a:tc>
                <a:tc>
                  <a:txBody>
                    <a:bodyPr wrap="square"/>
                    <a:lstStyle/>
                    <a:p>
                      <a:pPr>
                        <a:lnSpc>
                          <a:spcPct val="114000"/>
                        </a:lnSpc>
                      </a:pPr>
                      <a:r>
                        <a:rPr sz="700" b="1" i="0">
                          <a:solidFill>
                            <a:srgbClr val="D4FF3A"/>
                          </a:solidFill>
                          <a:latin typeface="Arial"/>
                        </a:rPr>
                        <a:t>Money</a:t>
                      </a:r>
                    </a:p>
                  </a:txBody>
                  <a:tcPr marL="64008" marR="64008" marT="41148" marB="41148" anchor="ctr">
                    <a:solidFill>
                      <a:srgbClr val="121821"/>
                    </a:solidFill>
                  </a:tcPr>
                </a:tc>
                <a:tc>
                  <a:txBody>
                    <a:bodyPr wrap="square"/>
                    <a:lstStyle/>
                    <a:p>
                      <a:pPr>
                        <a:lnSpc>
                          <a:spcPct val="114000"/>
                        </a:lnSpc>
                      </a:pPr>
                      <a:r>
                        <a:rPr sz="700" b="1" i="0">
                          <a:solidFill>
                            <a:srgbClr val="D4FF3A"/>
                          </a:solidFill>
                          <a:latin typeface="Arial"/>
                        </a:rPr>
                        <a:t>Live 1v1 duel?</a:t>
                      </a:r>
                    </a:p>
                  </a:txBody>
                  <a:tcPr marL="64008" marR="64008" marT="41148" marB="41148" anchor="ctr">
                    <a:solidFill>
                      <a:srgbClr val="121821"/>
                    </a:solidFill>
                  </a:tcPr>
                </a:tc>
                <a:tc>
                  <a:txBody>
                    <a:bodyPr wrap="square"/>
                    <a:lstStyle/>
                    <a:p>
                      <a:pPr>
                        <a:lnSpc>
                          <a:spcPct val="114000"/>
                        </a:lnSpc>
                      </a:pPr>
                      <a:r>
                        <a:rPr sz="700" b="1" i="0">
                          <a:solidFill>
                            <a:srgbClr val="D4FF3A"/>
                          </a:solidFill>
                          <a:latin typeface="Arial"/>
                        </a:rPr>
                        <a:t>Latest signal</a:t>
                      </a:r>
                    </a:p>
                  </a:txBody>
                  <a:tcPr marL="64008" marR="64008" marT="41148" marB="41148" anchor="ctr">
                    <a:solidFill>
                      <a:srgbClr val="121821"/>
                    </a:solidFill>
                  </a:tcPr>
                </a:tc>
              </a:tr>
              <a:tr h="295872">
                <a:tc>
                  <a:txBody>
                    <a:bodyPr wrap="square"/>
                    <a:lstStyle/>
                    <a:p>
                      <a:pPr>
                        <a:lnSpc>
                          <a:spcPct val="114000"/>
                        </a:lnSpc>
                      </a:pPr>
                      <a:r>
                        <a:rPr sz="700" b="1" i="0">
                          <a:solidFill>
                            <a:srgbClr val="F7F6EF"/>
                          </a:solidFill>
                          <a:latin typeface="Arial"/>
                        </a:rPr>
                        <a:t>Trivia Crack (etermax)</a:t>
                      </a:r>
                    </a:p>
                  </a:txBody>
                  <a:tcPr marL="64008" marR="64008" marT="41148" marB="41148" anchor="ctr">
                    <a:solidFill>
                      <a:srgbClr val="121821"/>
                    </a:solidFill>
                  </a:tcPr>
                </a:tc>
                <a:tc>
                  <a:txBody>
                    <a:bodyPr wrap="square"/>
                    <a:lstStyle/>
                    <a:p>
                      <a:pPr>
                        <a:lnSpc>
                          <a:spcPct val="114000"/>
                        </a:lnSpc>
                      </a:pPr>
                      <a:r>
                        <a:rPr sz="700" b="0" i="0">
                          <a:solidFill>
                            <a:srgbClr val="F7F6EF"/>
                          </a:solidFill>
                          <a:latin typeface="Arial"/>
                        </a:rPr>
                        <a:t>267,939,837 lifetime Android installs (Play internal; store shows 100M+)</a:t>
                      </a:r>
                    </a:p>
                  </a:txBody>
                  <a:tcPr marL="64008" marR="64008" marT="41148" marB="41148" anchor="ctr">
                    <a:solidFill>
                      <a:srgbClr val="121821"/>
                    </a:solidFill>
                  </a:tcPr>
                </a:tc>
                <a:tc>
                  <a:txBody>
                    <a:bodyPr wrap="square"/>
                    <a:lstStyle/>
                    <a:p>
                      <a:pPr>
                        <a:lnSpc>
                          <a:spcPct val="114000"/>
                        </a:lnSpc>
                      </a:pPr>
                      <a:r>
                        <a:rPr sz="700" b="0" i="0">
                          <a:solidFill>
                            <a:srgbClr val="F7F6EF"/>
                          </a:solidFill>
                          <a:latin typeface="Arial"/>
                        </a:rPr>
                        <a:t>~$33K/wk, Trivia Crack Premium, US iOS gross, Q2 2025 (est.)</a:t>
                      </a:r>
                    </a:p>
                  </a:txBody>
                  <a:tcPr marL="64008" marR="64008" marT="41148" marB="41148" anchor="ctr">
                    <a:solidFill>
                      <a:srgbClr val="121821"/>
                    </a:solidFill>
                  </a:tcPr>
                </a:tc>
                <a:tc>
                  <a:txBody>
                    <a:bodyPr wrap="square"/>
                    <a:lstStyle/>
                    <a:p>
                      <a:pPr>
                        <a:lnSpc>
                          <a:spcPct val="114000"/>
                        </a:lnSpc>
                      </a:pPr>
                      <a:r>
                        <a:rPr sz="700" b="0" i="0">
                          <a:solidFill>
                            <a:srgbClr val="F7F6EF"/>
                          </a:solidFill>
                          <a:latin typeface="Arial"/>
                        </a:rPr>
                        <a:t>Pivoted away</a:t>
                      </a:r>
                    </a:p>
                  </a:txBody>
                  <a:tcPr marL="64008" marR="64008" marT="41148" marB="41148" anchor="ctr">
                    <a:solidFill>
                      <a:srgbClr val="121821"/>
                    </a:solidFill>
                  </a:tcPr>
                </a:tc>
                <a:tc>
                  <a:txBody>
                    <a:bodyPr wrap="square"/>
                    <a:lstStyle/>
                    <a:p>
                      <a:pPr>
                        <a:lnSpc>
                          <a:spcPct val="114000"/>
                        </a:lnSpc>
                      </a:pPr>
                      <a:r>
                        <a:rPr sz="700" b="0" i="0">
                          <a:solidFill>
                            <a:srgbClr val="F7F6EF"/>
                          </a:solidFill>
                          <a:latin typeface="Arial"/>
                        </a:rPr>
                        <a:t>Listing retitled around a FOX TV tie-in</a:t>
                      </a:r>
                    </a:p>
                  </a:txBody>
                  <a:tcPr marL="64008" marR="64008" marT="41148" marB="41148" anchor="ctr">
                    <a:solidFill>
                      <a:srgbClr val="121821"/>
                    </a:solidFill>
                  </a:tcPr>
                </a:tc>
              </a:tr>
              <a:tr h="295872">
                <a:tc>
                  <a:txBody>
                    <a:bodyPr wrap="square"/>
                    <a:lstStyle/>
                    <a:p>
                      <a:pPr>
                        <a:lnSpc>
                          <a:spcPct val="114000"/>
                        </a:lnSpc>
                      </a:pPr>
                      <a:r>
                        <a:rPr sz="700" b="1" i="0">
                          <a:solidFill>
                            <a:srgbClr val="F7F6EF"/>
                          </a:solidFill>
                          <a:latin typeface="Arial"/>
                        </a:rPr>
                        <a:t>MAG Interactive (owner of QuizDuel)</a:t>
                      </a:r>
                    </a:p>
                  </a:txBody>
                  <a:tcPr marL="64008" marR="64008" marT="41148" marB="41148" anchor="ctr">
                    <a:solidFill>
                      <a:srgbClr val="0D131B"/>
                    </a:solidFill>
                  </a:tcPr>
                </a:tc>
                <a:tc>
                  <a:txBody>
                    <a:bodyPr wrap="square"/>
                    <a:lstStyle/>
                    <a:p>
                      <a:pPr>
                        <a:lnSpc>
                          <a:spcPct val="114000"/>
                        </a:lnSpc>
                      </a:pPr>
                      <a:r>
                        <a:rPr sz="700" b="0" i="0">
                          <a:solidFill>
                            <a:srgbClr val="F7F6EF"/>
                          </a:solidFill>
                          <a:latin typeface="Arial"/>
                        </a:rPr>
                        <a:t>2.2M group MAU, 9-mo avg to May 2026, -13% YoY</a:t>
                      </a:r>
                    </a:p>
                  </a:txBody>
                  <a:tcPr marL="64008" marR="64008" marT="41148" marB="41148" anchor="ctr">
                    <a:solidFill>
                      <a:srgbClr val="0D131B"/>
                    </a:solidFill>
                  </a:tcPr>
                </a:tc>
                <a:tc>
                  <a:txBody>
                    <a:bodyPr wrap="square"/>
                    <a:lstStyle/>
                    <a:p>
                      <a:pPr>
                        <a:lnSpc>
                          <a:spcPct val="114000"/>
                        </a:lnSpc>
                      </a:pPr>
                      <a:r>
                        <a:rPr sz="700" b="0" i="0">
                          <a:solidFill>
                            <a:srgbClr val="FFC83D"/>
                          </a:solidFill>
                          <a:latin typeface="Arial"/>
                        </a:rPr>
                        <a:t>$21.563M group net sales, 9 months to May 2026</a:t>
                      </a:r>
                    </a:p>
                  </a:txBody>
                  <a:tcPr marL="64008" marR="64008" marT="41148" marB="41148" anchor="ctr">
                    <a:solidFill>
                      <a:srgbClr val="0D131B"/>
                    </a:solidFill>
                  </a:tcPr>
                </a:tc>
                <a:tc>
                  <a:txBody>
                    <a:bodyPr wrap="square"/>
                    <a:lstStyle/>
                    <a:p>
                      <a:pPr>
                        <a:lnSpc>
                          <a:spcPct val="114000"/>
                        </a:lnSpc>
                      </a:pPr>
                      <a:r>
                        <a:rPr sz="700" b="0" i="0">
                          <a:solidFill>
                            <a:srgbClr val="F7F6EF"/>
                          </a:solidFill>
                          <a:latin typeface="Arial"/>
                        </a:rPr>
                        <a:t>Duel — live status not verified</a:t>
                      </a:r>
                    </a:p>
                  </a:txBody>
                  <a:tcPr marL="64008" marR="64008" marT="41148" marB="41148" anchor="ctr">
                    <a:solidFill>
                      <a:srgbClr val="0D131B"/>
                    </a:solidFill>
                  </a:tcPr>
                </a:tc>
                <a:tc>
                  <a:txBody>
                    <a:bodyPr wrap="square"/>
                    <a:lstStyle/>
                    <a:p>
                      <a:pPr>
                        <a:lnSpc>
                          <a:spcPct val="114000"/>
                        </a:lnSpc>
                      </a:pPr>
                      <a:r>
                        <a:rPr sz="700" b="0" i="0">
                          <a:solidFill>
                            <a:srgbClr val="F7F6EF"/>
                          </a:solidFill>
                          <a:latin typeface="Arial"/>
                        </a:rPr>
                        <a:t>iOS build updated 10 Sep 2026; 3.51 stars / 78 US ratings</a:t>
                      </a:r>
                    </a:p>
                  </a:txBody>
                  <a:tcPr marL="64008" marR="64008" marT="41148" marB="41148" anchor="ctr">
                    <a:solidFill>
                      <a:srgbClr val="0D131B"/>
                    </a:solidFill>
                  </a:tcPr>
                </a:tc>
              </a:tr>
              <a:tr h="190656">
                <a:tc>
                  <a:txBody>
                    <a:bodyPr wrap="square"/>
                    <a:lstStyle/>
                    <a:p>
                      <a:pPr>
                        <a:lnSpc>
                          <a:spcPct val="114000"/>
                        </a:lnSpc>
                      </a:pPr>
                      <a:r>
                        <a:rPr sz="700" b="1" i="0">
                          <a:solidFill>
                            <a:srgbClr val="F7F6EF"/>
                          </a:solidFill>
                          <a:latin typeface="Arial"/>
                        </a:rPr>
                        <a:t>Kahoot!</a:t>
                      </a:r>
                    </a:p>
                  </a:txBody>
                  <a:tcPr marL="64008" marR="64008" marT="41148" marB="41148" anchor="ctr">
                    <a:solidFill>
                      <a:srgbClr val="121821"/>
                    </a:solidFill>
                  </a:tcPr>
                </a:tc>
                <a:tc>
                  <a:txBody>
                    <a:bodyPr wrap="square"/>
                    <a:lstStyle/>
                    <a:p>
                      <a:pPr>
                        <a:lnSpc>
                          <a:spcPct val="114000"/>
                        </a:lnSpc>
                      </a:pPr>
                      <a:r>
                        <a:rPr sz="700" b="0" i="0">
                          <a:solidFill>
                            <a:srgbClr val="F7F6EF"/>
                          </a:solidFill>
                          <a:latin typeface="Arial"/>
                        </a:rPr>
                        <a:t>100,263,409 lifetime Android installs</a:t>
                      </a:r>
                    </a:p>
                  </a:txBody>
                  <a:tcPr marL="64008" marR="64008" marT="41148" marB="41148" anchor="ctr">
                    <a:solidFill>
                      <a:srgbClr val="121821"/>
                    </a:solidFill>
                  </a:tcPr>
                </a:tc>
                <a:tc>
                  <a:txBody>
                    <a:bodyPr wrap="square"/>
                    <a:lstStyle/>
                    <a:p>
                      <a:pPr>
                        <a:lnSpc>
                          <a:spcPct val="114000"/>
                        </a:lnSpc>
                      </a:pPr>
                      <a:r>
                        <a:rPr sz="700" b="0" i="0">
                          <a:solidFill>
                            <a:srgbClr val="FFC83D"/>
                          </a:solidFill>
                          <a:latin typeface="Arial"/>
                        </a:rPr>
                        <a:t>$146.0M FY2022, 95% gross margin, B2B/education</a:t>
                      </a:r>
                    </a:p>
                  </a:txBody>
                  <a:tcPr marL="64008" marR="64008" marT="41148" marB="41148" anchor="ctr">
                    <a:solidFill>
                      <a:srgbClr val="121821"/>
                    </a:solidFill>
                  </a:tcPr>
                </a:tc>
                <a:tc>
                  <a:txBody>
                    <a:bodyPr wrap="square"/>
                    <a:lstStyle/>
                    <a:p>
                      <a:pPr>
                        <a:lnSpc>
                          <a:spcPct val="114000"/>
                        </a:lnSpc>
                      </a:pPr>
                      <a:r>
                        <a:rPr sz="700" b="0" i="0">
                          <a:solidFill>
                            <a:srgbClr val="F7F6EF"/>
                          </a:solidFill>
                          <a:latin typeface="Arial"/>
                        </a:rPr>
                        <a:t>No — classroom/B2B</a:t>
                      </a:r>
                    </a:p>
                  </a:txBody>
                  <a:tcPr marL="64008" marR="64008" marT="41148" marB="41148" anchor="ctr">
                    <a:solidFill>
                      <a:srgbClr val="121821"/>
                    </a:solidFill>
                  </a:tcPr>
                </a:tc>
                <a:tc>
                  <a:txBody>
                    <a:bodyPr wrap="square"/>
                    <a:lstStyle/>
                    <a:p>
                      <a:pPr>
                        <a:lnSpc>
                          <a:spcPct val="114000"/>
                        </a:lnSpc>
                      </a:pPr>
                      <a:r>
                        <a:rPr sz="700" b="0" i="0">
                          <a:solidFill>
                            <a:srgbClr val="F7F6EF"/>
                          </a:solidFill>
                          <a:latin typeface="Arial"/>
                        </a:rPr>
                        <a:t>Private since 23 Jan 2024; Play build 3 Sep 2026</a:t>
                      </a:r>
                    </a:p>
                  </a:txBody>
                  <a:tcPr marL="64008" marR="64008" marT="41148" marB="41148" anchor="ctr">
                    <a:solidFill>
                      <a:srgbClr val="121821"/>
                    </a:solidFill>
                  </a:tcPr>
                </a:tc>
              </a:tr>
              <a:tr h="295872">
                <a:tc>
                  <a:txBody>
                    <a:bodyPr wrap="square"/>
                    <a:lstStyle/>
                    <a:p>
                      <a:pPr>
                        <a:lnSpc>
                          <a:spcPct val="114000"/>
                        </a:lnSpc>
                      </a:pPr>
                      <a:r>
                        <a:rPr sz="700" b="1" i="0">
                          <a:solidFill>
                            <a:srgbClr val="F7F6EF"/>
                          </a:solidFill>
                          <a:latin typeface="Arial"/>
                        </a:rPr>
                        <a:t>Wayground (ex-Quizizz)</a:t>
                      </a:r>
                    </a:p>
                  </a:txBody>
                  <a:tcPr marL="64008" marR="64008" marT="41148" marB="41148" anchor="ctr">
                    <a:solidFill>
                      <a:srgbClr val="0D131B"/>
                    </a:solidFill>
                  </a:tcPr>
                </a:tc>
                <a:tc>
                  <a:txBody>
                    <a:bodyPr wrap="square"/>
                    <a:lstStyle/>
                    <a:p>
                      <a:pPr>
                        <a:lnSpc>
                          <a:spcPct val="114000"/>
                        </a:lnSpc>
                      </a:pPr>
                      <a:r>
                        <a:rPr sz="700" b="0" i="0">
                          <a:solidFill>
                            <a:srgbClr val="F7F6EF"/>
                          </a:solidFill>
                          <a:latin typeface="Arial"/>
                        </a:rPr>
                        <a:t>10M+ Android installs</a:t>
                      </a:r>
                    </a:p>
                  </a:txBody>
                  <a:tcPr marL="64008" marR="64008" marT="41148" marB="41148" anchor="ctr">
                    <a:solidFill>
                      <a:srgbClr val="0D131B"/>
                    </a:solidFill>
                  </a:tcPr>
                </a:tc>
                <a:tc>
                  <a:txBody>
                    <a:bodyPr wrap="square"/>
                    <a:lstStyle/>
                    <a:p>
                      <a:pPr>
                        <a:lnSpc>
                          <a:spcPct val="114000"/>
                        </a:lnSpc>
                      </a:pPr>
                      <a:r>
                        <a:rPr sz="700" b="0" i="0">
                          <a:solidFill>
                            <a:srgbClr val="FFC83D"/>
                          </a:solidFill>
                          <a:latin typeface="Arial"/>
                        </a:rPr>
                        <a:t>$31.5M Series B; ~$44M across disclosed rounds, no valuation</a:t>
                      </a:r>
                    </a:p>
                  </a:txBody>
                  <a:tcPr marL="64008" marR="64008" marT="41148" marB="41148" anchor="ctr">
                    <a:solidFill>
                      <a:srgbClr val="0D131B"/>
                    </a:solidFill>
                  </a:tcPr>
                </a:tc>
                <a:tc>
                  <a:txBody>
                    <a:bodyPr wrap="square"/>
                    <a:lstStyle/>
                    <a:p>
                      <a:pPr>
                        <a:lnSpc>
                          <a:spcPct val="114000"/>
                        </a:lnSpc>
                      </a:pPr>
                      <a:r>
                        <a:rPr sz="700" b="0" i="0">
                          <a:solidFill>
                            <a:srgbClr val="F7F6EF"/>
                          </a:solidFill>
                          <a:latin typeface="Arial"/>
                        </a:rPr>
                        <a:t>No</a:t>
                      </a:r>
                    </a:p>
                  </a:txBody>
                  <a:tcPr marL="64008" marR="64008" marT="41148" marB="41148" anchor="ctr">
                    <a:solidFill>
                      <a:srgbClr val="0D131B"/>
                    </a:solidFill>
                  </a:tcPr>
                </a:tc>
                <a:tc>
                  <a:txBody>
                    <a:bodyPr wrap="square"/>
                    <a:lstStyle/>
                    <a:p>
                      <a:pPr>
                        <a:lnSpc>
                          <a:spcPct val="114000"/>
                        </a:lnSpc>
                      </a:pPr>
                      <a:r>
                        <a:rPr sz="700" b="0" i="0">
                          <a:solidFill>
                            <a:srgbClr val="F7F6EF"/>
                          </a:solidFill>
                          <a:latin typeface="Arial"/>
                        </a:rPr>
                        <a:t>iOS app last updated 14 Nov 2025</a:t>
                      </a:r>
                    </a:p>
                  </a:txBody>
                  <a:tcPr marL="64008" marR="64008" marT="41148" marB="41148" anchor="ctr">
                    <a:solidFill>
                      <a:srgbClr val="0D131B"/>
                    </a:solidFill>
                  </a:tcPr>
                </a:tc>
              </a:tr>
              <a:tr h="295872">
                <a:tc>
                  <a:txBody>
                    <a:bodyPr wrap="square"/>
                    <a:lstStyle/>
                    <a:p>
                      <a:pPr>
                        <a:lnSpc>
                          <a:spcPct val="114000"/>
                        </a:lnSpc>
                      </a:pPr>
                      <a:r>
                        <a:rPr sz="700" b="1" i="0">
                          <a:solidFill>
                            <a:srgbClr val="F7F6EF"/>
                          </a:solidFill>
                          <a:latin typeface="Arial"/>
                        </a:rPr>
                        <a:t>Quizion / TRIVIA GO!</a:t>
                      </a:r>
                    </a:p>
                  </a:txBody>
                  <a:tcPr marL="64008" marR="64008" marT="41148" marB="41148" anchor="ctr">
                    <a:solidFill>
                      <a:srgbClr val="121821"/>
                    </a:solidFill>
                  </a:tcPr>
                </a:tc>
                <a:tc>
                  <a:txBody>
                    <a:bodyPr wrap="square"/>
                    <a:lstStyle/>
                    <a:p>
                      <a:pPr>
                        <a:lnSpc>
                          <a:spcPct val="114000"/>
                        </a:lnSpc>
                      </a:pPr>
                      <a:r>
                        <a:rPr sz="700" b="0" i="0">
                          <a:solidFill>
                            <a:srgbClr val="F7F6EF"/>
                          </a:solidFill>
                          <a:latin typeface="Arial"/>
                        </a:rPr>
                        <a:t>10+ / 10K+ Android downloads</a:t>
                      </a:r>
                    </a:p>
                  </a:txBody>
                  <a:tcPr marL="64008" marR="64008" marT="41148" marB="41148" anchor="ctr">
                    <a:solidFill>
                      <a:srgbClr val="121821"/>
                    </a:solidFill>
                  </a:tcPr>
                </a:tc>
                <a:tc>
                  <a:txBody>
                    <a:bodyPr wrap="square"/>
                    <a:lstStyle/>
                    <a:p>
                      <a:pPr>
                        <a:lnSpc>
                          <a:spcPct val="114000"/>
                        </a:lnSpc>
                      </a:pPr>
                      <a:r>
                        <a:rPr sz="700" b="0" i="0">
                          <a:solidFill>
                            <a:srgbClr val="F7F6EF"/>
                          </a:solidFill>
                          <a:latin typeface="Arial"/>
                        </a:rPr>
                        <a:t>None disclosed</a:t>
                      </a:r>
                    </a:p>
                  </a:txBody>
                  <a:tcPr marL="64008" marR="64008" marT="41148" marB="41148" anchor="ctr">
                    <a:solidFill>
                      <a:srgbClr val="121821"/>
                    </a:solidFill>
                  </a:tcPr>
                </a:tc>
                <a:tc>
                  <a:txBody>
                    <a:bodyPr wrap="square"/>
                    <a:lstStyle/>
                    <a:p>
                      <a:pPr>
                        <a:lnSpc>
                          <a:spcPct val="114000"/>
                        </a:lnSpc>
                      </a:pPr>
                      <a:r>
                        <a:rPr sz="700" b="0" i="0">
                          <a:solidFill>
                            <a:srgbClr val="F7F6EF"/>
                          </a:solidFill>
                          <a:latin typeface="Arial"/>
                        </a:rPr>
                        <a:t>Yes</a:t>
                      </a:r>
                    </a:p>
                  </a:txBody>
                  <a:tcPr marL="64008" marR="64008" marT="41148" marB="41148" anchor="ctr">
                    <a:solidFill>
                      <a:srgbClr val="121821"/>
                    </a:solidFill>
                  </a:tcPr>
                </a:tc>
                <a:tc>
                  <a:txBody>
                    <a:bodyPr wrap="square"/>
                    <a:lstStyle/>
                    <a:p>
                      <a:pPr>
                        <a:lnSpc>
                          <a:spcPct val="114000"/>
                        </a:lnSpc>
                      </a:pPr>
                      <a:r>
                        <a:rPr sz="700" b="0" i="0">
                          <a:solidFill>
                            <a:srgbClr val="F7F6EF"/>
                          </a:solidFill>
                          <a:latin typeface="Arial"/>
                        </a:rPr>
                        <a:t>Quizion updated 13 Aug 2026; TRIVIA GO! stale since 22 May 2025</a:t>
                      </a:r>
                    </a:p>
                  </a:txBody>
                  <a:tcPr marL="64008" marR="64008" marT="41148" marB="41148" anchor="ctr">
                    <a:solidFill>
                      <a:srgbClr val="121821"/>
                    </a:solidFill>
                  </a:tcPr>
                </a:tc>
              </a:tr>
              <a:tr h="295872">
                <a:tc>
                  <a:txBody>
                    <a:bodyPr wrap="square"/>
                    <a:lstStyle/>
                    <a:p>
                      <a:pPr>
                        <a:lnSpc>
                          <a:spcPct val="114000"/>
                        </a:lnSpc>
                      </a:pPr>
                      <a:r>
                        <a:rPr sz="700" b="1" i="0">
                          <a:solidFill>
                            <a:srgbClr val="D4FF3A"/>
                          </a:solidFill>
                          <a:latin typeface="Arial"/>
                        </a:rPr>
                        <a:t>FACT//DUEL</a:t>
                      </a:r>
                    </a:p>
                  </a:txBody>
                  <a:tcPr marL="64008" marR="64008" marT="41148" marB="41148" anchor="ctr">
                    <a:solidFill>
                      <a:srgbClr val="0D131B"/>
                    </a:solidFill>
                  </a:tcPr>
                </a:tc>
                <a:tc>
                  <a:txBody>
                    <a:bodyPr wrap="square"/>
                    <a:lstStyle/>
                    <a:p>
                      <a:pPr>
                        <a:lnSpc>
                          <a:spcPct val="114000"/>
                        </a:lnSpc>
                      </a:pPr>
                      <a:r>
                        <a:rPr sz="700" b="1" i="0">
                          <a:solidFill>
                            <a:srgbClr val="D4FF3A"/>
                          </a:solidFill>
                          <a:latin typeface="Arial"/>
                        </a:rPr>
                        <a:t>Zero users</a:t>
                      </a:r>
                    </a:p>
                  </a:txBody>
                  <a:tcPr marL="64008" marR="64008" marT="41148" marB="41148" anchor="ctr">
                    <a:solidFill>
                      <a:srgbClr val="0D131B"/>
                    </a:solidFill>
                  </a:tcPr>
                </a:tc>
                <a:tc>
                  <a:txBody>
                    <a:bodyPr wrap="square"/>
                    <a:lstStyle/>
                    <a:p>
                      <a:pPr>
                        <a:lnSpc>
                          <a:spcPct val="114000"/>
                        </a:lnSpc>
                      </a:pPr>
                      <a:r>
                        <a:rPr sz="700" b="1" i="0">
                          <a:solidFill>
                            <a:srgbClr val="D4FF3A"/>
                          </a:solidFill>
                          <a:latin typeface="Arial"/>
                        </a:rPr>
                        <a:t>Zero revenue</a:t>
                      </a:r>
                    </a:p>
                  </a:txBody>
                  <a:tcPr marL="64008" marR="64008" marT="41148" marB="41148" anchor="ctr">
                    <a:solidFill>
                      <a:srgbClr val="0D131B"/>
                    </a:solidFill>
                  </a:tcPr>
                </a:tc>
                <a:tc>
                  <a:txBody>
                    <a:bodyPr wrap="square"/>
                    <a:lstStyle/>
                    <a:p>
                      <a:pPr>
                        <a:lnSpc>
                          <a:spcPct val="114000"/>
                        </a:lnSpc>
                      </a:pPr>
                      <a:r>
                        <a:rPr sz="700" b="1" i="0">
                          <a:solidFill>
                            <a:srgbClr val="D4FF3A"/>
                          </a:solidFill>
                          <a:latin typeface="Arial"/>
                        </a:rPr>
                        <a:t>Yes — private beta, bot practice opponent</a:t>
                      </a:r>
                    </a:p>
                  </a:txBody>
                  <a:tcPr marL="64008" marR="64008" marT="41148" marB="41148" anchor="ctr">
                    <a:solidFill>
                      <a:srgbClr val="0D131B"/>
                    </a:solidFill>
                  </a:tcPr>
                </a:tc>
                <a:tc>
                  <a:txBody>
                    <a:bodyPr wrap="square"/>
                    <a:lstStyle/>
                    <a:p>
                      <a:pPr>
                        <a:lnSpc>
                          <a:spcPct val="114000"/>
                        </a:lnSpc>
                      </a:pPr>
                      <a:r>
                        <a:rPr sz="700" b="1" i="0">
                          <a:solidFill>
                            <a:srgbClr val="D4FF3A"/>
                          </a:solidFill>
                          <a:latin typeface="Arial"/>
                        </a:rPr>
                        <a:t>Private beta, 54 sample questions</a:t>
                      </a:r>
                    </a:p>
                  </a:txBody>
                  <a:tcPr marL="64008" marR="64008" marT="41148" marB="41148" anchor="ctr">
                    <a:solidFill>
                      <a:srgbClr val="0D131B"/>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1682496"/>
          </a:xfrm>
        </p:spPr>
        <p:txBody>
          <a:bodyPr wrap="square" lIns="0" rIns="0" tIns="0" bIns="0" anchor="t"/>
          <a:lstStyle/>
          <a:p>
            <a:pPr>
              <a:lnSpc>
                <a:spcPct val="108000"/>
              </a:lnSpc>
            </a:pPr>
            <a:r>
              <a:rPr sz="4000" b="1" i="0">
                <a:solidFill>
                  <a:srgbClr val="F7F6EF"/>
                </a:solidFill>
                <a:latin typeface="Arial"/>
              </a:rPr>
              <a:t>The risks that emptied this category are the first two on this list, and they set the milestones.</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FF7A2F"/>
                </a:solidFill>
                <a:latin typeface="Arial"/>
              </a:rPr>
              <a:t>RISKS</a:t>
            </a:r>
          </a:p>
        </p:txBody>
      </p:sp>
      <p:sp>
        <p:nvSpPr>
          <p:cNvPr id="4" name="Rectangle 3"/>
          <p:cNvSpPr/>
          <p:nvPr/>
        </p:nvSpPr>
        <p:spPr>
          <a:xfrm>
            <a:off x="566928" y="6035040"/>
            <a:ext cx="11057839" cy="11887"/>
          </a:xfrm>
          <a:prstGeom prst="rect">
            <a:avLst/>
          </a:prstGeom>
          <a:solidFill>
            <a:srgbClr val="FF7A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12</a:t>
            </a:r>
          </a:p>
        </p:txBody>
      </p:sp>
      <p:sp>
        <p:nvSpPr>
          <p:cNvPr id="6" name="TextBox 5"/>
          <p:cNvSpPr txBox="1"/>
          <p:nvPr/>
        </p:nvSpPr>
        <p:spPr>
          <a:xfrm>
            <a:off x="566928" y="6144768"/>
            <a:ext cx="9869119" cy="548640"/>
          </a:xfrm>
          <a:prstGeom prst="rect">
            <a:avLst/>
          </a:prstGeom>
          <a:noFill/>
        </p:spPr>
        <p:txBody>
          <a:bodyPr wrap="square" lIns="0" rIns="0" tIns="0" bIns="0" anchor="t">
            <a:spAutoFit/>
          </a:bodyPr>
          <a:lstStyle/>
          <a:p>
            <a:pPr>
              <a:lnSpc>
                <a:spcPct val="115000"/>
              </a:lnSpc>
            </a:pPr>
            <a:r>
              <a:rPr sz="800" b="0" i="0">
                <a:solidFill>
                  <a:srgbClr val="A6ADBA"/>
                </a:solidFill>
                <a:latin typeface="Arial"/>
              </a:rPr>
              <a:t>Sources: TechCrunch — Trivia Royale, 2.5M downloads in 3 weeks  ·  GameAnalytics — 2026 Mobile &amp; PC Gaming Benchmarks  ·  SEC 10-K — Skillz FY2023 (Skillz v. AviaGames)</a:t>
            </a:r>
          </a:p>
          <a:p>
            <a:pPr>
              <a:lnSpc>
                <a:spcPct val="115000"/>
              </a:lnSpc>
            </a:pPr>
            <a:r>
              <a:rPr sz="800" b="0" i="0">
                <a:solidFill>
                  <a:srgbClr val="A6ADBA"/>
                </a:solidFill>
                <a:latin typeface="Arial"/>
              </a:rPr>
              <a:t>Sporcle — Orange membership pricing  ·  SEC — Duolingo Q2 FY2026 shareholder letter  ·  FACT//DUEL internal — numbers.md §2.3, §4.3 and §4.4  ·  FACT//DUEL internal — numbers.md §3.5, §5.2 and §5.14</a:t>
            </a:r>
          </a:p>
        </p:txBody>
      </p:sp>
      <p:sp>
        <p:nvSpPr>
          <p:cNvPr id="7" name="TextBox 6"/>
          <p:cNvSpPr txBox="1"/>
          <p:nvPr/>
        </p:nvSpPr>
        <p:spPr>
          <a:xfrm>
            <a:off x="566928" y="2542032"/>
            <a:ext cx="11057839" cy="3364991"/>
          </a:xfrm>
          <a:prstGeom prst="rect">
            <a:avLst/>
          </a:prstGeom>
          <a:noFill/>
        </p:spPr>
        <p:txBody>
          <a:bodyPr wrap="square" lIns="0" rIns="0" tIns="0" bIns="0" anchor="t">
            <a:spAutoFit/>
          </a:bodyPr>
          <a:lstStyle/>
          <a:p>
            <a:pPr marL="264121" indent="-264121">
              <a:lnSpc>
                <a:spcPct val="116000"/>
              </a:lnSpc>
              <a:buClr>
                <a:srgbClr val="FF7A2F"/>
              </a:buClr>
              <a:buFont typeface="Arial"/>
              <a:buChar char="—"/>
            </a:pPr>
            <a:r>
              <a:rPr sz="1550" b="0" i="0">
                <a:solidFill>
                  <a:srgbClr val="F7F6EF"/>
                </a:solidFill>
                <a:latin typeface="Arial"/>
              </a:rPr>
              <a:t>Long-tail retention. Trivia Royale reported 45% D1 iOS — company-stated to TechCrunch, not audited — and closed eight months after launch, on 23 Feb 2021.</a:t>
            </a:r>
          </a:p>
          <a:p>
            <a:pPr marL="264121" indent="-264121">
              <a:lnSpc>
                <a:spcPct val="116000"/>
              </a:lnSpc>
              <a:spcBef>
                <a:spcPts val="852"/>
              </a:spcBef>
              <a:buClr>
                <a:srgbClr val="FF7A2F"/>
              </a:buClr>
              <a:buFont typeface="Arial"/>
              <a:buChar char="—"/>
            </a:pPr>
            <a:r>
              <a:rPr sz="1550" b="0" i="0">
                <a:solidFill>
                  <a:srgbClr val="F7F6EF"/>
                </a:solidFill>
                <a:latin typeface="Arial"/>
              </a:rPr>
              <a:t>Global median D30 across 16,000+ mobile games is 0.68-0.79% (GameAnalytics est., CY2025); the North American median is 1.18%.</a:t>
            </a:r>
          </a:p>
          <a:p>
            <a:pPr marL="264121" indent="-264121">
              <a:lnSpc>
                <a:spcPct val="116000"/>
              </a:lnSpc>
              <a:spcBef>
                <a:spcPts val="852"/>
              </a:spcBef>
              <a:buClr>
                <a:srgbClr val="FF7A2F"/>
              </a:buClr>
              <a:buFont typeface="Arial"/>
              <a:buChar char="—"/>
            </a:pPr>
            <a:r>
              <a:rPr sz="1550" b="0" i="0">
                <a:solidFill>
                  <a:srgbClr val="F7F6EF"/>
                </a:solidFill>
                <a:latin typeface="Arial"/>
              </a:rPr>
              <a:t>Opponent integrity. Skillz won a </a:t>
            </a:r>
            <a:r>
              <a:rPr sz="1550" b="0" i="0">
                <a:solidFill>
                  <a:srgbClr val="FFC83D"/>
                </a:solidFill>
                <a:latin typeface="Arial"/>
              </a:rPr>
              <a:t>$42.9M</a:t>
            </a:r>
            <a:r>
              <a:rPr sz="1550" b="0" i="0">
                <a:solidFill>
                  <a:srgbClr val="F7F6EF"/>
                </a:solidFill>
                <a:latin typeface="Arial"/>
              </a:rPr>
              <a:t> jury verdict against AviaGames for willful patent infringement (9 Feb 2024); trial evidence showed bots run against paying humans.</a:t>
            </a:r>
          </a:p>
          <a:p>
            <a:pPr marL="264121" indent="-264121">
              <a:lnSpc>
                <a:spcPct val="116000"/>
              </a:lnSpc>
              <a:spcBef>
                <a:spcPts val="852"/>
              </a:spcBef>
              <a:buClr>
                <a:srgbClr val="FF7A2F"/>
              </a:buClr>
              <a:buFont typeface="Arial"/>
              <a:buChar char="—"/>
            </a:pPr>
            <a:r>
              <a:rPr sz="1550" b="0" i="0">
                <a:solidFill>
                  <a:srgbClr val="F7F6EF"/>
                </a:solidFill>
                <a:latin typeface="Arial"/>
              </a:rPr>
              <a:t>Benchmark transfer. Every retention, session and per-install monetisation benchmark in our model is measured on app-store installs, not web.</a:t>
            </a:r>
          </a:p>
          <a:p>
            <a:pPr marL="264121" indent="-264121">
              <a:lnSpc>
                <a:spcPct val="116000"/>
              </a:lnSpc>
              <a:spcBef>
                <a:spcPts val="852"/>
              </a:spcBef>
              <a:buClr>
                <a:srgbClr val="FF7A2F"/>
              </a:buClr>
              <a:buFont typeface="Arial"/>
              <a:buChar char="—"/>
            </a:pPr>
            <a:r>
              <a:rPr sz="1550" b="0" i="0">
                <a:solidFill>
                  <a:srgbClr val="F7F6EF"/>
                </a:solidFill>
                <a:latin typeface="Arial"/>
              </a:rPr>
              <a:t>Content depth. 54 sample questions is a demo bank. The ask funds four engineers and no separate content line; the target and production rate are still to be set (§4.4).</a:t>
            </a:r>
          </a:p>
          <a:p>
            <a:pPr marL="264121" indent="-264121">
              <a:lnSpc>
                <a:spcPct val="116000"/>
              </a:lnSpc>
              <a:spcBef>
                <a:spcPts val="852"/>
              </a:spcBef>
              <a:buClr>
                <a:srgbClr val="FF7A2F"/>
              </a:buClr>
              <a:buFont typeface="Arial"/>
              <a:buChar char="—"/>
            </a:pPr>
            <a:r>
              <a:rPr sz="1550" b="0" i="0">
                <a:solidFill>
                  <a:srgbClr val="F7F6EF"/>
                </a:solidFill>
                <a:latin typeface="Arial"/>
              </a:rPr>
              <a:t>Model honesty. Our base case </a:t>
            </a:r>
            <a:r>
              <a:rPr sz="1550" b="1" i="0">
                <a:solidFill>
                  <a:srgbClr val="4EE1FF"/>
                </a:solidFill>
                <a:latin typeface="Arial"/>
              </a:rPr>
              <a:t>(P)</a:t>
            </a:r>
            <a:r>
              <a:rPr sz="1550" b="0" i="0">
                <a:solidFill>
                  <a:srgbClr val="F7F6EF"/>
                </a:solidFill>
                <a:latin typeface="Arial"/>
              </a:rPr>
              <a:t> implicitly out-monetises a 9.03%-conversion subscription at Sporcle's </a:t>
            </a:r>
            <a:r>
              <a:rPr sz="1550" b="0" i="0">
                <a:solidFill>
                  <a:srgbClr val="FFC83D"/>
                </a:solidFill>
                <a:latin typeface="Arial"/>
              </a:rPr>
              <a:t>$43.99</a:t>
            </a:r>
            <a:r>
              <a:rPr sz="1550" b="0" i="0">
                <a:solidFill>
                  <a:srgbClr val="F7F6EF"/>
                </a:solidFill>
                <a:latin typeface="Arial"/>
              </a:rPr>
              <a:t>/yr by 3.88x. We flag it, not hide it.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585216"/>
          </a:xfrm>
        </p:spPr>
        <p:txBody>
          <a:bodyPr wrap="square" lIns="0" rIns="0" tIns="0" bIns="0" anchor="t"/>
          <a:lstStyle/>
          <a:p>
            <a:pPr>
              <a:lnSpc>
                <a:spcPct val="108000"/>
              </a:lnSpc>
            </a:pPr>
            <a:r>
              <a:rPr sz="4000" b="1" i="0">
                <a:solidFill>
                  <a:srgbClr val="F7F6EF"/>
                </a:solidFill>
                <a:latin typeface="Arial"/>
              </a:rPr>
              <a:t>TO BE COMPLETED BY THE FOUNDER</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D4FF3A"/>
                </a:solidFill>
                <a:latin typeface="Arial"/>
              </a:rPr>
              <a:t>TEAM</a:t>
            </a:r>
          </a:p>
        </p:txBody>
      </p:sp>
      <p:sp>
        <p:nvSpPr>
          <p:cNvPr id="4" name="Rectangle 3"/>
          <p:cNvSpPr/>
          <p:nvPr/>
        </p:nvSpPr>
        <p:spPr>
          <a:xfrm>
            <a:off x="566928" y="6035040"/>
            <a:ext cx="11057839" cy="11887"/>
          </a:xfrm>
          <a:prstGeom prst="rect">
            <a:avLst/>
          </a:prstGeom>
          <a:solidFill>
            <a:srgbClr val="D4F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13</a:t>
            </a:r>
          </a:p>
        </p:txBody>
      </p:sp>
      <p:sp>
        <p:nvSpPr>
          <p:cNvPr id="6" name="TextBox 5"/>
          <p:cNvSpPr txBox="1"/>
          <p:nvPr/>
        </p:nvSpPr>
        <p:spPr>
          <a:xfrm>
            <a:off x="566928" y="6144768"/>
            <a:ext cx="9869119" cy="548640"/>
          </a:xfrm>
          <a:prstGeom prst="rect">
            <a:avLst/>
          </a:prstGeom>
          <a:noFill/>
        </p:spPr>
        <p:txBody>
          <a:bodyPr wrap="square" lIns="0" rIns="0" tIns="0" bIns="0" anchor="t">
            <a:spAutoFit/>
          </a:bodyPr>
          <a:lstStyle/>
          <a:p>
            <a:pPr>
              <a:lnSpc>
                <a:spcPct val="115000"/>
              </a:lnSpc>
            </a:pPr>
            <a:r>
              <a:rPr sz="800" b="0" i="0">
                <a:solidFill>
                  <a:srgbClr val="A6ADBA"/>
                </a:solidFill>
                <a:latin typeface="Arial"/>
              </a:rPr>
              <a:t>Sources: FACT//DUEL internal — numbers.md §4.4 and §4.5  ·  Y Combinator — A guide to seed fundraising  ·  Y Combinator — How to design a better pitch deck  ·  DocSend — per-section dwell times</a:t>
            </a:r>
          </a:p>
        </p:txBody>
      </p:sp>
      <p:sp>
        <p:nvSpPr>
          <p:cNvPr id="7" name="TextBox 6"/>
          <p:cNvSpPr txBox="1"/>
          <p:nvPr/>
        </p:nvSpPr>
        <p:spPr>
          <a:xfrm>
            <a:off x="566928" y="1444752"/>
            <a:ext cx="11057839" cy="4462272"/>
          </a:xfrm>
          <a:prstGeom prst="rect">
            <a:avLst/>
          </a:prstGeom>
          <a:noFill/>
        </p:spPr>
        <p:txBody>
          <a:bodyPr wrap="square" lIns="0" rIns="0" tIns="0" bIns="0" anchor="t">
            <a:spAutoFit/>
          </a:bodyPr>
          <a:lstStyle/>
          <a:p>
            <a:pPr marL="306731" indent="-306731">
              <a:lnSpc>
                <a:spcPct val="116000"/>
              </a:lnSpc>
              <a:buClr>
                <a:srgbClr val="D4FF3A"/>
              </a:buClr>
              <a:buFont typeface="Arial"/>
              <a:buChar char="—"/>
            </a:pPr>
            <a:r>
              <a:rPr sz="1800" b="0" i="0">
                <a:solidFill>
                  <a:srgbClr val="F7F6EF"/>
                </a:solidFill>
                <a:latin typeface="Arial"/>
              </a:rPr>
              <a:t>TO BE COMPLETED BY THE FOUNDER. No team member, hire, advisor, partner or customer is claimed in this deck.</a:t>
            </a:r>
          </a:p>
          <a:p>
            <a:pPr marL="306731" indent="-306731">
              <a:lnSpc>
                <a:spcPct val="116000"/>
              </a:lnSpc>
              <a:spcBef>
                <a:spcPts val="990"/>
              </a:spcBef>
              <a:buClr>
                <a:srgbClr val="D4FF3A"/>
              </a:buClr>
              <a:buFont typeface="Arial"/>
              <a:buChar char="—"/>
            </a:pPr>
            <a:r>
              <a:rPr sz="1800" b="0" i="0">
                <a:solidFill>
                  <a:srgbClr val="F7F6EF"/>
                </a:solidFill>
                <a:latin typeface="Arial"/>
              </a:rPr>
              <a:t>The plan </a:t>
            </a:r>
            <a:r>
              <a:rPr sz="1800" b="1" i="0">
                <a:solidFill>
                  <a:srgbClr val="4EE1FF"/>
                </a:solidFill>
                <a:latin typeface="Arial"/>
              </a:rPr>
              <a:t>(P)</a:t>
            </a:r>
            <a:r>
              <a:rPr sz="1800" b="0" i="0">
                <a:solidFill>
                  <a:srgbClr val="F7F6EF"/>
                </a:solidFill>
                <a:latin typeface="Arial"/>
              </a:rPr>
              <a:t> budgets four engineers at YC's </a:t>
            </a:r>
            <a:r>
              <a:rPr sz="1800" b="0" i="0">
                <a:solidFill>
                  <a:srgbClr val="FFC83D"/>
                </a:solidFill>
                <a:latin typeface="Arial"/>
              </a:rPr>
              <a:t>$15,000</a:t>
            </a:r>
            <a:r>
              <a:rPr sz="1800" b="0" i="0">
                <a:solidFill>
                  <a:srgbClr val="F7F6EF"/>
                </a:solidFill>
                <a:latin typeface="Arial"/>
              </a:rPr>
              <a:t>/engineer/month rule of thumb over 18 months = </a:t>
            </a:r>
            <a:r>
              <a:rPr sz="1800" b="0" i="0">
                <a:solidFill>
                  <a:srgbClr val="FFC83D"/>
                </a:solidFill>
                <a:latin typeface="Arial"/>
              </a:rPr>
              <a:t>$1,080,000</a:t>
            </a:r>
            <a:r>
              <a:rPr sz="1800" b="0" i="0">
                <a:solidFill>
                  <a:srgbClr val="F7F6EF"/>
                </a:solidFill>
                <a:latin typeface="Arial"/>
              </a:rPr>
              <a:t> (numbers.md §4.5) — a rule of thumb, not a measured 2026 cost base.</a:t>
            </a:r>
          </a:p>
          <a:p>
            <a:pPr marL="306731" indent="-306731">
              <a:lnSpc>
                <a:spcPct val="116000"/>
              </a:lnSpc>
              <a:spcBef>
                <a:spcPts val="990"/>
              </a:spcBef>
              <a:buClr>
                <a:srgbClr val="D4FF3A"/>
              </a:buClr>
              <a:buFont typeface="Arial"/>
              <a:buChar char="—"/>
            </a:pPr>
            <a:r>
              <a:rPr sz="1800" b="0" i="0">
                <a:solidFill>
                  <a:srgbClr val="F7F6EF"/>
                </a:solidFill>
                <a:latin typeface="Arial"/>
              </a:rPr>
              <a:t>This slide must name those four, with agreement in writing, before the deck is sent.</a:t>
            </a:r>
          </a:p>
          <a:p>
            <a:pPr marL="306731" indent="-306731">
              <a:lnSpc>
                <a:spcPct val="116000"/>
              </a:lnSpc>
              <a:spcBef>
                <a:spcPts val="990"/>
              </a:spcBef>
              <a:buClr>
                <a:srgbClr val="D4FF3A"/>
              </a:buClr>
              <a:buFont typeface="Arial"/>
              <a:buChar char="—"/>
            </a:pPr>
            <a:r>
              <a:rPr sz="1800" b="0" i="0">
                <a:solidFill>
                  <a:srgbClr val="F7F6EF"/>
                </a:solidFill>
                <a:latin typeface="Arial"/>
              </a:rPr>
              <a:t>Roles the milestone list requires: backend — accounts, server-side progression and analytics instrumentation; client and game engineering for the duel and progression surfaces.</a:t>
            </a:r>
          </a:p>
          <a:p>
            <a:pPr marL="306731" indent="-306731">
              <a:lnSpc>
                <a:spcPct val="116000"/>
              </a:lnSpc>
              <a:spcBef>
                <a:spcPts val="990"/>
              </a:spcBef>
              <a:buClr>
                <a:srgbClr val="D4FF3A"/>
              </a:buClr>
              <a:buFont typeface="Arial"/>
              <a:buChar char="—"/>
            </a:pPr>
            <a:r>
              <a:rPr sz="1800" b="0" i="0">
                <a:solidFill>
                  <a:srgbClr val="F7F6EF"/>
                </a:solidFill>
                <a:latin typeface="Arial"/>
              </a:rPr>
              <a:t>Content and question production is an unbudgeted role beyond the four-engineer line; the target and production rate are still to be set (§4.4, milestone 4).</a:t>
            </a:r>
          </a:p>
          <a:p>
            <a:pPr marL="306731" indent="-306731">
              <a:lnSpc>
                <a:spcPct val="116000"/>
              </a:lnSpc>
              <a:spcBef>
                <a:spcPts val="990"/>
              </a:spcBef>
              <a:buClr>
                <a:srgbClr val="D4FF3A"/>
              </a:buClr>
              <a:buFont typeface="Arial"/>
              <a:buChar char="—"/>
            </a:pPr>
            <a:r>
              <a:rPr sz="1800" b="0" i="0">
                <a:solidFill>
                  <a:srgbClr val="F7F6EF"/>
                </a:solidFill>
                <a:latin typeface="Arial"/>
              </a:rPr>
              <a:t>Founder background — TO BE COMPLETED BY THE FOUNDER.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1133856"/>
          </a:xfrm>
        </p:spPr>
        <p:txBody>
          <a:bodyPr wrap="square" lIns="0" rIns="0" tIns="0" bIns="0" anchor="t"/>
          <a:lstStyle/>
          <a:p>
            <a:pPr>
              <a:lnSpc>
                <a:spcPct val="108000"/>
              </a:lnSpc>
            </a:pPr>
            <a:r>
              <a:rPr sz="4000" b="1" i="0">
                <a:solidFill>
                  <a:srgbClr val="F7F6EF"/>
                </a:solidFill>
                <a:latin typeface="Arial"/>
              </a:rPr>
              <a:t>About $1.2M for 18 months, to buy the one number this deck does not have.</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D4FF3A"/>
                </a:solidFill>
                <a:latin typeface="Arial"/>
              </a:rPr>
              <a:t>THE ASK</a:t>
            </a:r>
          </a:p>
        </p:txBody>
      </p:sp>
      <p:sp>
        <p:nvSpPr>
          <p:cNvPr id="4" name="Rectangle 3"/>
          <p:cNvSpPr/>
          <p:nvPr/>
        </p:nvSpPr>
        <p:spPr>
          <a:xfrm>
            <a:off x="566928" y="6035040"/>
            <a:ext cx="11057839" cy="11887"/>
          </a:xfrm>
          <a:prstGeom prst="rect">
            <a:avLst/>
          </a:prstGeom>
          <a:solidFill>
            <a:srgbClr val="D4F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14</a:t>
            </a:r>
          </a:p>
        </p:txBody>
      </p:sp>
      <p:sp>
        <p:nvSpPr>
          <p:cNvPr id="6" name="TextBox 5"/>
          <p:cNvSpPr txBox="1"/>
          <p:nvPr/>
        </p:nvSpPr>
        <p:spPr>
          <a:xfrm>
            <a:off x="566928" y="6144768"/>
            <a:ext cx="9869119" cy="548640"/>
          </a:xfrm>
          <a:prstGeom prst="rect">
            <a:avLst/>
          </a:prstGeom>
          <a:noFill/>
        </p:spPr>
        <p:txBody>
          <a:bodyPr wrap="square" lIns="0" rIns="0" tIns="0" bIns="0" anchor="t">
            <a:spAutoFit/>
          </a:bodyPr>
          <a:lstStyle/>
          <a:p>
            <a:pPr>
              <a:lnSpc>
                <a:spcPct val="115000"/>
              </a:lnSpc>
            </a:pPr>
            <a:r>
              <a:rPr sz="800" b="0" i="0">
                <a:solidFill>
                  <a:srgbClr val="A6ADBA"/>
                </a:solidFill>
                <a:latin typeface="Arial"/>
              </a:rPr>
              <a:t>Sources: Y Combinator — A guide to seed fundraising  ·  Carta — State of Private Markets, Q3 2025  ·  Crunchbase — US seed funding, 2025  ·  FACT//DUEL internal — numbers.md §4.4, §4.5 and §5.8</a:t>
            </a:r>
          </a:p>
        </p:txBody>
      </p:sp>
      <p:sp>
        <p:nvSpPr>
          <p:cNvPr id="7" name="Rectangle 6"/>
          <p:cNvSpPr/>
          <p:nvPr/>
        </p:nvSpPr>
        <p:spPr>
          <a:xfrm>
            <a:off x="566928" y="1993392"/>
            <a:ext cx="3539642" cy="1115568"/>
          </a:xfrm>
          <a:prstGeom prst="rect">
            <a:avLst/>
          </a:prstGeom>
          <a:solidFill>
            <a:srgbClr val="1218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993392"/>
            <a:ext cx="41148" cy="1115568"/>
          </a:xfrm>
          <a:prstGeom prst="rect">
            <a:avLst/>
          </a:prstGeom>
          <a:solidFill>
            <a:srgbClr val="D4F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86384" y="2139696"/>
            <a:ext cx="3155594" cy="457200"/>
          </a:xfrm>
          <a:prstGeom prst="rect">
            <a:avLst/>
          </a:prstGeom>
          <a:noFill/>
        </p:spPr>
        <p:txBody>
          <a:bodyPr wrap="square" lIns="0" rIns="0" tIns="0" bIns="0" anchor="t">
            <a:spAutoFit/>
          </a:bodyPr>
          <a:lstStyle/>
          <a:p>
            <a:r>
              <a:rPr sz="2700" b="1" i="0">
                <a:solidFill>
                  <a:srgbClr val="FFC83D"/>
                </a:solidFill>
                <a:latin typeface="Arial"/>
              </a:rPr>
              <a:t>$1,080,000</a:t>
            </a:r>
          </a:p>
        </p:txBody>
      </p:sp>
      <p:sp>
        <p:nvSpPr>
          <p:cNvPr id="10" name="TextBox 9"/>
          <p:cNvSpPr txBox="1"/>
          <p:nvPr/>
        </p:nvSpPr>
        <p:spPr>
          <a:xfrm>
            <a:off x="786384" y="2596896"/>
            <a:ext cx="3155594" cy="438912"/>
          </a:xfrm>
          <a:prstGeom prst="rect">
            <a:avLst/>
          </a:prstGeom>
          <a:noFill/>
        </p:spPr>
        <p:txBody>
          <a:bodyPr wrap="square" lIns="0" rIns="0" tIns="0" bIns="0" anchor="t">
            <a:spAutoFit/>
          </a:bodyPr>
          <a:lstStyle/>
          <a:p>
            <a:pPr>
              <a:lnSpc>
                <a:spcPct val="114000"/>
              </a:lnSpc>
            </a:pPr>
            <a:r>
              <a:rPr sz="950" b="0" i="0">
                <a:solidFill>
                  <a:srgbClr val="A6ADBA"/>
                </a:solidFill>
                <a:latin typeface="Arial"/>
              </a:rPr>
              <a:t>4 engineers x $15,000/month x 18 months (YC's own arithmetic)</a:t>
            </a:r>
          </a:p>
        </p:txBody>
      </p:sp>
      <p:sp>
        <p:nvSpPr>
          <p:cNvPr id="11" name="Rectangle 10"/>
          <p:cNvSpPr/>
          <p:nvPr/>
        </p:nvSpPr>
        <p:spPr>
          <a:xfrm>
            <a:off x="4326026" y="1993392"/>
            <a:ext cx="3539642" cy="1115568"/>
          </a:xfrm>
          <a:prstGeom prst="rect">
            <a:avLst/>
          </a:prstGeom>
          <a:solidFill>
            <a:srgbClr val="1218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4326026" y="1993392"/>
            <a:ext cx="41148" cy="1115568"/>
          </a:xfrm>
          <a:prstGeom prst="rect">
            <a:avLst/>
          </a:prstGeom>
          <a:solidFill>
            <a:srgbClr val="D4F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545482" y="2139696"/>
            <a:ext cx="3155594" cy="457200"/>
          </a:xfrm>
          <a:prstGeom prst="rect">
            <a:avLst/>
          </a:prstGeom>
          <a:noFill/>
        </p:spPr>
        <p:txBody>
          <a:bodyPr wrap="square" lIns="0" rIns="0" tIns="0" bIns="0" anchor="t">
            <a:spAutoFit/>
          </a:bodyPr>
          <a:lstStyle/>
          <a:p>
            <a:r>
              <a:rPr sz="2700" b="1" i="0">
                <a:solidFill>
                  <a:srgbClr val="FFC83D"/>
                </a:solidFill>
                <a:latin typeface="Arial"/>
              </a:rPr>
              <a:t>6.98%</a:t>
            </a:r>
          </a:p>
        </p:txBody>
      </p:sp>
      <p:sp>
        <p:nvSpPr>
          <p:cNvPr id="14" name="TextBox 13"/>
          <p:cNvSpPr txBox="1"/>
          <p:nvPr/>
        </p:nvSpPr>
        <p:spPr>
          <a:xfrm>
            <a:off x="4545482" y="2596896"/>
            <a:ext cx="3155594" cy="438912"/>
          </a:xfrm>
          <a:prstGeom prst="rect">
            <a:avLst/>
          </a:prstGeom>
          <a:noFill/>
        </p:spPr>
        <p:txBody>
          <a:bodyPr wrap="square" lIns="0" rIns="0" tIns="0" bIns="0" anchor="t">
            <a:spAutoFit/>
          </a:bodyPr>
          <a:lstStyle/>
          <a:p>
            <a:pPr>
              <a:lnSpc>
                <a:spcPct val="114000"/>
              </a:lnSpc>
            </a:pPr>
            <a:r>
              <a:rPr sz="950" b="0" i="0">
                <a:solidFill>
                  <a:srgbClr val="A6ADBA"/>
                </a:solidFill>
                <a:latin typeface="Arial"/>
              </a:rPr>
              <a:t>dilution: $1.2M into a $17.2M post-money (Carta Q3 2025 median)</a:t>
            </a:r>
          </a:p>
        </p:txBody>
      </p:sp>
      <p:sp>
        <p:nvSpPr>
          <p:cNvPr id="15" name="Rectangle 14"/>
          <p:cNvSpPr/>
          <p:nvPr/>
        </p:nvSpPr>
        <p:spPr>
          <a:xfrm>
            <a:off x="8085124" y="1993392"/>
            <a:ext cx="3539642" cy="1115568"/>
          </a:xfrm>
          <a:prstGeom prst="rect">
            <a:avLst/>
          </a:prstGeom>
          <a:solidFill>
            <a:srgbClr val="1218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8085124" y="1993392"/>
            <a:ext cx="41148" cy="1115568"/>
          </a:xfrm>
          <a:prstGeom prst="rect">
            <a:avLst/>
          </a:prstGeom>
          <a:solidFill>
            <a:srgbClr val="D4F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304580" y="2139696"/>
            <a:ext cx="3155594" cy="457200"/>
          </a:xfrm>
          <a:prstGeom prst="rect">
            <a:avLst/>
          </a:prstGeom>
          <a:noFill/>
        </p:spPr>
        <p:txBody>
          <a:bodyPr wrap="square" lIns="0" rIns="0" tIns="0" bIns="0" anchor="t">
            <a:spAutoFit/>
          </a:bodyPr>
          <a:lstStyle/>
          <a:p>
            <a:r>
              <a:rPr sz="2700" b="1" i="0">
                <a:solidFill>
                  <a:srgbClr val="FFC83D"/>
                </a:solidFill>
                <a:latin typeface="Arial"/>
              </a:rPr>
              <a:t>5.00%</a:t>
            </a:r>
          </a:p>
        </p:txBody>
      </p:sp>
      <p:sp>
        <p:nvSpPr>
          <p:cNvPr id="18" name="TextBox 17"/>
          <p:cNvSpPr txBox="1"/>
          <p:nvPr/>
        </p:nvSpPr>
        <p:spPr>
          <a:xfrm>
            <a:off x="8304580" y="2596896"/>
            <a:ext cx="3155594" cy="438912"/>
          </a:xfrm>
          <a:prstGeom prst="rect">
            <a:avLst/>
          </a:prstGeom>
          <a:noFill/>
        </p:spPr>
        <p:txBody>
          <a:bodyPr wrap="square" lIns="0" rIns="0" tIns="0" bIns="0" anchor="t">
            <a:spAutoFit/>
          </a:bodyPr>
          <a:lstStyle/>
          <a:p>
            <a:pPr>
              <a:lnSpc>
                <a:spcPct val="114000"/>
              </a:lnSpc>
            </a:pPr>
            <a:r>
              <a:rPr sz="950" b="0" i="0">
                <a:solidFill>
                  <a:srgbClr val="A6ADBA"/>
                </a:solidFill>
                <a:latin typeface="Arial"/>
              </a:rPr>
              <a:t>dilution: $1.2M into a $24.0M post-money (Carta Q4 2025 high)</a:t>
            </a:r>
          </a:p>
        </p:txBody>
      </p:sp>
      <p:sp>
        <p:nvSpPr>
          <p:cNvPr id="19" name="TextBox 18"/>
          <p:cNvSpPr txBox="1"/>
          <p:nvPr/>
        </p:nvSpPr>
        <p:spPr>
          <a:xfrm>
            <a:off x="566928" y="3383280"/>
            <a:ext cx="11057839" cy="2523744"/>
          </a:xfrm>
          <a:prstGeom prst="rect">
            <a:avLst/>
          </a:prstGeom>
          <a:noFill/>
        </p:spPr>
        <p:txBody>
          <a:bodyPr wrap="square" lIns="0" rIns="0" tIns="0" bIns="0" anchor="t">
            <a:spAutoFit/>
          </a:bodyPr>
          <a:lstStyle/>
          <a:p>
            <a:pPr marL="247088" indent="-247088">
              <a:lnSpc>
                <a:spcPct val="116000"/>
              </a:lnSpc>
              <a:buClr>
                <a:srgbClr val="D4FF3A"/>
              </a:buClr>
              <a:buFont typeface="Arial"/>
              <a:buChar char="—"/>
            </a:pPr>
            <a:r>
              <a:rPr sz="1450" b="0" i="0">
                <a:solidFill>
                  <a:srgbClr val="F7F6EF"/>
                </a:solidFill>
                <a:latin typeface="Arial"/>
              </a:rPr>
              <a:t>4 engineers x </a:t>
            </a:r>
            <a:r>
              <a:rPr sz="1450" b="0" i="0">
                <a:solidFill>
                  <a:srgbClr val="FFC83D"/>
                </a:solidFill>
                <a:latin typeface="Arial"/>
              </a:rPr>
              <a:t>$15,000</a:t>
            </a:r>
            <a:r>
              <a:rPr sz="1450" b="0" i="0">
                <a:solidFill>
                  <a:srgbClr val="F7F6EF"/>
                </a:solidFill>
                <a:latin typeface="Arial"/>
              </a:rPr>
              <a:t>/month x 18 months = </a:t>
            </a:r>
            <a:r>
              <a:rPr sz="1450" b="0" i="0">
                <a:solidFill>
                  <a:srgbClr val="FFC83D"/>
                </a:solidFill>
                <a:latin typeface="Arial"/>
              </a:rPr>
              <a:t>$1,080,000</a:t>
            </a:r>
            <a:r>
              <a:rPr sz="1450" b="0" i="0">
                <a:solidFill>
                  <a:srgbClr val="F7F6EF"/>
                </a:solidFill>
                <a:latin typeface="Arial"/>
              </a:rPr>
              <a:t> </a:t>
            </a:r>
            <a:r>
              <a:rPr sz="1450" b="1" i="0">
                <a:solidFill>
                  <a:srgbClr val="4EE1FF"/>
                </a:solidFill>
                <a:latin typeface="Arial"/>
              </a:rPr>
              <a:t>(P)</a:t>
            </a:r>
            <a:r>
              <a:rPr sz="1450" b="0" i="0">
                <a:solidFill>
                  <a:srgbClr val="F7F6EF"/>
                </a:solidFill>
                <a:latin typeface="Arial"/>
              </a:rPr>
              <a:t>. Raising about </a:t>
            </a:r>
            <a:r>
              <a:rPr sz="1450" b="0" i="0">
                <a:solidFill>
                  <a:srgbClr val="FFC83D"/>
                </a:solidFill>
                <a:latin typeface="Arial"/>
              </a:rPr>
              <a:t>$1.2M</a:t>
            </a:r>
            <a:r>
              <a:rPr sz="1450" b="0" i="0">
                <a:solidFill>
                  <a:srgbClr val="F7F6EF"/>
                </a:solidFill>
                <a:latin typeface="Arial"/>
              </a:rPr>
              <a:t> </a:t>
            </a:r>
            <a:r>
              <a:rPr sz="1450" b="1" i="0">
                <a:solidFill>
                  <a:srgbClr val="4EE1FF"/>
                </a:solidFill>
                <a:latin typeface="Arial"/>
              </a:rPr>
              <a:t>(P)</a:t>
            </a:r>
            <a:r>
              <a:rPr sz="1450" b="0" i="0">
                <a:solidFill>
                  <a:srgbClr val="F7F6EF"/>
                </a:solidFill>
                <a:latin typeface="Arial"/>
              </a:rPr>
              <a:t>, inside YC's </a:t>
            </a:r>
            <a:r>
              <a:rPr sz="1450" b="0" i="0">
                <a:solidFill>
                  <a:srgbClr val="FFC83D"/>
                </a:solidFill>
                <a:latin typeface="Arial"/>
              </a:rPr>
              <a:t>$500k</a:t>
            </a:r>
            <a:r>
              <a:rPr sz="1450" b="0" i="0">
                <a:solidFill>
                  <a:srgbClr val="F7F6EF"/>
                </a:solidFill>
                <a:latin typeface="Arial"/>
              </a:rPr>
              <a:t>-</a:t>
            </a:r>
            <a:r>
              <a:rPr sz="1450" b="0" i="0">
                <a:solidFill>
                  <a:srgbClr val="FFC83D"/>
                </a:solidFill>
                <a:latin typeface="Arial"/>
              </a:rPr>
              <a:t>$1.5M</a:t>
            </a:r>
            <a:r>
              <a:rPr sz="1450" b="0" i="0">
                <a:solidFill>
                  <a:srgbClr val="F7F6EF"/>
                </a:solidFill>
                <a:latin typeface="Arial"/>
              </a:rPr>
              <a:t> band.</a:t>
            </a:r>
          </a:p>
          <a:p>
            <a:pPr marL="247088" indent="-247088">
              <a:lnSpc>
                <a:spcPct val="116000"/>
              </a:lnSpc>
              <a:spcBef>
                <a:spcPts val="797"/>
              </a:spcBef>
              <a:buClr>
                <a:srgbClr val="D4FF3A"/>
              </a:buClr>
              <a:buFont typeface="Arial"/>
              <a:buChar char="—"/>
            </a:pPr>
            <a:r>
              <a:rPr sz="1450" b="0" i="0">
                <a:solidFill>
                  <a:srgbClr val="FFC83D"/>
                </a:solidFill>
                <a:latin typeface="Arial"/>
              </a:rPr>
              <a:t>$15,000</a:t>
            </a:r>
            <a:r>
              <a:rPr sz="1450" b="0" i="0">
                <a:solidFill>
                  <a:srgbClr val="F7F6EF"/>
                </a:solidFill>
                <a:latin typeface="Arial"/>
              </a:rPr>
              <a:t> is YC's own rule of thumb for an all-in engineer month — undated editorial guidance, not a measured or inflation-indexed 2026 cost base.</a:t>
            </a:r>
          </a:p>
          <a:p>
            <a:pPr marL="247088" indent="-247088">
              <a:lnSpc>
                <a:spcPct val="116000"/>
              </a:lnSpc>
              <a:spcBef>
                <a:spcPts val="797"/>
              </a:spcBef>
              <a:buClr>
                <a:srgbClr val="D4FF3A"/>
              </a:buClr>
              <a:buFont typeface="Arial"/>
              <a:buChar char="—"/>
            </a:pPr>
            <a:r>
              <a:rPr sz="1450" b="0" i="0">
                <a:solidFill>
                  <a:srgbClr val="F7F6EF"/>
                </a:solidFill>
                <a:latin typeface="Arial"/>
              </a:rPr>
              <a:t>Illustrative, not a price: at Carta's Q3 2025 median seed pre-money of </a:t>
            </a:r>
            <a:r>
              <a:rPr sz="1450" b="0" i="0">
                <a:solidFill>
                  <a:srgbClr val="FFC83D"/>
                </a:solidFill>
                <a:latin typeface="Arial"/>
              </a:rPr>
              <a:t>$16.0M</a:t>
            </a:r>
            <a:r>
              <a:rPr sz="1450" b="0" i="0">
                <a:solidFill>
                  <a:srgbClr val="F7F6EF"/>
                </a:solidFill>
                <a:latin typeface="Arial"/>
              </a:rPr>
              <a:t>, </a:t>
            </a:r>
            <a:r>
              <a:rPr sz="1450" b="0" i="0">
                <a:solidFill>
                  <a:srgbClr val="FFC83D"/>
                </a:solidFill>
                <a:latin typeface="Arial"/>
              </a:rPr>
              <a:t>$1.2M</a:t>
            </a:r>
            <a:r>
              <a:rPr sz="1450" b="0" i="0">
                <a:solidFill>
                  <a:srgbClr val="F7F6EF"/>
                </a:solidFill>
                <a:latin typeface="Arial"/>
              </a:rPr>
              <a:t> into </a:t>
            </a:r>
            <a:r>
              <a:rPr sz="1450" b="0" i="0">
                <a:solidFill>
                  <a:srgbClr val="FFC83D"/>
                </a:solidFill>
                <a:latin typeface="Arial"/>
              </a:rPr>
              <a:t>$17.2M</a:t>
            </a:r>
            <a:r>
              <a:rPr sz="1450" b="0" i="0">
                <a:solidFill>
                  <a:srgbClr val="F7F6EF"/>
                </a:solidFill>
                <a:latin typeface="Arial"/>
              </a:rPr>
              <a:t> post would be 6.98% dilution </a:t>
            </a:r>
            <a:r>
              <a:rPr sz="1450" b="1" i="0">
                <a:solidFill>
                  <a:srgbClr val="4EE1FF"/>
                </a:solidFill>
                <a:latin typeface="Arial"/>
              </a:rPr>
              <a:t>(P)</a:t>
            </a:r>
            <a:r>
              <a:rPr sz="1450" b="0" i="0">
                <a:solidFill>
                  <a:srgbClr val="F7F6EF"/>
                </a:solidFill>
                <a:latin typeface="Arial"/>
              </a:rPr>
              <a:t>.</a:t>
            </a:r>
          </a:p>
          <a:p>
            <a:pPr marL="247088" indent="-247088">
              <a:lnSpc>
                <a:spcPct val="116000"/>
              </a:lnSpc>
              <a:spcBef>
                <a:spcPts val="797"/>
              </a:spcBef>
              <a:buClr>
                <a:srgbClr val="D4FF3A"/>
              </a:buClr>
              <a:buFont typeface="Arial"/>
              <a:buChar char="—"/>
            </a:pPr>
            <a:r>
              <a:rPr sz="1450" b="0" i="0">
                <a:solidFill>
                  <a:srgbClr val="F7F6EF"/>
                </a:solidFill>
                <a:latin typeface="Arial"/>
              </a:rPr>
              <a:t>YC's full sentence: 'as little as 10%... is wonderful, but most rounds will require up to 20% dilution and you should try to avoid more than 25%.'</a:t>
            </a:r>
          </a:p>
          <a:p>
            <a:pPr marL="247088" indent="-247088">
              <a:lnSpc>
                <a:spcPct val="116000"/>
              </a:lnSpc>
              <a:spcBef>
                <a:spcPts val="797"/>
              </a:spcBef>
              <a:buClr>
                <a:srgbClr val="D4FF3A"/>
              </a:buClr>
              <a:buFont typeface="Arial"/>
              <a:buChar char="—"/>
            </a:pPr>
            <a:r>
              <a:rPr sz="1450" b="0" i="0">
                <a:solidFill>
                  <a:srgbClr val="F7F6EF"/>
                </a:solidFill>
                <a:latin typeface="Arial"/>
              </a:rPr>
              <a:t>It buys: accounts and instrumentation; a published D1/D7/D30 cohort of 1,000+ players; growth of the bank from its current 54 questions, to a target and rate we must still set.</a:t>
            </a:r>
          </a:p>
          <a:p>
            <a:pPr marL="247088" indent="-247088">
              <a:lnSpc>
                <a:spcPct val="116000"/>
              </a:lnSpc>
              <a:spcBef>
                <a:spcPts val="797"/>
              </a:spcBef>
              <a:buClr>
                <a:srgbClr val="D4FF3A"/>
              </a:buClr>
              <a:buFont typeface="Arial"/>
              <a:buChar char="—"/>
            </a:pPr>
            <a:r>
              <a:rPr sz="1450" b="0" i="0">
                <a:solidFill>
                  <a:srgbClr val="F7F6EF"/>
                </a:solidFill>
                <a:latin typeface="Arial"/>
              </a:rPr>
              <a:t>Plus an opponent-integrity answer and one validated monetisation route. Then we come back with data, not benchmarks.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859536"/>
          </a:xfrm>
        </p:spPr>
        <p:txBody>
          <a:bodyPr wrap="square" lIns="0" rIns="0" tIns="0" bIns="0" anchor="t"/>
          <a:lstStyle/>
          <a:p>
            <a:pPr>
              <a:lnSpc>
                <a:spcPct val="108000"/>
              </a:lnSpc>
            </a:pPr>
            <a:r>
              <a:rPr sz="3000" b="1" i="0">
                <a:solidFill>
                  <a:srgbClr val="F7F6EF"/>
                </a:solidFill>
                <a:latin typeface="Arial"/>
              </a:rPr>
              <a:t>Appendix A — the ~1,000x gap between the category's claimed size and its observed revenue.</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4EE1FF"/>
                </a:solidFill>
                <a:latin typeface="Arial"/>
              </a:rPr>
              <a:t>APPENDIX — MARKET STRUCTURE</a:t>
            </a:r>
          </a:p>
        </p:txBody>
      </p:sp>
      <p:sp>
        <p:nvSpPr>
          <p:cNvPr id="4" name="Rectangle 3"/>
          <p:cNvSpPr/>
          <p:nvPr/>
        </p:nvSpPr>
        <p:spPr>
          <a:xfrm>
            <a:off x="566928" y="6035040"/>
            <a:ext cx="11057839" cy="11887"/>
          </a:xfrm>
          <a:prstGeom prst="rect">
            <a:avLst/>
          </a:prstGeom>
          <a:solidFill>
            <a:srgbClr val="4EE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15</a:t>
            </a:r>
          </a:p>
        </p:txBody>
      </p:sp>
      <p:sp>
        <p:nvSpPr>
          <p:cNvPr id="6" name="TextBox 5"/>
          <p:cNvSpPr txBox="1"/>
          <p:nvPr/>
        </p:nvSpPr>
        <p:spPr>
          <a:xfrm>
            <a:off x="566928" y="6144768"/>
            <a:ext cx="9869119" cy="548640"/>
          </a:xfrm>
          <a:prstGeom prst="rect">
            <a:avLst/>
          </a:prstGeom>
          <a:noFill/>
        </p:spPr>
        <p:txBody>
          <a:bodyPr wrap="square" lIns="0" rIns="0" tIns="0" bIns="0" anchor="t">
            <a:spAutoFit/>
          </a:bodyPr>
          <a:lstStyle/>
          <a:p>
            <a:pPr>
              <a:lnSpc>
                <a:spcPct val="115000"/>
              </a:lnSpc>
            </a:pPr>
            <a:r>
              <a:rPr sz="800" b="0" i="0">
                <a:solidFill>
                  <a:srgbClr val="A6ADBA"/>
                </a:solidFill>
                <a:latin typeface="Arial"/>
              </a:rPr>
              <a:t>Sources: Fact.MR — second-screen sports apps market  ·  The Business Research Company — fan engagement  ·  market.us — fan engagement market  ·  MarketsandMarkets — game-based learning</a:t>
            </a:r>
          </a:p>
          <a:p>
            <a:pPr>
              <a:lnSpc>
                <a:spcPct val="115000"/>
              </a:lnSpc>
            </a:pPr>
            <a:r>
              <a:rPr sz="800" b="0" i="0">
                <a:solidFill>
                  <a:srgbClr val="A6ADBA"/>
                </a:solidFill>
                <a:latin typeface="Arial"/>
              </a:rPr>
              <a:t>IMARC — game-based learning  ·  Sensor Tower — Q2 2025 US iOS trivia revenue (est.)  ·  Google Play — Trivia Crack listing  ·  Sensor Tower — State of Mobile 2026</a:t>
            </a:r>
          </a:p>
        </p:txBody>
      </p:sp>
      <p:sp>
        <p:nvSpPr>
          <p:cNvPr id="7" name="TextBox 6"/>
          <p:cNvSpPr txBox="1"/>
          <p:nvPr/>
        </p:nvSpPr>
        <p:spPr>
          <a:xfrm>
            <a:off x="566928" y="1719072"/>
            <a:ext cx="5114239" cy="4187952"/>
          </a:xfrm>
          <a:prstGeom prst="rect">
            <a:avLst/>
          </a:prstGeom>
          <a:noFill/>
        </p:spPr>
        <p:txBody>
          <a:bodyPr wrap="square" lIns="0" rIns="0" tIns="0" bIns="0" anchor="t">
            <a:spAutoFit/>
          </a:bodyPr>
          <a:lstStyle/>
          <a:p>
            <a:pPr marL="272638" indent="-272638">
              <a:lnSpc>
                <a:spcPct val="116000"/>
              </a:lnSpc>
              <a:buClr>
                <a:srgbClr val="4EE1FF"/>
              </a:buClr>
              <a:buFont typeface="Arial"/>
              <a:buChar char="—"/>
            </a:pPr>
            <a:r>
              <a:rPr sz="1600" b="0" i="0">
                <a:solidFill>
                  <a:srgbClr val="F7F6EF"/>
                </a:solidFill>
                <a:latin typeface="Arial"/>
              </a:rPr>
              <a:t>Top-down vendors size the nearest categories at </a:t>
            </a:r>
            <a:r>
              <a:rPr sz="1600" b="0" i="0">
                <a:solidFill>
                  <a:srgbClr val="FFC83D"/>
                </a:solidFill>
                <a:latin typeface="Arial"/>
              </a:rPr>
              <a:t>$3.0bn</a:t>
            </a:r>
            <a:r>
              <a:rPr sz="1600" b="0" i="0">
                <a:solidFill>
                  <a:srgbClr val="F7F6EF"/>
                </a:solidFill>
                <a:latin typeface="Arial"/>
              </a:rPr>
              <a:t> (second-screen sports apps) to </a:t>
            </a:r>
            <a:r>
              <a:rPr sz="1600" b="0" i="0">
                <a:solidFill>
                  <a:srgbClr val="FFC83D"/>
                </a:solidFill>
                <a:latin typeface="Arial"/>
              </a:rPr>
              <a:t>$8.09bn</a:t>
            </a:r>
            <a:r>
              <a:rPr sz="1600" b="0" i="0">
                <a:solidFill>
                  <a:srgbClr val="F7F6EF"/>
                </a:solidFill>
                <a:latin typeface="Arial"/>
              </a:rPr>
              <a:t> (fan engagement).</a:t>
            </a:r>
          </a:p>
          <a:p>
            <a:pPr marL="272638" indent="-272638">
              <a:lnSpc>
                <a:spcPct val="116000"/>
              </a:lnSpc>
              <a:spcBef>
                <a:spcPts val="880"/>
              </a:spcBef>
              <a:buClr>
                <a:srgbClr val="4EE1FF"/>
              </a:buClr>
              <a:buFont typeface="Arial"/>
              <a:buChar char="—"/>
            </a:pPr>
            <a:r>
              <a:rPr sz="1600" b="0" i="0">
                <a:solidFill>
                  <a:srgbClr val="F7F6EF"/>
                </a:solidFill>
                <a:latin typeface="Arial"/>
              </a:rPr>
              <a:t>Observed: Sensor Tower estimates those three at ~</a:t>
            </a:r>
            <a:r>
              <a:rPr sz="1600" b="0" i="0">
                <a:solidFill>
                  <a:srgbClr val="FFC83D"/>
                </a:solidFill>
                <a:latin typeface="Arial"/>
              </a:rPr>
              <a:t>$102.5K</a:t>
            </a:r>
            <a:r>
              <a:rPr sz="1600" b="0" i="0">
                <a:solidFill>
                  <a:srgbClr val="F7F6EF"/>
                </a:solidFill>
                <a:latin typeface="Arial"/>
              </a:rPr>
              <a:t> in their peak weeks of Q2 2025 (~</a:t>
            </a:r>
            <a:r>
              <a:rPr sz="1600" b="0" i="0">
                <a:solidFill>
                  <a:srgbClr val="FFC83D"/>
                </a:solidFill>
                <a:latin typeface="Arial"/>
              </a:rPr>
              <a:t>$5.33M</a:t>
            </a:r>
            <a:r>
              <a:rPr sz="1600" b="0" i="0">
                <a:solidFill>
                  <a:srgbClr val="F7F6EF"/>
                </a:solidFill>
                <a:latin typeface="Arial"/>
              </a:rPr>
              <a:t>/yr if sustained). The gap is roughly three orders of magnitude.</a:t>
            </a:r>
          </a:p>
          <a:p>
            <a:pPr marL="272638" indent="-272638">
              <a:lnSpc>
                <a:spcPct val="116000"/>
              </a:lnSpc>
              <a:spcBef>
                <a:spcPts val="880"/>
              </a:spcBef>
              <a:buClr>
                <a:srgbClr val="4EE1FF"/>
              </a:buClr>
              <a:buFont typeface="Arial"/>
              <a:buChar char="—"/>
            </a:pPr>
            <a:r>
              <a:rPr sz="1600" b="0" i="0">
                <a:solidFill>
                  <a:srgbClr val="F7F6EF"/>
                </a:solidFill>
                <a:latin typeface="Arial"/>
              </a:rPr>
              <a:t>Thesis reading: the category is structurally under-monetised — 267,939,837 lifetime Trivia Crack installs, duels abandoned.</a:t>
            </a:r>
          </a:p>
          <a:p>
            <a:pPr marL="272638" indent="-272638">
              <a:lnSpc>
                <a:spcPct val="116000"/>
              </a:lnSpc>
              <a:spcBef>
                <a:spcPts val="880"/>
              </a:spcBef>
              <a:buClr>
                <a:srgbClr val="4EE1FF"/>
              </a:buClr>
              <a:buFont typeface="Arial"/>
              <a:buChar char="—"/>
            </a:pPr>
            <a:r>
              <a:rPr sz="1600" b="0" i="0">
                <a:solidFill>
                  <a:srgbClr val="F7F6EF"/>
                </a:solidFill>
                <a:latin typeface="Arial"/>
              </a:rPr>
              <a:t>Risk reading: trivia audiences do not pay and this is the ceiling. HQ, QuizUp and Trivia Royale all died with audiences.</a:t>
            </a:r>
          </a:p>
          <a:p>
            <a:pPr marL="272638" indent="-272638">
              <a:lnSpc>
                <a:spcPct val="116000"/>
              </a:lnSpc>
              <a:spcBef>
                <a:spcPts val="880"/>
              </a:spcBef>
              <a:buClr>
                <a:srgbClr val="4EE1FF"/>
              </a:buClr>
              <a:buFont typeface="Arial"/>
              <a:buChar char="—"/>
            </a:pPr>
            <a:r>
              <a:rPr sz="1600" b="0" i="0">
                <a:solidFill>
                  <a:srgbClr val="F7F6EF"/>
                </a:solidFill>
                <a:latin typeface="Arial"/>
              </a:rPr>
              <a:t>The reconciliation is slide 10: the category monetises through habit subscriptions, not consumer trivia IAP.</a:t>
            </a:r>
          </a:p>
        </p:txBody>
      </p:sp>
      <p:pic>
        <p:nvPicPr>
          <p:cNvPr id="8" name="Picture 7" descr="the-gap.png"/>
          <p:cNvPicPr>
            <a:picLocks noChangeAspect="1"/>
          </p:cNvPicPr>
          <p:nvPr/>
        </p:nvPicPr>
        <p:blipFill>
          <a:blip r:embed="rId2"/>
          <a:stretch>
            <a:fillRect/>
          </a:stretch>
        </p:blipFill>
        <p:spPr>
          <a:xfrm>
            <a:off x="6001207" y="2171837"/>
            <a:ext cx="5623560" cy="3282421"/>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859536"/>
          </a:xfrm>
        </p:spPr>
        <p:txBody>
          <a:bodyPr wrap="square" lIns="0" rIns="0" tIns="0" bIns="0" anchor="t"/>
          <a:lstStyle/>
          <a:p>
            <a:pPr>
              <a:lnSpc>
                <a:spcPct val="108000"/>
              </a:lnSpc>
            </a:pPr>
            <a:r>
              <a:rPr sz="3000" b="1" i="0">
                <a:solidFill>
                  <a:srgbClr val="F7F6EF"/>
                </a:solidFill>
                <a:latin typeface="Arial"/>
              </a:rPr>
              <a:t>Appendix B — three-year scenarios, all figures (P): plans built on third-party benchmarks.</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4EE1FF"/>
                </a:solidFill>
                <a:latin typeface="Arial"/>
              </a:rPr>
              <a:t>APPENDIX — THE MODEL</a:t>
            </a:r>
          </a:p>
        </p:txBody>
      </p:sp>
      <p:sp>
        <p:nvSpPr>
          <p:cNvPr id="4" name="Rectangle 3"/>
          <p:cNvSpPr/>
          <p:nvPr/>
        </p:nvSpPr>
        <p:spPr>
          <a:xfrm>
            <a:off x="566928" y="6035040"/>
            <a:ext cx="11057839" cy="11887"/>
          </a:xfrm>
          <a:prstGeom prst="rect">
            <a:avLst/>
          </a:prstGeom>
          <a:solidFill>
            <a:srgbClr val="4EE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16</a:t>
            </a:r>
          </a:p>
        </p:txBody>
      </p:sp>
      <p:sp>
        <p:nvSpPr>
          <p:cNvPr id="6" name="TextBox 5"/>
          <p:cNvSpPr txBox="1"/>
          <p:nvPr/>
        </p:nvSpPr>
        <p:spPr>
          <a:xfrm>
            <a:off x="566928" y="6144768"/>
            <a:ext cx="9869119" cy="548640"/>
          </a:xfrm>
          <a:prstGeom prst="rect">
            <a:avLst/>
          </a:prstGeom>
          <a:noFill/>
        </p:spPr>
        <p:txBody>
          <a:bodyPr wrap="square" lIns="0" rIns="0" tIns="0" bIns="0" anchor="t">
            <a:spAutoFit/>
          </a:bodyPr>
          <a:lstStyle/>
          <a:p>
            <a:pPr>
              <a:lnSpc>
                <a:spcPct val="115000"/>
              </a:lnSpc>
            </a:pPr>
            <a:r>
              <a:rPr sz="800" b="0" i="0">
                <a:solidFill>
                  <a:srgbClr val="A6ADBA"/>
                </a:solidFill>
                <a:latin typeface="Arial"/>
              </a:rPr>
              <a:t>Sources: GameAnalytics — 2026 Mobile &amp; PC Gaming Benchmarks  ·  AppsFlyer — State of App Monetization 2026  ·  SEC — Duolingo Q2 FY2026 shareholder letter  ·  Sporcle — Orange membership pricing</a:t>
            </a:r>
          </a:p>
          <a:p>
            <a:pPr>
              <a:lnSpc>
                <a:spcPct val="115000"/>
              </a:lnSpc>
            </a:pPr>
            <a:r>
              <a:rPr sz="800" b="0" i="0">
                <a:solidFill>
                  <a:srgbClr val="A6ADBA"/>
                </a:solidFill>
                <a:latin typeface="Arial"/>
              </a:rPr>
              <a:t>TechCrunch — Trivia Royale, 2.5M downloads in 3 weeks  ·  a16z — The Insider's Guide to Data Rooms  ·  FACT//DUEL internal — numbers.md §4.1-§4.3</a:t>
            </a:r>
          </a:p>
        </p:txBody>
      </p:sp>
      <p:sp>
        <p:nvSpPr>
          <p:cNvPr id="7" name="TextBox 6"/>
          <p:cNvSpPr txBox="1"/>
          <p:nvPr/>
        </p:nvSpPr>
        <p:spPr>
          <a:xfrm>
            <a:off x="566928" y="1719072"/>
            <a:ext cx="11057839" cy="1408175"/>
          </a:xfrm>
          <a:prstGeom prst="rect">
            <a:avLst/>
          </a:prstGeom>
          <a:noFill/>
        </p:spPr>
        <p:txBody>
          <a:bodyPr wrap="square" lIns="0" rIns="0" tIns="0" bIns="0" anchor="t">
            <a:spAutoFit/>
          </a:bodyPr>
          <a:lstStyle/>
          <a:p>
            <a:pPr marL="230028" indent="-230028">
              <a:lnSpc>
                <a:spcPct val="116000"/>
              </a:lnSpc>
              <a:buClr>
                <a:srgbClr val="4EE1FF"/>
              </a:buClr>
              <a:buFont typeface="Arial"/>
              <a:buChar char="—"/>
            </a:pPr>
            <a:r>
              <a:rPr sz="1350" b="0" i="0">
                <a:solidFill>
                  <a:srgbClr val="F7F6EF"/>
                </a:solidFill>
                <a:latin typeface="Arial"/>
              </a:rPr>
              <a:t>One model, three input sets. Only D30 retention, payer rate and install volume change between scenarios.</a:t>
            </a:r>
          </a:p>
          <a:p>
            <a:pPr marL="230028" indent="-230028">
              <a:lnSpc>
                <a:spcPct val="116000"/>
              </a:lnSpc>
              <a:spcBef>
                <a:spcPts val="742"/>
              </a:spcBef>
              <a:buClr>
                <a:srgbClr val="4EE1FF"/>
              </a:buClr>
              <a:buFont typeface="Arial"/>
              <a:buChar char="—"/>
            </a:pPr>
            <a:r>
              <a:rPr sz="1350" b="0" i="0">
                <a:solidFill>
                  <a:srgbClr val="F7F6EF"/>
                </a:solidFill>
                <a:latin typeface="Arial"/>
              </a:rPr>
              <a:t>Install volumes are chosen assumptions with no company data behind them. That is stated, not softened.</a:t>
            </a:r>
          </a:p>
          <a:p>
            <a:pPr marL="230028" indent="-230028">
              <a:lnSpc>
                <a:spcPct val="116000"/>
              </a:lnSpc>
              <a:spcBef>
                <a:spcPts val="742"/>
              </a:spcBef>
              <a:buClr>
                <a:srgbClr val="4EE1FF"/>
              </a:buClr>
              <a:buFont typeface="Arial"/>
              <a:buChar char="—"/>
            </a:pPr>
            <a:r>
              <a:rPr sz="1350" b="0" i="0">
                <a:solidFill>
                  <a:srgbClr val="F7F6EF"/>
                </a:solidFill>
                <a:latin typeface="Arial"/>
              </a:rPr>
              <a:t>Even the optimistic case assumes only median casual per-install monetisation; all optimism sits in volume.</a:t>
            </a:r>
          </a:p>
          <a:p>
            <a:pPr marL="230028" indent="-230028">
              <a:lnSpc>
                <a:spcPct val="116000"/>
              </a:lnSpc>
              <a:spcBef>
                <a:spcPts val="742"/>
              </a:spcBef>
              <a:buClr>
                <a:srgbClr val="4EE1FF"/>
              </a:buClr>
              <a:buFont typeface="Arial"/>
              <a:buChar char="—"/>
            </a:pPr>
            <a:r>
              <a:rPr sz="1350" b="0" i="0">
                <a:solidFill>
                  <a:srgbClr val="F7F6EF"/>
                </a:solidFill>
                <a:latin typeface="Arial"/>
              </a:rPr>
              <a:t>Subscription cross-check: conservative agrees within 8%; base diverges 3.88x; optimistic 5.26x.</a:t>
            </a:r>
          </a:p>
          <a:p>
            <a:pPr marL="230028" indent="-230028">
              <a:lnSpc>
                <a:spcPct val="116000"/>
              </a:lnSpc>
              <a:spcBef>
                <a:spcPts val="742"/>
              </a:spcBef>
              <a:buClr>
                <a:srgbClr val="4EE1FF"/>
              </a:buClr>
              <a:buFont typeface="Arial"/>
              <a:buChar char="—"/>
            </a:pPr>
            <a:r>
              <a:rPr sz="1350" b="0" i="0">
                <a:solidFill>
                  <a:srgbClr val="F7F6EF"/>
                </a:solidFill>
                <a:latin typeface="Arial"/>
              </a:rPr>
              <a:t>Break-even blended cost per install: </a:t>
            </a:r>
            <a:r>
              <a:rPr sz="1350" b="0" i="0">
                <a:solidFill>
                  <a:srgbClr val="FFC83D"/>
                </a:solidFill>
                <a:latin typeface="Arial"/>
              </a:rPr>
              <a:t>$0.37</a:t>
            </a:r>
            <a:r>
              <a:rPr sz="1350" b="0" i="0">
                <a:solidFill>
                  <a:srgbClr val="F7F6EF"/>
                </a:solidFill>
                <a:latin typeface="Arial"/>
              </a:rPr>
              <a:t> / </a:t>
            </a:r>
            <a:r>
              <a:rPr sz="1350" b="0" i="0">
                <a:solidFill>
                  <a:srgbClr val="FFC83D"/>
                </a:solidFill>
                <a:latin typeface="Arial"/>
              </a:rPr>
              <a:t>$1.36</a:t>
            </a:r>
            <a:r>
              <a:rPr sz="1350" b="0" i="0">
                <a:solidFill>
                  <a:srgbClr val="F7F6EF"/>
                </a:solidFill>
                <a:latin typeface="Arial"/>
              </a:rPr>
              <a:t> / </a:t>
            </a:r>
            <a:r>
              <a:rPr sz="1350" b="0" i="0">
                <a:solidFill>
                  <a:srgbClr val="FFC83D"/>
                </a:solidFill>
                <a:latin typeface="Arial"/>
              </a:rPr>
              <a:t>$1.89.</a:t>
            </a:r>
            <a:r>
              <a:rPr sz="1350" b="0" i="0">
                <a:solidFill>
                  <a:srgbClr val="F7F6EF"/>
                </a:solidFill>
                <a:latin typeface="Arial"/>
              </a:rPr>
              <a:t> Trivia Royale's was under </a:t>
            </a:r>
            <a:r>
              <a:rPr sz="1350" b="0" i="0">
                <a:solidFill>
                  <a:srgbClr val="FFC83D"/>
                </a:solidFill>
                <a:latin typeface="Arial"/>
              </a:rPr>
              <a:t>$0.20</a:t>
            </a:r>
            <a:r>
              <a:rPr sz="1350" b="0" i="0">
                <a:solidFill>
                  <a:srgbClr val="F7F6EF"/>
                </a:solidFill>
                <a:latin typeface="Arial"/>
              </a:rPr>
              <a:t> — and it still died.</a:t>
            </a:r>
          </a:p>
        </p:txBody>
      </p:sp>
      <p:graphicFrame>
        <p:nvGraphicFramePr>
          <p:cNvPr id="8" name="Table 7"/>
          <p:cNvGraphicFramePr>
            <a:graphicFrameLocks noGrp="1"/>
          </p:cNvGraphicFramePr>
          <p:nvPr/>
        </p:nvGraphicFramePr>
        <p:xfrm>
          <a:off x="566928" y="3364991"/>
          <a:ext cx="6238949" cy="2542032"/>
        </p:xfrm>
        <a:graphic>
          <a:graphicData uri="http://schemas.openxmlformats.org/drawingml/2006/table">
            <a:tbl>
              <a:tblPr>
                <a:tableStyleId>{2D5ABB26-0587-4C30-8999-92F81FD0307C}</a:tableStyleId>
              </a:tblPr>
              <a:tblGrid>
                <a:gridCol w="965571"/>
                <a:gridCol w="776233"/>
                <a:gridCol w="824370"/>
                <a:gridCol w="832018"/>
                <a:gridCol w="1008185"/>
                <a:gridCol w="1832572"/>
              </a:tblGrid>
              <a:tr h="635508">
                <a:tc>
                  <a:txBody>
                    <a:bodyPr wrap="square"/>
                    <a:lstStyle/>
                    <a:p>
                      <a:pPr>
                        <a:lnSpc>
                          <a:spcPct val="114000"/>
                        </a:lnSpc>
                      </a:pPr>
                      <a:r>
                        <a:rPr sz="1050" b="1" i="0">
                          <a:solidFill>
                            <a:srgbClr val="D4FF3A"/>
                          </a:solidFill>
                          <a:latin typeface="Arial"/>
                        </a:rPr>
                        <a:t>Scenario (P)</a:t>
                      </a:r>
                    </a:p>
                  </a:txBody>
                  <a:tcPr marL="64008" marR="64008" marT="41148" marB="41148" anchor="ctr">
                    <a:solidFill>
                      <a:srgbClr val="121821"/>
                    </a:solidFill>
                  </a:tcPr>
                </a:tc>
                <a:tc>
                  <a:txBody>
                    <a:bodyPr wrap="square"/>
                    <a:lstStyle/>
                    <a:p>
                      <a:pPr>
                        <a:lnSpc>
                          <a:spcPct val="114000"/>
                        </a:lnSpc>
                      </a:pPr>
                      <a:r>
                        <a:rPr sz="1050" b="1" i="0">
                          <a:solidFill>
                            <a:srgbClr val="D4FF3A"/>
                          </a:solidFill>
                          <a:latin typeface="Arial"/>
                        </a:rPr>
                        <a:t>Y3 installs</a:t>
                      </a:r>
                    </a:p>
                  </a:txBody>
                  <a:tcPr marL="64008" marR="64008" marT="41148" marB="41148" anchor="ctr">
                    <a:solidFill>
                      <a:srgbClr val="121821"/>
                    </a:solidFill>
                  </a:tcPr>
                </a:tc>
                <a:tc>
                  <a:txBody>
                    <a:bodyPr wrap="square"/>
                    <a:lstStyle/>
                    <a:p>
                      <a:pPr>
                        <a:lnSpc>
                          <a:spcPct val="114000"/>
                        </a:lnSpc>
                      </a:pPr>
                      <a:r>
                        <a:rPr sz="1050" b="1" i="0">
                          <a:solidFill>
                            <a:srgbClr val="D4FF3A"/>
                          </a:solidFill>
                          <a:latin typeface="Arial"/>
                        </a:rPr>
                        <a:t>Rev / install</a:t>
                      </a:r>
                    </a:p>
                  </a:txBody>
                  <a:tcPr marL="64008" marR="64008" marT="41148" marB="41148" anchor="ctr">
                    <a:solidFill>
                      <a:srgbClr val="121821"/>
                    </a:solidFill>
                  </a:tcPr>
                </a:tc>
                <a:tc>
                  <a:txBody>
                    <a:bodyPr wrap="square"/>
                    <a:lstStyle/>
                    <a:p>
                      <a:pPr>
                        <a:lnSpc>
                          <a:spcPct val="114000"/>
                        </a:lnSpc>
                      </a:pPr>
                      <a:r>
                        <a:rPr sz="1050" b="1" i="0">
                          <a:solidFill>
                            <a:srgbClr val="D4FF3A"/>
                          </a:solidFill>
                          <a:latin typeface="Arial"/>
                        </a:rPr>
                        <a:t>Y3 revenue</a:t>
                      </a:r>
                    </a:p>
                  </a:txBody>
                  <a:tcPr marL="64008" marR="64008" marT="41148" marB="41148" anchor="ctr">
                    <a:solidFill>
                      <a:srgbClr val="121821"/>
                    </a:solidFill>
                  </a:tcPr>
                </a:tc>
                <a:tc>
                  <a:txBody>
                    <a:bodyPr wrap="square"/>
                    <a:lstStyle/>
                    <a:p>
                      <a:pPr>
                        <a:lnSpc>
                          <a:spcPct val="114000"/>
                        </a:lnSpc>
                      </a:pPr>
                      <a:r>
                        <a:rPr sz="1050" b="1" i="0">
                          <a:solidFill>
                            <a:srgbClr val="D4FF3A"/>
                          </a:solidFill>
                          <a:latin typeface="Arial"/>
                        </a:rPr>
                        <a:t>Y3 steady MAU</a:t>
                      </a:r>
                    </a:p>
                  </a:txBody>
                  <a:tcPr marL="64008" marR="64008" marT="41148" marB="41148" anchor="ctr">
                    <a:solidFill>
                      <a:srgbClr val="121821"/>
                    </a:solidFill>
                  </a:tcPr>
                </a:tc>
                <a:tc>
                  <a:txBody>
                    <a:bodyPr wrap="square"/>
                    <a:lstStyle/>
                    <a:p>
                      <a:pPr>
                        <a:lnSpc>
                          <a:spcPct val="114000"/>
                        </a:lnSpc>
                      </a:pPr>
                      <a:r>
                        <a:rPr sz="1050" b="1" i="0">
                          <a:solidFill>
                            <a:srgbClr val="D4FF3A"/>
                          </a:solidFill>
                          <a:latin typeface="Arial"/>
                        </a:rPr>
                        <a:t>Subscription cross-check</a:t>
                      </a:r>
                    </a:p>
                  </a:txBody>
                  <a:tcPr marL="64008" marR="64008" marT="41148" marB="41148" anchor="ctr">
                    <a:solidFill>
                      <a:srgbClr val="121821"/>
                    </a:solidFill>
                  </a:tcPr>
                </a:tc>
              </a:tr>
              <a:tr h="635508">
                <a:tc>
                  <a:txBody>
                    <a:bodyPr wrap="square"/>
                    <a:lstStyle/>
                    <a:p>
                      <a:pPr>
                        <a:lnSpc>
                          <a:spcPct val="114000"/>
                        </a:lnSpc>
                      </a:pPr>
                      <a:r>
                        <a:rPr sz="1050" b="1" i="0">
                          <a:solidFill>
                            <a:srgbClr val="F7F6EF"/>
                          </a:solidFill>
                          <a:latin typeface="Arial"/>
                        </a:rPr>
                        <a:t>Conservative</a:t>
                      </a:r>
                    </a:p>
                  </a:txBody>
                  <a:tcPr marL="64008" marR="64008" marT="41148" marB="41148" anchor="ctr">
                    <a:solidFill>
                      <a:srgbClr val="121821"/>
                    </a:solidFill>
                  </a:tcPr>
                </a:tc>
                <a:tc>
                  <a:txBody>
                    <a:bodyPr wrap="square"/>
                    <a:lstStyle/>
                    <a:p>
                      <a:pPr>
                        <a:lnSpc>
                          <a:spcPct val="114000"/>
                        </a:lnSpc>
                      </a:pPr>
                      <a:r>
                        <a:rPr sz="1050" b="0" i="0">
                          <a:solidFill>
                            <a:srgbClr val="F7F6EF"/>
                          </a:solidFill>
                          <a:latin typeface="Arial"/>
                        </a:rPr>
                        <a:t>250,000</a:t>
                      </a:r>
                    </a:p>
                  </a:txBody>
                  <a:tcPr marL="64008" marR="64008" marT="41148" marB="41148" anchor="ctr">
                    <a:solidFill>
                      <a:srgbClr val="121821"/>
                    </a:solidFill>
                  </a:tcPr>
                </a:tc>
                <a:tc>
                  <a:txBody>
                    <a:bodyPr wrap="square"/>
                    <a:lstStyle/>
                    <a:p>
                      <a:pPr>
                        <a:lnSpc>
                          <a:spcPct val="114000"/>
                        </a:lnSpc>
                      </a:pPr>
                      <a:r>
                        <a:rPr sz="1050" b="0" i="0">
                          <a:solidFill>
                            <a:srgbClr val="FFC83D"/>
                          </a:solidFill>
                          <a:latin typeface="Arial"/>
                        </a:rPr>
                        <a:t>$0.3688</a:t>
                      </a:r>
                    </a:p>
                  </a:txBody>
                  <a:tcPr marL="64008" marR="64008" marT="41148" marB="41148" anchor="ctr">
                    <a:solidFill>
                      <a:srgbClr val="121821"/>
                    </a:solidFill>
                  </a:tcPr>
                </a:tc>
                <a:tc>
                  <a:txBody>
                    <a:bodyPr wrap="square"/>
                    <a:lstStyle/>
                    <a:p>
                      <a:pPr>
                        <a:lnSpc>
                          <a:spcPct val="114000"/>
                        </a:lnSpc>
                      </a:pPr>
                      <a:r>
                        <a:rPr sz="1050" b="0" i="0">
                          <a:solidFill>
                            <a:srgbClr val="FFC83D"/>
                          </a:solidFill>
                          <a:latin typeface="Arial"/>
                        </a:rPr>
                        <a:t>$92,202</a:t>
                      </a:r>
                    </a:p>
                  </a:txBody>
                  <a:tcPr marL="64008" marR="64008" marT="41148" marB="41148" anchor="ctr">
                    <a:solidFill>
                      <a:srgbClr val="121821"/>
                    </a:solidFill>
                  </a:tcPr>
                </a:tc>
                <a:tc>
                  <a:txBody>
                    <a:bodyPr wrap="square"/>
                    <a:lstStyle/>
                    <a:p>
                      <a:pPr>
                        <a:lnSpc>
                          <a:spcPct val="114000"/>
                        </a:lnSpc>
                      </a:pPr>
                      <a:r>
                        <a:rPr sz="1050" b="0" i="0">
                          <a:solidFill>
                            <a:srgbClr val="F7F6EF"/>
                          </a:solidFill>
                          <a:latin typeface="Arial"/>
                        </a:rPr>
                        <a:t>21,542</a:t>
                      </a:r>
                    </a:p>
                  </a:txBody>
                  <a:tcPr marL="64008" marR="64008" marT="41148" marB="41148" anchor="ctr">
                    <a:solidFill>
                      <a:srgbClr val="121821"/>
                    </a:solidFill>
                  </a:tcPr>
                </a:tc>
                <a:tc>
                  <a:txBody>
                    <a:bodyPr wrap="square"/>
                    <a:lstStyle/>
                    <a:p>
                      <a:pPr>
                        <a:lnSpc>
                          <a:spcPct val="114000"/>
                        </a:lnSpc>
                      </a:pPr>
                      <a:r>
                        <a:rPr sz="1050" b="0" i="0">
                          <a:solidFill>
                            <a:srgbClr val="FFC83D"/>
                          </a:solidFill>
                          <a:latin typeface="Arial"/>
                        </a:rPr>
                        <a:t>$85,570 — agrees within 8%</a:t>
                      </a:r>
                    </a:p>
                  </a:txBody>
                  <a:tcPr marL="64008" marR="64008" marT="41148" marB="41148" anchor="ctr">
                    <a:solidFill>
                      <a:srgbClr val="121821"/>
                    </a:solidFill>
                  </a:tcPr>
                </a:tc>
              </a:tr>
              <a:tr h="635508">
                <a:tc>
                  <a:txBody>
                    <a:bodyPr wrap="square"/>
                    <a:lstStyle/>
                    <a:p>
                      <a:pPr>
                        <a:lnSpc>
                          <a:spcPct val="114000"/>
                        </a:lnSpc>
                      </a:pPr>
                      <a:r>
                        <a:rPr sz="1050" b="1" i="0">
                          <a:solidFill>
                            <a:srgbClr val="F7F6EF"/>
                          </a:solidFill>
                          <a:latin typeface="Arial"/>
                        </a:rPr>
                        <a:t>Base</a:t>
                      </a:r>
                    </a:p>
                  </a:txBody>
                  <a:tcPr marL="64008" marR="64008" marT="41148" marB="41148" anchor="ctr">
                    <a:solidFill>
                      <a:srgbClr val="0D131B"/>
                    </a:solidFill>
                  </a:tcPr>
                </a:tc>
                <a:tc>
                  <a:txBody>
                    <a:bodyPr wrap="square"/>
                    <a:lstStyle/>
                    <a:p>
                      <a:pPr>
                        <a:lnSpc>
                          <a:spcPct val="114000"/>
                        </a:lnSpc>
                      </a:pPr>
                      <a:r>
                        <a:rPr sz="1050" b="0" i="0">
                          <a:solidFill>
                            <a:srgbClr val="F7F6EF"/>
                          </a:solidFill>
                          <a:latin typeface="Arial"/>
                        </a:rPr>
                        <a:t>1,200,000</a:t>
                      </a:r>
                    </a:p>
                  </a:txBody>
                  <a:tcPr marL="64008" marR="64008" marT="41148" marB="41148" anchor="ctr">
                    <a:solidFill>
                      <a:srgbClr val="0D131B"/>
                    </a:solidFill>
                  </a:tcPr>
                </a:tc>
                <a:tc>
                  <a:txBody>
                    <a:bodyPr wrap="square"/>
                    <a:lstStyle/>
                    <a:p>
                      <a:pPr>
                        <a:lnSpc>
                          <a:spcPct val="114000"/>
                        </a:lnSpc>
                      </a:pPr>
                      <a:r>
                        <a:rPr sz="1050" b="0" i="0">
                          <a:solidFill>
                            <a:srgbClr val="FFC83D"/>
                          </a:solidFill>
                          <a:latin typeface="Arial"/>
                        </a:rPr>
                        <a:t>$1.3588</a:t>
                      </a:r>
                    </a:p>
                  </a:txBody>
                  <a:tcPr marL="64008" marR="64008" marT="41148" marB="41148" anchor="ctr">
                    <a:solidFill>
                      <a:srgbClr val="0D131B"/>
                    </a:solidFill>
                  </a:tcPr>
                </a:tc>
                <a:tc>
                  <a:txBody>
                    <a:bodyPr wrap="square"/>
                    <a:lstStyle/>
                    <a:p>
                      <a:pPr>
                        <a:lnSpc>
                          <a:spcPct val="114000"/>
                        </a:lnSpc>
                      </a:pPr>
                      <a:r>
                        <a:rPr sz="1050" b="0" i="0">
                          <a:solidFill>
                            <a:srgbClr val="FFC83D"/>
                          </a:solidFill>
                          <a:latin typeface="Arial"/>
                        </a:rPr>
                        <a:t>$1,630,517</a:t>
                      </a:r>
                    </a:p>
                  </a:txBody>
                  <a:tcPr marL="64008" marR="64008" marT="41148" marB="41148" anchor="ctr">
                    <a:solidFill>
                      <a:srgbClr val="0D131B"/>
                    </a:solidFill>
                  </a:tcPr>
                </a:tc>
                <a:tc>
                  <a:txBody>
                    <a:bodyPr wrap="square"/>
                    <a:lstStyle/>
                    <a:p>
                      <a:pPr>
                        <a:lnSpc>
                          <a:spcPct val="114000"/>
                        </a:lnSpc>
                      </a:pPr>
                      <a:r>
                        <a:rPr sz="1050" b="0" i="0">
                          <a:solidFill>
                            <a:srgbClr val="F7F6EF"/>
                          </a:solidFill>
                          <a:latin typeface="Arial"/>
                        </a:rPr>
                        <a:t>105,900</a:t>
                      </a:r>
                    </a:p>
                  </a:txBody>
                  <a:tcPr marL="64008" marR="64008" marT="41148" marB="41148" anchor="ctr">
                    <a:solidFill>
                      <a:srgbClr val="0D131B"/>
                    </a:solidFill>
                  </a:tcPr>
                </a:tc>
                <a:tc>
                  <a:txBody>
                    <a:bodyPr wrap="square"/>
                    <a:lstStyle/>
                    <a:p>
                      <a:pPr>
                        <a:lnSpc>
                          <a:spcPct val="114000"/>
                        </a:lnSpc>
                      </a:pPr>
                      <a:r>
                        <a:rPr sz="1050" b="0" i="0">
                          <a:solidFill>
                            <a:srgbClr val="FFC83D"/>
                          </a:solidFill>
                          <a:latin typeface="Arial"/>
                        </a:rPr>
                        <a:t>$420,666 — 3.88x divergence</a:t>
                      </a:r>
                    </a:p>
                  </a:txBody>
                  <a:tcPr marL="64008" marR="64008" marT="41148" marB="41148" anchor="ctr">
                    <a:solidFill>
                      <a:srgbClr val="0D131B"/>
                    </a:solidFill>
                  </a:tcPr>
                </a:tc>
              </a:tr>
              <a:tr h="635508">
                <a:tc>
                  <a:txBody>
                    <a:bodyPr wrap="square"/>
                    <a:lstStyle/>
                    <a:p>
                      <a:pPr>
                        <a:lnSpc>
                          <a:spcPct val="114000"/>
                        </a:lnSpc>
                      </a:pPr>
                      <a:r>
                        <a:rPr sz="1050" b="1" i="0">
                          <a:solidFill>
                            <a:srgbClr val="F7F6EF"/>
                          </a:solidFill>
                          <a:latin typeface="Arial"/>
                        </a:rPr>
                        <a:t>Optimistic</a:t>
                      </a:r>
                    </a:p>
                  </a:txBody>
                  <a:tcPr marL="64008" marR="64008" marT="41148" marB="41148" anchor="ctr">
                    <a:solidFill>
                      <a:srgbClr val="121821"/>
                    </a:solidFill>
                  </a:tcPr>
                </a:tc>
                <a:tc>
                  <a:txBody>
                    <a:bodyPr wrap="square"/>
                    <a:lstStyle/>
                    <a:p>
                      <a:pPr>
                        <a:lnSpc>
                          <a:spcPct val="114000"/>
                        </a:lnSpc>
                      </a:pPr>
                      <a:r>
                        <a:rPr sz="1050" b="0" i="0">
                          <a:solidFill>
                            <a:srgbClr val="F7F6EF"/>
                          </a:solidFill>
                          <a:latin typeface="Arial"/>
                        </a:rPr>
                        <a:t>4,000,000</a:t>
                      </a:r>
                    </a:p>
                  </a:txBody>
                  <a:tcPr marL="64008" marR="64008" marT="41148" marB="41148" anchor="ctr">
                    <a:solidFill>
                      <a:srgbClr val="121821"/>
                    </a:solidFill>
                  </a:tcPr>
                </a:tc>
                <a:tc>
                  <a:txBody>
                    <a:bodyPr wrap="square"/>
                    <a:lstStyle/>
                    <a:p>
                      <a:pPr>
                        <a:lnSpc>
                          <a:spcPct val="114000"/>
                        </a:lnSpc>
                      </a:pPr>
                      <a:r>
                        <a:rPr sz="1050" b="0" i="0">
                          <a:solidFill>
                            <a:srgbClr val="FFC83D"/>
                          </a:solidFill>
                          <a:latin typeface="Arial"/>
                        </a:rPr>
                        <a:t>$1.8902</a:t>
                      </a:r>
                    </a:p>
                  </a:txBody>
                  <a:tcPr marL="64008" marR="64008" marT="41148" marB="41148" anchor="ctr">
                    <a:solidFill>
                      <a:srgbClr val="121821"/>
                    </a:solidFill>
                  </a:tcPr>
                </a:tc>
                <a:tc>
                  <a:txBody>
                    <a:bodyPr wrap="square"/>
                    <a:lstStyle/>
                    <a:p>
                      <a:pPr>
                        <a:lnSpc>
                          <a:spcPct val="114000"/>
                        </a:lnSpc>
                      </a:pPr>
                      <a:r>
                        <a:rPr sz="1050" b="0" i="0">
                          <a:solidFill>
                            <a:srgbClr val="FFC83D"/>
                          </a:solidFill>
                          <a:latin typeface="Arial"/>
                        </a:rPr>
                        <a:t>$7,560,784</a:t>
                      </a:r>
                    </a:p>
                  </a:txBody>
                  <a:tcPr marL="64008" marR="64008" marT="41148" marB="41148" anchor="ctr">
                    <a:solidFill>
                      <a:srgbClr val="121821"/>
                    </a:solidFill>
                  </a:tcPr>
                </a:tc>
                <a:tc>
                  <a:txBody>
                    <a:bodyPr wrap="square"/>
                    <a:lstStyle/>
                    <a:p>
                      <a:pPr>
                        <a:lnSpc>
                          <a:spcPct val="114000"/>
                        </a:lnSpc>
                      </a:pPr>
                      <a:r>
                        <a:rPr sz="1050" b="0" i="0">
                          <a:solidFill>
                            <a:srgbClr val="F7F6EF"/>
                          </a:solidFill>
                          <a:latin typeface="Arial"/>
                        </a:rPr>
                        <a:t>361,667</a:t>
                      </a:r>
                    </a:p>
                  </a:txBody>
                  <a:tcPr marL="64008" marR="64008" marT="41148" marB="41148" anchor="ctr">
                    <a:solidFill>
                      <a:srgbClr val="121821"/>
                    </a:solidFill>
                  </a:tcPr>
                </a:tc>
                <a:tc>
                  <a:txBody>
                    <a:bodyPr wrap="square"/>
                    <a:lstStyle/>
                    <a:p>
                      <a:pPr>
                        <a:lnSpc>
                          <a:spcPct val="114000"/>
                        </a:lnSpc>
                      </a:pPr>
                      <a:r>
                        <a:rPr sz="1050" b="0" i="0">
                          <a:solidFill>
                            <a:srgbClr val="FFC83D"/>
                          </a:solidFill>
                          <a:latin typeface="Arial"/>
                        </a:rPr>
                        <a:t>$1,436,647 — 5.26x divergence</a:t>
                      </a:r>
                    </a:p>
                  </a:txBody>
                  <a:tcPr marL="64008" marR="64008" marT="41148" marB="41148" anchor="ctr">
                    <a:solidFill>
                      <a:srgbClr val="121821"/>
                    </a:solidFill>
                  </a:tcPr>
                </a:tc>
              </a:tr>
            </a:tbl>
          </a:graphicData>
        </a:graphic>
      </p:graphicFrame>
      <p:pic>
        <p:nvPicPr>
          <p:cNvPr id="9" name="Picture 8" descr="scenarios.png"/>
          <p:cNvPicPr>
            <a:picLocks noChangeAspect="1"/>
          </p:cNvPicPr>
          <p:nvPr/>
        </p:nvPicPr>
        <p:blipFill>
          <a:blip r:embed="rId2"/>
          <a:stretch>
            <a:fillRect/>
          </a:stretch>
        </p:blipFill>
        <p:spPr>
          <a:xfrm>
            <a:off x="7259881" y="3364991"/>
            <a:ext cx="4203490" cy="2542032"/>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859536"/>
          </a:xfrm>
        </p:spPr>
        <p:txBody>
          <a:bodyPr wrap="square" lIns="0" rIns="0" tIns="0" bIns="0" anchor="t"/>
          <a:lstStyle/>
          <a:p>
            <a:pPr>
              <a:lnSpc>
                <a:spcPct val="108000"/>
              </a:lnSpc>
            </a:pPr>
            <a:r>
              <a:rPr sz="3000" b="1" i="0">
                <a:solidFill>
                  <a:srgbClr val="F7F6EF"/>
                </a:solidFill>
                <a:latin typeface="Arial"/>
              </a:rPr>
              <a:t>Appendix C — TAM, SAM and SOM in full, including the number we chose not to put on the slide.</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4EE1FF"/>
                </a:solidFill>
                <a:latin typeface="Arial"/>
              </a:rPr>
              <a:t>APPENDIX — MARKET SIZING</a:t>
            </a:r>
          </a:p>
        </p:txBody>
      </p:sp>
      <p:sp>
        <p:nvSpPr>
          <p:cNvPr id="4" name="Rectangle 3"/>
          <p:cNvSpPr/>
          <p:nvPr/>
        </p:nvSpPr>
        <p:spPr>
          <a:xfrm>
            <a:off x="566928" y="6035040"/>
            <a:ext cx="11057839" cy="11887"/>
          </a:xfrm>
          <a:prstGeom prst="rect">
            <a:avLst/>
          </a:prstGeom>
          <a:solidFill>
            <a:srgbClr val="4EE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17</a:t>
            </a:r>
          </a:p>
        </p:txBody>
      </p:sp>
      <p:sp>
        <p:nvSpPr>
          <p:cNvPr id="6" name="TextBox 5"/>
          <p:cNvSpPr txBox="1"/>
          <p:nvPr/>
        </p:nvSpPr>
        <p:spPr>
          <a:xfrm>
            <a:off x="566928" y="6144768"/>
            <a:ext cx="9869119" cy="548640"/>
          </a:xfrm>
          <a:prstGeom prst="rect">
            <a:avLst/>
          </a:prstGeom>
          <a:noFill/>
        </p:spPr>
        <p:txBody>
          <a:bodyPr wrap="square" lIns="0" rIns="0" tIns="0" bIns="0" anchor="t">
            <a:spAutoFit/>
          </a:bodyPr>
          <a:lstStyle/>
          <a:p>
            <a:pPr>
              <a:lnSpc>
                <a:spcPct val="115000"/>
              </a:lnSpc>
            </a:pPr>
            <a:r>
              <a:rPr sz="800" b="0" i="0">
                <a:solidFill>
                  <a:srgbClr val="A6ADBA"/>
                </a:solidFill>
                <a:latin typeface="Arial"/>
              </a:rPr>
              <a:t>Sources: EMARKETER — second-screen engagement during live sport  ·  FSGA / Angus Reid 2026 — participation research  ·  FSGA 2025 — next-generation engagement research</a:t>
            </a:r>
          </a:p>
          <a:p>
            <a:pPr>
              <a:lnSpc>
                <a:spcPct val="115000"/>
              </a:lnSpc>
            </a:pPr>
            <a:r>
              <a:rPr sz="800" b="0" i="0">
                <a:solidFill>
                  <a:srgbClr val="A6ADBA"/>
                </a:solidFill>
                <a:latin typeface="Arial"/>
              </a:rPr>
              <a:t>ICC — global cricket market research  ·  Nielsen — 2025 Global Sports Report  ·  Newzoo — Global Games Market 2025  ·  Paul Graham — How to convince investors  ·  a16z — 16 More Startup Metrics</a:t>
            </a:r>
          </a:p>
        </p:txBody>
      </p:sp>
      <p:sp>
        <p:nvSpPr>
          <p:cNvPr id="7" name="TextBox 6"/>
          <p:cNvSpPr txBox="1"/>
          <p:nvPr/>
        </p:nvSpPr>
        <p:spPr>
          <a:xfrm>
            <a:off x="566928" y="1719072"/>
            <a:ext cx="11057839" cy="1458976"/>
          </a:xfrm>
          <a:prstGeom prst="rect">
            <a:avLst/>
          </a:prstGeom>
          <a:noFill/>
        </p:spPr>
        <p:txBody>
          <a:bodyPr wrap="square" lIns="0" rIns="0" tIns="0" bIns="0" anchor="t">
            <a:spAutoFit/>
          </a:bodyPr>
          <a:lstStyle/>
          <a:p>
            <a:pPr marL="238571" indent="-238571">
              <a:lnSpc>
                <a:spcPct val="116000"/>
              </a:lnSpc>
              <a:buClr>
                <a:srgbClr val="4EE1FF"/>
              </a:buClr>
              <a:buFont typeface="Arial"/>
              <a:buChar char="—"/>
            </a:pPr>
            <a:r>
              <a:rPr sz="1400" b="0" i="0">
                <a:solidFill>
                  <a:srgbClr val="F7F6EF"/>
                </a:solidFill>
                <a:latin typeface="Arial"/>
              </a:rPr>
              <a:t>No penetration percentage appears anywhere in TAM or SAM. Every haircut lives in SOM, where it belongs.</a:t>
            </a:r>
          </a:p>
          <a:p>
            <a:pPr marL="238571" indent="-238571">
              <a:lnSpc>
                <a:spcPct val="116000"/>
              </a:lnSpc>
              <a:spcBef>
                <a:spcPts val="770"/>
              </a:spcBef>
              <a:buClr>
                <a:srgbClr val="4EE1FF"/>
              </a:buClr>
              <a:buFont typeface="Arial"/>
              <a:buChar char="—"/>
            </a:pPr>
            <a:r>
              <a:rPr sz="1400" b="0" i="0">
                <a:solidFill>
                  <a:srgbClr val="F7F6EF"/>
                </a:solidFill>
                <a:latin typeface="Arial"/>
              </a:rPr>
              <a:t>TAM-B adds the 1bn+ global cricket bloc but applies US ARPU to a South Asian population — directional only.</a:t>
            </a:r>
          </a:p>
          <a:p>
            <a:pPr marL="238571" indent="-238571">
              <a:lnSpc>
                <a:spcPct val="116000"/>
              </a:lnSpc>
              <a:spcBef>
                <a:spcPts val="770"/>
              </a:spcBef>
              <a:buClr>
                <a:srgbClr val="4EE1FF"/>
              </a:buClr>
              <a:buFont typeface="Arial"/>
              <a:buChar char="—"/>
            </a:pPr>
            <a:r>
              <a:rPr sz="1400" b="0" i="0">
                <a:solidFill>
                  <a:srgbClr val="F7F6EF"/>
                </a:solidFill>
                <a:latin typeface="Arial"/>
              </a:rPr>
              <a:t>Newzoo contradicts that directly: APAC generated </a:t>
            </a:r>
            <a:r>
              <a:rPr sz="1400" b="0" i="0">
                <a:solidFill>
                  <a:srgbClr val="FFC83D"/>
                </a:solidFill>
                <a:latin typeface="Arial"/>
              </a:rPr>
              <a:t>$95.0bn</a:t>
            </a:r>
            <a:r>
              <a:rPr sz="1400" b="0" i="0">
                <a:solidFill>
                  <a:srgbClr val="F7F6EF"/>
                </a:solidFill>
                <a:latin typeface="Arial"/>
              </a:rPr>
              <a:t> of 2025 games revenue against North America's </a:t>
            </a:r>
            <a:r>
              <a:rPr sz="1400" b="0" i="0">
                <a:solidFill>
                  <a:srgbClr val="FFC83D"/>
                </a:solidFill>
                <a:latin typeface="Arial"/>
              </a:rPr>
              <a:t>$54.0bn</a:t>
            </a:r>
            <a:r>
              <a:rPr sz="1400" b="0" i="0">
                <a:solidFill>
                  <a:srgbClr val="F7F6EF"/>
                </a:solidFill>
                <a:latin typeface="Arial"/>
              </a:rPr>
              <a:t>.</a:t>
            </a:r>
          </a:p>
          <a:p>
            <a:pPr marL="238571" indent="-238571">
              <a:lnSpc>
                <a:spcPct val="116000"/>
              </a:lnSpc>
              <a:spcBef>
                <a:spcPts val="770"/>
              </a:spcBef>
              <a:buClr>
                <a:srgbClr val="4EE1FF"/>
              </a:buClr>
              <a:buFont typeface="Arial"/>
              <a:buChar char="—"/>
            </a:pPr>
            <a:r>
              <a:rPr sz="1400" b="0" i="0">
                <a:solidFill>
                  <a:srgbClr val="F7F6EF"/>
                </a:solidFill>
                <a:latin typeface="Arial"/>
              </a:rPr>
              <a:t>Excluded on purpose: Europe, Latin America, and every science-audience bloc. Followers and visits are not people.</a:t>
            </a:r>
          </a:p>
          <a:p>
            <a:pPr marL="238571" indent="-238571">
              <a:lnSpc>
                <a:spcPct val="116000"/>
              </a:lnSpc>
              <a:spcBef>
                <a:spcPts val="770"/>
              </a:spcBef>
              <a:buClr>
                <a:srgbClr val="4EE1FF"/>
              </a:buClr>
              <a:buFont typeface="Arial"/>
              <a:buChar char="—"/>
            </a:pPr>
            <a:r>
              <a:rPr sz="1400" b="0" i="0">
                <a:solidFill>
                  <a:srgbClr val="F7F6EF"/>
                </a:solidFill>
                <a:latin typeface="Arial"/>
              </a:rPr>
              <a:t>SOM is 0.14%-0.23% of SAM. A seed-stage SOM that is a fraction of one percent is what honest arithmetic produces.</a:t>
            </a:r>
          </a:p>
        </p:txBody>
      </p:sp>
      <p:graphicFrame>
        <p:nvGraphicFramePr>
          <p:cNvPr id="8" name="Table 7"/>
          <p:cNvGraphicFramePr>
            <a:graphicFrameLocks noGrp="1"/>
          </p:cNvGraphicFramePr>
          <p:nvPr/>
        </p:nvGraphicFramePr>
        <p:xfrm>
          <a:off x="566928" y="3415792"/>
          <a:ext cx="11057837" cy="2304285"/>
        </p:xfrm>
        <a:graphic>
          <a:graphicData uri="http://schemas.openxmlformats.org/drawingml/2006/table">
            <a:tbl>
              <a:tblPr>
                <a:tableStyleId>{2D5ABB26-0587-4C30-8999-92F81FD0307C}</a:tableStyleId>
              </a:tblPr>
              <a:tblGrid>
                <a:gridCol w="2217067"/>
                <a:gridCol w="2972645"/>
                <a:gridCol w="1608535"/>
                <a:gridCol w="1810017"/>
                <a:gridCol w="2449573"/>
              </a:tblGrid>
              <a:tr h="460857">
                <a:tc>
                  <a:txBody>
                    <a:bodyPr wrap="square"/>
                    <a:lstStyle/>
                    <a:p>
                      <a:pPr>
                        <a:lnSpc>
                          <a:spcPct val="114000"/>
                        </a:lnSpc>
                      </a:pPr>
                      <a:r>
                        <a:rPr sz="1200" b="1" i="0">
                          <a:solidFill>
                            <a:srgbClr val="D4FF3A"/>
                          </a:solidFill>
                          <a:latin typeface="Arial"/>
                        </a:rPr>
                        <a:t>Layer</a:t>
                      </a:r>
                    </a:p>
                  </a:txBody>
                  <a:tcPr marL="64008" marR="64008" marT="41148" marB="41148" anchor="ctr">
                    <a:solidFill>
                      <a:srgbClr val="121821"/>
                    </a:solidFill>
                  </a:tcPr>
                </a:tc>
                <a:tc>
                  <a:txBody>
                    <a:bodyPr wrap="square"/>
                    <a:lstStyle/>
                    <a:p>
                      <a:pPr>
                        <a:lnSpc>
                          <a:spcPct val="114000"/>
                        </a:lnSpc>
                      </a:pPr>
                      <a:r>
                        <a:rPr sz="1200" b="1" i="0">
                          <a:solidFill>
                            <a:srgbClr val="D4FF3A"/>
                          </a:solidFill>
                          <a:latin typeface="Arial"/>
                        </a:rPr>
                        <a:t>Population</a:t>
                      </a:r>
                    </a:p>
                  </a:txBody>
                  <a:tcPr marL="64008" marR="64008" marT="41148" marB="41148" anchor="ctr">
                    <a:solidFill>
                      <a:srgbClr val="121821"/>
                    </a:solidFill>
                  </a:tcPr>
                </a:tc>
                <a:tc>
                  <a:txBody>
                    <a:bodyPr wrap="square"/>
                    <a:lstStyle/>
                    <a:p>
                      <a:pPr>
                        <a:lnSpc>
                          <a:spcPct val="114000"/>
                        </a:lnSpc>
                      </a:pPr>
                      <a:r>
                        <a:rPr sz="1200" b="1" i="0">
                          <a:solidFill>
                            <a:srgbClr val="D4FF3A"/>
                          </a:solidFill>
                          <a:latin typeface="Arial"/>
                        </a:rPr>
                        <a:t>x ARPU</a:t>
                      </a:r>
                    </a:p>
                  </a:txBody>
                  <a:tcPr marL="64008" marR="64008" marT="41148" marB="41148" anchor="ctr">
                    <a:solidFill>
                      <a:srgbClr val="121821"/>
                    </a:solidFill>
                  </a:tcPr>
                </a:tc>
                <a:tc>
                  <a:txBody>
                    <a:bodyPr wrap="square"/>
                    <a:lstStyle/>
                    <a:p>
                      <a:pPr>
                        <a:lnSpc>
                          <a:spcPct val="114000"/>
                        </a:lnSpc>
                      </a:pPr>
                      <a:r>
                        <a:rPr sz="1200" b="1" i="0">
                          <a:solidFill>
                            <a:srgbClr val="D4FF3A"/>
                          </a:solidFill>
                          <a:latin typeface="Arial"/>
                        </a:rPr>
                        <a:t>Result</a:t>
                      </a:r>
                    </a:p>
                  </a:txBody>
                  <a:tcPr marL="64008" marR="64008" marT="41148" marB="41148" anchor="ctr">
                    <a:solidFill>
                      <a:srgbClr val="121821"/>
                    </a:solidFill>
                  </a:tcPr>
                </a:tc>
                <a:tc>
                  <a:txBody>
                    <a:bodyPr wrap="square"/>
                    <a:lstStyle/>
                    <a:p>
                      <a:pPr>
                        <a:lnSpc>
                          <a:spcPct val="114000"/>
                        </a:lnSpc>
                      </a:pPr>
                      <a:r>
                        <a:rPr sz="1200" b="1" i="0">
                          <a:solidFill>
                            <a:srgbClr val="D4FF3A"/>
                          </a:solidFill>
                          <a:latin typeface="Arial"/>
                        </a:rPr>
                        <a:t>Source of population</a:t>
                      </a:r>
                    </a:p>
                  </a:txBody>
                  <a:tcPr marL="64008" marR="64008" marT="41148" marB="41148" anchor="ctr">
                    <a:solidFill>
                      <a:srgbClr val="121821"/>
                    </a:solidFill>
                  </a:tcPr>
                </a:tc>
              </a:tr>
              <a:tr h="460857">
                <a:tc>
                  <a:txBody>
                    <a:bodyPr wrap="square"/>
                    <a:lstStyle/>
                    <a:p>
                      <a:pPr>
                        <a:lnSpc>
                          <a:spcPct val="114000"/>
                        </a:lnSpc>
                      </a:pPr>
                      <a:r>
                        <a:rPr sz="1200" b="1" i="0">
                          <a:solidFill>
                            <a:srgbClr val="F7F6EF"/>
                          </a:solidFill>
                          <a:latin typeface="Arial"/>
                        </a:rPr>
                        <a:t>TAM-A (on the slide)</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216.8M US second-screen adults</a:t>
                      </a:r>
                    </a:p>
                  </a:txBody>
                  <a:tcPr marL="64008" marR="64008" marT="41148" marB="41148" anchor="ctr">
                    <a:solidFill>
                      <a:srgbClr val="121821"/>
                    </a:solidFill>
                  </a:tcPr>
                </a:tc>
                <a:tc>
                  <a:txBody>
                    <a:bodyPr wrap="square"/>
                    <a:lstStyle/>
                    <a:p>
                      <a:pPr>
                        <a:lnSpc>
                          <a:spcPct val="114000"/>
                        </a:lnSpc>
                      </a:pPr>
                      <a:r>
                        <a:rPr sz="1200" b="0" i="0">
                          <a:solidFill>
                            <a:srgbClr val="FFC83D"/>
                          </a:solidFill>
                          <a:latin typeface="Arial"/>
                        </a:rPr>
                        <a:t>$7.80 - $13.07</a:t>
                      </a:r>
                    </a:p>
                  </a:txBody>
                  <a:tcPr marL="64008" marR="64008" marT="41148" marB="41148" anchor="ctr">
                    <a:solidFill>
                      <a:srgbClr val="121821"/>
                    </a:solidFill>
                  </a:tcPr>
                </a:tc>
                <a:tc>
                  <a:txBody>
                    <a:bodyPr wrap="square"/>
                    <a:lstStyle/>
                    <a:p>
                      <a:pPr>
                        <a:lnSpc>
                          <a:spcPct val="114000"/>
                        </a:lnSpc>
                      </a:pPr>
                      <a:r>
                        <a:rPr sz="1200" b="0" i="0">
                          <a:solidFill>
                            <a:srgbClr val="FFC83D"/>
                          </a:solidFill>
                          <a:latin typeface="Arial"/>
                        </a:rPr>
                        <a:t>$1.69bn - $2.83bn</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EMARKETER, 2026</a:t>
                      </a:r>
                    </a:p>
                  </a:txBody>
                  <a:tcPr marL="64008" marR="64008" marT="41148" marB="41148" anchor="ctr">
                    <a:solidFill>
                      <a:srgbClr val="121821"/>
                    </a:solidFill>
                  </a:tcPr>
                </a:tc>
              </a:tr>
              <a:tr h="460857">
                <a:tc>
                  <a:txBody>
                    <a:bodyPr wrap="square"/>
                    <a:lstStyle/>
                    <a:p>
                      <a:pPr>
                        <a:lnSpc>
                          <a:spcPct val="114000"/>
                        </a:lnSpc>
                      </a:pPr>
                      <a:r>
                        <a:rPr sz="1200" b="1" i="0">
                          <a:solidFill>
                            <a:srgbClr val="F7F6EF"/>
                          </a:solidFill>
                          <a:latin typeface="Arial"/>
                        </a:rPr>
                        <a:t>SAM</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90.3M NA fantasy/betting adults</a:t>
                      </a:r>
                    </a:p>
                  </a:txBody>
                  <a:tcPr marL="64008" marR="64008" marT="41148" marB="41148" anchor="ctr">
                    <a:solidFill>
                      <a:srgbClr val="0D131B"/>
                    </a:solidFill>
                  </a:tcPr>
                </a:tc>
                <a:tc>
                  <a:txBody>
                    <a:bodyPr wrap="square"/>
                    <a:lstStyle/>
                    <a:p>
                      <a:pPr>
                        <a:lnSpc>
                          <a:spcPct val="114000"/>
                        </a:lnSpc>
                      </a:pPr>
                      <a:r>
                        <a:rPr sz="1200" b="0" i="0">
                          <a:solidFill>
                            <a:srgbClr val="FFC83D"/>
                          </a:solidFill>
                          <a:latin typeface="Arial"/>
                        </a:rPr>
                        <a:t>$7.80 - $13.07</a:t>
                      </a:r>
                    </a:p>
                  </a:txBody>
                  <a:tcPr marL="64008" marR="64008" marT="41148" marB="41148" anchor="ctr">
                    <a:solidFill>
                      <a:srgbClr val="0D131B"/>
                    </a:solidFill>
                  </a:tcPr>
                </a:tc>
                <a:tc>
                  <a:txBody>
                    <a:bodyPr wrap="square"/>
                    <a:lstStyle/>
                    <a:p>
                      <a:pPr>
                        <a:lnSpc>
                          <a:spcPct val="114000"/>
                        </a:lnSpc>
                      </a:pPr>
                      <a:r>
                        <a:rPr sz="1200" b="0" i="0">
                          <a:solidFill>
                            <a:srgbClr val="FFC83D"/>
                          </a:solidFill>
                          <a:latin typeface="Arial"/>
                        </a:rPr>
                        <a:t>$704M - $1.18bn</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FSGA / Angus Reid, 2026</a:t>
                      </a:r>
                    </a:p>
                  </a:txBody>
                  <a:tcPr marL="64008" marR="64008" marT="41148" marB="41148" anchor="ctr">
                    <a:solidFill>
                      <a:srgbClr val="0D131B"/>
                    </a:solidFill>
                  </a:tcPr>
                </a:tc>
              </a:tr>
              <a:tr h="460857">
                <a:tc>
                  <a:txBody>
                    <a:bodyPr wrap="square"/>
                    <a:lstStyle/>
                    <a:p>
                      <a:pPr>
                        <a:lnSpc>
                          <a:spcPct val="114000"/>
                        </a:lnSpc>
                      </a:pPr>
                      <a:r>
                        <a:rPr sz="1200" b="1" i="0">
                          <a:solidFill>
                            <a:srgbClr val="F7F6EF"/>
                          </a:solidFill>
                          <a:latin typeface="Arial"/>
                        </a:rPr>
                        <a:t>SOM (P)</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~106,000 steady-state MAU</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base-case model</a:t>
                      </a:r>
                    </a:p>
                  </a:txBody>
                  <a:tcPr marL="64008" marR="64008" marT="41148" marB="41148" anchor="ctr">
                    <a:solidFill>
                      <a:srgbClr val="121821"/>
                    </a:solidFill>
                  </a:tcPr>
                </a:tc>
                <a:tc>
                  <a:txBody>
                    <a:bodyPr wrap="square"/>
                    <a:lstStyle/>
                    <a:p>
                      <a:pPr>
                        <a:lnSpc>
                          <a:spcPct val="114000"/>
                        </a:lnSpc>
                      </a:pPr>
                      <a:r>
                        <a:rPr sz="1200" b="0" i="0">
                          <a:solidFill>
                            <a:srgbClr val="FFC83D"/>
                          </a:solidFill>
                          <a:latin typeface="Arial"/>
                        </a:rPr>
                        <a:t>$0.4M - $1.6M (P)</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Chosen Year-3 plan target</a:t>
                      </a:r>
                    </a:p>
                  </a:txBody>
                  <a:tcPr marL="64008" marR="64008" marT="41148" marB="41148" anchor="ctr">
                    <a:solidFill>
                      <a:srgbClr val="121821"/>
                    </a:solidFill>
                  </a:tcPr>
                </a:tc>
              </a:tr>
              <a:tr h="460857">
                <a:tc>
                  <a:txBody>
                    <a:bodyPr wrap="square"/>
                    <a:lstStyle/>
                    <a:p>
                      <a:pPr>
                        <a:lnSpc>
                          <a:spcPct val="114000"/>
                        </a:lnSpc>
                      </a:pPr>
                      <a:r>
                        <a:rPr sz="1200" b="1" i="0">
                          <a:solidFill>
                            <a:srgbClr val="F7F6EF"/>
                          </a:solidFill>
                          <a:latin typeface="Arial"/>
                        </a:rPr>
                        <a:t>TAM-B (appendix only)</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1,216.8M incl. cricket bloc</a:t>
                      </a:r>
                    </a:p>
                  </a:txBody>
                  <a:tcPr marL="64008" marR="64008" marT="41148" marB="41148" anchor="ctr">
                    <a:solidFill>
                      <a:srgbClr val="0D131B"/>
                    </a:solidFill>
                  </a:tcPr>
                </a:tc>
                <a:tc>
                  <a:txBody>
                    <a:bodyPr wrap="square"/>
                    <a:lstStyle/>
                    <a:p>
                      <a:pPr>
                        <a:lnSpc>
                          <a:spcPct val="114000"/>
                        </a:lnSpc>
                      </a:pPr>
                      <a:r>
                        <a:rPr sz="1200" b="0" i="0">
                          <a:solidFill>
                            <a:srgbClr val="FFC83D"/>
                          </a:solidFill>
                          <a:latin typeface="Arial"/>
                        </a:rPr>
                        <a:t>$7.80 - $13.07</a:t>
                      </a:r>
                    </a:p>
                  </a:txBody>
                  <a:tcPr marL="64008" marR="64008" marT="41148" marB="41148" anchor="ctr">
                    <a:solidFill>
                      <a:srgbClr val="0D131B"/>
                    </a:solidFill>
                  </a:tcPr>
                </a:tc>
                <a:tc>
                  <a:txBody>
                    <a:bodyPr wrap="square"/>
                    <a:lstStyle/>
                    <a:p>
                      <a:pPr>
                        <a:lnSpc>
                          <a:spcPct val="114000"/>
                        </a:lnSpc>
                      </a:pPr>
                      <a:r>
                        <a:rPr sz="1200" b="0" i="0">
                          <a:solidFill>
                            <a:srgbClr val="FFC83D"/>
                          </a:solidFill>
                          <a:latin typeface="Arial"/>
                        </a:rPr>
                        <a:t>$9.49bn - $15.90bn</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ICC, 1bn+ fans aged 16-69</a:t>
                      </a:r>
                    </a:p>
                  </a:txBody>
                  <a:tcPr marL="64008" marR="64008" marT="41148" marB="41148" anchor="ctr">
                    <a:solidFill>
                      <a:srgbClr val="0D131B"/>
                    </a:solid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859536"/>
          </a:xfrm>
        </p:spPr>
        <p:txBody>
          <a:bodyPr wrap="square" lIns="0" rIns="0" tIns="0" bIns="0" anchor="t"/>
          <a:lstStyle/>
          <a:p>
            <a:pPr>
              <a:lnSpc>
                <a:spcPct val="108000"/>
              </a:lnSpc>
            </a:pPr>
            <a:r>
              <a:rPr sz="3000" b="1" i="0">
                <a:solidFill>
                  <a:srgbClr val="F7F6EF"/>
                </a:solidFill>
                <a:latin typeface="Arial"/>
              </a:rPr>
              <a:t>Appendix D — the graveyard in full, with capital raised and what it ended up worth.</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4EE1FF"/>
                </a:solidFill>
                <a:latin typeface="Arial"/>
              </a:rPr>
              <a:t>APPENDIX — WHAT HAPPENED BEFORE</a:t>
            </a:r>
          </a:p>
        </p:txBody>
      </p:sp>
      <p:sp>
        <p:nvSpPr>
          <p:cNvPr id="4" name="Rectangle 3"/>
          <p:cNvSpPr/>
          <p:nvPr/>
        </p:nvSpPr>
        <p:spPr>
          <a:xfrm>
            <a:off x="566928" y="6035040"/>
            <a:ext cx="11057839" cy="11887"/>
          </a:xfrm>
          <a:prstGeom prst="rect">
            <a:avLst/>
          </a:prstGeom>
          <a:solidFill>
            <a:srgbClr val="4EE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18</a:t>
            </a:r>
          </a:p>
        </p:txBody>
      </p:sp>
      <p:sp>
        <p:nvSpPr>
          <p:cNvPr id="6" name="TextBox 5"/>
          <p:cNvSpPr txBox="1"/>
          <p:nvPr/>
        </p:nvSpPr>
        <p:spPr>
          <a:xfrm>
            <a:off x="566928" y="6144768"/>
            <a:ext cx="9869119" cy="548640"/>
          </a:xfrm>
          <a:prstGeom prst="rect">
            <a:avLst/>
          </a:prstGeom>
          <a:noFill/>
        </p:spPr>
        <p:txBody>
          <a:bodyPr wrap="square" lIns="0" rIns="0" tIns="0" bIns="0" anchor="t">
            <a:spAutoFit/>
          </a:bodyPr>
          <a:lstStyle/>
          <a:p>
            <a:pPr>
              <a:lnSpc>
                <a:spcPct val="115000"/>
              </a:lnSpc>
            </a:pPr>
            <a:r>
              <a:rPr sz="800" b="0" i="0">
                <a:solidFill>
                  <a:srgbClr val="A6ADBA"/>
                </a:solidFill>
                <a:latin typeface="Arial"/>
              </a:rPr>
              <a:t>Sources: TechCrunch — HQ Trivia shuts down  ·  SEC Form D — HQ Trivia  ·  SEC 10-K — Glu Mobile FY2016 (QuizUp mark)  ·  SEC 8-K — Glu Mobile / QuizUp acquisition</a:t>
            </a:r>
          </a:p>
          <a:p>
            <a:pPr>
              <a:lnSpc>
                <a:spcPct val="115000"/>
              </a:lnSpc>
            </a:pPr>
            <a:r>
              <a:rPr sz="800" b="0" i="0">
                <a:solidFill>
                  <a:srgbClr val="A6ADBA"/>
                </a:solidFill>
                <a:latin typeface="Arial"/>
              </a:rPr>
              <a:t>TechCrunch — Trivia Royale, 2.5M downloads in 3 weeks  ·  SEC Form D — Teatime Games (Trivia Royale)  ·  SEC 8-K — Skillz FY2022 results (FY2021 peak)  ·  SEC 8-K — Skillz FY2025 results</a:t>
            </a:r>
          </a:p>
        </p:txBody>
      </p:sp>
      <p:sp>
        <p:nvSpPr>
          <p:cNvPr id="7" name="TextBox 6"/>
          <p:cNvSpPr txBox="1"/>
          <p:nvPr/>
        </p:nvSpPr>
        <p:spPr>
          <a:xfrm>
            <a:off x="566928" y="1719072"/>
            <a:ext cx="11057839" cy="1154938"/>
          </a:xfrm>
          <a:prstGeom prst="rect">
            <a:avLst/>
          </a:prstGeom>
          <a:noFill/>
        </p:spPr>
        <p:txBody>
          <a:bodyPr wrap="square" lIns="0" rIns="0" tIns="0" bIns="0" anchor="t">
            <a:spAutoFit/>
          </a:bodyPr>
          <a:lstStyle/>
          <a:p>
            <a:pPr marL="238571" indent="-238571">
              <a:lnSpc>
                <a:spcPct val="116000"/>
              </a:lnSpc>
              <a:buClr>
                <a:srgbClr val="4EE1FF"/>
              </a:buClr>
              <a:buFont typeface="Arial"/>
              <a:buChar char="—"/>
            </a:pPr>
            <a:r>
              <a:rPr sz="1400" b="0" i="0">
                <a:solidFill>
                  <a:srgbClr val="F7F6EF"/>
                </a:solidFill>
                <a:latin typeface="Arial"/>
              </a:rPr>
              <a:t>Every row is from a filing or contemporaneous reporting. No estimate in this table is ours.</a:t>
            </a:r>
          </a:p>
          <a:p>
            <a:pPr marL="238571" indent="-238571">
              <a:lnSpc>
                <a:spcPct val="116000"/>
              </a:lnSpc>
              <a:spcBef>
                <a:spcPts val="770"/>
              </a:spcBef>
              <a:buClr>
                <a:srgbClr val="4EE1FF"/>
              </a:buClr>
              <a:buFont typeface="Arial"/>
              <a:buChar char="—"/>
            </a:pPr>
            <a:r>
              <a:rPr sz="1400" b="0" i="0">
                <a:solidFill>
                  <a:srgbClr val="F7F6EF"/>
                </a:solidFill>
                <a:latin typeface="Arial"/>
              </a:rPr>
              <a:t>The pattern: large audiences, cheap acquisition, no durable day-30 behaviour and no working price.</a:t>
            </a:r>
          </a:p>
          <a:p>
            <a:pPr marL="238571" indent="-238571">
              <a:lnSpc>
                <a:spcPct val="116000"/>
              </a:lnSpc>
              <a:spcBef>
                <a:spcPts val="770"/>
              </a:spcBef>
              <a:buClr>
                <a:srgbClr val="4EE1FF"/>
              </a:buClr>
              <a:buFont typeface="Arial"/>
              <a:buChar char="—"/>
            </a:pPr>
            <a:r>
              <a:rPr sz="1400" b="0" i="0">
                <a:solidFill>
                  <a:srgbClr val="F7F6EF"/>
                </a:solidFill>
                <a:latin typeface="Arial"/>
              </a:rPr>
              <a:t>QuizUp's </a:t>
            </a:r>
            <a:r>
              <a:rPr sz="1400" b="0" i="0">
                <a:solidFill>
                  <a:srgbClr val="FFC83D"/>
                </a:solidFill>
                <a:latin typeface="Arial"/>
              </a:rPr>
              <a:t>$3.2M</a:t>
            </a:r>
            <a:r>
              <a:rPr sz="1400" b="0" i="0">
                <a:solidFill>
                  <a:srgbClr val="F7F6EF"/>
                </a:solidFill>
                <a:latin typeface="Arial"/>
              </a:rPr>
              <a:t> fair-value mark is the honest ceiling for a large unmonetised trivia audience.</a:t>
            </a:r>
          </a:p>
          <a:p>
            <a:pPr marL="238571" indent="-238571">
              <a:lnSpc>
                <a:spcPct val="116000"/>
              </a:lnSpc>
              <a:spcBef>
                <a:spcPts val="770"/>
              </a:spcBef>
              <a:buClr>
                <a:srgbClr val="4EE1FF"/>
              </a:buClr>
              <a:buFont typeface="Arial"/>
              <a:buChar char="—"/>
            </a:pPr>
            <a:r>
              <a:rPr sz="1400" b="0" i="0">
                <a:solidFill>
                  <a:srgbClr val="F7F6EF"/>
                </a:solidFill>
                <a:latin typeface="Arial"/>
              </a:rPr>
              <a:t>Skillz is the live adjacent case: the money is real, and so is the churn.</a:t>
            </a:r>
          </a:p>
        </p:txBody>
      </p:sp>
      <p:graphicFrame>
        <p:nvGraphicFramePr>
          <p:cNvPr id="8" name="Table 7"/>
          <p:cNvGraphicFramePr>
            <a:graphicFrameLocks noGrp="1"/>
          </p:cNvGraphicFramePr>
          <p:nvPr/>
        </p:nvGraphicFramePr>
        <p:xfrm>
          <a:off x="566928" y="3111754"/>
          <a:ext cx="11057837" cy="2795269"/>
        </p:xfrm>
        <a:graphic>
          <a:graphicData uri="http://schemas.openxmlformats.org/drawingml/2006/table">
            <a:tbl>
              <a:tblPr>
                <a:tableStyleId>{2D5ABB26-0587-4C30-8999-92F81FD0307C}</a:tableStyleId>
              </a:tblPr>
              <a:tblGrid>
                <a:gridCol w="1510784"/>
                <a:gridCol w="3123091"/>
                <a:gridCol w="2796676"/>
                <a:gridCol w="3627286"/>
              </a:tblGrid>
              <a:tr h="362349">
                <a:tc>
                  <a:txBody>
                    <a:bodyPr wrap="square"/>
                    <a:lstStyle/>
                    <a:p>
                      <a:pPr>
                        <a:lnSpc>
                          <a:spcPct val="114000"/>
                        </a:lnSpc>
                      </a:pPr>
                      <a:r>
                        <a:rPr sz="1200" b="1" i="0">
                          <a:solidFill>
                            <a:srgbClr val="D4FF3A"/>
                          </a:solidFill>
                          <a:latin typeface="Arial"/>
                        </a:rPr>
                        <a:t>Product</a:t>
                      </a:r>
                    </a:p>
                  </a:txBody>
                  <a:tcPr marL="64008" marR="64008" marT="41148" marB="41148" anchor="ctr">
                    <a:solidFill>
                      <a:srgbClr val="121821"/>
                    </a:solidFill>
                  </a:tcPr>
                </a:tc>
                <a:tc>
                  <a:txBody>
                    <a:bodyPr wrap="square"/>
                    <a:lstStyle/>
                    <a:p>
                      <a:pPr>
                        <a:lnSpc>
                          <a:spcPct val="114000"/>
                        </a:lnSpc>
                      </a:pPr>
                      <a:r>
                        <a:rPr sz="1200" b="1" i="0">
                          <a:solidFill>
                            <a:srgbClr val="D4FF3A"/>
                          </a:solidFill>
                          <a:latin typeface="Arial"/>
                        </a:rPr>
                        <a:t>Peak</a:t>
                      </a:r>
                    </a:p>
                  </a:txBody>
                  <a:tcPr marL="64008" marR="64008" marT="41148" marB="41148" anchor="ctr">
                    <a:solidFill>
                      <a:srgbClr val="121821"/>
                    </a:solidFill>
                  </a:tcPr>
                </a:tc>
                <a:tc>
                  <a:txBody>
                    <a:bodyPr wrap="square"/>
                    <a:lstStyle/>
                    <a:p>
                      <a:pPr>
                        <a:lnSpc>
                          <a:spcPct val="114000"/>
                        </a:lnSpc>
                      </a:pPr>
                      <a:r>
                        <a:rPr sz="1200" b="1" i="0">
                          <a:solidFill>
                            <a:srgbClr val="D4FF3A"/>
                          </a:solidFill>
                          <a:latin typeface="Arial"/>
                        </a:rPr>
                        <a:t>Capital</a:t>
                      </a:r>
                    </a:p>
                  </a:txBody>
                  <a:tcPr marL="64008" marR="64008" marT="41148" marB="41148" anchor="ctr">
                    <a:solidFill>
                      <a:srgbClr val="121821"/>
                    </a:solidFill>
                  </a:tcPr>
                </a:tc>
                <a:tc>
                  <a:txBody>
                    <a:bodyPr wrap="square"/>
                    <a:lstStyle/>
                    <a:p>
                      <a:pPr>
                        <a:lnSpc>
                          <a:spcPct val="114000"/>
                        </a:lnSpc>
                      </a:pPr>
                      <a:r>
                        <a:rPr sz="1200" b="1" i="0">
                          <a:solidFill>
                            <a:srgbClr val="D4FF3A"/>
                          </a:solidFill>
                          <a:latin typeface="Arial"/>
                        </a:rPr>
                        <a:t>Ending</a:t>
                      </a:r>
                    </a:p>
                  </a:txBody>
                  <a:tcPr marL="64008" marR="64008" marT="41148" marB="41148" anchor="ctr">
                    <a:solidFill>
                      <a:srgbClr val="121821"/>
                    </a:solidFill>
                  </a:tcPr>
                </a:tc>
              </a:tr>
              <a:tr h="608230">
                <a:tc>
                  <a:txBody>
                    <a:bodyPr wrap="square"/>
                    <a:lstStyle/>
                    <a:p>
                      <a:pPr>
                        <a:lnSpc>
                          <a:spcPct val="114000"/>
                        </a:lnSpc>
                      </a:pPr>
                      <a:r>
                        <a:rPr sz="1200" b="1" i="0">
                          <a:solidFill>
                            <a:srgbClr val="F7F6EF"/>
                          </a:solidFill>
                          <a:latin typeface="Arial"/>
                        </a:rPr>
                        <a:t>HQ Trivia</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2.38M concurrent players, 28 Mar 2018</a:t>
                      </a:r>
                    </a:p>
                  </a:txBody>
                  <a:tcPr marL="64008" marR="64008" marT="41148" marB="41148" anchor="ctr">
                    <a:solidFill>
                      <a:srgbClr val="121821"/>
                    </a:solidFill>
                  </a:tcPr>
                </a:tc>
                <a:tc>
                  <a:txBody>
                    <a:bodyPr wrap="square"/>
                    <a:lstStyle/>
                    <a:p>
                      <a:pPr>
                        <a:lnSpc>
                          <a:spcPct val="114000"/>
                        </a:lnSpc>
                      </a:pPr>
                      <a:r>
                        <a:rPr sz="1200" b="0" i="0">
                          <a:solidFill>
                            <a:srgbClr val="FFC83D"/>
                          </a:solidFill>
                          <a:latin typeface="Arial"/>
                        </a:rPr>
                        <a:t>$12,539,999 sold of $15,000,001 offered</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67,000 installs in Jan 2020; shut 14 Feb 2020, 25 staff</a:t>
                      </a:r>
                    </a:p>
                  </a:txBody>
                  <a:tcPr marL="64008" marR="64008" marT="41148" marB="41148" anchor="ctr">
                    <a:solidFill>
                      <a:srgbClr val="121821"/>
                    </a:solidFill>
                  </a:tcPr>
                </a:tc>
              </a:tr>
              <a:tr h="608230">
                <a:tc>
                  <a:txBody>
                    <a:bodyPr wrap="square"/>
                    <a:lstStyle/>
                    <a:p>
                      <a:pPr>
                        <a:lnSpc>
                          <a:spcPct val="114000"/>
                        </a:lnSpc>
                      </a:pPr>
                      <a:r>
                        <a:rPr sz="1200" b="1" i="0">
                          <a:solidFill>
                            <a:srgbClr val="F7F6EF"/>
                          </a:solidFill>
                          <a:latin typeface="Arial"/>
                        </a:rPr>
                        <a:t>QuizUp</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~20M users claimed 19 May 2014; 1bn+ matches</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~$32.4M equity per SEC Form Ds</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Sold to Glu for $7.5M of cancelled notes, booked at $3.2M</a:t>
                      </a:r>
                    </a:p>
                  </a:txBody>
                  <a:tcPr marL="64008" marR="64008" marT="41148" marB="41148" anchor="ctr">
                    <a:solidFill>
                      <a:srgbClr val="0D131B"/>
                    </a:solidFill>
                  </a:tcPr>
                </a:tc>
              </a:tr>
              <a:tr h="608230">
                <a:tc>
                  <a:txBody>
                    <a:bodyPr wrap="square"/>
                    <a:lstStyle/>
                    <a:p>
                      <a:pPr>
                        <a:lnSpc>
                          <a:spcPct val="114000"/>
                        </a:lnSpc>
                      </a:pPr>
                      <a:r>
                        <a:rPr sz="1200" b="1" i="0">
                          <a:solidFill>
                            <a:srgbClr val="F7F6EF"/>
                          </a:solidFill>
                          <a:latin typeface="Arial"/>
                        </a:rPr>
                        <a:t>Trivia Royale</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2.5M downloads in ~3 weeks; 45% D1 iOS</a:t>
                      </a:r>
                    </a:p>
                  </a:txBody>
                  <a:tcPr marL="64008" marR="64008" marT="41148" marB="41148" anchor="ctr">
                    <a:solidFill>
                      <a:srgbClr val="121821"/>
                    </a:solidFill>
                  </a:tcPr>
                </a:tc>
                <a:tc>
                  <a:txBody>
                    <a:bodyPr wrap="square"/>
                    <a:lstStyle/>
                    <a:p>
                      <a:pPr>
                        <a:lnSpc>
                          <a:spcPct val="114000"/>
                        </a:lnSpc>
                      </a:pPr>
                      <a:r>
                        <a:rPr sz="1200" b="0" i="0">
                          <a:solidFill>
                            <a:srgbClr val="FFC83D"/>
                          </a:solidFill>
                          <a:latin typeface="Arial"/>
                        </a:rPr>
                        <a:t>$9,155,139 + $1,499,913 per SEC Form Ds</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Closed 23 Feb 2021, eight months after launch, 16 staff</a:t>
                      </a:r>
                    </a:p>
                  </a:txBody>
                  <a:tcPr marL="64008" marR="64008" marT="41148" marB="41148" anchor="ctr">
                    <a:solidFill>
                      <a:srgbClr val="121821"/>
                    </a:solidFill>
                  </a:tcPr>
                </a:tc>
              </a:tr>
              <a:tr h="608230">
                <a:tc>
                  <a:txBody>
                    <a:bodyPr wrap="square"/>
                    <a:lstStyle/>
                    <a:p>
                      <a:pPr>
                        <a:lnSpc>
                          <a:spcPct val="114000"/>
                        </a:lnSpc>
                      </a:pPr>
                      <a:r>
                        <a:rPr sz="1200" b="1" i="0">
                          <a:solidFill>
                            <a:srgbClr val="F7F6EF"/>
                          </a:solidFill>
                          <a:latin typeface="Arial"/>
                        </a:rPr>
                        <a:t>Skillz (live, adjacent)</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FY2021: $380.2M revenue, 513,000 paying MAU</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Public (NYSE: SKLZ)</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FY2025: $104.5M revenue, 141,000 paying MAU</a:t>
                      </a:r>
                    </a:p>
                  </a:txBody>
                  <a:tcPr marL="64008" marR="64008" marT="41148" marB="41148" anchor="ctr">
                    <a:solidFill>
                      <a:srgbClr val="0D131B"/>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859536"/>
          </a:xfrm>
        </p:spPr>
        <p:txBody>
          <a:bodyPr wrap="square" lIns="0" rIns="0" tIns="0" bIns="0" anchor="t"/>
          <a:lstStyle/>
          <a:p>
            <a:pPr>
              <a:lnSpc>
                <a:spcPct val="108000"/>
              </a:lnSpc>
            </a:pPr>
            <a:r>
              <a:rPr sz="3000" b="1" i="0">
                <a:solidFill>
                  <a:srgbClr val="F7F6EF"/>
                </a:solidFill>
                <a:latin typeface="Arial"/>
              </a:rPr>
              <a:t>Appendix E — what we do not know, and what would settle each of it.</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4EE1FF"/>
                </a:solidFill>
                <a:latin typeface="Arial"/>
              </a:rPr>
              <a:t>APPENDIX — LIMITS OF THE EVIDENCE</a:t>
            </a:r>
          </a:p>
        </p:txBody>
      </p:sp>
      <p:sp>
        <p:nvSpPr>
          <p:cNvPr id="4" name="Rectangle 3"/>
          <p:cNvSpPr/>
          <p:nvPr/>
        </p:nvSpPr>
        <p:spPr>
          <a:xfrm>
            <a:off x="566928" y="6035040"/>
            <a:ext cx="11057839" cy="11887"/>
          </a:xfrm>
          <a:prstGeom prst="rect">
            <a:avLst/>
          </a:prstGeom>
          <a:solidFill>
            <a:srgbClr val="4EE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19</a:t>
            </a:r>
          </a:p>
        </p:txBody>
      </p:sp>
      <p:sp>
        <p:nvSpPr>
          <p:cNvPr id="6" name="TextBox 5"/>
          <p:cNvSpPr txBox="1"/>
          <p:nvPr/>
        </p:nvSpPr>
        <p:spPr>
          <a:xfrm>
            <a:off x="566928" y="6144768"/>
            <a:ext cx="9869119" cy="548640"/>
          </a:xfrm>
          <a:prstGeom prst="rect">
            <a:avLst/>
          </a:prstGeom>
          <a:noFill/>
        </p:spPr>
        <p:txBody>
          <a:bodyPr wrap="square" lIns="0" rIns="0" tIns="0" bIns="0" anchor="t">
            <a:spAutoFit/>
          </a:bodyPr>
          <a:lstStyle/>
          <a:p>
            <a:pPr>
              <a:lnSpc>
                <a:spcPct val="115000"/>
              </a:lnSpc>
            </a:pPr>
            <a:r>
              <a:rPr sz="800" b="0" i="0">
                <a:solidFill>
                  <a:srgbClr val="A6ADBA"/>
                </a:solidFill>
                <a:latin typeface="Arial"/>
              </a:rPr>
              <a:t>Sources: FACT//DUEL internal — numbers.md §5 (failed verification and unresolved items)  ·  MAG Interactive — Q3 2025/26 interim report  ·  TechCrunch — Trivia Royale, 2.5M downloads in 3 weeks</a:t>
            </a:r>
          </a:p>
          <a:p>
            <a:pPr>
              <a:lnSpc>
                <a:spcPct val="115000"/>
              </a:lnSpc>
            </a:pPr>
            <a:r>
              <a:rPr sz="800" b="0" i="0">
                <a:solidFill>
                  <a:srgbClr val="A6ADBA"/>
                </a:solidFill>
                <a:latin typeface="Arial"/>
              </a:rPr>
              <a:t>AppTweak — US store conversion benchmarks, CY2025</a:t>
            </a:r>
          </a:p>
        </p:txBody>
      </p:sp>
      <p:sp>
        <p:nvSpPr>
          <p:cNvPr id="7" name="TextBox 6"/>
          <p:cNvSpPr txBox="1"/>
          <p:nvPr/>
        </p:nvSpPr>
        <p:spPr>
          <a:xfrm>
            <a:off x="566928" y="1719072"/>
            <a:ext cx="11057839" cy="4187952"/>
          </a:xfrm>
          <a:prstGeom prst="rect">
            <a:avLst/>
          </a:prstGeom>
          <a:noFill/>
        </p:spPr>
        <p:txBody>
          <a:bodyPr wrap="square" lIns="0" rIns="0" tIns="0" bIns="0" anchor="t">
            <a:spAutoFit/>
          </a:bodyPr>
          <a:lstStyle/>
          <a:p>
            <a:pPr marL="306731" indent="-306731">
              <a:lnSpc>
                <a:spcPct val="116000"/>
              </a:lnSpc>
              <a:buClr>
                <a:srgbClr val="4EE1FF"/>
              </a:buClr>
              <a:buFont typeface="Arial"/>
              <a:buChar char="—"/>
            </a:pPr>
            <a:r>
              <a:rPr sz="1800" b="0" i="0">
                <a:solidFill>
                  <a:srgbClr val="F7F6EF"/>
                </a:solidFill>
                <a:latin typeface="Arial"/>
              </a:rPr>
              <a:t>Everything about FACT//DUEL: no DAU, no D1/D7/D30, no session length, no conversion, no CAC, no LTV, no revenue.</a:t>
            </a:r>
          </a:p>
          <a:p>
            <a:pPr marL="306731" indent="-306731">
              <a:lnSpc>
                <a:spcPct val="116000"/>
              </a:lnSpc>
              <a:spcBef>
                <a:spcPts val="990"/>
              </a:spcBef>
              <a:buClr>
                <a:srgbClr val="4EE1FF"/>
              </a:buClr>
              <a:buFont typeface="Arial"/>
              <a:buChar char="—"/>
            </a:pPr>
            <a:r>
              <a:rPr sz="1800" b="0" i="0">
                <a:solidFill>
                  <a:srgbClr val="F7F6EF"/>
                </a:solidFill>
                <a:latin typeface="Arial"/>
              </a:rPr>
              <a:t>Whether app-store benchmarks transfer to a web product with no install step and no push notifications. They may not.</a:t>
            </a:r>
          </a:p>
          <a:p>
            <a:pPr marL="306731" indent="-306731">
              <a:lnSpc>
                <a:spcPct val="116000"/>
              </a:lnSpc>
              <a:spcBef>
                <a:spcPts val="990"/>
              </a:spcBef>
              <a:buClr>
                <a:srgbClr val="4EE1FF"/>
              </a:buClr>
              <a:buFont typeface="Arial"/>
              <a:buChar char="—"/>
            </a:pPr>
            <a:r>
              <a:rPr sz="1800" b="0" i="0">
                <a:solidFill>
                  <a:srgbClr val="F7F6EF"/>
                </a:solidFill>
                <a:latin typeface="Arial"/>
              </a:rPr>
              <a:t>CAC or CPI for trivia in 2025-26: no verified benchmark of any kind exists in our evidence base.</a:t>
            </a:r>
          </a:p>
          <a:p>
            <a:pPr marL="306731" indent="-306731">
              <a:lnSpc>
                <a:spcPct val="116000"/>
              </a:lnSpc>
              <a:spcBef>
                <a:spcPts val="990"/>
              </a:spcBef>
              <a:buClr>
                <a:srgbClr val="4EE1FF"/>
              </a:buClr>
              <a:buFont typeface="Arial"/>
              <a:buChar char="—"/>
            </a:pPr>
            <a:r>
              <a:rPr sz="1800" b="0" i="0">
                <a:solidFill>
                  <a:srgbClr val="F7F6EF"/>
                </a:solidFill>
                <a:latin typeface="Arial"/>
              </a:rPr>
              <a:t>Genre ARPDAU: the circulated bands failed verification as citation laundering and are excluded from this deck.</a:t>
            </a:r>
          </a:p>
          <a:p>
            <a:pPr marL="306731" indent="-306731">
              <a:lnSpc>
                <a:spcPct val="116000"/>
              </a:lnSpc>
              <a:spcBef>
                <a:spcPts val="990"/>
              </a:spcBef>
              <a:buClr>
                <a:srgbClr val="4EE1FF"/>
              </a:buClr>
              <a:buFont typeface="Arial"/>
              <a:buChar char="—"/>
            </a:pPr>
            <a:r>
              <a:rPr sz="1800" b="0" i="0">
                <a:solidFill>
                  <a:srgbClr val="F7F6EF"/>
                </a:solidFill>
                <a:latin typeface="Arial"/>
              </a:rPr>
              <a:t>Whether consumer trivia can monetise at scale at all. Our own paid cohort after milestone 1 is what settles it.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859536"/>
          </a:xfrm>
        </p:spPr>
        <p:txBody>
          <a:bodyPr wrap="square" lIns="0" rIns="0" tIns="0" bIns="0" anchor="t"/>
          <a:lstStyle/>
          <a:p>
            <a:pPr>
              <a:lnSpc>
                <a:spcPct val="108000"/>
              </a:lnSpc>
            </a:pPr>
            <a:r>
              <a:rPr sz="3000" b="1" i="0">
                <a:solidFill>
                  <a:srgbClr val="F7F6EF"/>
                </a:solidFill>
                <a:latin typeface="Arial"/>
              </a:rPr>
              <a:t>Appendix F — the shipped surfaces, for anyone who would rather play it than read about it.</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4EE1FF"/>
                </a:solidFill>
                <a:latin typeface="Arial"/>
              </a:rPr>
              <a:t>APPENDIX — PRODUCT</a:t>
            </a:r>
          </a:p>
        </p:txBody>
      </p:sp>
      <p:sp>
        <p:nvSpPr>
          <p:cNvPr id="4" name="Rectangle 3"/>
          <p:cNvSpPr/>
          <p:nvPr/>
        </p:nvSpPr>
        <p:spPr>
          <a:xfrm>
            <a:off x="566928" y="6035040"/>
            <a:ext cx="11057839" cy="11887"/>
          </a:xfrm>
          <a:prstGeom prst="rect">
            <a:avLst/>
          </a:prstGeom>
          <a:solidFill>
            <a:srgbClr val="4EE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20</a:t>
            </a:r>
          </a:p>
        </p:txBody>
      </p:sp>
      <p:sp>
        <p:nvSpPr>
          <p:cNvPr id="6" name="TextBox 5"/>
          <p:cNvSpPr txBox="1"/>
          <p:nvPr/>
        </p:nvSpPr>
        <p:spPr>
          <a:xfrm>
            <a:off x="566928" y="6144768"/>
            <a:ext cx="9869119" cy="548640"/>
          </a:xfrm>
          <a:prstGeom prst="rect">
            <a:avLst/>
          </a:prstGeom>
          <a:noFill/>
        </p:spPr>
        <p:txBody>
          <a:bodyPr wrap="square" lIns="0" rIns="0" tIns="0" bIns="0" anchor="t">
            <a:spAutoFit/>
          </a:bodyPr>
          <a:lstStyle/>
          <a:p>
            <a:pPr>
              <a:lnSpc>
                <a:spcPct val="115000"/>
              </a:lnSpc>
            </a:pPr>
            <a:r>
              <a:rPr sz="800" b="0" i="0">
                <a:solidFill>
                  <a:srgbClr val="A6ADBA"/>
                </a:solidFill>
                <a:latin typeface="Arial"/>
              </a:rPr>
              <a:t>Sources: FACT//DUEL internal — numbers.md — status paragraph and §5.15</a:t>
            </a:r>
          </a:p>
        </p:txBody>
      </p:sp>
      <p:sp>
        <p:nvSpPr>
          <p:cNvPr id="7" name="TextBox 6"/>
          <p:cNvSpPr txBox="1"/>
          <p:nvPr/>
        </p:nvSpPr>
        <p:spPr>
          <a:xfrm>
            <a:off x="566928" y="1719072"/>
            <a:ext cx="4754880" cy="4187952"/>
          </a:xfrm>
          <a:prstGeom prst="rect">
            <a:avLst/>
          </a:prstGeom>
          <a:noFill/>
        </p:spPr>
        <p:txBody>
          <a:bodyPr wrap="square" lIns="0" rIns="0" tIns="0" bIns="0" anchor="t">
            <a:spAutoFit/>
          </a:bodyPr>
          <a:lstStyle/>
          <a:p>
            <a:pPr marL="255604" indent="-255604">
              <a:lnSpc>
                <a:spcPct val="116000"/>
              </a:lnSpc>
              <a:buClr>
                <a:srgbClr val="4EE1FF"/>
              </a:buClr>
              <a:buFont typeface="Arial"/>
              <a:buChar char="—"/>
            </a:pPr>
            <a:r>
              <a:rPr sz="1500" b="0" i="0">
                <a:solidFill>
                  <a:srgbClr val="F7F6EF"/>
                </a:solidFill>
                <a:latin typeface="Arial"/>
              </a:rPr>
              <a:t>Player record, badges, stamps and the Locker: the long-tail progression surface, all of it device-local.</a:t>
            </a:r>
          </a:p>
          <a:p>
            <a:pPr marL="255604" indent="-255604">
              <a:lnSpc>
                <a:spcPct val="116000"/>
              </a:lnSpc>
              <a:spcBef>
                <a:spcPts val="825"/>
              </a:spcBef>
              <a:buClr>
                <a:srgbClr val="4EE1FF"/>
              </a:buClr>
              <a:buFont typeface="Arial"/>
              <a:buChar char="—"/>
            </a:pPr>
            <a:r>
              <a:rPr sz="1500" b="0" i="0">
                <a:solidFill>
                  <a:srgbClr val="F7F6EF"/>
                </a:solidFill>
                <a:latin typeface="Arial"/>
              </a:rPr>
              <a:t>Every visual effect is generated at runtime — procedural audio with no audio files, and 3D loaded lazily.</a:t>
            </a:r>
          </a:p>
          <a:p>
            <a:pPr marL="255604" indent="-255604">
              <a:lnSpc>
                <a:spcPct val="116000"/>
              </a:lnSpc>
              <a:spcBef>
                <a:spcPts val="825"/>
              </a:spcBef>
              <a:buClr>
                <a:srgbClr val="4EE1FF"/>
              </a:buClr>
              <a:buFont typeface="Arial"/>
              <a:buChar char="—"/>
            </a:pPr>
            <a:r>
              <a:rPr sz="1500" b="0" i="0">
                <a:solidFill>
                  <a:srgbClr val="F7F6EF"/>
                </a:solidFill>
                <a:latin typeface="Arial"/>
              </a:rPr>
              <a:t>Every action works without WebGL; reduced-motion settings override the effects layer toward less motion.</a:t>
            </a:r>
          </a:p>
          <a:p>
            <a:pPr marL="255604" indent="-255604">
              <a:lnSpc>
                <a:spcPct val="116000"/>
              </a:lnSpc>
              <a:spcBef>
                <a:spcPts val="825"/>
              </a:spcBef>
              <a:buClr>
                <a:srgbClr val="4EE1FF"/>
              </a:buClr>
              <a:buFont typeface="Arial"/>
              <a:buChar char="—"/>
            </a:pPr>
            <a:r>
              <a:rPr sz="1500" b="0" i="0">
                <a:solidFill>
                  <a:srgbClr val="F7F6EF"/>
                </a:solidFill>
                <a:latin typeface="Arial"/>
              </a:rPr>
              <a:t>None of this is a ranked or verified record, and none of it is sent to a server. Reset clears it.</a:t>
            </a:r>
          </a:p>
          <a:p>
            <a:pPr marL="255604" indent="-255604">
              <a:lnSpc>
                <a:spcPct val="116000"/>
              </a:lnSpc>
              <a:spcBef>
                <a:spcPts val="825"/>
              </a:spcBef>
              <a:buClr>
                <a:srgbClr val="4EE1FF"/>
              </a:buClr>
              <a:buFont typeface="Arial"/>
              <a:buChar char="—"/>
            </a:pPr>
            <a:r>
              <a:rPr sz="1500" b="0" i="0">
                <a:solidFill>
                  <a:srgbClr val="F7F6EF"/>
                </a:solidFill>
                <a:latin typeface="Arial"/>
              </a:rPr>
              <a:t>A private playtest link is available on request. It is the fastest way to check every claim on slides 5 and 6.</a:t>
            </a:r>
          </a:p>
        </p:txBody>
      </p:sp>
      <p:sp>
        <p:nvSpPr>
          <p:cNvPr id="8" name="Rectangle 7"/>
          <p:cNvSpPr/>
          <p:nvPr/>
        </p:nvSpPr>
        <p:spPr>
          <a:xfrm>
            <a:off x="5669280" y="2140157"/>
            <a:ext cx="4325464" cy="3345781"/>
          </a:xfrm>
          <a:prstGeom prst="rect">
            <a:avLst/>
          </a:prstGeom>
          <a:solidFill>
            <a:srgbClr val="1218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desktop-passport.png"/>
          <p:cNvPicPr>
            <a:picLocks noChangeAspect="1"/>
          </p:cNvPicPr>
          <p:nvPr/>
        </p:nvPicPr>
        <p:blipFill>
          <a:blip r:embed="rId2"/>
          <a:stretch>
            <a:fillRect/>
          </a:stretch>
        </p:blipFill>
        <p:spPr>
          <a:xfrm>
            <a:off x="5769864" y="2240741"/>
            <a:ext cx="4124296" cy="2577685"/>
          </a:xfrm>
          <a:prstGeom prst="rect">
            <a:avLst/>
          </a:prstGeom>
        </p:spPr>
      </p:pic>
      <p:sp>
        <p:nvSpPr>
          <p:cNvPr id="10" name="TextBox 9"/>
          <p:cNvSpPr txBox="1"/>
          <p:nvPr/>
        </p:nvSpPr>
        <p:spPr>
          <a:xfrm>
            <a:off x="5769864" y="4882434"/>
            <a:ext cx="4124296" cy="457200"/>
          </a:xfrm>
          <a:prstGeom prst="rect">
            <a:avLst/>
          </a:prstGeom>
          <a:noFill/>
        </p:spPr>
        <p:txBody>
          <a:bodyPr wrap="square" lIns="0" rIns="0" tIns="0" bIns="0" anchor="t">
            <a:spAutoFit/>
          </a:bodyPr>
          <a:lstStyle/>
          <a:p>
            <a:pPr>
              <a:lnSpc>
                <a:spcPct val="112000"/>
              </a:lnSpc>
            </a:pPr>
            <a:r>
              <a:rPr sz="950" b="0" i="0">
                <a:solidFill>
                  <a:srgbClr val="A6ADBA"/>
                </a:solidFill>
                <a:latin typeface="Arial"/>
              </a:rPr>
              <a:t>The player record: level and XP, Arena Rank, day streak, mastery — all device-local.</a:t>
            </a:r>
          </a:p>
        </p:txBody>
      </p:sp>
      <p:sp>
        <p:nvSpPr>
          <p:cNvPr id="11" name="Rectangle 10"/>
          <p:cNvSpPr/>
          <p:nvPr/>
        </p:nvSpPr>
        <p:spPr>
          <a:xfrm>
            <a:off x="10232488" y="2140157"/>
            <a:ext cx="1392278" cy="3345781"/>
          </a:xfrm>
          <a:prstGeom prst="rect">
            <a:avLst/>
          </a:prstGeom>
          <a:solidFill>
            <a:srgbClr val="1218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phone-passport.png"/>
          <p:cNvPicPr>
            <a:picLocks noChangeAspect="1"/>
          </p:cNvPicPr>
          <p:nvPr/>
        </p:nvPicPr>
        <p:blipFill>
          <a:blip r:embed="rId3"/>
          <a:stretch>
            <a:fillRect/>
          </a:stretch>
        </p:blipFill>
        <p:spPr>
          <a:xfrm>
            <a:off x="10333072" y="2240741"/>
            <a:ext cx="1191110" cy="2577685"/>
          </a:xfrm>
          <a:prstGeom prst="rect">
            <a:avLst/>
          </a:prstGeom>
        </p:spPr>
      </p:pic>
      <p:sp>
        <p:nvSpPr>
          <p:cNvPr id="13" name="TextBox 12"/>
          <p:cNvSpPr txBox="1"/>
          <p:nvPr/>
        </p:nvSpPr>
        <p:spPr>
          <a:xfrm>
            <a:off x="10333072" y="4882434"/>
            <a:ext cx="1191110" cy="457200"/>
          </a:xfrm>
          <a:prstGeom prst="rect">
            <a:avLst/>
          </a:prstGeom>
          <a:noFill/>
        </p:spPr>
        <p:txBody>
          <a:bodyPr wrap="square" lIns="0" rIns="0" tIns="0" bIns="0" anchor="t">
            <a:spAutoFit/>
          </a:bodyPr>
          <a:lstStyle/>
          <a:p>
            <a:pPr>
              <a:lnSpc>
                <a:spcPct val="112000"/>
              </a:lnSpc>
            </a:pPr>
            <a:r>
              <a:rPr sz="950" b="0" i="0">
                <a:solidFill>
                  <a:srgbClr val="A6ADBA"/>
                </a:solidFill>
                <a:latin typeface="Arial"/>
              </a:rPr>
              <a:t>The record on a phone.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859536"/>
          </a:xfrm>
        </p:spPr>
        <p:txBody>
          <a:bodyPr wrap="square" lIns="0" rIns="0" tIns="0" bIns="0" anchor="t"/>
          <a:lstStyle/>
          <a:p>
            <a:pPr>
              <a:lnSpc>
                <a:spcPct val="108000"/>
              </a:lnSpc>
            </a:pPr>
            <a:r>
              <a:rPr sz="3000" b="1" i="0">
                <a:solidFill>
                  <a:srgbClr val="F7F6EF"/>
                </a:solidFill>
                <a:latin typeface="Arial"/>
              </a:rPr>
              <a:t>Appendix G — the whole model on one page. Every figure is (P).</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4EE1FF"/>
                </a:solidFill>
                <a:latin typeface="Arial"/>
              </a:rPr>
              <a:t>APPENDIX — THE MODEL, YEAR BY YEAR</a:t>
            </a:r>
          </a:p>
        </p:txBody>
      </p:sp>
      <p:sp>
        <p:nvSpPr>
          <p:cNvPr id="4" name="Rectangle 3"/>
          <p:cNvSpPr/>
          <p:nvPr/>
        </p:nvSpPr>
        <p:spPr>
          <a:xfrm>
            <a:off x="566928" y="6035040"/>
            <a:ext cx="11057839" cy="11887"/>
          </a:xfrm>
          <a:prstGeom prst="rect">
            <a:avLst/>
          </a:prstGeom>
          <a:solidFill>
            <a:srgbClr val="4EE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21</a:t>
            </a:r>
          </a:p>
        </p:txBody>
      </p:sp>
      <p:sp>
        <p:nvSpPr>
          <p:cNvPr id="6" name="TextBox 5"/>
          <p:cNvSpPr txBox="1"/>
          <p:nvPr/>
        </p:nvSpPr>
        <p:spPr>
          <a:xfrm>
            <a:off x="566928" y="6144768"/>
            <a:ext cx="9869119" cy="548640"/>
          </a:xfrm>
          <a:prstGeom prst="rect">
            <a:avLst/>
          </a:prstGeom>
          <a:noFill/>
        </p:spPr>
        <p:txBody>
          <a:bodyPr wrap="square" lIns="0" rIns="0" tIns="0" bIns="0" anchor="t">
            <a:spAutoFit/>
          </a:bodyPr>
          <a:lstStyle/>
          <a:p>
            <a:pPr>
              <a:lnSpc>
                <a:spcPct val="115000"/>
              </a:lnSpc>
            </a:pPr>
            <a:r>
              <a:rPr sz="800" b="0" i="0">
                <a:solidFill>
                  <a:srgbClr val="A6ADBA"/>
                </a:solidFill>
                <a:latin typeface="Arial"/>
              </a:rPr>
              <a:t>Sources: GameAnalytics — 2026 Mobile &amp; PC Gaming Benchmarks  ·  AppsFlyer — State of App Monetization 2026  ·  FACT//DUEL internal — numbers.md §4.1-§4.3</a:t>
            </a:r>
          </a:p>
        </p:txBody>
      </p:sp>
      <p:sp>
        <p:nvSpPr>
          <p:cNvPr id="7" name="TextBox 6"/>
          <p:cNvSpPr txBox="1"/>
          <p:nvPr/>
        </p:nvSpPr>
        <p:spPr>
          <a:xfrm>
            <a:off x="566928" y="1719072"/>
            <a:ext cx="11057839" cy="1154938"/>
          </a:xfrm>
          <a:prstGeom prst="rect">
            <a:avLst/>
          </a:prstGeom>
          <a:noFill/>
        </p:spPr>
        <p:txBody>
          <a:bodyPr wrap="square" lIns="0" rIns="0" tIns="0" bIns="0" anchor="t">
            <a:spAutoFit/>
          </a:bodyPr>
          <a:lstStyle/>
          <a:p>
            <a:pPr marL="238571" indent="-238571">
              <a:lnSpc>
                <a:spcPct val="116000"/>
              </a:lnSpc>
              <a:buClr>
                <a:srgbClr val="4EE1FF"/>
              </a:buClr>
              <a:buFont typeface="Arial"/>
              <a:buChar char="—"/>
            </a:pPr>
            <a:r>
              <a:rPr sz="1400" b="0" i="0">
                <a:solidFill>
                  <a:srgbClr val="F7F6EF"/>
                </a:solidFill>
                <a:latin typeface="Arial"/>
              </a:rPr>
              <a:t>Revenue(year) = Installs x [ payer rate x ARPPU ] + Installs x ad revenue per install.</a:t>
            </a:r>
          </a:p>
          <a:p>
            <a:pPr marL="238571" indent="-238571">
              <a:lnSpc>
                <a:spcPct val="116000"/>
              </a:lnSpc>
              <a:spcBef>
                <a:spcPts val="770"/>
              </a:spcBef>
              <a:buClr>
                <a:srgbClr val="4EE1FF"/>
              </a:buClr>
              <a:buFont typeface="Arial"/>
              <a:buChar char="—"/>
            </a:pPr>
            <a:r>
              <a:rPr sz="1400" b="0" i="0">
                <a:solidFill>
                  <a:srgbClr val="F7F6EF"/>
                </a:solidFill>
                <a:latin typeface="Arial"/>
              </a:rPr>
              <a:t>Steady-state MAU = monthly installs + ( monthly installs x D30 / monthly churn ), churn fixed at 20%.</a:t>
            </a:r>
          </a:p>
          <a:p>
            <a:pPr marL="238571" indent="-238571">
              <a:lnSpc>
                <a:spcPct val="116000"/>
              </a:lnSpc>
              <a:spcBef>
                <a:spcPts val="770"/>
              </a:spcBef>
              <a:buClr>
                <a:srgbClr val="4EE1FF"/>
              </a:buClr>
              <a:buFont typeface="Arial"/>
              <a:buChar char="—"/>
            </a:pPr>
            <a:r>
              <a:rPr sz="1400" b="0" i="0">
                <a:solidFill>
                  <a:srgbClr val="F7F6EF"/>
                </a:solidFill>
                <a:latin typeface="Arial"/>
              </a:rPr>
              <a:t>There is nothing to mark (A): zero users and zero months of cohort data, so nothing here is an actual.</a:t>
            </a:r>
          </a:p>
          <a:p>
            <a:pPr marL="238571" indent="-238571">
              <a:lnSpc>
                <a:spcPct val="116000"/>
              </a:lnSpc>
              <a:spcBef>
                <a:spcPts val="770"/>
              </a:spcBef>
              <a:buClr>
                <a:srgbClr val="4EE1FF"/>
              </a:buClr>
              <a:buFont typeface="Arial"/>
              <a:buChar char="—"/>
            </a:pPr>
            <a:r>
              <a:rPr sz="1400" b="0" i="0">
                <a:solidFill>
                  <a:srgbClr val="F7F6EF"/>
                </a:solidFill>
                <a:latin typeface="Arial"/>
              </a:rPr>
              <a:t>Annual installs run about 11x steady-state MAU. Revenue per MAU is throughput, not intensity.</a:t>
            </a:r>
          </a:p>
        </p:txBody>
      </p:sp>
      <p:graphicFrame>
        <p:nvGraphicFramePr>
          <p:cNvPr id="8" name="Table 7"/>
          <p:cNvGraphicFramePr>
            <a:graphicFrameLocks noGrp="1"/>
          </p:cNvGraphicFramePr>
          <p:nvPr/>
        </p:nvGraphicFramePr>
        <p:xfrm>
          <a:off x="566928" y="3111754"/>
          <a:ext cx="11057837" cy="2795260"/>
        </p:xfrm>
        <a:graphic>
          <a:graphicData uri="http://schemas.openxmlformats.org/drawingml/2006/table">
            <a:tbl>
              <a:tblPr>
                <a:tableStyleId>{2D5ABB26-0587-4C30-8999-92F81FD0307C}</a:tableStyleId>
              </a:tblPr>
              <a:tblGrid>
                <a:gridCol w="1598344"/>
                <a:gridCol w="698293"/>
                <a:gridCol w="1202659"/>
                <a:gridCol w="1166010"/>
                <a:gridCol w="1322775"/>
                <a:gridCol w="1873772"/>
                <a:gridCol w="1501988"/>
                <a:gridCol w="1693996"/>
              </a:tblGrid>
              <a:tr h="215020">
                <a:tc>
                  <a:txBody>
                    <a:bodyPr wrap="square"/>
                    <a:lstStyle/>
                    <a:p>
                      <a:pPr>
                        <a:lnSpc>
                          <a:spcPct val="114000"/>
                        </a:lnSpc>
                      </a:pPr>
                      <a:r>
                        <a:rPr sz="900" b="1" i="0">
                          <a:solidFill>
                            <a:srgbClr val="D4FF3A"/>
                          </a:solidFill>
                          <a:latin typeface="Arial"/>
                        </a:rPr>
                        <a:t>Scenario (P)</a:t>
                      </a:r>
                    </a:p>
                  </a:txBody>
                  <a:tcPr marL="64008" marR="64008" marT="41148" marB="41148" anchor="ctr">
                    <a:solidFill>
                      <a:srgbClr val="121821"/>
                    </a:solidFill>
                  </a:tcPr>
                </a:tc>
                <a:tc>
                  <a:txBody>
                    <a:bodyPr wrap="square"/>
                    <a:lstStyle/>
                    <a:p>
                      <a:pPr>
                        <a:lnSpc>
                          <a:spcPct val="114000"/>
                        </a:lnSpc>
                      </a:pPr>
                      <a:r>
                        <a:rPr sz="900" b="1" i="0">
                          <a:solidFill>
                            <a:srgbClr val="D4FF3A"/>
                          </a:solidFill>
                          <a:latin typeface="Arial"/>
                        </a:rPr>
                        <a:t>Year</a:t>
                      </a:r>
                    </a:p>
                  </a:txBody>
                  <a:tcPr marL="64008" marR="64008" marT="41148" marB="41148" anchor="ctr">
                    <a:solidFill>
                      <a:srgbClr val="121821"/>
                    </a:solidFill>
                  </a:tcPr>
                </a:tc>
                <a:tc>
                  <a:txBody>
                    <a:bodyPr wrap="square"/>
                    <a:lstStyle/>
                    <a:p>
                      <a:pPr>
                        <a:lnSpc>
                          <a:spcPct val="114000"/>
                        </a:lnSpc>
                      </a:pPr>
                      <a:r>
                        <a:rPr sz="900" b="1" i="0">
                          <a:solidFill>
                            <a:srgbClr val="D4FF3A"/>
                          </a:solidFill>
                          <a:latin typeface="Arial"/>
                        </a:rPr>
                        <a:t>Installs</a:t>
                      </a:r>
                    </a:p>
                  </a:txBody>
                  <a:tcPr marL="64008" marR="64008" marT="41148" marB="41148" anchor="ctr">
                    <a:solidFill>
                      <a:srgbClr val="121821"/>
                    </a:solidFill>
                  </a:tcPr>
                </a:tc>
                <a:tc>
                  <a:txBody>
                    <a:bodyPr wrap="square"/>
                    <a:lstStyle/>
                    <a:p>
                      <a:pPr>
                        <a:lnSpc>
                          <a:spcPct val="114000"/>
                        </a:lnSpc>
                      </a:pPr>
                      <a:r>
                        <a:rPr sz="900" b="1" i="0">
                          <a:solidFill>
                            <a:srgbClr val="D4FF3A"/>
                          </a:solidFill>
                          <a:latin typeface="Arial"/>
                        </a:rPr>
                        <a:t>$ / install</a:t>
                      </a:r>
                    </a:p>
                  </a:txBody>
                  <a:tcPr marL="64008" marR="64008" marT="41148" marB="41148" anchor="ctr">
                    <a:solidFill>
                      <a:srgbClr val="121821"/>
                    </a:solidFill>
                  </a:tcPr>
                </a:tc>
                <a:tc>
                  <a:txBody>
                    <a:bodyPr wrap="square"/>
                    <a:lstStyle/>
                    <a:p>
                      <a:pPr>
                        <a:lnSpc>
                          <a:spcPct val="114000"/>
                        </a:lnSpc>
                      </a:pPr>
                      <a:r>
                        <a:rPr sz="900" b="1" i="0">
                          <a:solidFill>
                            <a:srgbClr val="D4FF3A"/>
                          </a:solidFill>
                          <a:latin typeface="Arial"/>
                        </a:rPr>
                        <a:t>Revenue</a:t>
                      </a:r>
                    </a:p>
                  </a:txBody>
                  <a:tcPr marL="64008" marR="64008" marT="41148" marB="41148" anchor="ctr">
                    <a:solidFill>
                      <a:srgbClr val="121821"/>
                    </a:solidFill>
                  </a:tcPr>
                </a:tc>
                <a:tc>
                  <a:txBody>
                    <a:bodyPr wrap="square"/>
                    <a:lstStyle/>
                    <a:p>
                      <a:pPr>
                        <a:lnSpc>
                          <a:spcPct val="114000"/>
                        </a:lnSpc>
                      </a:pPr>
                      <a:r>
                        <a:rPr sz="900" b="1" i="0">
                          <a:solidFill>
                            <a:srgbClr val="D4FF3A"/>
                          </a:solidFill>
                          <a:latin typeface="Arial"/>
                        </a:rPr>
                        <a:t>Monthly installs</a:t>
                      </a:r>
                    </a:p>
                  </a:txBody>
                  <a:tcPr marL="64008" marR="64008" marT="41148" marB="41148" anchor="ctr">
                    <a:solidFill>
                      <a:srgbClr val="121821"/>
                    </a:solidFill>
                  </a:tcPr>
                </a:tc>
                <a:tc>
                  <a:txBody>
                    <a:bodyPr wrap="square"/>
                    <a:lstStyle/>
                    <a:p>
                      <a:pPr>
                        <a:lnSpc>
                          <a:spcPct val="114000"/>
                        </a:lnSpc>
                      </a:pPr>
                      <a:r>
                        <a:rPr sz="900" b="1" i="0">
                          <a:solidFill>
                            <a:srgbClr val="D4FF3A"/>
                          </a:solidFill>
                          <a:latin typeface="Arial"/>
                        </a:rPr>
                        <a:t>Steady MAU</a:t>
                      </a:r>
                    </a:p>
                  </a:txBody>
                  <a:tcPr marL="64008" marR="64008" marT="41148" marB="41148" anchor="ctr">
                    <a:solidFill>
                      <a:srgbClr val="121821"/>
                    </a:solidFill>
                  </a:tcPr>
                </a:tc>
                <a:tc>
                  <a:txBody>
                    <a:bodyPr wrap="square"/>
                    <a:lstStyle/>
                    <a:p>
                      <a:pPr>
                        <a:lnSpc>
                          <a:spcPct val="114000"/>
                        </a:lnSpc>
                      </a:pPr>
                      <a:r>
                        <a:rPr sz="900" b="1" i="0">
                          <a:solidFill>
                            <a:srgbClr val="D4FF3A"/>
                          </a:solidFill>
                          <a:latin typeface="Arial"/>
                        </a:rPr>
                        <a:t>Rev / MAU / yr</a:t>
                      </a:r>
                    </a:p>
                  </a:txBody>
                  <a:tcPr marL="64008" marR="64008" marT="41148" marB="41148" anchor="ctr">
                    <a:solidFill>
                      <a:srgbClr val="121821"/>
                    </a:solidFill>
                  </a:tcPr>
                </a:tc>
              </a:tr>
              <a:tr h="215020">
                <a:tc>
                  <a:txBody>
                    <a:bodyPr wrap="square"/>
                    <a:lstStyle/>
                    <a:p>
                      <a:pPr>
                        <a:lnSpc>
                          <a:spcPct val="114000"/>
                        </a:lnSpc>
                      </a:pPr>
                      <a:r>
                        <a:rPr sz="900" b="1" i="0">
                          <a:solidFill>
                            <a:srgbClr val="F7F6EF"/>
                          </a:solidFill>
                          <a:latin typeface="Arial"/>
                        </a:rPr>
                        <a:t>Conservative</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Y1</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25,000</a:t>
                      </a:r>
                    </a:p>
                  </a:txBody>
                  <a:tcPr marL="64008" marR="64008" marT="41148" marB="41148" anchor="ctr">
                    <a:solidFill>
                      <a:srgbClr val="121821"/>
                    </a:solidFill>
                  </a:tcPr>
                </a:tc>
                <a:tc>
                  <a:txBody>
                    <a:bodyPr wrap="square"/>
                    <a:lstStyle/>
                    <a:p>
                      <a:pPr>
                        <a:lnSpc>
                          <a:spcPct val="114000"/>
                        </a:lnSpc>
                      </a:pPr>
                      <a:r>
                        <a:rPr sz="900" b="0" i="0">
                          <a:solidFill>
                            <a:srgbClr val="FFC83D"/>
                          </a:solidFill>
                          <a:latin typeface="Arial"/>
                        </a:rPr>
                        <a:t>$0.3688</a:t>
                      </a:r>
                    </a:p>
                  </a:txBody>
                  <a:tcPr marL="64008" marR="64008" marT="41148" marB="41148" anchor="ctr">
                    <a:solidFill>
                      <a:srgbClr val="121821"/>
                    </a:solidFill>
                  </a:tcPr>
                </a:tc>
                <a:tc>
                  <a:txBody>
                    <a:bodyPr wrap="square"/>
                    <a:lstStyle/>
                    <a:p>
                      <a:pPr>
                        <a:lnSpc>
                          <a:spcPct val="114000"/>
                        </a:lnSpc>
                      </a:pPr>
                      <a:r>
                        <a:rPr sz="900" b="0" i="0">
                          <a:solidFill>
                            <a:srgbClr val="FFC83D"/>
                          </a:solidFill>
                          <a:latin typeface="Arial"/>
                        </a:rPr>
                        <a:t>$9,220</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2,083</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2,154</a:t>
                      </a:r>
                    </a:p>
                  </a:txBody>
                  <a:tcPr marL="64008" marR="64008" marT="41148" marB="41148" anchor="ctr">
                    <a:solidFill>
                      <a:srgbClr val="121821"/>
                    </a:solidFill>
                  </a:tcPr>
                </a:tc>
                <a:tc>
                  <a:txBody>
                    <a:bodyPr wrap="square"/>
                    <a:lstStyle/>
                    <a:p>
                      <a:pPr>
                        <a:lnSpc>
                          <a:spcPct val="114000"/>
                        </a:lnSpc>
                      </a:pPr>
                      <a:r>
                        <a:rPr sz="900" b="0" i="0">
                          <a:solidFill>
                            <a:srgbClr val="FFC83D"/>
                          </a:solidFill>
                          <a:latin typeface="Arial"/>
                        </a:rPr>
                        <a:t>$4.28</a:t>
                      </a:r>
                    </a:p>
                  </a:txBody>
                  <a:tcPr marL="64008" marR="64008" marT="41148" marB="41148" anchor="ctr">
                    <a:solidFill>
                      <a:srgbClr val="121821"/>
                    </a:solidFill>
                  </a:tcPr>
                </a:tc>
              </a:tr>
              <a:tr h="215020">
                <a:tc>
                  <a:txBody>
                    <a:bodyPr wrap="square"/>
                    <a:lstStyle/>
                    <a:p>
                      <a:pPr>
                        <a:lnSpc>
                          <a:spcPct val="114000"/>
                        </a:lnSpc>
                      </a:pPr>
                      <a:r>
                        <a:rPr sz="900" b="1" i="0">
                          <a:solidFill>
                            <a:srgbClr val="F7F6EF"/>
                          </a:solidFill>
                          <a:latin typeface="Arial"/>
                        </a:rPr>
                        <a:t>Conservative</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Y2</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90,000</a:t>
                      </a:r>
                    </a:p>
                  </a:txBody>
                  <a:tcPr marL="64008" marR="64008" marT="41148" marB="41148" anchor="ctr">
                    <a:solidFill>
                      <a:srgbClr val="0D131B"/>
                    </a:solidFill>
                  </a:tcPr>
                </a:tc>
                <a:tc>
                  <a:txBody>
                    <a:bodyPr wrap="square"/>
                    <a:lstStyle/>
                    <a:p>
                      <a:pPr>
                        <a:lnSpc>
                          <a:spcPct val="114000"/>
                        </a:lnSpc>
                      </a:pPr>
                      <a:r>
                        <a:rPr sz="900" b="0" i="0">
                          <a:solidFill>
                            <a:srgbClr val="FFC83D"/>
                          </a:solidFill>
                          <a:latin typeface="Arial"/>
                        </a:rPr>
                        <a:t>$0.3688</a:t>
                      </a:r>
                    </a:p>
                  </a:txBody>
                  <a:tcPr marL="64008" marR="64008" marT="41148" marB="41148" anchor="ctr">
                    <a:solidFill>
                      <a:srgbClr val="0D131B"/>
                    </a:solidFill>
                  </a:tcPr>
                </a:tc>
                <a:tc>
                  <a:txBody>
                    <a:bodyPr wrap="square"/>
                    <a:lstStyle/>
                    <a:p>
                      <a:pPr>
                        <a:lnSpc>
                          <a:spcPct val="114000"/>
                        </a:lnSpc>
                      </a:pPr>
                      <a:r>
                        <a:rPr sz="900" b="0" i="0">
                          <a:solidFill>
                            <a:srgbClr val="FFC83D"/>
                          </a:solidFill>
                          <a:latin typeface="Arial"/>
                        </a:rPr>
                        <a:t>$33,193</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7,500</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7,755</a:t>
                      </a:r>
                    </a:p>
                  </a:txBody>
                  <a:tcPr marL="64008" marR="64008" marT="41148" marB="41148" anchor="ctr">
                    <a:solidFill>
                      <a:srgbClr val="0D131B"/>
                    </a:solidFill>
                  </a:tcPr>
                </a:tc>
                <a:tc>
                  <a:txBody>
                    <a:bodyPr wrap="square"/>
                    <a:lstStyle/>
                    <a:p>
                      <a:pPr>
                        <a:lnSpc>
                          <a:spcPct val="114000"/>
                        </a:lnSpc>
                      </a:pPr>
                      <a:r>
                        <a:rPr sz="900" b="0" i="0">
                          <a:solidFill>
                            <a:srgbClr val="FFC83D"/>
                          </a:solidFill>
                          <a:latin typeface="Arial"/>
                        </a:rPr>
                        <a:t>$4.28</a:t>
                      </a:r>
                    </a:p>
                  </a:txBody>
                  <a:tcPr marL="64008" marR="64008" marT="41148" marB="41148" anchor="ctr">
                    <a:solidFill>
                      <a:srgbClr val="0D131B"/>
                    </a:solidFill>
                  </a:tcPr>
                </a:tc>
              </a:tr>
              <a:tr h="215020">
                <a:tc>
                  <a:txBody>
                    <a:bodyPr wrap="square"/>
                    <a:lstStyle/>
                    <a:p>
                      <a:pPr>
                        <a:lnSpc>
                          <a:spcPct val="114000"/>
                        </a:lnSpc>
                      </a:pPr>
                      <a:r>
                        <a:rPr sz="900" b="1" i="0">
                          <a:solidFill>
                            <a:srgbClr val="F7F6EF"/>
                          </a:solidFill>
                          <a:latin typeface="Arial"/>
                        </a:rPr>
                        <a:t>Conservative</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Y3</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250,000</a:t>
                      </a:r>
                    </a:p>
                  </a:txBody>
                  <a:tcPr marL="64008" marR="64008" marT="41148" marB="41148" anchor="ctr">
                    <a:solidFill>
                      <a:srgbClr val="121821"/>
                    </a:solidFill>
                  </a:tcPr>
                </a:tc>
                <a:tc>
                  <a:txBody>
                    <a:bodyPr wrap="square"/>
                    <a:lstStyle/>
                    <a:p>
                      <a:pPr>
                        <a:lnSpc>
                          <a:spcPct val="114000"/>
                        </a:lnSpc>
                      </a:pPr>
                      <a:r>
                        <a:rPr sz="900" b="0" i="0">
                          <a:solidFill>
                            <a:srgbClr val="FFC83D"/>
                          </a:solidFill>
                          <a:latin typeface="Arial"/>
                        </a:rPr>
                        <a:t>$0.3688</a:t>
                      </a:r>
                    </a:p>
                  </a:txBody>
                  <a:tcPr marL="64008" marR="64008" marT="41148" marB="41148" anchor="ctr">
                    <a:solidFill>
                      <a:srgbClr val="121821"/>
                    </a:solidFill>
                  </a:tcPr>
                </a:tc>
                <a:tc>
                  <a:txBody>
                    <a:bodyPr wrap="square"/>
                    <a:lstStyle/>
                    <a:p>
                      <a:pPr>
                        <a:lnSpc>
                          <a:spcPct val="114000"/>
                        </a:lnSpc>
                      </a:pPr>
                      <a:r>
                        <a:rPr sz="900" b="0" i="0">
                          <a:solidFill>
                            <a:srgbClr val="FFC83D"/>
                          </a:solidFill>
                          <a:latin typeface="Arial"/>
                        </a:rPr>
                        <a:t>$92,202</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20,833</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21,542</a:t>
                      </a:r>
                    </a:p>
                  </a:txBody>
                  <a:tcPr marL="64008" marR="64008" marT="41148" marB="41148" anchor="ctr">
                    <a:solidFill>
                      <a:srgbClr val="121821"/>
                    </a:solidFill>
                  </a:tcPr>
                </a:tc>
                <a:tc>
                  <a:txBody>
                    <a:bodyPr wrap="square"/>
                    <a:lstStyle/>
                    <a:p>
                      <a:pPr>
                        <a:lnSpc>
                          <a:spcPct val="114000"/>
                        </a:lnSpc>
                      </a:pPr>
                      <a:r>
                        <a:rPr sz="900" b="0" i="0">
                          <a:solidFill>
                            <a:srgbClr val="FFC83D"/>
                          </a:solidFill>
                          <a:latin typeface="Arial"/>
                        </a:rPr>
                        <a:t>$4.28</a:t>
                      </a:r>
                    </a:p>
                  </a:txBody>
                  <a:tcPr marL="64008" marR="64008" marT="41148" marB="41148" anchor="ctr">
                    <a:solidFill>
                      <a:srgbClr val="121821"/>
                    </a:solidFill>
                  </a:tcPr>
                </a:tc>
              </a:tr>
              <a:tr h="215020">
                <a:tc>
                  <a:txBody>
                    <a:bodyPr wrap="square"/>
                    <a:lstStyle/>
                    <a:p>
                      <a:pPr>
                        <a:lnSpc>
                          <a:spcPct val="114000"/>
                        </a:lnSpc>
                      </a:pPr>
                      <a:r>
                        <a:rPr sz="900" b="1" i="0">
                          <a:solidFill>
                            <a:srgbClr val="F7F6EF"/>
                          </a:solidFill>
                          <a:latin typeface="Arial"/>
                        </a:rPr>
                        <a:t>Conservative</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3-yr</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365,000</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a:t>
                      </a:r>
                    </a:p>
                  </a:txBody>
                  <a:tcPr marL="64008" marR="64008" marT="41148" marB="41148" anchor="ctr">
                    <a:solidFill>
                      <a:srgbClr val="0D131B"/>
                    </a:solidFill>
                  </a:tcPr>
                </a:tc>
                <a:tc>
                  <a:txBody>
                    <a:bodyPr wrap="square"/>
                    <a:lstStyle/>
                    <a:p>
                      <a:pPr>
                        <a:lnSpc>
                          <a:spcPct val="114000"/>
                        </a:lnSpc>
                      </a:pPr>
                      <a:r>
                        <a:rPr sz="900" b="0" i="0">
                          <a:solidFill>
                            <a:srgbClr val="FFC83D"/>
                          </a:solidFill>
                          <a:latin typeface="Arial"/>
                        </a:rPr>
                        <a:t>$134,615</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a:t>
                      </a:r>
                    </a:p>
                  </a:txBody>
                  <a:tcPr marL="64008" marR="64008" marT="41148" marB="41148" anchor="ctr">
                    <a:solidFill>
                      <a:srgbClr val="0D131B"/>
                    </a:solidFill>
                  </a:tcPr>
                </a:tc>
              </a:tr>
              <a:tr h="215020">
                <a:tc>
                  <a:txBody>
                    <a:bodyPr wrap="square"/>
                    <a:lstStyle/>
                    <a:p>
                      <a:pPr>
                        <a:lnSpc>
                          <a:spcPct val="114000"/>
                        </a:lnSpc>
                      </a:pPr>
                      <a:r>
                        <a:rPr sz="900" b="1" i="0">
                          <a:solidFill>
                            <a:srgbClr val="F7F6EF"/>
                          </a:solidFill>
                          <a:latin typeface="Arial"/>
                        </a:rPr>
                        <a:t>Base</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Y1</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75,000</a:t>
                      </a:r>
                    </a:p>
                  </a:txBody>
                  <a:tcPr marL="64008" marR="64008" marT="41148" marB="41148" anchor="ctr">
                    <a:solidFill>
                      <a:srgbClr val="121821"/>
                    </a:solidFill>
                  </a:tcPr>
                </a:tc>
                <a:tc>
                  <a:txBody>
                    <a:bodyPr wrap="square"/>
                    <a:lstStyle/>
                    <a:p>
                      <a:pPr>
                        <a:lnSpc>
                          <a:spcPct val="114000"/>
                        </a:lnSpc>
                      </a:pPr>
                      <a:r>
                        <a:rPr sz="900" b="0" i="0">
                          <a:solidFill>
                            <a:srgbClr val="FFC83D"/>
                          </a:solidFill>
                          <a:latin typeface="Arial"/>
                        </a:rPr>
                        <a:t>$1.3588</a:t>
                      </a:r>
                    </a:p>
                  </a:txBody>
                  <a:tcPr marL="64008" marR="64008" marT="41148" marB="41148" anchor="ctr">
                    <a:solidFill>
                      <a:srgbClr val="121821"/>
                    </a:solidFill>
                  </a:tcPr>
                </a:tc>
                <a:tc>
                  <a:txBody>
                    <a:bodyPr wrap="square"/>
                    <a:lstStyle/>
                    <a:p>
                      <a:pPr>
                        <a:lnSpc>
                          <a:spcPct val="114000"/>
                        </a:lnSpc>
                      </a:pPr>
                      <a:r>
                        <a:rPr sz="900" b="0" i="0">
                          <a:solidFill>
                            <a:srgbClr val="FFC83D"/>
                          </a:solidFill>
                          <a:latin typeface="Arial"/>
                        </a:rPr>
                        <a:t>$101,907</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6,250</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6,619</a:t>
                      </a:r>
                    </a:p>
                  </a:txBody>
                  <a:tcPr marL="64008" marR="64008" marT="41148" marB="41148" anchor="ctr">
                    <a:solidFill>
                      <a:srgbClr val="121821"/>
                    </a:solidFill>
                  </a:tcPr>
                </a:tc>
                <a:tc>
                  <a:txBody>
                    <a:bodyPr wrap="square"/>
                    <a:lstStyle/>
                    <a:p>
                      <a:pPr>
                        <a:lnSpc>
                          <a:spcPct val="114000"/>
                        </a:lnSpc>
                      </a:pPr>
                      <a:r>
                        <a:rPr sz="900" b="0" i="0">
                          <a:solidFill>
                            <a:srgbClr val="FFC83D"/>
                          </a:solidFill>
                          <a:latin typeface="Arial"/>
                        </a:rPr>
                        <a:t>$15.40</a:t>
                      </a:r>
                    </a:p>
                  </a:txBody>
                  <a:tcPr marL="64008" marR="64008" marT="41148" marB="41148" anchor="ctr">
                    <a:solidFill>
                      <a:srgbClr val="121821"/>
                    </a:solidFill>
                  </a:tcPr>
                </a:tc>
              </a:tr>
              <a:tr h="215020">
                <a:tc>
                  <a:txBody>
                    <a:bodyPr wrap="square"/>
                    <a:lstStyle/>
                    <a:p>
                      <a:pPr>
                        <a:lnSpc>
                          <a:spcPct val="114000"/>
                        </a:lnSpc>
                      </a:pPr>
                      <a:r>
                        <a:rPr sz="900" b="1" i="0">
                          <a:solidFill>
                            <a:srgbClr val="F7F6EF"/>
                          </a:solidFill>
                          <a:latin typeface="Arial"/>
                        </a:rPr>
                        <a:t>Base</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Y2</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350,000</a:t>
                      </a:r>
                    </a:p>
                  </a:txBody>
                  <a:tcPr marL="64008" marR="64008" marT="41148" marB="41148" anchor="ctr">
                    <a:solidFill>
                      <a:srgbClr val="0D131B"/>
                    </a:solidFill>
                  </a:tcPr>
                </a:tc>
                <a:tc>
                  <a:txBody>
                    <a:bodyPr wrap="square"/>
                    <a:lstStyle/>
                    <a:p>
                      <a:pPr>
                        <a:lnSpc>
                          <a:spcPct val="114000"/>
                        </a:lnSpc>
                      </a:pPr>
                      <a:r>
                        <a:rPr sz="900" b="0" i="0">
                          <a:solidFill>
                            <a:srgbClr val="FFC83D"/>
                          </a:solidFill>
                          <a:latin typeface="Arial"/>
                        </a:rPr>
                        <a:t>$1.3588</a:t>
                      </a:r>
                    </a:p>
                  </a:txBody>
                  <a:tcPr marL="64008" marR="64008" marT="41148" marB="41148" anchor="ctr">
                    <a:solidFill>
                      <a:srgbClr val="0D131B"/>
                    </a:solidFill>
                  </a:tcPr>
                </a:tc>
                <a:tc>
                  <a:txBody>
                    <a:bodyPr wrap="square"/>
                    <a:lstStyle/>
                    <a:p>
                      <a:pPr>
                        <a:lnSpc>
                          <a:spcPct val="114000"/>
                        </a:lnSpc>
                      </a:pPr>
                      <a:r>
                        <a:rPr sz="900" b="0" i="0">
                          <a:solidFill>
                            <a:srgbClr val="FFC83D"/>
                          </a:solidFill>
                          <a:latin typeface="Arial"/>
                        </a:rPr>
                        <a:t>$475,567</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29,167</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30,888</a:t>
                      </a:r>
                    </a:p>
                  </a:txBody>
                  <a:tcPr marL="64008" marR="64008" marT="41148" marB="41148" anchor="ctr">
                    <a:solidFill>
                      <a:srgbClr val="0D131B"/>
                    </a:solidFill>
                  </a:tcPr>
                </a:tc>
                <a:tc>
                  <a:txBody>
                    <a:bodyPr wrap="square"/>
                    <a:lstStyle/>
                    <a:p>
                      <a:pPr>
                        <a:lnSpc>
                          <a:spcPct val="114000"/>
                        </a:lnSpc>
                      </a:pPr>
                      <a:r>
                        <a:rPr sz="900" b="0" i="0">
                          <a:solidFill>
                            <a:srgbClr val="FFC83D"/>
                          </a:solidFill>
                          <a:latin typeface="Arial"/>
                        </a:rPr>
                        <a:t>$15.40</a:t>
                      </a:r>
                    </a:p>
                  </a:txBody>
                  <a:tcPr marL="64008" marR="64008" marT="41148" marB="41148" anchor="ctr">
                    <a:solidFill>
                      <a:srgbClr val="0D131B"/>
                    </a:solidFill>
                  </a:tcPr>
                </a:tc>
              </a:tr>
              <a:tr h="215020">
                <a:tc>
                  <a:txBody>
                    <a:bodyPr wrap="square"/>
                    <a:lstStyle/>
                    <a:p>
                      <a:pPr>
                        <a:lnSpc>
                          <a:spcPct val="114000"/>
                        </a:lnSpc>
                      </a:pPr>
                      <a:r>
                        <a:rPr sz="900" b="1" i="0">
                          <a:solidFill>
                            <a:srgbClr val="F7F6EF"/>
                          </a:solidFill>
                          <a:latin typeface="Arial"/>
                        </a:rPr>
                        <a:t>Base</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Y3</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1,200,000</a:t>
                      </a:r>
                    </a:p>
                  </a:txBody>
                  <a:tcPr marL="64008" marR="64008" marT="41148" marB="41148" anchor="ctr">
                    <a:solidFill>
                      <a:srgbClr val="121821"/>
                    </a:solidFill>
                  </a:tcPr>
                </a:tc>
                <a:tc>
                  <a:txBody>
                    <a:bodyPr wrap="square"/>
                    <a:lstStyle/>
                    <a:p>
                      <a:pPr>
                        <a:lnSpc>
                          <a:spcPct val="114000"/>
                        </a:lnSpc>
                      </a:pPr>
                      <a:r>
                        <a:rPr sz="900" b="0" i="0">
                          <a:solidFill>
                            <a:srgbClr val="FFC83D"/>
                          </a:solidFill>
                          <a:latin typeface="Arial"/>
                        </a:rPr>
                        <a:t>$1.3588</a:t>
                      </a:r>
                    </a:p>
                  </a:txBody>
                  <a:tcPr marL="64008" marR="64008" marT="41148" marB="41148" anchor="ctr">
                    <a:solidFill>
                      <a:srgbClr val="121821"/>
                    </a:solidFill>
                  </a:tcPr>
                </a:tc>
                <a:tc>
                  <a:txBody>
                    <a:bodyPr wrap="square"/>
                    <a:lstStyle/>
                    <a:p>
                      <a:pPr>
                        <a:lnSpc>
                          <a:spcPct val="114000"/>
                        </a:lnSpc>
                      </a:pPr>
                      <a:r>
                        <a:rPr sz="900" b="0" i="0">
                          <a:solidFill>
                            <a:srgbClr val="FFC83D"/>
                          </a:solidFill>
                          <a:latin typeface="Arial"/>
                        </a:rPr>
                        <a:t>$1,630,517</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100,000</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105,900</a:t>
                      </a:r>
                    </a:p>
                  </a:txBody>
                  <a:tcPr marL="64008" marR="64008" marT="41148" marB="41148" anchor="ctr">
                    <a:solidFill>
                      <a:srgbClr val="121821"/>
                    </a:solidFill>
                  </a:tcPr>
                </a:tc>
                <a:tc>
                  <a:txBody>
                    <a:bodyPr wrap="square"/>
                    <a:lstStyle/>
                    <a:p>
                      <a:pPr>
                        <a:lnSpc>
                          <a:spcPct val="114000"/>
                        </a:lnSpc>
                      </a:pPr>
                      <a:r>
                        <a:rPr sz="900" b="0" i="0">
                          <a:solidFill>
                            <a:srgbClr val="FFC83D"/>
                          </a:solidFill>
                          <a:latin typeface="Arial"/>
                        </a:rPr>
                        <a:t>$15.40</a:t>
                      </a:r>
                    </a:p>
                  </a:txBody>
                  <a:tcPr marL="64008" marR="64008" marT="41148" marB="41148" anchor="ctr">
                    <a:solidFill>
                      <a:srgbClr val="121821"/>
                    </a:solidFill>
                  </a:tcPr>
                </a:tc>
              </a:tr>
              <a:tr h="215020">
                <a:tc>
                  <a:txBody>
                    <a:bodyPr wrap="square"/>
                    <a:lstStyle/>
                    <a:p>
                      <a:pPr>
                        <a:lnSpc>
                          <a:spcPct val="114000"/>
                        </a:lnSpc>
                      </a:pPr>
                      <a:r>
                        <a:rPr sz="900" b="1" i="0">
                          <a:solidFill>
                            <a:srgbClr val="F7F6EF"/>
                          </a:solidFill>
                          <a:latin typeface="Arial"/>
                        </a:rPr>
                        <a:t>Base</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3-yr</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1,625,000</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a:t>
                      </a:r>
                    </a:p>
                  </a:txBody>
                  <a:tcPr marL="64008" marR="64008" marT="41148" marB="41148" anchor="ctr">
                    <a:solidFill>
                      <a:srgbClr val="0D131B"/>
                    </a:solidFill>
                  </a:tcPr>
                </a:tc>
                <a:tc>
                  <a:txBody>
                    <a:bodyPr wrap="square"/>
                    <a:lstStyle/>
                    <a:p>
                      <a:pPr>
                        <a:lnSpc>
                          <a:spcPct val="114000"/>
                        </a:lnSpc>
                      </a:pPr>
                      <a:r>
                        <a:rPr sz="900" b="0" i="0">
                          <a:solidFill>
                            <a:srgbClr val="FFC83D"/>
                          </a:solidFill>
                          <a:latin typeface="Arial"/>
                        </a:rPr>
                        <a:t>$2,207,992</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a:t>
                      </a:r>
                    </a:p>
                  </a:txBody>
                  <a:tcPr marL="64008" marR="64008" marT="41148" marB="41148" anchor="ctr">
                    <a:solidFill>
                      <a:srgbClr val="0D131B"/>
                    </a:solidFill>
                  </a:tcPr>
                </a:tc>
              </a:tr>
              <a:tr h="215020">
                <a:tc>
                  <a:txBody>
                    <a:bodyPr wrap="square"/>
                    <a:lstStyle/>
                    <a:p>
                      <a:pPr>
                        <a:lnSpc>
                          <a:spcPct val="114000"/>
                        </a:lnSpc>
                      </a:pPr>
                      <a:r>
                        <a:rPr sz="900" b="1" i="0">
                          <a:solidFill>
                            <a:srgbClr val="F7F6EF"/>
                          </a:solidFill>
                          <a:latin typeface="Arial"/>
                        </a:rPr>
                        <a:t>Optimistic</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Y1</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200,000</a:t>
                      </a:r>
                    </a:p>
                  </a:txBody>
                  <a:tcPr marL="64008" marR="64008" marT="41148" marB="41148" anchor="ctr">
                    <a:solidFill>
                      <a:srgbClr val="121821"/>
                    </a:solidFill>
                  </a:tcPr>
                </a:tc>
                <a:tc>
                  <a:txBody>
                    <a:bodyPr wrap="square"/>
                    <a:lstStyle/>
                    <a:p>
                      <a:pPr>
                        <a:lnSpc>
                          <a:spcPct val="114000"/>
                        </a:lnSpc>
                      </a:pPr>
                      <a:r>
                        <a:rPr sz="900" b="0" i="0">
                          <a:solidFill>
                            <a:srgbClr val="FFC83D"/>
                          </a:solidFill>
                          <a:latin typeface="Arial"/>
                        </a:rPr>
                        <a:t>$1.8902</a:t>
                      </a:r>
                    </a:p>
                  </a:txBody>
                  <a:tcPr marL="64008" marR="64008" marT="41148" marB="41148" anchor="ctr">
                    <a:solidFill>
                      <a:srgbClr val="121821"/>
                    </a:solidFill>
                  </a:tcPr>
                </a:tc>
                <a:tc>
                  <a:txBody>
                    <a:bodyPr wrap="square"/>
                    <a:lstStyle/>
                    <a:p>
                      <a:pPr>
                        <a:lnSpc>
                          <a:spcPct val="114000"/>
                        </a:lnSpc>
                      </a:pPr>
                      <a:r>
                        <a:rPr sz="900" b="0" i="0">
                          <a:solidFill>
                            <a:srgbClr val="FFC83D"/>
                          </a:solidFill>
                          <a:latin typeface="Arial"/>
                        </a:rPr>
                        <a:t>$378,039</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16,667</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18,083</a:t>
                      </a:r>
                    </a:p>
                  </a:txBody>
                  <a:tcPr marL="64008" marR="64008" marT="41148" marB="41148" anchor="ctr">
                    <a:solidFill>
                      <a:srgbClr val="121821"/>
                    </a:solidFill>
                  </a:tcPr>
                </a:tc>
                <a:tc>
                  <a:txBody>
                    <a:bodyPr wrap="square"/>
                    <a:lstStyle/>
                    <a:p>
                      <a:pPr>
                        <a:lnSpc>
                          <a:spcPct val="114000"/>
                        </a:lnSpc>
                      </a:pPr>
                      <a:r>
                        <a:rPr sz="900" b="0" i="0">
                          <a:solidFill>
                            <a:srgbClr val="FFC83D"/>
                          </a:solidFill>
                          <a:latin typeface="Arial"/>
                        </a:rPr>
                        <a:t>$20.91</a:t>
                      </a:r>
                    </a:p>
                  </a:txBody>
                  <a:tcPr marL="64008" marR="64008" marT="41148" marB="41148" anchor="ctr">
                    <a:solidFill>
                      <a:srgbClr val="121821"/>
                    </a:solidFill>
                  </a:tcPr>
                </a:tc>
              </a:tr>
              <a:tr h="215020">
                <a:tc>
                  <a:txBody>
                    <a:bodyPr wrap="square"/>
                    <a:lstStyle/>
                    <a:p>
                      <a:pPr>
                        <a:lnSpc>
                          <a:spcPct val="114000"/>
                        </a:lnSpc>
                      </a:pPr>
                      <a:r>
                        <a:rPr sz="900" b="1" i="0">
                          <a:solidFill>
                            <a:srgbClr val="F7F6EF"/>
                          </a:solidFill>
                          <a:latin typeface="Arial"/>
                        </a:rPr>
                        <a:t>Optimistic</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Y2</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1,000,000</a:t>
                      </a:r>
                    </a:p>
                  </a:txBody>
                  <a:tcPr marL="64008" marR="64008" marT="41148" marB="41148" anchor="ctr">
                    <a:solidFill>
                      <a:srgbClr val="0D131B"/>
                    </a:solidFill>
                  </a:tcPr>
                </a:tc>
                <a:tc>
                  <a:txBody>
                    <a:bodyPr wrap="square"/>
                    <a:lstStyle/>
                    <a:p>
                      <a:pPr>
                        <a:lnSpc>
                          <a:spcPct val="114000"/>
                        </a:lnSpc>
                      </a:pPr>
                      <a:r>
                        <a:rPr sz="900" b="0" i="0">
                          <a:solidFill>
                            <a:srgbClr val="FFC83D"/>
                          </a:solidFill>
                          <a:latin typeface="Arial"/>
                        </a:rPr>
                        <a:t>$1.8902</a:t>
                      </a:r>
                    </a:p>
                  </a:txBody>
                  <a:tcPr marL="64008" marR="64008" marT="41148" marB="41148" anchor="ctr">
                    <a:solidFill>
                      <a:srgbClr val="0D131B"/>
                    </a:solidFill>
                  </a:tcPr>
                </a:tc>
                <a:tc>
                  <a:txBody>
                    <a:bodyPr wrap="square"/>
                    <a:lstStyle/>
                    <a:p>
                      <a:pPr>
                        <a:lnSpc>
                          <a:spcPct val="114000"/>
                        </a:lnSpc>
                      </a:pPr>
                      <a:r>
                        <a:rPr sz="900" b="0" i="0">
                          <a:solidFill>
                            <a:srgbClr val="FFC83D"/>
                          </a:solidFill>
                          <a:latin typeface="Arial"/>
                        </a:rPr>
                        <a:t>$1,890,196</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83,333</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90,417</a:t>
                      </a:r>
                    </a:p>
                  </a:txBody>
                  <a:tcPr marL="64008" marR="64008" marT="41148" marB="41148" anchor="ctr">
                    <a:solidFill>
                      <a:srgbClr val="0D131B"/>
                    </a:solidFill>
                  </a:tcPr>
                </a:tc>
                <a:tc>
                  <a:txBody>
                    <a:bodyPr wrap="square"/>
                    <a:lstStyle/>
                    <a:p>
                      <a:pPr>
                        <a:lnSpc>
                          <a:spcPct val="114000"/>
                        </a:lnSpc>
                      </a:pPr>
                      <a:r>
                        <a:rPr sz="900" b="0" i="0">
                          <a:solidFill>
                            <a:srgbClr val="FFC83D"/>
                          </a:solidFill>
                          <a:latin typeface="Arial"/>
                        </a:rPr>
                        <a:t>$20.91</a:t>
                      </a:r>
                    </a:p>
                  </a:txBody>
                  <a:tcPr marL="64008" marR="64008" marT="41148" marB="41148" anchor="ctr">
                    <a:solidFill>
                      <a:srgbClr val="0D131B"/>
                    </a:solidFill>
                  </a:tcPr>
                </a:tc>
              </a:tr>
              <a:tr h="215020">
                <a:tc>
                  <a:txBody>
                    <a:bodyPr wrap="square"/>
                    <a:lstStyle/>
                    <a:p>
                      <a:pPr>
                        <a:lnSpc>
                          <a:spcPct val="114000"/>
                        </a:lnSpc>
                      </a:pPr>
                      <a:r>
                        <a:rPr sz="900" b="1" i="0">
                          <a:solidFill>
                            <a:srgbClr val="F7F6EF"/>
                          </a:solidFill>
                          <a:latin typeface="Arial"/>
                        </a:rPr>
                        <a:t>Optimistic</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Y3</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4,000,000</a:t>
                      </a:r>
                    </a:p>
                  </a:txBody>
                  <a:tcPr marL="64008" marR="64008" marT="41148" marB="41148" anchor="ctr">
                    <a:solidFill>
                      <a:srgbClr val="121821"/>
                    </a:solidFill>
                  </a:tcPr>
                </a:tc>
                <a:tc>
                  <a:txBody>
                    <a:bodyPr wrap="square"/>
                    <a:lstStyle/>
                    <a:p>
                      <a:pPr>
                        <a:lnSpc>
                          <a:spcPct val="114000"/>
                        </a:lnSpc>
                      </a:pPr>
                      <a:r>
                        <a:rPr sz="900" b="0" i="0">
                          <a:solidFill>
                            <a:srgbClr val="FFC83D"/>
                          </a:solidFill>
                          <a:latin typeface="Arial"/>
                        </a:rPr>
                        <a:t>$1.8902</a:t>
                      </a:r>
                    </a:p>
                  </a:txBody>
                  <a:tcPr marL="64008" marR="64008" marT="41148" marB="41148" anchor="ctr">
                    <a:solidFill>
                      <a:srgbClr val="121821"/>
                    </a:solidFill>
                  </a:tcPr>
                </a:tc>
                <a:tc>
                  <a:txBody>
                    <a:bodyPr wrap="square"/>
                    <a:lstStyle/>
                    <a:p>
                      <a:pPr>
                        <a:lnSpc>
                          <a:spcPct val="114000"/>
                        </a:lnSpc>
                      </a:pPr>
                      <a:r>
                        <a:rPr sz="900" b="0" i="0">
                          <a:solidFill>
                            <a:srgbClr val="FFC83D"/>
                          </a:solidFill>
                          <a:latin typeface="Arial"/>
                        </a:rPr>
                        <a:t>$7,560,784</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333,333</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361,667</a:t>
                      </a:r>
                    </a:p>
                  </a:txBody>
                  <a:tcPr marL="64008" marR="64008" marT="41148" marB="41148" anchor="ctr">
                    <a:solidFill>
                      <a:srgbClr val="121821"/>
                    </a:solidFill>
                  </a:tcPr>
                </a:tc>
                <a:tc>
                  <a:txBody>
                    <a:bodyPr wrap="square"/>
                    <a:lstStyle/>
                    <a:p>
                      <a:pPr>
                        <a:lnSpc>
                          <a:spcPct val="114000"/>
                        </a:lnSpc>
                      </a:pPr>
                      <a:r>
                        <a:rPr sz="900" b="0" i="0">
                          <a:solidFill>
                            <a:srgbClr val="FFC83D"/>
                          </a:solidFill>
                          <a:latin typeface="Arial"/>
                        </a:rPr>
                        <a:t>$20.91</a:t>
                      </a:r>
                    </a:p>
                  </a:txBody>
                  <a:tcPr marL="64008" marR="64008" marT="41148" marB="41148" anchor="ctr">
                    <a:solidFill>
                      <a:srgbClr val="121821"/>
                    </a:solidFill>
                  </a:tcPr>
                </a:tc>
              </a:tr>
              <a:tr h="215020">
                <a:tc>
                  <a:txBody>
                    <a:bodyPr wrap="square"/>
                    <a:lstStyle/>
                    <a:p>
                      <a:pPr>
                        <a:lnSpc>
                          <a:spcPct val="114000"/>
                        </a:lnSpc>
                      </a:pPr>
                      <a:r>
                        <a:rPr sz="900" b="1" i="0">
                          <a:solidFill>
                            <a:srgbClr val="F7F6EF"/>
                          </a:solidFill>
                          <a:latin typeface="Arial"/>
                        </a:rPr>
                        <a:t>Optimistic</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3-yr</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5,200,000</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a:t>
                      </a:r>
                    </a:p>
                  </a:txBody>
                  <a:tcPr marL="64008" marR="64008" marT="41148" marB="41148" anchor="ctr">
                    <a:solidFill>
                      <a:srgbClr val="0D131B"/>
                    </a:solidFill>
                  </a:tcPr>
                </a:tc>
                <a:tc>
                  <a:txBody>
                    <a:bodyPr wrap="square"/>
                    <a:lstStyle/>
                    <a:p>
                      <a:pPr>
                        <a:lnSpc>
                          <a:spcPct val="114000"/>
                        </a:lnSpc>
                      </a:pPr>
                      <a:r>
                        <a:rPr sz="900" b="0" i="0">
                          <a:solidFill>
                            <a:srgbClr val="FFC83D"/>
                          </a:solidFill>
                          <a:latin typeface="Arial"/>
                        </a:rPr>
                        <a:t>$9,829,019</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a:t>
                      </a:r>
                    </a:p>
                  </a:txBody>
                  <a:tcPr marL="64008" marR="64008" marT="41148" marB="41148" anchor="ctr">
                    <a:solidFill>
                      <a:srgbClr val="0D131B"/>
                    </a:solidFill>
                  </a:tcPr>
                </a:tc>
              </a:tr>
            </a:tbl>
          </a:graphicData>
        </a:graphic>
      </p:graphicFrame>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859536"/>
          </a:xfrm>
        </p:spPr>
        <p:txBody>
          <a:bodyPr wrap="square" lIns="0" rIns="0" tIns="0" bIns="0" anchor="t"/>
          <a:lstStyle/>
          <a:p>
            <a:pPr>
              <a:lnSpc>
                <a:spcPct val="108000"/>
              </a:lnSpc>
            </a:pPr>
            <a:r>
              <a:rPr sz="3000" b="1" i="0">
                <a:solidFill>
                  <a:srgbClr val="F7F6EF"/>
                </a:solidFill>
                <a:latin typeface="Arial"/>
              </a:rPr>
              <a:t>Appendix H — every input, every assumption, and which of them has no source.</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4EE1FF"/>
                </a:solidFill>
                <a:latin typeface="Arial"/>
              </a:rPr>
              <a:t>APPENDIX — INPUTS AND ASSUMPTIONS</a:t>
            </a:r>
          </a:p>
        </p:txBody>
      </p:sp>
      <p:sp>
        <p:nvSpPr>
          <p:cNvPr id="4" name="Rectangle 3"/>
          <p:cNvSpPr/>
          <p:nvPr/>
        </p:nvSpPr>
        <p:spPr>
          <a:xfrm>
            <a:off x="566928" y="6035040"/>
            <a:ext cx="11057839" cy="11887"/>
          </a:xfrm>
          <a:prstGeom prst="rect">
            <a:avLst/>
          </a:prstGeom>
          <a:solidFill>
            <a:srgbClr val="4EE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22</a:t>
            </a:r>
          </a:p>
        </p:txBody>
      </p:sp>
      <p:sp>
        <p:nvSpPr>
          <p:cNvPr id="6" name="TextBox 5"/>
          <p:cNvSpPr txBox="1"/>
          <p:nvPr/>
        </p:nvSpPr>
        <p:spPr>
          <a:xfrm>
            <a:off x="566928" y="6144768"/>
            <a:ext cx="9869119" cy="548640"/>
          </a:xfrm>
          <a:prstGeom prst="rect">
            <a:avLst/>
          </a:prstGeom>
          <a:noFill/>
        </p:spPr>
        <p:txBody>
          <a:bodyPr wrap="square" lIns="0" rIns="0" tIns="0" bIns="0" anchor="t">
            <a:spAutoFit/>
          </a:bodyPr>
          <a:lstStyle/>
          <a:p>
            <a:pPr>
              <a:lnSpc>
                <a:spcPct val="115000"/>
              </a:lnSpc>
            </a:pPr>
            <a:r>
              <a:rPr sz="800" b="0" i="0">
                <a:solidFill>
                  <a:srgbClr val="A6ADBA"/>
                </a:solidFill>
                <a:latin typeface="Arial"/>
              </a:rPr>
              <a:t>Sources: GameAnalytics — 2026 Mobile &amp; PC Gaming Benchmarks  ·  AppsFlyer — State of App Monetization 2026  ·  TechCrunch — Trivia Royale, 2.5M downloads in 3 weeks</a:t>
            </a:r>
          </a:p>
          <a:p>
            <a:pPr>
              <a:lnSpc>
                <a:spcPct val="115000"/>
              </a:lnSpc>
            </a:pPr>
            <a:r>
              <a:rPr sz="800" b="0" i="0">
                <a:solidFill>
                  <a:srgbClr val="A6ADBA"/>
                </a:solidFill>
                <a:latin typeface="Arial"/>
              </a:rPr>
              <a:t>SEC — Duolingo FY2025 shareholder letter  ·  MAG Interactive — Q3 2025/26 interim report  ·  FACT//DUEL internal — numbers.md §4.1-§4.3</a:t>
            </a:r>
          </a:p>
        </p:txBody>
      </p:sp>
      <p:sp>
        <p:nvSpPr>
          <p:cNvPr id="7" name="TextBox 6"/>
          <p:cNvSpPr txBox="1"/>
          <p:nvPr/>
        </p:nvSpPr>
        <p:spPr>
          <a:xfrm>
            <a:off x="566928" y="1719072"/>
            <a:ext cx="11057839" cy="1154938"/>
          </a:xfrm>
          <a:prstGeom prst="rect">
            <a:avLst/>
          </a:prstGeom>
          <a:noFill/>
        </p:spPr>
        <p:txBody>
          <a:bodyPr wrap="square" lIns="0" rIns="0" tIns="0" bIns="0" anchor="t">
            <a:spAutoFit/>
          </a:bodyPr>
          <a:lstStyle/>
          <a:p>
            <a:pPr marL="238571" indent="-238571">
              <a:lnSpc>
                <a:spcPct val="116000"/>
              </a:lnSpc>
              <a:buClr>
                <a:srgbClr val="4EE1FF"/>
              </a:buClr>
              <a:buFont typeface="Arial"/>
              <a:buChar char="—"/>
            </a:pPr>
            <a:r>
              <a:rPr sz="1400" b="0" i="0">
                <a:solidFill>
                  <a:srgbClr val="F7F6EF"/>
                </a:solidFill>
                <a:latin typeface="Arial"/>
              </a:rPr>
              <a:t>Two rows in this table are not sourced: monthly churn, and the install volumes. Both are labelled.</a:t>
            </a:r>
          </a:p>
          <a:p>
            <a:pPr marL="238571" indent="-238571">
              <a:lnSpc>
                <a:spcPct val="116000"/>
              </a:lnSpc>
              <a:spcBef>
                <a:spcPts val="770"/>
              </a:spcBef>
              <a:buClr>
                <a:srgbClr val="4EE1FF"/>
              </a:buClr>
              <a:buFont typeface="Arial"/>
              <a:buChar char="—"/>
            </a:pPr>
            <a:r>
              <a:rPr sz="1400" b="0" i="0">
                <a:solidFill>
                  <a:srgbClr val="F7F6EF"/>
                </a:solidFill>
                <a:latin typeface="Arial"/>
              </a:rPr>
              <a:t>The 18.46% payer rate is arithmetic on two published AppsFlyer figures, used only as a ceiling.</a:t>
            </a:r>
          </a:p>
          <a:p>
            <a:pPr marL="238571" indent="-238571">
              <a:lnSpc>
                <a:spcPct val="116000"/>
              </a:lnSpc>
              <a:spcBef>
                <a:spcPts val="770"/>
              </a:spcBef>
              <a:buClr>
                <a:srgbClr val="4EE1FF"/>
              </a:buClr>
              <a:buFont typeface="Arial"/>
              <a:buChar char="—"/>
            </a:pPr>
            <a:r>
              <a:rPr sz="1400" b="0" i="0">
                <a:solidFill>
                  <a:srgbClr val="F7F6EF"/>
                </a:solidFill>
                <a:latin typeface="Arial"/>
              </a:rPr>
              <a:t>Break-even blended cost per install: </a:t>
            </a:r>
            <a:r>
              <a:rPr sz="1400" b="0" i="0">
                <a:solidFill>
                  <a:srgbClr val="FFC83D"/>
                </a:solidFill>
                <a:latin typeface="Arial"/>
              </a:rPr>
              <a:t>$0.37</a:t>
            </a:r>
            <a:r>
              <a:rPr sz="1400" b="0" i="0">
                <a:solidFill>
                  <a:srgbClr val="F7F6EF"/>
                </a:solidFill>
                <a:latin typeface="Arial"/>
              </a:rPr>
              <a:t> / </a:t>
            </a:r>
            <a:r>
              <a:rPr sz="1400" b="0" i="0">
                <a:solidFill>
                  <a:srgbClr val="FFC83D"/>
                </a:solidFill>
                <a:latin typeface="Arial"/>
              </a:rPr>
              <a:t>$1.36</a:t>
            </a:r>
            <a:r>
              <a:rPr sz="1400" b="0" i="0">
                <a:solidFill>
                  <a:srgbClr val="F7F6EF"/>
                </a:solidFill>
                <a:latin typeface="Arial"/>
              </a:rPr>
              <a:t> / </a:t>
            </a:r>
            <a:r>
              <a:rPr sz="1400" b="0" i="0">
                <a:solidFill>
                  <a:srgbClr val="FFC83D"/>
                </a:solidFill>
                <a:latin typeface="Arial"/>
              </a:rPr>
              <a:t>$1.89</a:t>
            </a:r>
            <a:r>
              <a:rPr sz="1400" b="0" i="0">
                <a:solidFill>
                  <a:srgbClr val="F7F6EF"/>
                </a:solidFill>
                <a:latin typeface="Arial"/>
              </a:rPr>
              <a:t> </a:t>
            </a:r>
            <a:r>
              <a:rPr sz="1400" b="1" i="0">
                <a:solidFill>
                  <a:srgbClr val="4EE1FF"/>
                </a:solidFill>
                <a:latin typeface="Arial"/>
              </a:rPr>
              <a:t>(P)</a:t>
            </a:r>
            <a:r>
              <a:rPr sz="1400" b="0" i="0">
                <a:solidFill>
                  <a:srgbClr val="F7F6EF"/>
                </a:solidFill>
                <a:latin typeface="Arial"/>
              </a:rPr>
              <a:t>. Trivia Royale's was under </a:t>
            </a:r>
            <a:r>
              <a:rPr sz="1400" b="0" i="0">
                <a:solidFill>
                  <a:srgbClr val="FFC83D"/>
                </a:solidFill>
                <a:latin typeface="Arial"/>
              </a:rPr>
              <a:t>$0.20.</a:t>
            </a:r>
          </a:p>
          <a:p>
            <a:pPr marL="238571" indent="-238571">
              <a:lnSpc>
                <a:spcPct val="116000"/>
              </a:lnSpc>
              <a:spcBef>
                <a:spcPts val="770"/>
              </a:spcBef>
              <a:buClr>
                <a:srgbClr val="4EE1FF"/>
              </a:buClr>
              <a:buFont typeface="Arial"/>
              <a:buChar char="—"/>
            </a:pPr>
            <a:r>
              <a:rPr sz="1400" b="0" i="0">
                <a:solidFill>
                  <a:srgbClr val="F7F6EF"/>
                </a:solidFill>
                <a:latin typeface="Arial"/>
              </a:rPr>
              <a:t>Base-case revenue per MAU of </a:t>
            </a:r>
            <a:r>
              <a:rPr sz="1400" b="0" i="0">
                <a:solidFill>
                  <a:srgbClr val="FFC83D"/>
                </a:solidFill>
                <a:latin typeface="Arial"/>
              </a:rPr>
              <a:t>$15.40</a:t>
            </a:r>
            <a:r>
              <a:rPr sz="1400" b="0" i="0">
                <a:solidFill>
                  <a:srgbClr val="F7F6EF"/>
                </a:solidFill>
                <a:latin typeface="Arial"/>
              </a:rPr>
              <a:t> exceeds MAG's </a:t>
            </a:r>
            <a:r>
              <a:rPr sz="1400" b="0" i="0">
                <a:solidFill>
                  <a:srgbClr val="FFC83D"/>
                </a:solidFill>
                <a:latin typeface="Arial"/>
              </a:rPr>
              <a:t>$13.07</a:t>
            </a:r>
            <a:r>
              <a:rPr sz="1400" b="0" i="0">
                <a:solidFill>
                  <a:srgbClr val="F7F6EF"/>
                </a:solidFill>
                <a:latin typeface="Arial"/>
              </a:rPr>
              <a:t> and Duolingo's </a:t>
            </a:r>
            <a:r>
              <a:rPr sz="1400" b="0" i="0">
                <a:solidFill>
                  <a:srgbClr val="FFC83D"/>
                </a:solidFill>
                <a:latin typeface="Arial"/>
              </a:rPr>
              <a:t>$7.80.</a:t>
            </a:r>
            <a:r>
              <a:rPr sz="1400" b="0" i="0">
                <a:solidFill>
                  <a:srgbClr val="F7F6EF"/>
                </a:solidFill>
                <a:latin typeface="Arial"/>
              </a:rPr>
              <a:t> A ceiling, not a target.</a:t>
            </a:r>
          </a:p>
        </p:txBody>
      </p:sp>
      <p:graphicFrame>
        <p:nvGraphicFramePr>
          <p:cNvPr id="8" name="Table 7"/>
          <p:cNvGraphicFramePr>
            <a:graphicFrameLocks noGrp="1"/>
          </p:cNvGraphicFramePr>
          <p:nvPr/>
        </p:nvGraphicFramePr>
        <p:xfrm>
          <a:off x="566928" y="3111754"/>
          <a:ext cx="11057837" cy="2795265"/>
        </p:xfrm>
        <a:graphic>
          <a:graphicData uri="http://schemas.openxmlformats.org/drawingml/2006/table">
            <a:tbl>
              <a:tblPr>
                <a:tableStyleId>{2D5ABB26-0587-4C30-8999-92F81FD0307C}</a:tableStyleId>
              </a:tblPr>
              <a:tblGrid>
                <a:gridCol w="2059474"/>
                <a:gridCol w="1240372"/>
                <a:gridCol w="1201707"/>
                <a:gridCol w="1304556"/>
                <a:gridCol w="5251728"/>
              </a:tblGrid>
              <a:tr h="309357">
                <a:tc>
                  <a:txBody>
                    <a:bodyPr wrap="square"/>
                    <a:lstStyle/>
                    <a:p>
                      <a:pPr>
                        <a:lnSpc>
                          <a:spcPct val="114000"/>
                        </a:lnSpc>
                      </a:pPr>
                      <a:r>
                        <a:rPr sz="1200" b="1" i="0">
                          <a:solidFill>
                            <a:srgbClr val="D4FF3A"/>
                          </a:solidFill>
                          <a:latin typeface="Arial"/>
                        </a:rPr>
                        <a:t>Input</a:t>
                      </a:r>
                    </a:p>
                  </a:txBody>
                  <a:tcPr marL="64008" marR="64008" marT="41148" marB="41148" anchor="ctr">
                    <a:solidFill>
                      <a:srgbClr val="121821"/>
                    </a:solidFill>
                  </a:tcPr>
                </a:tc>
                <a:tc>
                  <a:txBody>
                    <a:bodyPr wrap="square"/>
                    <a:lstStyle/>
                    <a:p>
                      <a:pPr>
                        <a:lnSpc>
                          <a:spcPct val="114000"/>
                        </a:lnSpc>
                      </a:pPr>
                      <a:r>
                        <a:rPr sz="1200" b="1" i="0">
                          <a:solidFill>
                            <a:srgbClr val="D4FF3A"/>
                          </a:solidFill>
                          <a:latin typeface="Arial"/>
                        </a:rPr>
                        <a:t>Conservative</a:t>
                      </a:r>
                    </a:p>
                  </a:txBody>
                  <a:tcPr marL="64008" marR="64008" marT="41148" marB="41148" anchor="ctr">
                    <a:solidFill>
                      <a:srgbClr val="121821"/>
                    </a:solidFill>
                  </a:tcPr>
                </a:tc>
                <a:tc>
                  <a:txBody>
                    <a:bodyPr wrap="square"/>
                    <a:lstStyle/>
                    <a:p>
                      <a:pPr>
                        <a:lnSpc>
                          <a:spcPct val="114000"/>
                        </a:lnSpc>
                      </a:pPr>
                      <a:r>
                        <a:rPr sz="1200" b="1" i="0">
                          <a:solidFill>
                            <a:srgbClr val="D4FF3A"/>
                          </a:solidFill>
                          <a:latin typeface="Arial"/>
                        </a:rPr>
                        <a:t>Base</a:t>
                      </a:r>
                    </a:p>
                  </a:txBody>
                  <a:tcPr marL="64008" marR="64008" marT="41148" marB="41148" anchor="ctr">
                    <a:solidFill>
                      <a:srgbClr val="121821"/>
                    </a:solidFill>
                  </a:tcPr>
                </a:tc>
                <a:tc>
                  <a:txBody>
                    <a:bodyPr wrap="square"/>
                    <a:lstStyle/>
                    <a:p>
                      <a:pPr>
                        <a:lnSpc>
                          <a:spcPct val="114000"/>
                        </a:lnSpc>
                      </a:pPr>
                      <a:r>
                        <a:rPr sz="1200" b="1" i="0">
                          <a:solidFill>
                            <a:srgbClr val="D4FF3A"/>
                          </a:solidFill>
                          <a:latin typeface="Arial"/>
                        </a:rPr>
                        <a:t>Optimistic</a:t>
                      </a:r>
                    </a:p>
                  </a:txBody>
                  <a:tcPr marL="64008" marR="64008" marT="41148" marB="41148" anchor="ctr">
                    <a:solidFill>
                      <a:srgbClr val="121821"/>
                    </a:solidFill>
                  </a:tcPr>
                </a:tc>
                <a:tc>
                  <a:txBody>
                    <a:bodyPr wrap="square"/>
                    <a:lstStyle/>
                    <a:p>
                      <a:pPr>
                        <a:lnSpc>
                          <a:spcPct val="114000"/>
                        </a:lnSpc>
                      </a:pPr>
                      <a:r>
                        <a:rPr sz="1200" b="1" i="0">
                          <a:solidFill>
                            <a:srgbClr val="D4FF3A"/>
                          </a:solidFill>
                          <a:latin typeface="Arial"/>
                        </a:rPr>
                        <a:t>Where it comes from</a:t>
                      </a:r>
                    </a:p>
                  </a:txBody>
                  <a:tcPr marL="64008" marR="64008" marT="41148" marB="41148" anchor="ctr">
                    <a:solidFill>
                      <a:srgbClr val="121821"/>
                    </a:solidFill>
                  </a:tcPr>
                </a:tc>
              </a:tr>
              <a:tr h="309357">
                <a:tc>
                  <a:txBody>
                    <a:bodyPr wrap="square"/>
                    <a:lstStyle/>
                    <a:p>
                      <a:pPr>
                        <a:lnSpc>
                          <a:spcPct val="114000"/>
                        </a:lnSpc>
                      </a:pPr>
                      <a:r>
                        <a:rPr sz="1200" b="1" i="0">
                          <a:solidFill>
                            <a:srgbClr val="F7F6EF"/>
                          </a:solidFill>
                          <a:latin typeface="Arial"/>
                        </a:rPr>
                        <a:t>D30 retention</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0.68%</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1.18%</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1.70%</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GameAnalytics CY2025: global median low / NA median / global P75</a:t>
                      </a:r>
                    </a:p>
                  </a:txBody>
                  <a:tcPr marL="64008" marR="64008" marT="41148" marB="41148" anchor="ctr">
                    <a:solidFill>
                      <a:srgbClr val="121821"/>
                    </a:solidFill>
                  </a:tcPr>
                </a:tc>
              </a:tr>
              <a:tr h="309357">
                <a:tc>
                  <a:txBody>
                    <a:bodyPr wrap="square"/>
                    <a:lstStyle/>
                    <a:p>
                      <a:pPr>
                        <a:lnSpc>
                          <a:spcPct val="114000"/>
                        </a:lnSpc>
                      </a:pPr>
                      <a:r>
                        <a:rPr sz="1200" b="1" i="0">
                          <a:solidFill>
                            <a:srgbClr val="F7F6EF"/>
                          </a:solidFill>
                          <a:latin typeface="Arial"/>
                        </a:rPr>
                        <a:t>Install to payer</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5.08%</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11.14%</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18.46%</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AppsFlyer: NA repeat payer / NA one-time payer / derived $1.34 / $7.26</a:t>
                      </a:r>
                    </a:p>
                  </a:txBody>
                  <a:tcPr marL="64008" marR="64008" marT="41148" marB="41148" anchor="ctr">
                    <a:solidFill>
                      <a:srgbClr val="0D131B"/>
                    </a:solidFill>
                  </a:tcPr>
                </a:tc>
              </a:tr>
              <a:tr h="309357">
                <a:tc>
                  <a:txBody>
                    <a:bodyPr wrap="square"/>
                    <a:lstStyle/>
                    <a:p>
                      <a:pPr>
                        <a:lnSpc>
                          <a:spcPct val="114000"/>
                        </a:lnSpc>
                      </a:pPr>
                      <a:r>
                        <a:rPr sz="1200" b="1" i="0">
                          <a:solidFill>
                            <a:srgbClr val="F7F6EF"/>
                          </a:solidFill>
                          <a:latin typeface="Arial"/>
                        </a:rPr>
                        <a:t>ARPPU (D90)</a:t>
                      </a:r>
                    </a:p>
                  </a:txBody>
                  <a:tcPr marL="64008" marR="64008" marT="41148" marB="41148" anchor="ctr">
                    <a:solidFill>
                      <a:srgbClr val="121821"/>
                    </a:solidFill>
                  </a:tcPr>
                </a:tc>
                <a:tc>
                  <a:txBody>
                    <a:bodyPr wrap="square"/>
                    <a:lstStyle/>
                    <a:p>
                      <a:pPr>
                        <a:lnSpc>
                          <a:spcPct val="114000"/>
                        </a:lnSpc>
                      </a:pPr>
                      <a:r>
                        <a:rPr sz="1200" b="0" i="0">
                          <a:solidFill>
                            <a:srgbClr val="FFC83D"/>
                          </a:solidFill>
                          <a:latin typeface="Arial"/>
                        </a:rPr>
                        <a:t>$7.26</a:t>
                      </a:r>
                    </a:p>
                  </a:txBody>
                  <a:tcPr marL="64008" marR="64008" marT="41148" marB="41148" anchor="ctr">
                    <a:solidFill>
                      <a:srgbClr val="121821"/>
                    </a:solidFill>
                  </a:tcPr>
                </a:tc>
                <a:tc>
                  <a:txBody>
                    <a:bodyPr wrap="square"/>
                    <a:lstStyle/>
                    <a:p>
                      <a:pPr>
                        <a:lnSpc>
                          <a:spcPct val="114000"/>
                        </a:lnSpc>
                      </a:pPr>
                      <a:r>
                        <a:rPr sz="1200" b="0" i="0">
                          <a:solidFill>
                            <a:srgbClr val="FFC83D"/>
                          </a:solidFill>
                          <a:latin typeface="Arial"/>
                        </a:rPr>
                        <a:t>$7.26</a:t>
                      </a:r>
                    </a:p>
                  </a:txBody>
                  <a:tcPr marL="64008" marR="64008" marT="41148" marB="41148" anchor="ctr">
                    <a:solidFill>
                      <a:srgbClr val="121821"/>
                    </a:solidFill>
                  </a:tcPr>
                </a:tc>
                <a:tc>
                  <a:txBody>
                    <a:bodyPr wrap="square"/>
                    <a:lstStyle/>
                    <a:p>
                      <a:pPr>
                        <a:lnSpc>
                          <a:spcPct val="114000"/>
                        </a:lnSpc>
                      </a:pPr>
                      <a:r>
                        <a:rPr sz="1200" b="0" i="0">
                          <a:solidFill>
                            <a:srgbClr val="FFC83D"/>
                          </a:solidFill>
                          <a:latin typeface="Arial"/>
                        </a:rPr>
                        <a:t>$7.26</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AppsFlyer casual games D90 ARPPU</a:t>
                      </a:r>
                    </a:p>
                  </a:txBody>
                  <a:tcPr marL="64008" marR="64008" marT="41148" marB="41148" anchor="ctr">
                    <a:solidFill>
                      <a:srgbClr val="121821"/>
                    </a:solidFill>
                  </a:tcPr>
                </a:tc>
              </a:tr>
              <a:tr h="519279">
                <a:tc>
                  <a:txBody>
                    <a:bodyPr wrap="square"/>
                    <a:lstStyle/>
                    <a:p>
                      <a:pPr>
                        <a:lnSpc>
                          <a:spcPct val="114000"/>
                        </a:lnSpc>
                      </a:pPr>
                      <a:r>
                        <a:rPr sz="1200" b="1" i="0">
                          <a:solidFill>
                            <a:srgbClr val="F7F6EF"/>
                          </a:solidFill>
                          <a:latin typeface="Arial"/>
                        </a:rPr>
                        <a:t>Ad revenue per install</a:t>
                      </a:r>
                    </a:p>
                  </a:txBody>
                  <a:tcPr marL="64008" marR="64008" marT="41148" marB="41148" anchor="ctr">
                    <a:solidFill>
                      <a:srgbClr val="0D131B"/>
                    </a:solidFill>
                  </a:tcPr>
                </a:tc>
                <a:tc>
                  <a:txBody>
                    <a:bodyPr wrap="square"/>
                    <a:lstStyle/>
                    <a:p>
                      <a:pPr>
                        <a:lnSpc>
                          <a:spcPct val="114000"/>
                        </a:lnSpc>
                      </a:pPr>
                      <a:r>
                        <a:rPr sz="1200" b="0" i="0">
                          <a:solidFill>
                            <a:srgbClr val="FFC83D"/>
                          </a:solidFill>
                          <a:latin typeface="Arial"/>
                        </a:rPr>
                        <a:t>$0.00</a:t>
                      </a:r>
                    </a:p>
                  </a:txBody>
                  <a:tcPr marL="64008" marR="64008" marT="41148" marB="41148" anchor="ctr">
                    <a:solidFill>
                      <a:srgbClr val="0D131B"/>
                    </a:solidFill>
                  </a:tcPr>
                </a:tc>
                <a:tc>
                  <a:txBody>
                    <a:bodyPr wrap="square"/>
                    <a:lstStyle/>
                    <a:p>
                      <a:pPr>
                        <a:lnSpc>
                          <a:spcPct val="114000"/>
                        </a:lnSpc>
                      </a:pPr>
                      <a:r>
                        <a:rPr sz="1200" b="0" i="0">
                          <a:solidFill>
                            <a:srgbClr val="FFC83D"/>
                          </a:solidFill>
                          <a:latin typeface="Arial"/>
                        </a:rPr>
                        <a:t>$0.55</a:t>
                      </a:r>
                    </a:p>
                  </a:txBody>
                  <a:tcPr marL="64008" marR="64008" marT="41148" marB="41148" anchor="ctr">
                    <a:solidFill>
                      <a:srgbClr val="0D131B"/>
                    </a:solidFill>
                  </a:tcPr>
                </a:tc>
                <a:tc>
                  <a:txBody>
                    <a:bodyPr wrap="square"/>
                    <a:lstStyle/>
                    <a:p>
                      <a:pPr>
                        <a:lnSpc>
                          <a:spcPct val="114000"/>
                        </a:lnSpc>
                      </a:pPr>
                      <a:r>
                        <a:rPr sz="1200" b="0" i="0">
                          <a:solidFill>
                            <a:srgbClr val="FFC83D"/>
                          </a:solidFill>
                          <a:latin typeface="Arial"/>
                        </a:rPr>
                        <a:t>$0.55</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AppsFlyer casual D90 IAA ARPU; $0.00 assumes no mediation stack, which is today's state</a:t>
                      </a:r>
                    </a:p>
                  </a:txBody>
                  <a:tcPr marL="64008" marR="64008" marT="41148" marB="41148" anchor="ctr">
                    <a:solidFill>
                      <a:srgbClr val="0D131B"/>
                    </a:solidFill>
                  </a:tcPr>
                </a:tc>
              </a:tr>
              <a:tr h="519279">
                <a:tc>
                  <a:txBody>
                    <a:bodyPr wrap="square"/>
                    <a:lstStyle/>
                    <a:p>
                      <a:pPr>
                        <a:lnSpc>
                          <a:spcPct val="114000"/>
                        </a:lnSpc>
                      </a:pPr>
                      <a:r>
                        <a:rPr sz="1200" b="1" i="0">
                          <a:solidFill>
                            <a:srgbClr val="F7F6EF"/>
                          </a:solidFill>
                          <a:latin typeface="Arial"/>
                        </a:rPr>
                        <a:t>Monthly churn of retained base</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20%</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20%</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20%</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Assumption, unsourced. Held constant so it cannot flatter a scenario</a:t>
                      </a:r>
                    </a:p>
                  </a:txBody>
                  <a:tcPr marL="64008" marR="64008" marT="41148" marB="41148" anchor="ctr">
                    <a:solidFill>
                      <a:srgbClr val="121821"/>
                    </a:solidFill>
                  </a:tcPr>
                </a:tc>
              </a:tr>
              <a:tr h="519279">
                <a:tc>
                  <a:txBody>
                    <a:bodyPr wrap="square"/>
                    <a:lstStyle/>
                    <a:p>
                      <a:pPr>
                        <a:lnSpc>
                          <a:spcPct val="114000"/>
                        </a:lnSpc>
                      </a:pPr>
                      <a:r>
                        <a:rPr sz="1200" b="1" i="0">
                          <a:solidFill>
                            <a:srgbClr val="F7F6EF"/>
                          </a:solidFill>
                          <a:latin typeface="Arial"/>
                        </a:rPr>
                        <a:t>Installs Y1 / Y2 / Y3</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25K / 90K / 250K</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75K / 350K / 1.2M</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200K / 1.0M / 4.0M</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Assumptions. No company data behind them</a:t>
                      </a:r>
                    </a:p>
                  </a:txBody>
                  <a:tcPr marL="64008" marR="64008" marT="41148" marB="41148" anchor="ctr">
                    <a:solidFill>
                      <a:srgbClr val="0D131B"/>
                    </a:solidFill>
                  </a:tcPr>
                </a:tc>
              </a:tr>
            </a:tbl>
          </a:graphicData>
        </a:graphic>
      </p:graphicFrame>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859536"/>
          </a:xfrm>
        </p:spPr>
        <p:txBody>
          <a:bodyPr wrap="square" lIns="0" rIns="0" tIns="0" bIns="0" anchor="t"/>
          <a:lstStyle/>
          <a:p>
            <a:pPr>
              <a:lnSpc>
                <a:spcPct val="108000"/>
              </a:lnSpc>
            </a:pPr>
            <a:r>
              <a:rPr sz="3000" b="1" i="0">
                <a:solidFill>
                  <a:srgbClr val="F7F6EF"/>
                </a:solidFill>
                <a:latin typeface="Arial"/>
              </a:rPr>
              <a:t>Appendix I — every source cited in this deck, and what kind of evidence it is.</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4EE1FF"/>
                </a:solidFill>
                <a:latin typeface="Arial"/>
              </a:rPr>
              <a:t>APPENDIX — SOURCE REGISTER (1 OF 4)</a:t>
            </a:r>
          </a:p>
        </p:txBody>
      </p:sp>
      <p:sp>
        <p:nvSpPr>
          <p:cNvPr id="4" name="Rectangle 3"/>
          <p:cNvSpPr/>
          <p:nvPr/>
        </p:nvSpPr>
        <p:spPr>
          <a:xfrm>
            <a:off x="566928" y="6035040"/>
            <a:ext cx="11057839" cy="11887"/>
          </a:xfrm>
          <a:prstGeom prst="rect">
            <a:avLst/>
          </a:prstGeom>
          <a:solidFill>
            <a:srgbClr val="4EE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23</a:t>
            </a:r>
          </a:p>
        </p:txBody>
      </p:sp>
      <p:sp>
        <p:nvSpPr>
          <p:cNvPr id="6" name="TextBox 5"/>
          <p:cNvSpPr txBox="1"/>
          <p:nvPr/>
        </p:nvSpPr>
        <p:spPr>
          <a:xfrm>
            <a:off x="566928" y="1719072"/>
            <a:ext cx="11057839" cy="850900"/>
          </a:xfrm>
          <a:prstGeom prst="rect">
            <a:avLst/>
          </a:prstGeom>
          <a:noFill/>
        </p:spPr>
        <p:txBody>
          <a:bodyPr wrap="square" lIns="0" rIns="0" tIns="0" bIns="0" anchor="t">
            <a:spAutoFit/>
          </a:bodyPr>
          <a:lstStyle/>
          <a:p>
            <a:pPr marL="238571" indent="-238571">
              <a:lnSpc>
                <a:spcPct val="116000"/>
              </a:lnSpc>
              <a:buClr>
                <a:srgbClr val="4EE1FF"/>
              </a:buClr>
              <a:buFont typeface="Arial"/>
              <a:buChar char="—"/>
            </a:pPr>
            <a:r>
              <a:rPr sz="1400" b="0" i="0">
                <a:solidFill>
                  <a:srgbClr val="F7F6EF"/>
                </a:solidFill>
                <a:latin typeface="Arial"/>
              </a:rPr>
              <a:t>60 distinct sources across 20 slides. Full URLs are in the speaker notes of every slide.</a:t>
            </a:r>
          </a:p>
          <a:p>
            <a:pPr marL="238571" indent="-238571">
              <a:lnSpc>
                <a:spcPct val="116000"/>
              </a:lnSpc>
              <a:spcBef>
                <a:spcPts val="770"/>
              </a:spcBef>
              <a:buClr>
                <a:srgbClr val="4EE1FF"/>
              </a:buClr>
              <a:buFont typeface="Arial"/>
              <a:buChar char="—"/>
            </a:pPr>
            <a:r>
              <a:rPr sz="1400" b="0" i="0">
                <a:solidFill>
                  <a:srgbClr val="F7F6EF"/>
                </a:solidFill>
                <a:latin typeface="Arial"/>
              </a:rPr>
              <a:t>Kind key: audited filing, company disclosure, third-party estimate, analyst estimate, press report.</a:t>
            </a:r>
          </a:p>
          <a:p>
            <a:pPr marL="238571" indent="-238571">
              <a:lnSpc>
                <a:spcPct val="116000"/>
              </a:lnSpc>
              <a:spcBef>
                <a:spcPts val="770"/>
              </a:spcBef>
              <a:buClr>
                <a:srgbClr val="4EE1FF"/>
              </a:buClr>
              <a:buFont typeface="Arial"/>
              <a:buChar char="—"/>
            </a:pPr>
            <a:r>
              <a:rPr sz="1400" b="0" i="0">
                <a:solidFill>
                  <a:srgbClr val="F7F6EF"/>
                </a:solidFill>
                <a:latin typeface="Arial"/>
              </a:rPr>
              <a:t>Nothing in this deck rests on a source that is not on this list, and nothing on this list is ours.</a:t>
            </a:r>
          </a:p>
        </p:txBody>
      </p:sp>
      <p:graphicFrame>
        <p:nvGraphicFramePr>
          <p:cNvPr id="7" name="Table 6"/>
          <p:cNvGraphicFramePr>
            <a:graphicFrameLocks noGrp="1"/>
          </p:cNvGraphicFramePr>
          <p:nvPr/>
        </p:nvGraphicFramePr>
        <p:xfrm>
          <a:off x="566928" y="2807716"/>
          <a:ext cx="11057837" cy="3099296"/>
        </p:xfrm>
        <a:graphic>
          <a:graphicData uri="http://schemas.openxmlformats.org/drawingml/2006/table">
            <a:tbl>
              <a:tblPr>
                <a:tableStyleId>{2D5ABB26-0587-4C30-8999-92F81FD0307C}</a:tableStyleId>
              </a:tblPr>
              <a:tblGrid>
                <a:gridCol w="6468215"/>
                <a:gridCol w="2809402"/>
                <a:gridCol w="1780220"/>
              </a:tblGrid>
              <a:tr h="193706">
                <a:tc>
                  <a:txBody>
                    <a:bodyPr wrap="square"/>
                    <a:lstStyle/>
                    <a:p>
                      <a:pPr>
                        <a:lnSpc>
                          <a:spcPct val="114000"/>
                        </a:lnSpc>
                      </a:pPr>
                      <a:r>
                        <a:rPr sz="750" b="1" i="0">
                          <a:solidFill>
                            <a:srgbClr val="D4FF3A"/>
                          </a:solidFill>
                          <a:latin typeface="Arial"/>
                        </a:rPr>
                        <a:t>Source</a:t>
                      </a:r>
                    </a:p>
                  </a:txBody>
                  <a:tcPr marL="64008" marR="64008" marT="41148" marB="41148" anchor="ctr">
                    <a:solidFill>
                      <a:srgbClr val="121821"/>
                    </a:solidFill>
                  </a:tcPr>
                </a:tc>
                <a:tc>
                  <a:txBody>
                    <a:bodyPr wrap="square"/>
                    <a:lstStyle/>
                    <a:p>
                      <a:pPr>
                        <a:lnSpc>
                          <a:spcPct val="114000"/>
                        </a:lnSpc>
                      </a:pPr>
                      <a:r>
                        <a:rPr sz="750" b="1" i="0">
                          <a:solidFill>
                            <a:srgbClr val="D4FF3A"/>
                          </a:solidFill>
                          <a:latin typeface="Arial"/>
                        </a:rPr>
                        <a:t>Kind</a:t>
                      </a:r>
                    </a:p>
                  </a:txBody>
                  <a:tcPr marL="64008" marR="64008" marT="41148" marB="41148" anchor="ctr">
                    <a:solidFill>
                      <a:srgbClr val="121821"/>
                    </a:solidFill>
                  </a:tcPr>
                </a:tc>
                <a:tc>
                  <a:txBody>
                    <a:bodyPr wrap="square"/>
                    <a:lstStyle/>
                    <a:p>
                      <a:pPr>
                        <a:lnSpc>
                          <a:spcPct val="114000"/>
                        </a:lnSpc>
                      </a:pPr>
                      <a:r>
                        <a:rPr sz="750" b="1" i="0">
                          <a:solidFill>
                            <a:srgbClr val="D4FF3A"/>
                          </a:solidFill>
                          <a:latin typeface="Arial"/>
                        </a:rPr>
                        <a:t>Cited on</a:t>
                      </a:r>
                    </a:p>
                  </a:txBody>
                  <a:tcPr marL="64008" marR="64008" marT="41148" marB="41148" anchor="ctr">
                    <a:solidFill>
                      <a:srgbClr val="121821"/>
                    </a:solidFill>
                  </a:tcPr>
                </a:tc>
              </a:tr>
              <a:tr h="193706">
                <a:tc>
                  <a:txBody>
                    <a:bodyPr wrap="square"/>
                    <a:lstStyle/>
                    <a:p>
                      <a:pPr>
                        <a:lnSpc>
                          <a:spcPct val="114000"/>
                        </a:lnSpc>
                      </a:pPr>
                      <a:r>
                        <a:rPr sz="750" b="1" i="0">
                          <a:solidFill>
                            <a:srgbClr val="F7F6EF"/>
                          </a:solidFill>
                          <a:latin typeface="Arial"/>
                        </a:rPr>
                        <a:t>FACT//DUEL internal — numbers.md — status paragraph and §5.15</a:t>
                      </a:r>
                    </a:p>
                  </a:txBody>
                  <a:tcPr marL="64008" marR="64008" marT="41148" marB="41148" anchor="ctr">
                    <a:solidFill>
                      <a:srgbClr val="121821"/>
                    </a:solidFill>
                  </a:tcPr>
                </a:tc>
                <a:tc>
                  <a:txBody>
                    <a:bodyPr wrap="square"/>
                    <a:lstStyle/>
                    <a:p>
                      <a:pPr>
                        <a:lnSpc>
                          <a:spcPct val="114000"/>
                        </a:lnSpc>
                      </a:pPr>
                      <a:r>
                        <a:rPr sz="750" b="0" i="0">
                          <a:solidFill>
                            <a:srgbClr val="F7F6EF"/>
                          </a:solidFill>
                          <a:latin typeface="Arial"/>
                        </a:rPr>
                        <a:t>internal (company disclosure)</a:t>
                      </a:r>
                    </a:p>
                  </a:txBody>
                  <a:tcPr marL="64008" marR="64008" marT="41148" marB="41148" anchor="ctr">
                    <a:solidFill>
                      <a:srgbClr val="121821"/>
                    </a:solidFill>
                  </a:tcPr>
                </a:tc>
                <a:tc>
                  <a:txBody>
                    <a:bodyPr wrap="square"/>
                    <a:lstStyle/>
                    <a:p>
                      <a:pPr>
                        <a:lnSpc>
                          <a:spcPct val="114000"/>
                        </a:lnSpc>
                      </a:pPr>
                      <a:r>
                        <a:rPr sz="750" b="0" i="0">
                          <a:solidFill>
                            <a:srgbClr val="F7F6EF"/>
                          </a:solidFill>
                          <a:latin typeface="Arial"/>
                        </a:rPr>
                        <a:t>1, 6, 11, 20</a:t>
                      </a:r>
                    </a:p>
                  </a:txBody>
                  <a:tcPr marL="64008" marR="64008" marT="41148" marB="41148" anchor="ctr">
                    <a:solidFill>
                      <a:srgbClr val="121821"/>
                    </a:solidFill>
                  </a:tcPr>
                </a:tc>
              </a:tr>
              <a:tr h="193706">
                <a:tc>
                  <a:txBody>
                    <a:bodyPr wrap="square"/>
                    <a:lstStyle/>
                    <a:p>
                      <a:pPr>
                        <a:lnSpc>
                          <a:spcPct val="114000"/>
                        </a:lnSpc>
                      </a:pPr>
                      <a:r>
                        <a:rPr sz="750" b="1" i="0">
                          <a:solidFill>
                            <a:srgbClr val="F7F6EF"/>
                          </a:solidFill>
                          <a:latin typeface="Arial"/>
                        </a:rPr>
                        <a:t>Y Combinator — A guide to seed fundraising</a:t>
                      </a:r>
                    </a:p>
                  </a:txBody>
                  <a:tcPr marL="64008" marR="64008" marT="41148" marB="41148" anchor="ctr">
                    <a:solidFill>
                      <a:srgbClr val="0D131B"/>
                    </a:solidFill>
                  </a:tcPr>
                </a:tc>
                <a:tc>
                  <a:txBody>
                    <a:bodyPr wrap="square"/>
                    <a:lstStyle/>
                    <a:p>
                      <a:pPr>
                        <a:lnSpc>
                          <a:spcPct val="114000"/>
                        </a:lnSpc>
                      </a:pPr>
                      <a:r>
                        <a:rPr sz="750" b="0" i="0">
                          <a:solidFill>
                            <a:srgbClr val="F7F6EF"/>
                          </a:solidFill>
                          <a:latin typeface="Arial"/>
                        </a:rPr>
                        <a:t>company disclosure</a:t>
                      </a:r>
                    </a:p>
                  </a:txBody>
                  <a:tcPr marL="64008" marR="64008" marT="41148" marB="41148" anchor="ctr">
                    <a:solidFill>
                      <a:srgbClr val="0D131B"/>
                    </a:solidFill>
                  </a:tcPr>
                </a:tc>
                <a:tc>
                  <a:txBody>
                    <a:bodyPr wrap="square"/>
                    <a:lstStyle/>
                    <a:p>
                      <a:pPr>
                        <a:lnSpc>
                          <a:spcPct val="114000"/>
                        </a:lnSpc>
                      </a:pPr>
                      <a:r>
                        <a:rPr sz="750" b="0" i="0">
                          <a:solidFill>
                            <a:srgbClr val="F7F6EF"/>
                          </a:solidFill>
                          <a:latin typeface="Arial"/>
                        </a:rPr>
                        <a:t>1, 13, 14</a:t>
                      </a:r>
                    </a:p>
                  </a:txBody>
                  <a:tcPr marL="64008" marR="64008" marT="41148" marB="41148" anchor="ctr">
                    <a:solidFill>
                      <a:srgbClr val="0D131B"/>
                    </a:solidFill>
                  </a:tcPr>
                </a:tc>
              </a:tr>
              <a:tr h="193706">
                <a:tc>
                  <a:txBody>
                    <a:bodyPr wrap="square"/>
                    <a:lstStyle/>
                    <a:p>
                      <a:pPr>
                        <a:lnSpc>
                          <a:spcPct val="114000"/>
                        </a:lnSpc>
                      </a:pPr>
                      <a:r>
                        <a:rPr sz="750" b="1" i="0">
                          <a:solidFill>
                            <a:srgbClr val="F7F6EF"/>
                          </a:solidFill>
                          <a:latin typeface="Arial"/>
                        </a:rPr>
                        <a:t>Y Combinator — How to design a better pitch deck</a:t>
                      </a:r>
                    </a:p>
                  </a:txBody>
                  <a:tcPr marL="64008" marR="64008" marT="41148" marB="41148" anchor="ctr">
                    <a:solidFill>
                      <a:srgbClr val="121821"/>
                    </a:solidFill>
                  </a:tcPr>
                </a:tc>
                <a:tc>
                  <a:txBody>
                    <a:bodyPr wrap="square"/>
                    <a:lstStyle/>
                    <a:p>
                      <a:pPr>
                        <a:lnSpc>
                          <a:spcPct val="114000"/>
                        </a:lnSpc>
                      </a:pPr>
                      <a:r>
                        <a:rPr sz="750" b="0" i="0">
                          <a:solidFill>
                            <a:srgbClr val="F7F6EF"/>
                          </a:solidFill>
                          <a:latin typeface="Arial"/>
                        </a:rPr>
                        <a:t>company disclosure</a:t>
                      </a:r>
                    </a:p>
                  </a:txBody>
                  <a:tcPr marL="64008" marR="64008" marT="41148" marB="41148" anchor="ctr">
                    <a:solidFill>
                      <a:srgbClr val="121821"/>
                    </a:solidFill>
                  </a:tcPr>
                </a:tc>
                <a:tc>
                  <a:txBody>
                    <a:bodyPr wrap="square"/>
                    <a:lstStyle/>
                    <a:p>
                      <a:pPr>
                        <a:lnSpc>
                          <a:spcPct val="114000"/>
                        </a:lnSpc>
                      </a:pPr>
                      <a:r>
                        <a:rPr sz="750" b="0" i="0">
                          <a:solidFill>
                            <a:srgbClr val="F7F6EF"/>
                          </a:solidFill>
                          <a:latin typeface="Arial"/>
                        </a:rPr>
                        <a:t>1, 13</a:t>
                      </a:r>
                    </a:p>
                  </a:txBody>
                  <a:tcPr marL="64008" marR="64008" marT="41148" marB="41148" anchor="ctr">
                    <a:solidFill>
                      <a:srgbClr val="121821"/>
                    </a:solidFill>
                  </a:tcPr>
                </a:tc>
              </a:tr>
              <a:tr h="193706">
                <a:tc>
                  <a:txBody>
                    <a:bodyPr wrap="square"/>
                    <a:lstStyle/>
                    <a:p>
                      <a:pPr>
                        <a:lnSpc>
                          <a:spcPct val="114000"/>
                        </a:lnSpc>
                      </a:pPr>
                      <a:r>
                        <a:rPr sz="750" b="1" i="0">
                          <a:solidFill>
                            <a:srgbClr val="F7F6EF"/>
                          </a:solidFill>
                          <a:latin typeface="Arial"/>
                        </a:rPr>
                        <a:t>GameAnalytics — 2026 Mobile &amp; PC Gaming Benchmarks</a:t>
                      </a:r>
                    </a:p>
                  </a:txBody>
                  <a:tcPr marL="64008" marR="64008" marT="41148" marB="41148" anchor="ctr">
                    <a:solidFill>
                      <a:srgbClr val="0D131B"/>
                    </a:solidFill>
                  </a:tcPr>
                </a:tc>
                <a:tc>
                  <a:txBody>
                    <a:bodyPr wrap="square"/>
                    <a:lstStyle/>
                    <a:p>
                      <a:pPr>
                        <a:lnSpc>
                          <a:spcPct val="114000"/>
                        </a:lnSpc>
                      </a:pPr>
                      <a:r>
                        <a:rPr sz="750" b="0" i="0">
                          <a:solidFill>
                            <a:srgbClr val="F7F6EF"/>
                          </a:solidFill>
                          <a:latin typeface="Arial"/>
                        </a:rPr>
                        <a:t>third-party estimate</a:t>
                      </a:r>
                    </a:p>
                  </a:txBody>
                  <a:tcPr marL="64008" marR="64008" marT="41148" marB="41148" anchor="ctr">
                    <a:solidFill>
                      <a:srgbClr val="0D131B"/>
                    </a:solidFill>
                  </a:tcPr>
                </a:tc>
                <a:tc>
                  <a:txBody>
                    <a:bodyPr wrap="square"/>
                    <a:lstStyle/>
                    <a:p>
                      <a:pPr>
                        <a:lnSpc>
                          <a:spcPct val="114000"/>
                        </a:lnSpc>
                      </a:pPr>
                      <a:r>
                        <a:rPr sz="750" b="0" i="0">
                          <a:solidFill>
                            <a:srgbClr val="F7F6EF"/>
                          </a:solidFill>
                          <a:latin typeface="Arial"/>
                        </a:rPr>
                        <a:t>1, 4, 9, 10, 12, 16</a:t>
                      </a:r>
                    </a:p>
                  </a:txBody>
                  <a:tcPr marL="64008" marR="64008" marT="41148" marB="41148" anchor="ctr">
                    <a:solidFill>
                      <a:srgbClr val="0D131B"/>
                    </a:solidFill>
                  </a:tcPr>
                </a:tc>
              </a:tr>
              <a:tr h="193706">
                <a:tc>
                  <a:txBody>
                    <a:bodyPr wrap="square"/>
                    <a:lstStyle/>
                    <a:p>
                      <a:pPr>
                        <a:lnSpc>
                          <a:spcPct val="114000"/>
                        </a:lnSpc>
                      </a:pPr>
                      <a:r>
                        <a:rPr sz="750" b="1" i="0">
                          <a:solidFill>
                            <a:srgbClr val="F7F6EF"/>
                          </a:solidFill>
                          <a:latin typeface="Arial"/>
                        </a:rPr>
                        <a:t>DocSend — per-section dwell times</a:t>
                      </a:r>
                    </a:p>
                  </a:txBody>
                  <a:tcPr marL="64008" marR="64008" marT="41148" marB="41148" anchor="ctr">
                    <a:solidFill>
                      <a:srgbClr val="121821"/>
                    </a:solidFill>
                  </a:tcPr>
                </a:tc>
                <a:tc>
                  <a:txBody>
                    <a:bodyPr wrap="square"/>
                    <a:lstStyle/>
                    <a:p>
                      <a:pPr>
                        <a:lnSpc>
                          <a:spcPct val="114000"/>
                        </a:lnSpc>
                      </a:pPr>
                      <a:r>
                        <a:rPr sz="750" b="0" i="0">
                          <a:solidFill>
                            <a:srgbClr val="F7F6EF"/>
                          </a:solidFill>
                          <a:latin typeface="Arial"/>
                        </a:rPr>
                        <a:t>third-party estimate</a:t>
                      </a:r>
                    </a:p>
                  </a:txBody>
                  <a:tcPr marL="64008" marR="64008" marT="41148" marB="41148" anchor="ctr">
                    <a:solidFill>
                      <a:srgbClr val="121821"/>
                    </a:solidFill>
                  </a:tcPr>
                </a:tc>
                <a:tc>
                  <a:txBody>
                    <a:bodyPr wrap="square"/>
                    <a:lstStyle/>
                    <a:p>
                      <a:pPr>
                        <a:lnSpc>
                          <a:spcPct val="114000"/>
                        </a:lnSpc>
                      </a:pPr>
                      <a:r>
                        <a:rPr sz="750" b="0" i="0">
                          <a:solidFill>
                            <a:srgbClr val="F7F6EF"/>
                          </a:solidFill>
                          <a:latin typeface="Arial"/>
                        </a:rPr>
                        <a:t>1, 5, 13</a:t>
                      </a:r>
                    </a:p>
                  </a:txBody>
                  <a:tcPr marL="64008" marR="64008" marT="41148" marB="41148" anchor="ctr">
                    <a:solidFill>
                      <a:srgbClr val="121821"/>
                    </a:solidFill>
                  </a:tcPr>
                </a:tc>
              </a:tr>
              <a:tr h="193706">
                <a:tc>
                  <a:txBody>
                    <a:bodyPr wrap="square"/>
                    <a:lstStyle/>
                    <a:p>
                      <a:pPr>
                        <a:lnSpc>
                          <a:spcPct val="114000"/>
                        </a:lnSpc>
                      </a:pPr>
                      <a:r>
                        <a:rPr sz="750" b="1" i="0">
                          <a:solidFill>
                            <a:srgbClr val="F7F6EF"/>
                          </a:solidFill>
                          <a:latin typeface="Arial"/>
                        </a:rPr>
                        <a:t>DocSend — what VCs want inside a seed deck</a:t>
                      </a:r>
                    </a:p>
                  </a:txBody>
                  <a:tcPr marL="64008" marR="64008" marT="41148" marB="41148" anchor="ctr">
                    <a:solidFill>
                      <a:srgbClr val="0D131B"/>
                    </a:solidFill>
                  </a:tcPr>
                </a:tc>
                <a:tc>
                  <a:txBody>
                    <a:bodyPr wrap="square"/>
                    <a:lstStyle/>
                    <a:p>
                      <a:pPr>
                        <a:lnSpc>
                          <a:spcPct val="114000"/>
                        </a:lnSpc>
                      </a:pPr>
                      <a:r>
                        <a:rPr sz="750" b="0" i="0">
                          <a:solidFill>
                            <a:srgbClr val="F7F6EF"/>
                          </a:solidFill>
                          <a:latin typeface="Arial"/>
                        </a:rPr>
                        <a:t>third-party estimate</a:t>
                      </a:r>
                    </a:p>
                  </a:txBody>
                  <a:tcPr marL="64008" marR="64008" marT="41148" marB="41148" anchor="ctr">
                    <a:solidFill>
                      <a:srgbClr val="0D131B"/>
                    </a:solidFill>
                  </a:tcPr>
                </a:tc>
                <a:tc>
                  <a:txBody>
                    <a:bodyPr wrap="square"/>
                    <a:lstStyle/>
                    <a:p>
                      <a:pPr>
                        <a:lnSpc>
                          <a:spcPct val="114000"/>
                        </a:lnSpc>
                      </a:pPr>
                      <a:r>
                        <a:rPr sz="750" b="0" i="0">
                          <a:solidFill>
                            <a:srgbClr val="F7F6EF"/>
                          </a:solidFill>
                          <a:latin typeface="Arial"/>
                        </a:rPr>
                        <a:t>1, 9</a:t>
                      </a:r>
                    </a:p>
                  </a:txBody>
                  <a:tcPr marL="64008" marR="64008" marT="41148" marB="41148" anchor="ctr">
                    <a:solidFill>
                      <a:srgbClr val="0D131B"/>
                    </a:solidFill>
                  </a:tcPr>
                </a:tc>
              </a:tr>
              <a:tr h="193706">
                <a:tc>
                  <a:txBody>
                    <a:bodyPr wrap="square"/>
                    <a:lstStyle/>
                    <a:p>
                      <a:pPr>
                        <a:lnSpc>
                          <a:spcPct val="114000"/>
                        </a:lnSpc>
                      </a:pPr>
                      <a:r>
                        <a:rPr sz="750" b="1" i="0">
                          <a:solidFill>
                            <a:srgbClr val="F7F6EF"/>
                          </a:solidFill>
                          <a:latin typeface="Arial"/>
                        </a:rPr>
                        <a:t>Google Play — Trivia Crack listing</a:t>
                      </a:r>
                    </a:p>
                  </a:txBody>
                  <a:tcPr marL="64008" marR="64008" marT="41148" marB="41148" anchor="ctr">
                    <a:solidFill>
                      <a:srgbClr val="121821"/>
                    </a:solidFill>
                  </a:tcPr>
                </a:tc>
                <a:tc>
                  <a:txBody>
                    <a:bodyPr wrap="square"/>
                    <a:lstStyle/>
                    <a:p>
                      <a:pPr>
                        <a:lnSpc>
                          <a:spcPct val="114000"/>
                        </a:lnSpc>
                      </a:pPr>
                      <a:r>
                        <a:rPr sz="750" b="0" i="0">
                          <a:solidFill>
                            <a:srgbClr val="F7F6EF"/>
                          </a:solidFill>
                          <a:latin typeface="Arial"/>
                        </a:rPr>
                        <a:t>company disclosure</a:t>
                      </a:r>
                    </a:p>
                  </a:txBody>
                  <a:tcPr marL="64008" marR="64008" marT="41148" marB="41148" anchor="ctr">
                    <a:solidFill>
                      <a:srgbClr val="121821"/>
                    </a:solidFill>
                  </a:tcPr>
                </a:tc>
                <a:tc>
                  <a:txBody>
                    <a:bodyPr wrap="square"/>
                    <a:lstStyle/>
                    <a:p>
                      <a:pPr>
                        <a:lnSpc>
                          <a:spcPct val="114000"/>
                        </a:lnSpc>
                      </a:pPr>
                      <a:r>
                        <a:rPr sz="750" b="0" i="0">
                          <a:solidFill>
                            <a:srgbClr val="F7F6EF"/>
                          </a:solidFill>
                          <a:latin typeface="Arial"/>
                        </a:rPr>
                        <a:t>2, 8, 11, 15</a:t>
                      </a:r>
                    </a:p>
                  </a:txBody>
                  <a:tcPr marL="64008" marR="64008" marT="41148" marB="41148" anchor="ctr">
                    <a:solidFill>
                      <a:srgbClr val="121821"/>
                    </a:solidFill>
                  </a:tcPr>
                </a:tc>
              </a:tr>
              <a:tr h="193706">
                <a:tc>
                  <a:txBody>
                    <a:bodyPr wrap="square"/>
                    <a:lstStyle/>
                    <a:p>
                      <a:pPr>
                        <a:lnSpc>
                          <a:spcPct val="114000"/>
                        </a:lnSpc>
                      </a:pPr>
                      <a:r>
                        <a:rPr sz="750" b="1" i="0">
                          <a:solidFill>
                            <a:srgbClr val="F7F6EF"/>
                          </a:solidFill>
                          <a:latin typeface="Arial"/>
                        </a:rPr>
                        <a:t>MAG Interactive — Q3 2025/26 interim report</a:t>
                      </a:r>
                    </a:p>
                  </a:txBody>
                  <a:tcPr marL="64008" marR="64008" marT="41148" marB="41148" anchor="ctr">
                    <a:solidFill>
                      <a:srgbClr val="0D131B"/>
                    </a:solidFill>
                  </a:tcPr>
                </a:tc>
                <a:tc>
                  <a:txBody>
                    <a:bodyPr wrap="square"/>
                    <a:lstStyle/>
                    <a:p>
                      <a:pPr>
                        <a:lnSpc>
                          <a:spcPct val="114000"/>
                        </a:lnSpc>
                      </a:pPr>
                      <a:r>
                        <a:rPr sz="750" b="0" i="0">
                          <a:solidFill>
                            <a:srgbClr val="F7F6EF"/>
                          </a:solidFill>
                          <a:latin typeface="Arial"/>
                        </a:rPr>
                        <a:t>company disclosure</a:t>
                      </a:r>
                    </a:p>
                  </a:txBody>
                  <a:tcPr marL="64008" marR="64008" marT="41148" marB="41148" anchor="ctr">
                    <a:solidFill>
                      <a:srgbClr val="0D131B"/>
                    </a:solidFill>
                  </a:tcPr>
                </a:tc>
                <a:tc>
                  <a:txBody>
                    <a:bodyPr wrap="square"/>
                    <a:lstStyle/>
                    <a:p>
                      <a:pPr>
                        <a:lnSpc>
                          <a:spcPct val="114000"/>
                        </a:lnSpc>
                      </a:pPr>
                      <a:r>
                        <a:rPr sz="750" b="0" i="0">
                          <a:solidFill>
                            <a:srgbClr val="F7F6EF"/>
                          </a:solidFill>
                          <a:latin typeface="Arial"/>
                        </a:rPr>
                        <a:t>2, 7, 11, 19</a:t>
                      </a:r>
                    </a:p>
                  </a:txBody>
                  <a:tcPr marL="64008" marR="64008" marT="41148" marB="41148" anchor="ctr">
                    <a:solidFill>
                      <a:srgbClr val="0D131B"/>
                    </a:solidFill>
                  </a:tcPr>
                </a:tc>
              </a:tr>
              <a:tr h="193706">
                <a:tc>
                  <a:txBody>
                    <a:bodyPr wrap="square"/>
                    <a:lstStyle/>
                    <a:p>
                      <a:pPr>
                        <a:lnSpc>
                          <a:spcPct val="114000"/>
                        </a:lnSpc>
                      </a:pPr>
                      <a:r>
                        <a:rPr sz="750" b="1" i="0">
                          <a:solidFill>
                            <a:srgbClr val="F7F6EF"/>
                          </a:solidFill>
                          <a:latin typeface="Arial"/>
                        </a:rPr>
                        <a:t>Apple lookup API — QuizDuel listing (US storefront)</a:t>
                      </a:r>
                    </a:p>
                  </a:txBody>
                  <a:tcPr marL="64008" marR="64008" marT="41148" marB="41148" anchor="ctr">
                    <a:solidFill>
                      <a:srgbClr val="121821"/>
                    </a:solidFill>
                  </a:tcPr>
                </a:tc>
                <a:tc>
                  <a:txBody>
                    <a:bodyPr wrap="square"/>
                    <a:lstStyle/>
                    <a:p>
                      <a:pPr>
                        <a:lnSpc>
                          <a:spcPct val="114000"/>
                        </a:lnSpc>
                      </a:pPr>
                      <a:r>
                        <a:rPr sz="750" b="0" i="0">
                          <a:solidFill>
                            <a:srgbClr val="F7F6EF"/>
                          </a:solidFill>
                          <a:latin typeface="Arial"/>
                        </a:rPr>
                        <a:t>company disclosure</a:t>
                      </a:r>
                    </a:p>
                  </a:txBody>
                  <a:tcPr marL="64008" marR="64008" marT="41148" marB="41148" anchor="ctr">
                    <a:solidFill>
                      <a:srgbClr val="121821"/>
                    </a:solidFill>
                  </a:tcPr>
                </a:tc>
                <a:tc>
                  <a:txBody>
                    <a:bodyPr wrap="square"/>
                    <a:lstStyle/>
                    <a:p>
                      <a:pPr>
                        <a:lnSpc>
                          <a:spcPct val="114000"/>
                        </a:lnSpc>
                      </a:pPr>
                      <a:r>
                        <a:rPr sz="750" b="0" i="0">
                          <a:solidFill>
                            <a:srgbClr val="F7F6EF"/>
                          </a:solidFill>
                          <a:latin typeface="Arial"/>
                        </a:rPr>
                        <a:t>2, 11</a:t>
                      </a:r>
                    </a:p>
                  </a:txBody>
                  <a:tcPr marL="64008" marR="64008" marT="41148" marB="41148" anchor="ctr">
                    <a:solidFill>
                      <a:srgbClr val="121821"/>
                    </a:solidFill>
                  </a:tcPr>
                </a:tc>
              </a:tr>
              <a:tr h="193706">
                <a:tc>
                  <a:txBody>
                    <a:bodyPr wrap="square"/>
                    <a:lstStyle/>
                    <a:p>
                      <a:pPr>
                        <a:lnSpc>
                          <a:spcPct val="114000"/>
                        </a:lnSpc>
                      </a:pPr>
                      <a:r>
                        <a:rPr sz="750" b="1" i="0">
                          <a:solidFill>
                            <a:srgbClr val="F7F6EF"/>
                          </a:solidFill>
                          <a:latin typeface="Arial"/>
                        </a:rPr>
                        <a:t>Apple lookup API — QuizDuel listing</a:t>
                      </a:r>
                    </a:p>
                  </a:txBody>
                  <a:tcPr marL="64008" marR="64008" marT="41148" marB="41148" anchor="ctr">
                    <a:solidFill>
                      <a:srgbClr val="0D131B"/>
                    </a:solidFill>
                  </a:tcPr>
                </a:tc>
                <a:tc>
                  <a:txBody>
                    <a:bodyPr wrap="square"/>
                    <a:lstStyle/>
                    <a:p>
                      <a:pPr>
                        <a:lnSpc>
                          <a:spcPct val="114000"/>
                        </a:lnSpc>
                      </a:pPr>
                      <a:r>
                        <a:rPr sz="750" b="0" i="0">
                          <a:solidFill>
                            <a:srgbClr val="F7F6EF"/>
                          </a:solidFill>
                          <a:latin typeface="Arial"/>
                        </a:rPr>
                        <a:t>company disclosure</a:t>
                      </a:r>
                    </a:p>
                  </a:txBody>
                  <a:tcPr marL="64008" marR="64008" marT="41148" marB="41148" anchor="ctr">
                    <a:solidFill>
                      <a:srgbClr val="0D131B"/>
                    </a:solidFill>
                  </a:tcPr>
                </a:tc>
                <a:tc>
                  <a:txBody>
                    <a:bodyPr wrap="square"/>
                    <a:lstStyle/>
                    <a:p>
                      <a:pPr>
                        <a:lnSpc>
                          <a:spcPct val="114000"/>
                        </a:lnSpc>
                      </a:pPr>
                      <a:r>
                        <a:rPr sz="750" b="0" i="0">
                          <a:solidFill>
                            <a:srgbClr val="F7F6EF"/>
                          </a:solidFill>
                          <a:latin typeface="Arial"/>
                        </a:rPr>
                        <a:t>2, 11</a:t>
                      </a:r>
                    </a:p>
                  </a:txBody>
                  <a:tcPr marL="64008" marR="64008" marT="41148" marB="41148" anchor="ctr">
                    <a:solidFill>
                      <a:srgbClr val="0D131B"/>
                    </a:solidFill>
                  </a:tcPr>
                </a:tc>
              </a:tr>
              <a:tr h="193706">
                <a:tc>
                  <a:txBody>
                    <a:bodyPr wrap="square"/>
                    <a:lstStyle/>
                    <a:p>
                      <a:pPr>
                        <a:lnSpc>
                          <a:spcPct val="114000"/>
                        </a:lnSpc>
                      </a:pPr>
                      <a:r>
                        <a:rPr sz="750" b="1" i="0">
                          <a:solidFill>
                            <a:srgbClr val="F7F6EF"/>
                          </a:solidFill>
                          <a:latin typeface="Arial"/>
                        </a:rPr>
                        <a:t>Google Play — Quizion listing</a:t>
                      </a:r>
                    </a:p>
                  </a:txBody>
                  <a:tcPr marL="64008" marR="64008" marT="41148" marB="41148" anchor="ctr">
                    <a:solidFill>
                      <a:srgbClr val="121821"/>
                    </a:solidFill>
                  </a:tcPr>
                </a:tc>
                <a:tc>
                  <a:txBody>
                    <a:bodyPr wrap="square"/>
                    <a:lstStyle/>
                    <a:p>
                      <a:pPr>
                        <a:lnSpc>
                          <a:spcPct val="114000"/>
                        </a:lnSpc>
                      </a:pPr>
                      <a:r>
                        <a:rPr sz="750" b="0" i="0">
                          <a:solidFill>
                            <a:srgbClr val="F7F6EF"/>
                          </a:solidFill>
                          <a:latin typeface="Arial"/>
                        </a:rPr>
                        <a:t>company disclosure</a:t>
                      </a:r>
                    </a:p>
                  </a:txBody>
                  <a:tcPr marL="64008" marR="64008" marT="41148" marB="41148" anchor="ctr">
                    <a:solidFill>
                      <a:srgbClr val="121821"/>
                    </a:solidFill>
                  </a:tcPr>
                </a:tc>
                <a:tc>
                  <a:txBody>
                    <a:bodyPr wrap="square"/>
                    <a:lstStyle/>
                    <a:p>
                      <a:pPr>
                        <a:lnSpc>
                          <a:spcPct val="114000"/>
                        </a:lnSpc>
                      </a:pPr>
                      <a:r>
                        <a:rPr sz="750" b="0" i="0">
                          <a:solidFill>
                            <a:srgbClr val="F7F6EF"/>
                          </a:solidFill>
                          <a:latin typeface="Arial"/>
                        </a:rPr>
                        <a:t>2, 11</a:t>
                      </a:r>
                    </a:p>
                  </a:txBody>
                  <a:tcPr marL="64008" marR="64008" marT="41148" marB="41148" anchor="ctr">
                    <a:solidFill>
                      <a:srgbClr val="121821"/>
                    </a:solidFill>
                  </a:tcPr>
                </a:tc>
              </a:tr>
              <a:tr h="193706">
                <a:tc>
                  <a:txBody>
                    <a:bodyPr wrap="square"/>
                    <a:lstStyle/>
                    <a:p>
                      <a:pPr>
                        <a:lnSpc>
                          <a:spcPct val="114000"/>
                        </a:lnSpc>
                      </a:pPr>
                      <a:r>
                        <a:rPr sz="750" b="1" i="0">
                          <a:solidFill>
                            <a:srgbClr val="F7F6EF"/>
                          </a:solidFill>
                          <a:latin typeface="Arial"/>
                        </a:rPr>
                        <a:t>Google Play — TRIVIA GO! listing</a:t>
                      </a:r>
                    </a:p>
                  </a:txBody>
                  <a:tcPr marL="64008" marR="64008" marT="41148" marB="41148" anchor="ctr">
                    <a:solidFill>
                      <a:srgbClr val="0D131B"/>
                    </a:solidFill>
                  </a:tcPr>
                </a:tc>
                <a:tc>
                  <a:txBody>
                    <a:bodyPr wrap="square"/>
                    <a:lstStyle/>
                    <a:p>
                      <a:pPr>
                        <a:lnSpc>
                          <a:spcPct val="114000"/>
                        </a:lnSpc>
                      </a:pPr>
                      <a:r>
                        <a:rPr sz="750" b="0" i="0">
                          <a:solidFill>
                            <a:srgbClr val="F7F6EF"/>
                          </a:solidFill>
                          <a:latin typeface="Arial"/>
                        </a:rPr>
                        <a:t>company disclosure</a:t>
                      </a:r>
                    </a:p>
                  </a:txBody>
                  <a:tcPr marL="64008" marR="64008" marT="41148" marB="41148" anchor="ctr">
                    <a:solidFill>
                      <a:srgbClr val="0D131B"/>
                    </a:solidFill>
                  </a:tcPr>
                </a:tc>
                <a:tc>
                  <a:txBody>
                    <a:bodyPr wrap="square"/>
                    <a:lstStyle/>
                    <a:p>
                      <a:pPr>
                        <a:lnSpc>
                          <a:spcPct val="114000"/>
                        </a:lnSpc>
                      </a:pPr>
                      <a:r>
                        <a:rPr sz="750" b="0" i="0">
                          <a:solidFill>
                            <a:srgbClr val="F7F6EF"/>
                          </a:solidFill>
                          <a:latin typeface="Arial"/>
                        </a:rPr>
                        <a:t>2, 11</a:t>
                      </a:r>
                    </a:p>
                  </a:txBody>
                  <a:tcPr marL="64008" marR="64008" marT="41148" marB="41148" anchor="ctr">
                    <a:solidFill>
                      <a:srgbClr val="0D131B"/>
                    </a:solidFill>
                  </a:tcPr>
                </a:tc>
              </a:tr>
              <a:tr h="193706">
                <a:tc>
                  <a:txBody>
                    <a:bodyPr wrap="square"/>
                    <a:lstStyle/>
                    <a:p>
                      <a:pPr>
                        <a:lnSpc>
                          <a:spcPct val="114000"/>
                        </a:lnSpc>
                      </a:pPr>
                      <a:r>
                        <a:rPr sz="750" b="1" i="0">
                          <a:solidFill>
                            <a:srgbClr val="F7F6EF"/>
                          </a:solidFill>
                          <a:latin typeface="Arial"/>
                        </a:rPr>
                        <a:t>TechCrunch — Trivia Royale, 2.5M downloads in 3 weeks</a:t>
                      </a:r>
                    </a:p>
                  </a:txBody>
                  <a:tcPr marL="64008" marR="64008" marT="41148" marB="41148" anchor="ctr">
                    <a:solidFill>
                      <a:srgbClr val="121821"/>
                    </a:solidFill>
                  </a:tcPr>
                </a:tc>
                <a:tc>
                  <a:txBody>
                    <a:bodyPr wrap="square"/>
                    <a:lstStyle/>
                    <a:p>
                      <a:pPr>
                        <a:lnSpc>
                          <a:spcPct val="114000"/>
                        </a:lnSpc>
                      </a:pPr>
                      <a:r>
                        <a:rPr sz="750" b="0" i="0">
                          <a:solidFill>
                            <a:srgbClr val="F7F6EF"/>
                          </a:solidFill>
                          <a:latin typeface="Arial"/>
                        </a:rPr>
                        <a:t>press report</a:t>
                      </a:r>
                    </a:p>
                  </a:txBody>
                  <a:tcPr marL="64008" marR="64008" marT="41148" marB="41148" anchor="ctr">
                    <a:solidFill>
                      <a:srgbClr val="121821"/>
                    </a:solidFill>
                  </a:tcPr>
                </a:tc>
                <a:tc>
                  <a:txBody>
                    <a:bodyPr wrap="square"/>
                    <a:lstStyle/>
                    <a:p>
                      <a:pPr>
                        <a:lnSpc>
                          <a:spcPct val="114000"/>
                        </a:lnSpc>
                      </a:pPr>
                      <a:r>
                        <a:rPr sz="750" b="0" i="0">
                          <a:solidFill>
                            <a:srgbClr val="F7F6EF"/>
                          </a:solidFill>
                          <a:latin typeface="Arial"/>
                        </a:rPr>
                        <a:t>3, 12, 16, 18, 19</a:t>
                      </a:r>
                    </a:p>
                  </a:txBody>
                  <a:tcPr marL="64008" marR="64008" marT="41148" marB="41148" anchor="ctr">
                    <a:solidFill>
                      <a:srgbClr val="121821"/>
                    </a:solidFill>
                  </a:tcPr>
                </a:tc>
              </a:tr>
              <a:tr h="193706">
                <a:tc>
                  <a:txBody>
                    <a:bodyPr wrap="square"/>
                    <a:lstStyle/>
                    <a:p>
                      <a:pPr>
                        <a:lnSpc>
                          <a:spcPct val="114000"/>
                        </a:lnSpc>
                      </a:pPr>
                      <a:r>
                        <a:rPr sz="750" b="1" i="0">
                          <a:solidFill>
                            <a:srgbClr val="F7F6EF"/>
                          </a:solidFill>
                          <a:latin typeface="Arial"/>
                        </a:rPr>
                        <a:t>TechCrunch — HQ Trivia shuts down</a:t>
                      </a:r>
                    </a:p>
                  </a:txBody>
                  <a:tcPr marL="64008" marR="64008" marT="41148" marB="41148" anchor="ctr">
                    <a:solidFill>
                      <a:srgbClr val="0D131B"/>
                    </a:solidFill>
                  </a:tcPr>
                </a:tc>
                <a:tc>
                  <a:txBody>
                    <a:bodyPr wrap="square"/>
                    <a:lstStyle/>
                    <a:p>
                      <a:pPr>
                        <a:lnSpc>
                          <a:spcPct val="114000"/>
                        </a:lnSpc>
                      </a:pPr>
                      <a:r>
                        <a:rPr sz="750" b="0" i="0">
                          <a:solidFill>
                            <a:srgbClr val="F7F6EF"/>
                          </a:solidFill>
                          <a:latin typeface="Arial"/>
                        </a:rPr>
                        <a:t>press report</a:t>
                      </a:r>
                    </a:p>
                  </a:txBody>
                  <a:tcPr marL="64008" marR="64008" marT="41148" marB="41148" anchor="ctr">
                    <a:solidFill>
                      <a:srgbClr val="0D131B"/>
                    </a:solidFill>
                  </a:tcPr>
                </a:tc>
                <a:tc>
                  <a:txBody>
                    <a:bodyPr wrap="square"/>
                    <a:lstStyle/>
                    <a:p>
                      <a:pPr>
                        <a:lnSpc>
                          <a:spcPct val="114000"/>
                        </a:lnSpc>
                      </a:pPr>
                      <a:r>
                        <a:rPr sz="750" b="0" i="0">
                          <a:solidFill>
                            <a:srgbClr val="F7F6EF"/>
                          </a:solidFill>
                          <a:latin typeface="Arial"/>
                        </a:rPr>
                        <a:t>3, 18</a:t>
                      </a:r>
                    </a:p>
                  </a:txBody>
                  <a:tcPr marL="64008" marR="64008" marT="41148" marB="41148" anchor="ctr">
                    <a:solidFill>
                      <a:srgbClr val="0D131B"/>
                    </a:solidFill>
                  </a:tcPr>
                </a:tc>
              </a:tr>
              <a:tr h="193706">
                <a:tc>
                  <a:txBody>
                    <a:bodyPr wrap="square"/>
                    <a:lstStyle/>
                    <a:p>
                      <a:pPr>
                        <a:lnSpc>
                          <a:spcPct val="114000"/>
                        </a:lnSpc>
                      </a:pPr>
                      <a:r>
                        <a:rPr sz="750" b="1" i="0">
                          <a:solidFill>
                            <a:srgbClr val="F7F6EF"/>
                          </a:solidFill>
                          <a:latin typeface="Arial"/>
                        </a:rPr>
                        <a:t>TechCrunch — HQ Trivia peak concurrent record</a:t>
                      </a:r>
                    </a:p>
                  </a:txBody>
                  <a:tcPr marL="64008" marR="64008" marT="41148" marB="41148" anchor="ctr">
                    <a:solidFill>
                      <a:srgbClr val="121821"/>
                    </a:solidFill>
                  </a:tcPr>
                </a:tc>
                <a:tc>
                  <a:txBody>
                    <a:bodyPr wrap="square"/>
                    <a:lstStyle/>
                    <a:p>
                      <a:pPr>
                        <a:lnSpc>
                          <a:spcPct val="114000"/>
                        </a:lnSpc>
                      </a:pPr>
                      <a:r>
                        <a:rPr sz="750" b="0" i="0">
                          <a:solidFill>
                            <a:srgbClr val="F7F6EF"/>
                          </a:solidFill>
                          <a:latin typeface="Arial"/>
                        </a:rPr>
                        <a:t>press report</a:t>
                      </a:r>
                    </a:p>
                  </a:txBody>
                  <a:tcPr marL="64008" marR="64008" marT="41148" marB="41148" anchor="ctr">
                    <a:solidFill>
                      <a:srgbClr val="121821"/>
                    </a:solidFill>
                  </a:tcPr>
                </a:tc>
                <a:tc>
                  <a:txBody>
                    <a:bodyPr wrap="square"/>
                    <a:lstStyle/>
                    <a:p>
                      <a:pPr>
                        <a:lnSpc>
                          <a:spcPct val="114000"/>
                        </a:lnSpc>
                      </a:pPr>
                      <a:r>
                        <a:rPr sz="750" b="0" i="0">
                          <a:solidFill>
                            <a:srgbClr val="F7F6EF"/>
                          </a:solidFill>
                          <a:latin typeface="Arial"/>
                        </a:rPr>
                        <a:t>3</a:t>
                      </a:r>
                    </a:p>
                  </a:txBody>
                  <a:tcPr marL="64008" marR="64008" marT="41148" marB="41148" anchor="ctr">
                    <a:solidFill>
                      <a:srgbClr val="121821"/>
                    </a:solidFill>
                  </a:tcPr>
                </a:tc>
              </a:tr>
            </a:tbl>
          </a:graphicData>
        </a:graphic>
      </p:graphicFrame>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859536"/>
          </a:xfrm>
        </p:spPr>
        <p:txBody>
          <a:bodyPr wrap="square" lIns="0" rIns="0" tIns="0" bIns="0" anchor="t"/>
          <a:lstStyle/>
          <a:p>
            <a:pPr>
              <a:lnSpc>
                <a:spcPct val="108000"/>
              </a:lnSpc>
            </a:pPr>
            <a:r>
              <a:rPr sz="3000" b="1" i="0">
                <a:solidFill>
                  <a:srgbClr val="F7F6EF"/>
                </a:solidFill>
                <a:latin typeface="Arial"/>
              </a:rPr>
              <a:t>Appendix I — every source cited in this deck, and what kind of evidence it is.</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4EE1FF"/>
                </a:solidFill>
                <a:latin typeface="Arial"/>
              </a:rPr>
              <a:t>APPENDIX — SOURCE REGISTER (2 OF 4)</a:t>
            </a:r>
          </a:p>
        </p:txBody>
      </p:sp>
      <p:sp>
        <p:nvSpPr>
          <p:cNvPr id="4" name="Rectangle 3"/>
          <p:cNvSpPr/>
          <p:nvPr/>
        </p:nvSpPr>
        <p:spPr>
          <a:xfrm>
            <a:off x="566928" y="6035040"/>
            <a:ext cx="11057839" cy="11887"/>
          </a:xfrm>
          <a:prstGeom prst="rect">
            <a:avLst/>
          </a:prstGeom>
          <a:solidFill>
            <a:srgbClr val="4EE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24</a:t>
            </a:r>
          </a:p>
        </p:txBody>
      </p:sp>
      <p:sp>
        <p:nvSpPr>
          <p:cNvPr id="6" name="TextBox 5"/>
          <p:cNvSpPr txBox="1"/>
          <p:nvPr/>
        </p:nvSpPr>
        <p:spPr>
          <a:xfrm>
            <a:off x="566928" y="1719072"/>
            <a:ext cx="11057839" cy="242824"/>
          </a:xfrm>
          <a:prstGeom prst="rect">
            <a:avLst/>
          </a:prstGeom>
          <a:noFill/>
        </p:spPr>
        <p:txBody>
          <a:bodyPr wrap="square" lIns="0" rIns="0" tIns="0" bIns="0" anchor="t">
            <a:spAutoFit/>
          </a:bodyPr>
          <a:lstStyle/>
          <a:p>
            <a:pPr marL="238571" indent="-238571">
              <a:lnSpc>
                <a:spcPct val="116000"/>
              </a:lnSpc>
              <a:buClr>
                <a:srgbClr val="4EE1FF"/>
              </a:buClr>
              <a:buFont typeface="Arial"/>
              <a:buChar char="—"/>
            </a:pPr>
            <a:r>
              <a:rPr sz="1400" b="0" i="0">
                <a:solidFill>
                  <a:srgbClr val="F7F6EF"/>
                </a:solidFill>
                <a:latin typeface="Arial"/>
              </a:rPr>
              <a:t>Continued. Kinds are taken from the fact-check register, not assigned by us.</a:t>
            </a:r>
          </a:p>
        </p:txBody>
      </p:sp>
      <p:graphicFrame>
        <p:nvGraphicFramePr>
          <p:cNvPr id="7" name="Table 6"/>
          <p:cNvGraphicFramePr>
            <a:graphicFrameLocks noGrp="1"/>
          </p:cNvGraphicFramePr>
          <p:nvPr/>
        </p:nvGraphicFramePr>
        <p:xfrm>
          <a:off x="566928" y="2199640"/>
          <a:ext cx="11057838" cy="3707376"/>
        </p:xfrm>
        <a:graphic>
          <a:graphicData uri="http://schemas.openxmlformats.org/drawingml/2006/table">
            <a:tbl>
              <a:tblPr>
                <a:tableStyleId>{2D5ABB26-0587-4C30-8999-92F81FD0307C}</a:tableStyleId>
              </a:tblPr>
              <a:tblGrid>
                <a:gridCol w="7122091"/>
                <a:gridCol w="2835885"/>
                <a:gridCol w="1099862"/>
              </a:tblGrid>
              <a:tr h="231711">
                <a:tc>
                  <a:txBody>
                    <a:bodyPr wrap="square"/>
                    <a:lstStyle/>
                    <a:p>
                      <a:pPr>
                        <a:lnSpc>
                          <a:spcPct val="114000"/>
                        </a:lnSpc>
                      </a:pPr>
                      <a:r>
                        <a:rPr sz="1000" b="1" i="0">
                          <a:solidFill>
                            <a:srgbClr val="D4FF3A"/>
                          </a:solidFill>
                          <a:latin typeface="Arial"/>
                        </a:rPr>
                        <a:t>Source</a:t>
                      </a:r>
                    </a:p>
                  </a:txBody>
                  <a:tcPr marL="64008" marR="64008" marT="41148" marB="41148" anchor="ctr">
                    <a:solidFill>
                      <a:srgbClr val="121821"/>
                    </a:solidFill>
                  </a:tcPr>
                </a:tc>
                <a:tc>
                  <a:txBody>
                    <a:bodyPr wrap="square"/>
                    <a:lstStyle/>
                    <a:p>
                      <a:pPr>
                        <a:lnSpc>
                          <a:spcPct val="114000"/>
                        </a:lnSpc>
                      </a:pPr>
                      <a:r>
                        <a:rPr sz="1000" b="1" i="0">
                          <a:solidFill>
                            <a:srgbClr val="D4FF3A"/>
                          </a:solidFill>
                          <a:latin typeface="Arial"/>
                        </a:rPr>
                        <a:t>Kind</a:t>
                      </a:r>
                    </a:p>
                  </a:txBody>
                  <a:tcPr marL="64008" marR="64008" marT="41148" marB="41148" anchor="ctr">
                    <a:solidFill>
                      <a:srgbClr val="121821"/>
                    </a:solidFill>
                  </a:tcPr>
                </a:tc>
                <a:tc>
                  <a:txBody>
                    <a:bodyPr wrap="square"/>
                    <a:lstStyle/>
                    <a:p>
                      <a:pPr>
                        <a:lnSpc>
                          <a:spcPct val="114000"/>
                        </a:lnSpc>
                      </a:pPr>
                      <a:r>
                        <a:rPr sz="1000" b="1" i="0">
                          <a:solidFill>
                            <a:srgbClr val="D4FF3A"/>
                          </a:solidFill>
                          <a:latin typeface="Arial"/>
                        </a:rPr>
                        <a:t>Cited on</a:t>
                      </a:r>
                    </a:p>
                  </a:txBody>
                  <a:tcPr marL="64008" marR="64008" marT="41148" marB="41148" anchor="ctr">
                    <a:solidFill>
                      <a:srgbClr val="121821"/>
                    </a:solidFill>
                  </a:tcPr>
                </a:tc>
              </a:tr>
              <a:tr h="231711">
                <a:tc>
                  <a:txBody>
                    <a:bodyPr wrap="square"/>
                    <a:lstStyle/>
                    <a:p>
                      <a:pPr>
                        <a:lnSpc>
                          <a:spcPct val="114000"/>
                        </a:lnSpc>
                      </a:pPr>
                      <a:r>
                        <a:rPr sz="1000" b="1" i="0">
                          <a:solidFill>
                            <a:srgbClr val="F7F6EF"/>
                          </a:solidFill>
                          <a:latin typeface="Arial"/>
                        </a:rPr>
                        <a:t>SEC 10-K — Glu Mobile FY2016 (QuizUp mark)</a:t>
                      </a:r>
                    </a:p>
                  </a:txBody>
                  <a:tcPr marL="64008" marR="64008" marT="41148" marB="41148" anchor="ctr">
                    <a:solidFill>
                      <a:srgbClr val="121821"/>
                    </a:solidFill>
                  </a:tcPr>
                </a:tc>
                <a:tc>
                  <a:txBody>
                    <a:bodyPr wrap="square"/>
                    <a:lstStyle/>
                    <a:p>
                      <a:pPr>
                        <a:lnSpc>
                          <a:spcPct val="114000"/>
                        </a:lnSpc>
                      </a:pPr>
                      <a:r>
                        <a:rPr sz="1000" b="0" i="0">
                          <a:solidFill>
                            <a:srgbClr val="F7F6EF"/>
                          </a:solidFill>
                          <a:latin typeface="Arial"/>
                        </a:rPr>
                        <a:t>third-party estimate</a:t>
                      </a:r>
                    </a:p>
                  </a:txBody>
                  <a:tcPr marL="64008" marR="64008" marT="41148" marB="41148" anchor="ctr">
                    <a:solidFill>
                      <a:srgbClr val="121821"/>
                    </a:solidFill>
                  </a:tcPr>
                </a:tc>
                <a:tc>
                  <a:txBody>
                    <a:bodyPr wrap="square"/>
                    <a:lstStyle/>
                    <a:p>
                      <a:pPr>
                        <a:lnSpc>
                          <a:spcPct val="114000"/>
                        </a:lnSpc>
                      </a:pPr>
                      <a:r>
                        <a:rPr sz="1000" b="0" i="0">
                          <a:solidFill>
                            <a:srgbClr val="F7F6EF"/>
                          </a:solidFill>
                          <a:latin typeface="Arial"/>
                        </a:rPr>
                        <a:t>3, 18</a:t>
                      </a:r>
                    </a:p>
                  </a:txBody>
                  <a:tcPr marL="64008" marR="64008" marT="41148" marB="41148" anchor="ctr">
                    <a:solidFill>
                      <a:srgbClr val="121821"/>
                    </a:solidFill>
                  </a:tcPr>
                </a:tc>
              </a:tr>
              <a:tr h="231711">
                <a:tc>
                  <a:txBody>
                    <a:bodyPr wrap="square"/>
                    <a:lstStyle/>
                    <a:p>
                      <a:pPr>
                        <a:lnSpc>
                          <a:spcPct val="114000"/>
                        </a:lnSpc>
                      </a:pPr>
                      <a:r>
                        <a:rPr sz="1000" b="1" i="0">
                          <a:solidFill>
                            <a:srgbClr val="F7F6EF"/>
                          </a:solidFill>
                          <a:latin typeface="Arial"/>
                        </a:rPr>
                        <a:t>SEC 8-K — Glu Mobile / QuizUp acquisition</a:t>
                      </a:r>
                    </a:p>
                  </a:txBody>
                  <a:tcPr marL="64008" marR="64008" marT="41148" marB="41148" anchor="ctr">
                    <a:solidFill>
                      <a:srgbClr val="0D131B"/>
                    </a:solidFill>
                  </a:tcPr>
                </a:tc>
                <a:tc>
                  <a:txBody>
                    <a:bodyPr wrap="square"/>
                    <a:lstStyle/>
                    <a:p>
                      <a:pPr>
                        <a:lnSpc>
                          <a:spcPct val="114000"/>
                        </a:lnSpc>
                      </a:pPr>
                      <a:r>
                        <a:rPr sz="1000" b="0" i="0">
                          <a:solidFill>
                            <a:srgbClr val="F7F6EF"/>
                          </a:solidFill>
                          <a:latin typeface="Arial"/>
                        </a:rPr>
                        <a:t>press report</a:t>
                      </a:r>
                    </a:p>
                  </a:txBody>
                  <a:tcPr marL="64008" marR="64008" marT="41148" marB="41148" anchor="ctr">
                    <a:solidFill>
                      <a:srgbClr val="0D131B"/>
                    </a:solidFill>
                  </a:tcPr>
                </a:tc>
                <a:tc>
                  <a:txBody>
                    <a:bodyPr wrap="square"/>
                    <a:lstStyle/>
                    <a:p>
                      <a:pPr>
                        <a:lnSpc>
                          <a:spcPct val="114000"/>
                        </a:lnSpc>
                      </a:pPr>
                      <a:r>
                        <a:rPr sz="1000" b="0" i="0">
                          <a:solidFill>
                            <a:srgbClr val="F7F6EF"/>
                          </a:solidFill>
                          <a:latin typeface="Arial"/>
                        </a:rPr>
                        <a:t>3, 18</a:t>
                      </a:r>
                    </a:p>
                  </a:txBody>
                  <a:tcPr marL="64008" marR="64008" marT="41148" marB="41148" anchor="ctr">
                    <a:solidFill>
                      <a:srgbClr val="0D131B"/>
                    </a:solidFill>
                  </a:tcPr>
                </a:tc>
              </a:tr>
              <a:tr h="231711">
                <a:tc>
                  <a:txBody>
                    <a:bodyPr wrap="square"/>
                    <a:lstStyle/>
                    <a:p>
                      <a:pPr>
                        <a:lnSpc>
                          <a:spcPct val="114000"/>
                        </a:lnSpc>
                      </a:pPr>
                      <a:r>
                        <a:rPr sz="1000" b="1" i="0">
                          <a:solidFill>
                            <a:srgbClr val="F7F6EF"/>
                          </a:solidFill>
                          <a:latin typeface="Arial"/>
                        </a:rPr>
                        <a:t>FACT//DUEL internal — numbers.md §3.2, status paragraph and §5.15</a:t>
                      </a:r>
                    </a:p>
                  </a:txBody>
                  <a:tcPr marL="64008" marR="64008" marT="41148" marB="41148" anchor="ctr">
                    <a:solidFill>
                      <a:srgbClr val="121821"/>
                    </a:solidFill>
                  </a:tcPr>
                </a:tc>
                <a:tc>
                  <a:txBody>
                    <a:bodyPr wrap="square"/>
                    <a:lstStyle/>
                    <a:p>
                      <a:pPr>
                        <a:lnSpc>
                          <a:spcPct val="114000"/>
                        </a:lnSpc>
                      </a:pPr>
                      <a:r>
                        <a:rPr sz="1000" b="0" i="0">
                          <a:solidFill>
                            <a:srgbClr val="F7F6EF"/>
                          </a:solidFill>
                          <a:latin typeface="Arial"/>
                        </a:rPr>
                        <a:t>internal (company disclosure)</a:t>
                      </a:r>
                    </a:p>
                  </a:txBody>
                  <a:tcPr marL="64008" marR="64008" marT="41148" marB="41148" anchor="ctr">
                    <a:solidFill>
                      <a:srgbClr val="121821"/>
                    </a:solidFill>
                  </a:tcPr>
                </a:tc>
                <a:tc>
                  <a:txBody>
                    <a:bodyPr wrap="square"/>
                    <a:lstStyle/>
                    <a:p>
                      <a:pPr>
                        <a:lnSpc>
                          <a:spcPct val="114000"/>
                        </a:lnSpc>
                      </a:pPr>
                      <a:r>
                        <a:rPr sz="1000" b="0" i="0">
                          <a:solidFill>
                            <a:srgbClr val="F7F6EF"/>
                          </a:solidFill>
                          <a:latin typeface="Arial"/>
                        </a:rPr>
                        <a:t>4</a:t>
                      </a:r>
                    </a:p>
                  </a:txBody>
                  <a:tcPr marL="64008" marR="64008" marT="41148" marB="41148" anchor="ctr">
                    <a:solidFill>
                      <a:srgbClr val="121821"/>
                    </a:solidFill>
                  </a:tcPr>
                </a:tc>
              </a:tr>
              <a:tr h="231711">
                <a:tc>
                  <a:txBody>
                    <a:bodyPr wrap="square"/>
                    <a:lstStyle/>
                    <a:p>
                      <a:pPr>
                        <a:lnSpc>
                          <a:spcPct val="114000"/>
                        </a:lnSpc>
                      </a:pPr>
                      <a:r>
                        <a:rPr sz="1000" b="1" i="0">
                          <a:solidFill>
                            <a:srgbClr val="F7F6EF"/>
                          </a:solidFill>
                          <a:latin typeface="Arial"/>
                        </a:rPr>
                        <a:t>FACT//DUEL internal — repository — product code, unaudited</a:t>
                      </a:r>
                    </a:p>
                  </a:txBody>
                  <a:tcPr marL="64008" marR="64008" marT="41148" marB="41148" anchor="ctr">
                    <a:solidFill>
                      <a:srgbClr val="0D131B"/>
                    </a:solidFill>
                  </a:tcPr>
                </a:tc>
                <a:tc>
                  <a:txBody>
                    <a:bodyPr wrap="square"/>
                    <a:lstStyle/>
                    <a:p>
                      <a:pPr>
                        <a:lnSpc>
                          <a:spcPct val="114000"/>
                        </a:lnSpc>
                      </a:pPr>
                      <a:r>
                        <a:rPr sz="1000" b="0" i="0">
                          <a:solidFill>
                            <a:srgbClr val="F7F6EF"/>
                          </a:solidFill>
                          <a:latin typeface="Arial"/>
                        </a:rPr>
                        <a:t>internal (company disclosure)</a:t>
                      </a:r>
                    </a:p>
                  </a:txBody>
                  <a:tcPr marL="64008" marR="64008" marT="41148" marB="41148" anchor="ctr">
                    <a:solidFill>
                      <a:srgbClr val="0D131B"/>
                    </a:solidFill>
                  </a:tcPr>
                </a:tc>
                <a:tc>
                  <a:txBody>
                    <a:bodyPr wrap="square"/>
                    <a:lstStyle/>
                    <a:p>
                      <a:pPr>
                        <a:lnSpc>
                          <a:spcPct val="114000"/>
                        </a:lnSpc>
                      </a:pPr>
                      <a:r>
                        <a:rPr sz="1000" b="0" i="0">
                          <a:solidFill>
                            <a:srgbClr val="F7F6EF"/>
                          </a:solidFill>
                          <a:latin typeface="Arial"/>
                        </a:rPr>
                        <a:t>4, 5, 6</a:t>
                      </a:r>
                    </a:p>
                  </a:txBody>
                  <a:tcPr marL="64008" marR="64008" marT="41148" marB="41148" anchor="ctr">
                    <a:solidFill>
                      <a:srgbClr val="0D131B"/>
                    </a:solidFill>
                  </a:tcPr>
                </a:tc>
              </a:tr>
              <a:tr h="231711">
                <a:tc>
                  <a:txBody>
                    <a:bodyPr wrap="square"/>
                    <a:lstStyle/>
                    <a:p>
                      <a:pPr>
                        <a:lnSpc>
                          <a:spcPct val="114000"/>
                        </a:lnSpc>
                      </a:pPr>
                      <a:r>
                        <a:rPr sz="1000" b="1" i="0">
                          <a:solidFill>
                            <a:srgbClr val="F7F6EF"/>
                          </a:solidFill>
                          <a:latin typeface="Arial"/>
                        </a:rPr>
                        <a:t>FACT//DUEL internal — numbers.md — status paragraph, §4.4 and §5.15</a:t>
                      </a:r>
                    </a:p>
                  </a:txBody>
                  <a:tcPr marL="64008" marR="64008" marT="41148" marB="41148" anchor="ctr">
                    <a:solidFill>
                      <a:srgbClr val="121821"/>
                    </a:solidFill>
                  </a:tcPr>
                </a:tc>
                <a:tc>
                  <a:txBody>
                    <a:bodyPr wrap="square"/>
                    <a:lstStyle/>
                    <a:p>
                      <a:pPr>
                        <a:lnSpc>
                          <a:spcPct val="114000"/>
                        </a:lnSpc>
                      </a:pPr>
                      <a:r>
                        <a:rPr sz="1000" b="0" i="0">
                          <a:solidFill>
                            <a:srgbClr val="F7F6EF"/>
                          </a:solidFill>
                          <a:latin typeface="Arial"/>
                        </a:rPr>
                        <a:t>internal (company disclosure)</a:t>
                      </a:r>
                    </a:p>
                  </a:txBody>
                  <a:tcPr marL="64008" marR="64008" marT="41148" marB="41148" anchor="ctr">
                    <a:solidFill>
                      <a:srgbClr val="121821"/>
                    </a:solidFill>
                  </a:tcPr>
                </a:tc>
                <a:tc>
                  <a:txBody>
                    <a:bodyPr wrap="square"/>
                    <a:lstStyle/>
                    <a:p>
                      <a:pPr>
                        <a:lnSpc>
                          <a:spcPct val="114000"/>
                        </a:lnSpc>
                      </a:pPr>
                      <a:r>
                        <a:rPr sz="1000" b="0" i="0">
                          <a:solidFill>
                            <a:srgbClr val="F7F6EF"/>
                          </a:solidFill>
                          <a:latin typeface="Arial"/>
                        </a:rPr>
                        <a:t>5, 9</a:t>
                      </a:r>
                    </a:p>
                  </a:txBody>
                  <a:tcPr marL="64008" marR="64008" marT="41148" marB="41148" anchor="ctr">
                    <a:solidFill>
                      <a:srgbClr val="121821"/>
                    </a:solidFill>
                  </a:tcPr>
                </a:tc>
              </a:tr>
              <a:tr h="231711">
                <a:tc>
                  <a:txBody>
                    <a:bodyPr wrap="square"/>
                    <a:lstStyle/>
                    <a:p>
                      <a:pPr>
                        <a:lnSpc>
                          <a:spcPct val="114000"/>
                        </a:lnSpc>
                      </a:pPr>
                      <a:r>
                        <a:rPr sz="1000" b="1" i="0">
                          <a:solidFill>
                            <a:srgbClr val="F7F6EF"/>
                          </a:solidFill>
                          <a:latin typeface="Arial"/>
                        </a:rPr>
                        <a:t>FACT//DUEL internal — numbers.md §2.3, §4.3 and §4.4</a:t>
                      </a:r>
                    </a:p>
                  </a:txBody>
                  <a:tcPr marL="64008" marR="64008" marT="41148" marB="41148" anchor="ctr">
                    <a:solidFill>
                      <a:srgbClr val="0D131B"/>
                    </a:solidFill>
                  </a:tcPr>
                </a:tc>
                <a:tc>
                  <a:txBody>
                    <a:bodyPr wrap="square"/>
                    <a:lstStyle/>
                    <a:p>
                      <a:pPr>
                        <a:lnSpc>
                          <a:spcPct val="114000"/>
                        </a:lnSpc>
                      </a:pPr>
                      <a:r>
                        <a:rPr sz="1000" b="0" i="0">
                          <a:solidFill>
                            <a:srgbClr val="F7F6EF"/>
                          </a:solidFill>
                          <a:latin typeface="Arial"/>
                        </a:rPr>
                        <a:t>internal (company disclosure)</a:t>
                      </a:r>
                    </a:p>
                  </a:txBody>
                  <a:tcPr marL="64008" marR="64008" marT="41148" marB="41148" anchor="ctr">
                    <a:solidFill>
                      <a:srgbClr val="0D131B"/>
                    </a:solidFill>
                  </a:tcPr>
                </a:tc>
                <a:tc>
                  <a:txBody>
                    <a:bodyPr wrap="square"/>
                    <a:lstStyle/>
                    <a:p>
                      <a:pPr>
                        <a:lnSpc>
                          <a:spcPct val="114000"/>
                        </a:lnSpc>
                      </a:pPr>
                      <a:r>
                        <a:rPr sz="1000" b="0" i="0">
                          <a:solidFill>
                            <a:srgbClr val="F7F6EF"/>
                          </a:solidFill>
                          <a:latin typeface="Arial"/>
                        </a:rPr>
                        <a:t>6, 12</a:t>
                      </a:r>
                    </a:p>
                  </a:txBody>
                  <a:tcPr marL="64008" marR="64008" marT="41148" marB="41148" anchor="ctr">
                    <a:solidFill>
                      <a:srgbClr val="0D131B"/>
                    </a:solidFill>
                  </a:tcPr>
                </a:tc>
              </a:tr>
              <a:tr h="231711">
                <a:tc>
                  <a:txBody>
                    <a:bodyPr wrap="square"/>
                    <a:lstStyle/>
                    <a:p>
                      <a:pPr>
                        <a:lnSpc>
                          <a:spcPct val="114000"/>
                        </a:lnSpc>
                      </a:pPr>
                      <a:r>
                        <a:rPr sz="1000" b="1" i="0">
                          <a:solidFill>
                            <a:srgbClr val="F7F6EF"/>
                          </a:solidFill>
                          <a:latin typeface="Arial"/>
                        </a:rPr>
                        <a:t>EMARKETER — second-screen engagement during live sport</a:t>
                      </a:r>
                    </a:p>
                  </a:txBody>
                  <a:tcPr marL="64008" marR="64008" marT="41148" marB="41148" anchor="ctr">
                    <a:solidFill>
                      <a:srgbClr val="121821"/>
                    </a:solidFill>
                  </a:tcPr>
                </a:tc>
                <a:tc>
                  <a:txBody>
                    <a:bodyPr wrap="square"/>
                    <a:lstStyle/>
                    <a:p>
                      <a:pPr>
                        <a:lnSpc>
                          <a:spcPct val="114000"/>
                        </a:lnSpc>
                      </a:pPr>
                      <a:r>
                        <a:rPr sz="1000" b="0" i="0">
                          <a:solidFill>
                            <a:srgbClr val="F7F6EF"/>
                          </a:solidFill>
                          <a:latin typeface="Arial"/>
                        </a:rPr>
                        <a:t>third-party estimate</a:t>
                      </a:r>
                    </a:p>
                  </a:txBody>
                  <a:tcPr marL="64008" marR="64008" marT="41148" marB="41148" anchor="ctr">
                    <a:solidFill>
                      <a:srgbClr val="121821"/>
                    </a:solidFill>
                  </a:tcPr>
                </a:tc>
                <a:tc>
                  <a:txBody>
                    <a:bodyPr wrap="square"/>
                    <a:lstStyle/>
                    <a:p>
                      <a:pPr>
                        <a:lnSpc>
                          <a:spcPct val="114000"/>
                        </a:lnSpc>
                      </a:pPr>
                      <a:r>
                        <a:rPr sz="1000" b="0" i="0">
                          <a:solidFill>
                            <a:srgbClr val="F7F6EF"/>
                          </a:solidFill>
                          <a:latin typeface="Arial"/>
                        </a:rPr>
                        <a:t>7, 17</a:t>
                      </a:r>
                    </a:p>
                  </a:txBody>
                  <a:tcPr marL="64008" marR="64008" marT="41148" marB="41148" anchor="ctr">
                    <a:solidFill>
                      <a:srgbClr val="121821"/>
                    </a:solidFill>
                  </a:tcPr>
                </a:tc>
              </a:tr>
              <a:tr h="231711">
                <a:tc>
                  <a:txBody>
                    <a:bodyPr wrap="square"/>
                    <a:lstStyle/>
                    <a:p>
                      <a:pPr>
                        <a:lnSpc>
                          <a:spcPct val="114000"/>
                        </a:lnSpc>
                      </a:pPr>
                      <a:r>
                        <a:rPr sz="1000" b="1" i="0">
                          <a:solidFill>
                            <a:srgbClr val="F7F6EF"/>
                          </a:solidFill>
                          <a:latin typeface="Arial"/>
                        </a:rPr>
                        <a:t>SEC — Duolingo FY2025 shareholder letter</a:t>
                      </a:r>
                    </a:p>
                  </a:txBody>
                  <a:tcPr marL="64008" marR="64008" marT="41148" marB="41148" anchor="ctr">
                    <a:solidFill>
                      <a:srgbClr val="0D131B"/>
                    </a:solidFill>
                  </a:tcPr>
                </a:tc>
                <a:tc>
                  <a:txBody>
                    <a:bodyPr wrap="square"/>
                    <a:lstStyle/>
                    <a:p>
                      <a:pPr>
                        <a:lnSpc>
                          <a:spcPct val="114000"/>
                        </a:lnSpc>
                      </a:pPr>
                      <a:r>
                        <a:rPr sz="1000" b="0" i="0">
                          <a:solidFill>
                            <a:srgbClr val="F7F6EF"/>
                          </a:solidFill>
                          <a:latin typeface="Arial"/>
                        </a:rPr>
                        <a:t>audited filing</a:t>
                      </a:r>
                    </a:p>
                  </a:txBody>
                  <a:tcPr marL="64008" marR="64008" marT="41148" marB="41148" anchor="ctr">
                    <a:solidFill>
                      <a:srgbClr val="0D131B"/>
                    </a:solidFill>
                  </a:tcPr>
                </a:tc>
                <a:tc>
                  <a:txBody>
                    <a:bodyPr wrap="square"/>
                    <a:lstStyle/>
                    <a:p>
                      <a:pPr>
                        <a:lnSpc>
                          <a:spcPct val="114000"/>
                        </a:lnSpc>
                      </a:pPr>
                      <a:r>
                        <a:rPr sz="1000" b="0" i="0">
                          <a:solidFill>
                            <a:srgbClr val="F7F6EF"/>
                          </a:solidFill>
                          <a:latin typeface="Arial"/>
                        </a:rPr>
                        <a:t>7, 8, 10</a:t>
                      </a:r>
                    </a:p>
                  </a:txBody>
                  <a:tcPr marL="64008" marR="64008" marT="41148" marB="41148" anchor="ctr">
                    <a:solidFill>
                      <a:srgbClr val="0D131B"/>
                    </a:solidFill>
                  </a:tcPr>
                </a:tc>
              </a:tr>
              <a:tr h="231711">
                <a:tc>
                  <a:txBody>
                    <a:bodyPr wrap="square"/>
                    <a:lstStyle/>
                    <a:p>
                      <a:pPr>
                        <a:lnSpc>
                          <a:spcPct val="114000"/>
                        </a:lnSpc>
                      </a:pPr>
                      <a:r>
                        <a:rPr sz="1000" b="1" i="0">
                          <a:solidFill>
                            <a:srgbClr val="F7F6EF"/>
                          </a:solidFill>
                          <a:latin typeface="Arial"/>
                        </a:rPr>
                        <a:t>AppTweak — US store conversion benchmarks, CY2025</a:t>
                      </a:r>
                    </a:p>
                  </a:txBody>
                  <a:tcPr marL="64008" marR="64008" marT="41148" marB="41148" anchor="ctr">
                    <a:solidFill>
                      <a:srgbClr val="121821"/>
                    </a:solidFill>
                  </a:tcPr>
                </a:tc>
                <a:tc>
                  <a:txBody>
                    <a:bodyPr wrap="square"/>
                    <a:lstStyle/>
                    <a:p>
                      <a:pPr>
                        <a:lnSpc>
                          <a:spcPct val="114000"/>
                        </a:lnSpc>
                      </a:pPr>
                      <a:r>
                        <a:rPr sz="1000" b="0" i="0">
                          <a:solidFill>
                            <a:srgbClr val="F7F6EF"/>
                          </a:solidFill>
                          <a:latin typeface="Arial"/>
                        </a:rPr>
                        <a:t>third-party estimate</a:t>
                      </a:r>
                    </a:p>
                  </a:txBody>
                  <a:tcPr marL="64008" marR="64008" marT="41148" marB="41148" anchor="ctr">
                    <a:solidFill>
                      <a:srgbClr val="121821"/>
                    </a:solidFill>
                  </a:tcPr>
                </a:tc>
                <a:tc>
                  <a:txBody>
                    <a:bodyPr wrap="square"/>
                    <a:lstStyle/>
                    <a:p>
                      <a:pPr>
                        <a:lnSpc>
                          <a:spcPct val="114000"/>
                        </a:lnSpc>
                      </a:pPr>
                      <a:r>
                        <a:rPr sz="1000" b="0" i="0">
                          <a:solidFill>
                            <a:srgbClr val="F7F6EF"/>
                          </a:solidFill>
                          <a:latin typeface="Arial"/>
                        </a:rPr>
                        <a:t>8, 19</a:t>
                      </a:r>
                    </a:p>
                  </a:txBody>
                  <a:tcPr marL="64008" marR="64008" marT="41148" marB="41148" anchor="ctr">
                    <a:solidFill>
                      <a:srgbClr val="121821"/>
                    </a:solidFill>
                  </a:tcPr>
                </a:tc>
              </a:tr>
              <a:tr h="231711">
                <a:tc>
                  <a:txBody>
                    <a:bodyPr wrap="square"/>
                    <a:lstStyle/>
                    <a:p>
                      <a:pPr>
                        <a:lnSpc>
                          <a:spcPct val="114000"/>
                        </a:lnSpc>
                      </a:pPr>
                      <a:r>
                        <a:rPr sz="1000" b="1" i="0">
                          <a:solidFill>
                            <a:srgbClr val="F7F6EF"/>
                          </a:solidFill>
                          <a:latin typeface="Arial"/>
                        </a:rPr>
                        <a:t>FACT//DUEL internal — numbers.md §3.5, §5.2 and §5.14</a:t>
                      </a:r>
                    </a:p>
                  </a:txBody>
                  <a:tcPr marL="64008" marR="64008" marT="41148" marB="41148" anchor="ctr">
                    <a:solidFill>
                      <a:srgbClr val="0D131B"/>
                    </a:solidFill>
                  </a:tcPr>
                </a:tc>
                <a:tc>
                  <a:txBody>
                    <a:bodyPr wrap="square"/>
                    <a:lstStyle/>
                    <a:p>
                      <a:pPr>
                        <a:lnSpc>
                          <a:spcPct val="114000"/>
                        </a:lnSpc>
                      </a:pPr>
                      <a:r>
                        <a:rPr sz="1000" b="0" i="0">
                          <a:solidFill>
                            <a:srgbClr val="F7F6EF"/>
                          </a:solidFill>
                          <a:latin typeface="Arial"/>
                        </a:rPr>
                        <a:t>internal (company disclosure)</a:t>
                      </a:r>
                    </a:p>
                  </a:txBody>
                  <a:tcPr marL="64008" marR="64008" marT="41148" marB="41148" anchor="ctr">
                    <a:solidFill>
                      <a:srgbClr val="0D131B"/>
                    </a:solidFill>
                  </a:tcPr>
                </a:tc>
                <a:tc>
                  <a:txBody>
                    <a:bodyPr wrap="square"/>
                    <a:lstStyle/>
                    <a:p>
                      <a:pPr>
                        <a:lnSpc>
                          <a:spcPct val="114000"/>
                        </a:lnSpc>
                      </a:pPr>
                      <a:r>
                        <a:rPr sz="1000" b="0" i="0">
                          <a:solidFill>
                            <a:srgbClr val="F7F6EF"/>
                          </a:solidFill>
                          <a:latin typeface="Arial"/>
                        </a:rPr>
                        <a:t>8, 12</a:t>
                      </a:r>
                    </a:p>
                  </a:txBody>
                  <a:tcPr marL="64008" marR="64008" marT="41148" marB="41148" anchor="ctr">
                    <a:solidFill>
                      <a:srgbClr val="0D131B"/>
                    </a:solidFill>
                  </a:tcPr>
                </a:tc>
              </a:tr>
              <a:tr h="231711">
                <a:tc>
                  <a:txBody>
                    <a:bodyPr wrap="square"/>
                    <a:lstStyle/>
                    <a:p>
                      <a:pPr>
                        <a:lnSpc>
                          <a:spcPct val="114000"/>
                        </a:lnSpc>
                      </a:pPr>
                      <a:r>
                        <a:rPr sz="1000" b="1" i="0">
                          <a:solidFill>
                            <a:srgbClr val="F7F6EF"/>
                          </a:solidFill>
                          <a:latin typeface="Arial"/>
                        </a:rPr>
                        <a:t>Sensor Tower — Q2 2025 US iOS trivia revenue (est.)</a:t>
                      </a:r>
                    </a:p>
                  </a:txBody>
                  <a:tcPr marL="64008" marR="64008" marT="41148" marB="41148" anchor="ctr">
                    <a:solidFill>
                      <a:srgbClr val="121821"/>
                    </a:solidFill>
                  </a:tcPr>
                </a:tc>
                <a:tc>
                  <a:txBody>
                    <a:bodyPr wrap="square"/>
                    <a:lstStyle/>
                    <a:p>
                      <a:pPr>
                        <a:lnSpc>
                          <a:spcPct val="114000"/>
                        </a:lnSpc>
                      </a:pPr>
                      <a:r>
                        <a:rPr sz="1000" b="0" i="0">
                          <a:solidFill>
                            <a:srgbClr val="F7F6EF"/>
                          </a:solidFill>
                          <a:latin typeface="Arial"/>
                        </a:rPr>
                        <a:t>third-party estimate</a:t>
                      </a:r>
                    </a:p>
                  </a:txBody>
                  <a:tcPr marL="64008" marR="64008" marT="41148" marB="41148" anchor="ctr">
                    <a:solidFill>
                      <a:srgbClr val="121821"/>
                    </a:solidFill>
                  </a:tcPr>
                </a:tc>
                <a:tc>
                  <a:txBody>
                    <a:bodyPr wrap="square"/>
                    <a:lstStyle/>
                    <a:p>
                      <a:pPr>
                        <a:lnSpc>
                          <a:spcPct val="114000"/>
                        </a:lnSpc>
                      </a:pPr>
                      <a:r>
                        <a:rPr sz="1000" b="0" i="0">
                          <a:solidFill>
                            <a:srgbClr val="F7F6EF"/>
                          </a:solidFill>
                          <a:latin typeface="Arial"/>
                        </a:rPr>
                        <a:t>10, 11, 15</a:t>
                      </a:r>
                    </a:p>
                  </a:txBody>
                  <a:tcPr marL="64008" marR="64008" marT="41148" marB="41148" anchor="ctr">
                    <a:solidFill>
                      <a:srgbClr val="121821"/>
                    </a:solidFill>
                  </a:tcPr>
                </a:tc>
              </a:tr>
              <a:tr h="231711">
                <a:tc>
                  <a:txBody>
                    <a:bodyPr wrap="square"/>
                    <a:lstStyle/>
                    <a:p>
                      <a:pPr>
                        <a:lnSpc>
                          <a:spcPct val="114000"/>
                        </a:lnSpc>
                      </a:pPr>
                      <a:r>
                        <a:rPr sz="1000" b="1" i="0">
                          <a:solidFill>
                            <a:srgbClr val="F7F6EF"/>
                          </a:solidFill>
                          <a:latin typeface="Arial"/>
                        </a:rPr>
                        <a:t>SEC — Duolingo Q2 FY2026 10-Q (user counts at 30 Jun 2026)</a:t>
                      </a:r>
                    </a:p>
                  </a:txBody>
                  <a:tcPr marL="64008" marR="64008" marT="41148" marB="41148" anchor="ctr">
                    <a:solidFill>
                      <a:srgbClr val="0D131B"/>
                    </a:solidFill>
                  </a:tcPr>
                </a:tc>
                <a:tc>
                  <a:txBody>
                    <a:bodyPr wrap="square"/>
                    <a:lstStyle/>
                    <a:p>
                      <a:pPr>
                        <a:lnSpc>
                          <a:spcPct val="114000"/>
                        </a:lnSpc>
                      </a:pPr>
                      <a:r>
                        <a:rPr sz="1000" b="0" i="0">
                          <a:solidFill>
                            <a:srgbClr val="F7F6EF"/>
                          </a:solidFill>
                          <a:latin typeface="Arial"/>
                        </a:rPr>
                        <a:t>company disclosure</a:t>
                      </a:r>
                    </a:p>
                  </a:txBody>
                  <a:tcPr marL="64008" marR="64008" marT="41148" marB="41148" anchor="ctr">
                    <a:solidFill>
                      <a:srgbClr val="0D131B"/>
                    </a:solidFill>
                  </a:tcPr>
                </a:tc>
                <a:tc>
                  <a:txBody>
                    <a:bodyPr wrap="square"/>
                    <a:lstStyle/>
                    <a:p>
                      <a:pPr>
                        <a:lnSpc>
                          <a:spcPct val="114000"/>
                        </a:lnSpc>
                      </a:pPr>
                      <a:r>
                        <a:rPr sz="1000" b="0" i="0">
                          <a:solidFill>
                            <a:srgbClr val="F7F6EF"/>
                          </a:solidFill>
                          <a:latin typeface="Arial"/>
                        </a:rPr>
                        <a:t>10</a:t>
                      </a:r>
                    </a:p>
                  </a:txBody>
                  <a:tcPr marL="64008" marR="64008" marT="41148" marB="41148" anchor="ctr">
                    <a:solidFill>
                      <a:srgbClr val="0D131B"/>
                    </a:solidFill>
                  </a:tcPr>
                </a:tc>
              </a:tr>
              <a:tr h="231711">
                <a:tc>
                  <a:txBody>
                    <a:bodyPr wrap="square"/>
                    <a:lstStyle/>
                    <a:p>
                      <a:pPr>
                        <a:lnSpc>
                          <a:spcPct val="114000"/>
                        </a:lnSpc>
                      </a:pPr>
                      <a:r>
                        <a:rPr sz="1000" b="1" i="0">
                          <a:solidFill>
                            <a:srgbClr val="F7F6EF"/>
                          </a:solidFill>
                          <a:latin typeface="Arial"/>
                        </a:rPr>
                        <a:t>SEC — Duolingo Q2 FY2026 shareholder letter</a:t>
                      </a:r>
                    </a:p>
                  </a:txBody>
                  <a:tcPr marL="64008" marR="64008" marT="41148" marB="41148" anchor="ctr">
                    <a:solidFill>
                      <a:srgbClr val="121821"/>
                    </a:solidFill>
                  </a:tcPr>
                </a:tc>
                <a:tc>
                  <a:txBody>
                    <a:bodyPr wrap="square"/>
                    <a:lstStyle/>
                    <a:p>
                      <a:pPr>
                        <a:lnSpc>
                          <a:spcPct val="114000"/>
                        </a:lnSpc>
                      </a:pPr>
                      <a:r>
                        <a:rPr sz="1000" b="0" i="0">
                          <a:solidFill>
                            <a:srgbClr val="F7F6EF"/>
                          </a:solidFill>
                          <a:latin typeface="Arial"/>
                        </a:rPr>
                        <a:t>company disclosure</a:t>
                      </a:r>
                    </a:p>
                  </a:txBody>
                  <a:tcPr marL="64008" marR="64008" marT="41148" marB="41148" anchor="ctr">
                    <a:solidFill>
                      <a:srgbClr val="121821"/>
                    </a:solidFill>
                  </a:tcPr>
                </a:tc>
                <a:tc>
                  <a:txBody>
                    <a:bodyPr wrap="square"/>
                    <a:lstStyle/>
                    <a:p>
                      <a:pPr>
                        <a:lnSpc>
                          <a:spcPct val="114000"/>
                        </a:lnSpc>
                      </a:pPr>
                      <a:r>
                        <a:rPr sz="1000" b="0" i="0">
                          <a:solidFill>
                            <a:srgbClr val="F7F6EF"/>
                          </a:solidFill>
                          <a:latin typeface="Arial"/>
                        </a:rPr>
                        <a:t>10, 12, 16</a:t>
                      </a:r>
                    </a:p>
                  </a:txBody>
                  <a:tcPr marL="64008" marR="64008" marT="41148" marB="41148" anchor="ctr">
                    <a:solidFill>
                      <a:srgbClr val="121821"/>
                    </a:solidFill>
                  </a:tcPr>
                </a:tc>
              </a:tr>
              <a:tr h="231711">
                <a:tc>
                  <a:txBody>
                    <a:bodyPr wrap="square"/>
                    <a:lstStyle/>
                    <a:p>
                      <a:pPr>
                        <a:lnSpc>
                          <a:spcPct val="114000"/>
                        </a:lnSpc>
                      </a:pPr>
                      <a:r>
                        <a:rPr sz="1000" b="1" i="0">
                          <a:solidFill>
                            <a:srgbClr val="F7F6EF"/>
                          </a:solidFill>
                          <a:latin typeface="Arial"/>
                        </a:rPr>
                        <a:t>Kahoot! — Q4 2022 quarterly report</a:t>
                      </a:r>
                    </a:p>
                  </a:txBody>
                  <a:tcPr marL="64008" marR="64008" marT="41148" marB="41148" anchor="ctr">
                    <a:solidFill>
                      <a:srgbClr val="0D131B"/>
                    </a:solidFill>
                  </a:tcPr>
                </a:tc>
                <a:tc>
                  <a:txBody>
                    <a:bodyPr wrap="square"/>
                    <a:lstStyle/>
                    <a:p>
                      <a:pPr>
                        <a:lnSpc>
                          <a:spcPct val="114000"/>
                        </a:lnSpc>
                      </a:pPr>
                      <a:r>
                        <a:rPr sz="1000" b="0" i="0">
                          <a:solidFill>
                            <a:srgbClr val="F7F6EF"/>
                          </a:solidFill>
                          <a:latin typeface="Arial"/>
                        </a:rPr>
                        <a:t>company disclosure</a:t>
                      </a:r>
                    </a:p>
                  </a:txBody>
                  <a:tcPr marL="64008" marR="64008" marT="41148" marB="41148" anchor="ctr">
                    <a:solidFill>
                      <a:srgbClr val="0D131B"/>
                    </a:solidFill>
                  </a:tcPr>
                </a:tc>
                <a:tc>
                  <a:txBody>
                    <a:bodyPr wrap="square"/>
                    <a:lstStyle/>
                    <a:p>
                      <a:pPr>
                        <a:lnSpc>
                          <a:spcPct val="114000"/>
                        </a:lnSpc>
                      </a:pPr>
                      <a:r>
                        <a:rPr sz="1000" b="0" i="0">
                          <a:solidFill>
                            <a:srgbClr val="F7F6EF"/>
                          </a:solidFill>
                          <a:latin typeface="Arial"/>
                        </a:rPr>
                        <a:t>10, 11</a:t>
                      </a:r>
                    </a:p>
                  </a:txBody>
                  <a:tcPr marL="64008" marR="64008" marT="41148" marB="41148" anchor="ctr">
                    <a:solidFill>
                      <a:srgbClr val="0D131B"/>
                    </a:solidFill>
                  </a:tcPr>
                </a:tc>
              </a:tr>
              <a:tr h="231711">
                <a:tc>
                  <a:txBody>
                    <a:bodyPr wrap="square"/>
                    <a:lstStyle/>
                    <a:p>
                      <a:pPr>
                        <a:lnSpc>
                          <a:spcPct val="114000"/>
                        </a:lnSpc>
                      </a:pPr>
                      <a:r>
                        <a:rPr sz="1000" b="1" i="0">
                          <a:solidFill>
                            <a:srgbClr val="F7F6EF"/>
                          </a:solidFill>
                          <a:latin typeface="Arial"/>
                        </a:rPr>
                        <a:t>Sporcle — Orange membership pricing</a:t>
                      </a:r>
                    </a:p>
                  </a:txBody>
                  <a:tcPr marL="64008" marR="64008" marT="41148" marB="41148" anchor="ctr">
                    <a:solidFill>
                      <a:srgbClr val="121821"/>
                    </a:solidFill>
                  </a:tcPr>
                </a:tc>
                <a:tc>
                  <a:txBody>
                    <a:bodyPr wrap="square"/>
                    <a:lstStyle/>
                    <a:p>
                      <a:pPr>
                        <a:lnSpc>
                          <a:spcPct val="114000"/>
                        </a:lnSpc>
                      </a:pPr>
                      <a:r>
                        <a:rPr sz="1000" b="0" i="0">
                          <a:solidFill>
                            <a:srgbClr val="F7F6EF"/>
                          </a:solidFill>
                          <a:latin typeface="Arial"/>
                        </a:rPr>
                        <a:t>company disclosure</a:t>
                      </a:r>
                    </a:p>
                  </a:txBody>
                  <a:tcPr marL="64008" marR="64008" marT="41148" marB="41148" anchor="ctr">
                    <a:solidFill>
                      <a:srgbClr val="121821"/>
                    </a:solidFill>
                  </a:tcPr>
                </a:tc>
                <a:tc>
                  <a:txBody>
                    <a:bodyPr wrap="square"/>
                    <a:lstStyle/>
                    <a:p>
                      <a:pPr>
                        <a:lnSpc>
                          <a:spcPct val="114000"/>
                        </a:lnSpc>
                      </a:pPr>
                      <a:r>
                        <a:rPr sz="1000" b="0" i="0">
                          <a:solidFill>
                            <a:srgbClr val="F7F6EF"/>
                          </a:solidFill>
                          <a:latin typeface="Arial"/>
                        </a:rPr>
                        <a:t>10, 12, 16</a:t>
                      </a:r>
                    </a:p>
                  </a:txBody>
                  <a:tcPr marL="64008" marR="64008" marT="41148" marB="41148" anchor="ctr">
                    <a:solidFill>
                      <a:srgbClr val="121821"/>
                    </a:solidFill>
                  </a:tcPr>
                </a:tc>
              </a:tr>
            </a:tbl>
          </a:graphicData>
        </a:graphic>
      </p:graphicFrame>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859536"/>
          </a:xfrm>
        </p:spPr>
        <p:txBody>
          <a:bodyPr wrap="square" lIns="0" rIns="0" tIns="0" bIns="0" anchor="t"/>
          <a:lstStyle/>
          <a:p>
            <a:pPr>
              <a:lnSpc>
                <a:spcPct val="108000"/>
              </a:lnSpc>
            </a:pPr>
            <a:r>
              <a:rPr sz="3000" b="1" i="0">
                <a:solidFill>
                  <a:srgbClr val="F7F6EF"/>
                </a:solidFill>
                <a:latin typeface="Arial"/>
              </a:rPr>
              <a:t>Appendix I — every source cited in this deck, and what kind of evidence it is.</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4EE1FF"/>
                </a:solidFill>
                <a:latin typeface="Arial"/>
              </a:rPr>
              <a:t>APPENDIX — SOURCE REGISTER (3 OF 4)</a:t>
            </a:r>
          </a:p>
        </p:txBody>
      </p:sp>
      <p:sp>
        <p:nvSpPr>
          <p:cNvPr id="4" name="Rectangle 3"/>
          <p:cNvSpPr/>
          <p:nvPr/>
        </p:nvSpPr>
        <p:spPr>
          <a:xfrm>
            <a:off x="566928" y="6035040"/>
            <a:ext cx="11057839" cy="11887"/>
          </a:xfrm>
          <a:prstGeom prst="rect">
            <a:avLst/>
          </a:prstGeom>
          <a:solidFill>
            <a:srgbClr val="4EE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25</a:t>
            </a:r>
          </a:p>
        </p:txBody>
      </p:sp>
      <p:sp>
        <p:nvSpPr>
          <p:cNvPr id="6" name="TextBox 5"/>
          <p:cNvSpPr txBox="1"/>
          <p:nvPr/>
        </p:nvSpPr>
        <p:spPr>
          <a:xfrm>
            <a:off x="566928" y="1719072"/>
            <a:ext cx="11057839" cy="242824"/>
          </a:xfrm>
          <a:prstGeom prst="rect">
            <a:avLst/>
          </a:prstGeom>
          <a:noFill/>
        </p:spPr>
        <p:txBody>
          <a:bodyPr wrap="square" lIns="0" rIns="0" tIns="0" bIns="0" anchor="t">
            <a:spAutoFit/>
          </a:bodyPr>
          <a:lstStyle/>
          <a:p>
            <a:pPr marL="238571" indent="-238571">
              <a:lnSpc>
                <a:spcPct val="116000"/>
              </a:lnSpc>
              <a:buClr>
                <a:srgbClr val="4EE1FF"/>
              </a:buClr>
              <a:buFont typeface="Arial"/>
              <a:buChar char="—"/>
            </a:pPr>
            <a:r>
              <a:rPr sz="1400" b="0" i="0">
                <a:solidFill>
                  <a:srgbClr val="F7F6EF"/>
                </a:solidFill>
                <a:latin typeface="Arial"/>
              </a:rPr>
              <a:t>Continued. Kinds are taken from the fact-check register, not assigned by us.</a:t>
            </a:r>
          </a:p>
        </p:txBody>
      </p:sp>
      <p:graphicFrame>
        <p:nvGraphicFramePr>
          <p:cNvPr id="7" name="Table 6"/>
          <p:cNvGraphicFramePr>
            <a:graphicFrameLocks noGrp="1"/>
          </p:cNvGraphicFramePr>
          <p:nvPr/>
        </p:nvGraphicFramePr>
        <p:xfrm>
          <a:off x="566928" y="2199640"/>
          <a:ext cx="11057838" cy="3707376"/>
        </p:xfrm>
        <a:graphic>
          <a:graphicData uri="http://schemas.openxmlformats.org/drawingml/2006/table">
            <a:tbl>
              <a:tblPr>
                <a:tableStyleId>{2D5ABB26-0587-4C30-8999-92F81FD0307C}</a:tableStyleId>
              </a:tblPr>
              <a:tblGrid>
                <a:gridCol w="6512449"/>
                <a:gridCol w="3352240"/>
                <a:gridCol w="1193149"/>
              </a:tblGrid>
              <a:tr h="231711">
                <a:tc>
                  <a:txBody>
                    <a:bodyPr wrap="square"/>
                    <a:lstStyle/>
                    <a:p>
                      <a:pPr>
                        <a:lnSpc>
                          <a:spcPct val="114000"/>
                        </a:lnSpc>
                      </a:pPr>
                      <a:r>
                        <a:rPr sz="1000" b="1" i="0">
                          <a:solidFill>
                            <a:srgbClr val="D4FF3A"/>
                          </a:solidFill>
                          <a:latin typeface="Arial"/>
                        </a:rPr>
                        <a:t>Source</a:t>
                      </a:r>
                    </a:p>
                  </a:txBody>
                  <a:tcPr marL="64008" marR="64008" marT="41148" marB="41148" anchor="ctr">
                    <a:solidFill>
                      <a:srgbClr val="121821"/>
                    </a:solidFill>
                  </a:tcPr>
                </a:tc>
                <a:tc>
                  <a:txBody>
                    <a:bodyPr wrap="square"/>
                    <a:lstStyle/>
                    <a:p>
                      <a:pPr>
                        <a:lnSpc>
                          <a:spcPct val="114000"/>
                        </a:lnSpc>
                      </a:pPr>
                      <a:r>
                        <a:rPr sz="1000" b="1" i="0">
                          <a:solidFill>
                            <a:srgbClr val="D4FF3A"/>
                          </a:solidFill>
                          <a:latin typeface="Arial"/>
                        </a:rPr>
                        <a:t>Kind</a:t>
                      </a:r>
                    </a:p>
                  </a:txBody>
                  <a:tcPr marL="64008" marR="64008" marT="41148" marB="41148" anchor="ctr">
                    <a:solidFill>
                      <a:srgbClr val="121821"/>
                    </a:solidFill>
                  </a:tcPr>
                </a:tc>
                <a:tc>
                  <a:txBody>
                    <a:bodyPr wrap="square"/>
                    <a:lstStyle/>
                    <a:p>
                      <a:pPr>
                        <a:lnSpc>
                          <a:spcPct val="114000"/>
                        </a:lnSpc>
                      </a:pPr>
                      <a:r>
                        <a:rPr sz="1000" b="1" i="0">
                          <a:solidFill>
                            <a:srgbClr val="D4FF3A"/>
                          </a:solidFill>
                          <a:latin typeface="Arial"/>
                        </a:rPr>
                        <a:t>Cited on</a:t>
                      </a:r>
                    </a:p>
                  </a:txBody>
                  <a:tcPr marL="64008" marR="64008" marT="41148" marB="41148" anchor="ctr">
                    <a:solidFill>
                      <a:srgbClr val="121821"/>
                    </a:solidFill>
                  </a:tcPr>
                </a:tc>
              </a:tr>
              <a:tr h="231711">
                <a:tc>
                  <a:txBody>
                    <a:bodyPr wrap="square"/>
                    <a:lstStyle/>
                    <a:p>
                      <a:pPr>
                        <a:lnSpc>
                          <a:spcPct val="114000"/>
                        </a:lnSpc>
                      </a:pPr>
                      <a:r>
                        <a:rPr sz="1000" b="1" i="0">
                          <a:solidFill>
                            <a:srgbClr val="F7F6EF"/>
                          </a:solidFill>
                          <a:latin typeface="Arial"/>
                        </a:rPr>
                        <a:t>AppsFlyer — State of App Monetization 2026</a:t>
                      </a:r>
                    </a:p>
                  </a:txBody>
                  <a:tcPr marL="64008" marR="64008" marT="41148" marB="41148" anchor="ctr">
                    <a:solidFill>
                      <a:srgbClr val="121821"/>
                    </a:solidFill>
                  </a:tcPr>
                </a:tc>
                <a:tc>
                  <a:txBody>
                    <a:bodyPr wrap="square"/>
                    <a:lstStyle/>
                    <a:p>
                      <a:pPr>
                        <a:lnSpc>
                          <a:spcPct val="114000"/>
                        </a:lnSpc>
                      </a:pPr>
                      <a:r>
                        <a:rPr sz="1000" b="0" i="0">
                          <a:solidFill>
                            <a:srgbClr val="F7F6EF"/>
                          </a:solidFill>
                          <a:latin typeface="Arial"/>
                        </a:rPr>
                        <a:t>third-party estimate</a:t>
                      </a:r>
                    </a:p>
                  </a:txBody>
                  <a:tcPr marL="64008" marR="64008" marT="41148" marB="41148" anchor="ctr">
                    <a:solidFill>
                      <a:srgbClr val="121821"/>
                    </a:solidFill>
                  </a:tcPr>
                </a:tc>
                <a:tc>
                  <a:txBody>
                    <a:bodyPr wrap="square"/>
                    <a:lstStyle/>
                    <a:p>
                      <a:pPr>
                        <a:lnSpc>
                          <a:spcPct val="114000"/>
                        </a:lnSpc>
                      </a:pPr>
                      <a:r>
                        <a:rPr sz="1000" b="0" i="0">
                          <a:solidFill>
                            <a:srgbClr val="F7F6EF"/>
                          </a:solidFill>
                          <a:latin typeface="Arial"/>
                        </a:rPr>
                        <a:t>10, 16</a:t>
                      </a:r>
                    </a:p>
                  </a:txBody>
                  <a:tcPr marL="64008" marR="64008" marT="41148" marB="41148" anchor="ctr">
                    <a:solidFill>
                      <a:srgbClr val="121821"/>
                    </a:solidFill>
                  </a:tcPr>
                </a:tc>
              </a:tr>
              <a:tr h="231711">
                <a:tc>
                  <a:txBody>
                    <a:bodyPr wrap="square"/>
                    <a:lstStyle/>
                    <a:p>
                      <a:pPr>
                        <a:lnSpc>
                          <a:spcPct val="114000"/>
                        </a:lnSpc>
                      </a:pPr>
                      <a:r>
                        <a:rPr sz="1000" b="1" i="0">
                          <a:solidFill>
                            <a:srgbClr val="F7F6EF"/>
                          </a:solidFill>
                          <a:latin typeface="Arial"/>
                        </a:rPr>
                        <a:t>FACT//DUEL internal — numbers.md §4.1-§4.3</a:t>
                      </a:r>
                    </a:p>
                  </a:txBody>
                  <a:tcPr marL="64008" marR="64008" marT="41148" marB="41148" anchor="ctr">
                    <a:solidFill>
                      <a:srgbClr val="0D131B"/>
                    </a:solidFill>
                  </a:tcPr>
                </a:tc>
                <a:tc>
                  <a:txBody>
                    <a:bodyPr wrap="square"/>
                    <a:lstStyle/>
                    <a:p>
                      <a:pPr>
                        <a:lnSpc>
                          <a:spcPct val="114000"/>
                        </a:lnSpc>
                      </a:pPr>
                      <a:r>
                        <a:rPr sz="1000" b="0" i="0">
                          <a:solidFill>
                            <a:srgbClr val="F7F6EF"/>
                          </a:solidFill>
                          <a:latin typeface="Arial"/>
                        </a:rPr>
                        <a:t>internal (company disclosure)</a:t>
                      </a:r>
                    </a:p>
                  </a:txBody>
                  <a:tcPr marL="64008" marR="64008" marT="41148" marB="41148" anchor="ctr">
                    <a:solidFill>
                      <a:srgbClr val="0D131B"/>
                    </a:solidFill>
                  </a:tcPr>
                </a:tc>
                <a:tc>
                  <a:txBody>
                    <a:bodyPr wrap="square"/>
                    <a:lstStyle/>
                    <a:p>
                      <a:pPr>
                        <a:lnSpc>
                          <a:spcPct val="114000"/>
                        </a:lnSpc>
                      </a:pPr>
                      <a:r>
                        <a:rPr sz="1000" b="0" i="0">
                          <a:solidFill>
                            <a:srgbClr val="F7F6EF"/>
                          </a:solidFill>
                          <a:latin typeface="Arial"/>
                        </a:rPr>
                        <a:t>10, 16</a:t>
                      </a:r>
                    </a:p>
                  </a:txBody>
                  <a:tcPr marL="64008" marR="64008" marT="41148" marB="41148" anchor="ctr">
                    <a:solidFill>
                      <a:srgbClr val="0D131B"/>
                    </a:solidFill>
                  </a:tcPr>
                </a:tc>
              </a:tr>
              <a:tr h="231711">
                <a:tc>
                  <a:txBody>
                    <a:bodyPr wrap="square"/>
                    <a:lstStyle/>
                    <a:p>
                      <a:pPr>
                        <a:lnSpc>
                          <a:spcPct val="114000"/>
                        </a:lnSpc>
                      </a:pPr>
                      <a:r>
                        <a:rPr sz="1000" b="1" i="0">
                          <a:solidFill>
                            <a:srgbClr val="F7F6EF"/>
                          </a:solidFill>
                          <a:latin typeface="Arial"/>
                        </a:rPr>
                        <a:t>Google Play — Kahoot! listing</a:t>
                      </a:r>
                    </a:p>
                  </a:txBody>
                  <a:tcPr marL="64008" marR="64008" marT="41148" marB="41148" anchor="ctr">
                    <a:solidFill>
                      <a:srgbClr val="121821"/>
                    </a:solidFill>
                  </a:tcPr>
                </a:tc>
                <a:tc>
                  <a:txBody>
                    <a:bodyPr wrap="square"/>
                    <a:lstStyle/>
                    <a:p>
                      <a:pPr>
                        <a:lnSpc>
                          <a:spcPct val="114000"/>
                        </a:lnSpc>
                      </a:pPr>
                      <a:r>
                        <a:rPr sz="1000" b="0" i="0">
                          <a:solidFill>
                            <a:srgbClr val="F7F6EF"/>
                          </a:solidFill>
                          <a:latin typeface="Arial"/>
                        </a:rPr>
                        <a:t>company disclosure</a:t>
                      </a:r>
                    </a:p>
                  </a:txBody>
                  <a:tcPr marL="64008" marR="64008" marT="41148" marB="41148" anchor="ctr">
                    <a:solidFill>
                      <a:srgbClr val="121821"/>
                    </a:solidFill>
                  </a:tcPr>
                </a:tc>
                <a:tc>
                  <a:txBody>
                    <a:bodyPr wrap="square"/>
                    <a:lstStyle/>
                    <a:p>
                      <a:pPr>
                        <a:lnSpc>
                          <a:spcPct val="114000"/>
                        </a:lnSpc>
                      </a:pPr>
                      <a:r>
                        <a:rPr sz="1000" b="0" i="0">
                          <a:solidFill>
                            <a:srgbClr val="F7F6EF"/>
                          </a:solidFill>
                          <a:latin typeface="Arial"/>
                        </a:rPr>
                        <a:t>11</a:t>
                      </a:r>
                    </a:p>
                  </a:txBody>
                  <a:tcPr marL="64008" marR="64008" marT="41148" marB="41148" anchor="ctr">
                    <a:solidFill>
                      <a:srgbClr val="121821"/>
                    </a:solidFill>
                  </a:tcPr>
                </a:tc>
              </a:tr>
              <a:tr h="231711">
                <a:tc>
                  <a:txBody>
                    <a:bodyPr wrap="square"/>
                    <a:lstStyle/>
                    <a:p>
                      <a:pPr>
                        <a:lnSpc>
                          <a:spcPct val="114000"/>
                        </a:lnSpc>
                      </a:pPr>
                      <a:r>
                        <a:rPr sz="1000" b="1" i="0">
                          <a:solidFill>
                            <a:srgbClr val="F7F6EF"/>
                          </a:solidFill>
                          <a:latin typeface="Arial"/>
                        </a:rPr>
                        <a:t>Oslo Børs — Kahoot! delisting notice</a:t>
                      </a:r>
                    </a:p>
                  </a:txBody>
                  <a:tcPr marL="64008" marR="64008" marT="41148" marB="41148" anchor="ctr">
                    <a:solidFill>
                      <a:srgbClr val="0D131B"/>
                    </a:solidFill>
                  </a:tcPr>
                </a:tc>
                <a:tc>
                  <a:txBody>
                    <a:bodyPr wrap="square"/>
                    <a:lstStyle/>
                    <a:p>
                      <a:pPr>
                        <a:lnSpc>
                          <a:spcPct val="114000"/>
                        </a:lnSpc>
                      </a:pPr>
                      <a:r>
                        <a:rPr sz="1000" b="0" i="0">
                          <a:solidFill>
                            <a:srgbClr val="F7F6EF"/>
                          </a:solidFill>
                          <a:latin typeface="Arial"/>
                        </a:rPr>
                        <a:t>company disclosure</a:t>
                      </a:r>
                    </a:p>
                  </a:txBody>
                  <a:tcPr marL="64008" marR="64008" marT="41148" marB="41148" anchor="ctr">
                    <a:solidFill>
                      <a:srgbClr val="0D131B"/>
                    </a:solidFill>
                  </a:tcPr>
                </a:tc>
                <a:tc>
                  <a:txBody>
                    <a:bodyPr wrap="square"/>
                    <a:lstStyle/>
                    <a:p>
                      <a:pPr>
                        <a:lnSpc>
                          <a:spcPct val="114000"/>
                        </a:lnSpc>
                      </a:pPr>
                      <a:r>
                        <a:rPr sz="1000" b="0" i="0">
                          <a:solidFill>
                            <a:srgbClr val="F7F6EF"/>
                          </a:solidFill>
                          <a:latin typeface="Arial"/>
                        </a:rPr>
                        <a:t>11</a:t>
                      </a:r>
                    </a:p>
                  </a:txBody>
                  <a:tcPr marL="64008" marR="64008" marT="41148" marB="41148" anchor="ctr">
                    <a:solidFill>
                      <a:srgbClr val="0D131B"/>
                    </a:solidFill>
                  </a:tcPr>
                </a:tc>
              </a:tr>
              <a:tr h="231711">
                <a:tc>
                  <a:txBody>
                    <a:bodyPr wrap="square"/>
                    <a:lstStyle/>
                    <a:p>
                      <a:pPr>
                        <a:lnSpc>
                          <a:spcPct val="114000"/>
                        </a:lnSpc>
                      </a:pPr>
                      <a:r>
                        <a:rPr sz="1000" b="1" i="0">
                          <a:solidFill>
                            <a:srgbClr val="F7F6EF"/>
                          </a:solidFill>
                          <a:latin typeface="Arial"/>
                        </a:rPr>
                        <a:t>PR Newswire — Quizizz $31.5M Series B</a:t>
                      </a:r>
                    </a:p>
                  </a:txBody>
                  <a:tcPr marL="64008" marR="64008" marT="41148" marB="41148" anchor="ctr">
                    <a:solidFill>
                      <a:srgbClr val="121821"/>
                    </a:solidFill>
                  </a:tcPr>
                </a:tc>
                <a:tc>
                  <a:txBody>
                    <a:bodyPr wrap="square"/>
                    <a:lstStyle/>
                    <a:p>
                      <a:pPr>
                        <a:lnSpc>
                          <a:spcPct val="114000"/>
                        </a:lnSpc>
                      </a:pPr>
                      <a:r>
                        <a:rPr sz="1000" b="0" i="0">
                          <a:solidFill>
                            <a:srgbClr val="F7F6EF"/>
                          </a:solidFill>
                          <a:latin typeface="Arial"/>
                        </a:rPr>
                        <a:t>press report</a:t>
                      </a:r>
                    </a:p>
                  </a:txBody>
                  <a:tcPr marL="64008" marR="64008" marT="41148" marB="41148" anchor="ctr">
                    <a:solidFill>
                      <a:srgbClr val="121821"/>
                    </a:solidFill>
                  </a:tcPr>
                </a:tc>
                <a:tc>
                  <a:txBody>
                    <a:bodyPr wrap="square"/>
                    <a:lstStyle/>
                    <a:p>
                      <a:pPr>
                        <a:lnSpc>
                          <a:spcPct val="114000"/>
                        </a:lnSpc>
                      </a:pPr>
                      <a:r>
                        <a:rPr sz="1000" b="0" i="0">
                          <a:solidFill>
                            <a:srgbClr val="F7F6EF"/>
                          </a:solidFill>
                          <a:latin typeface="Arial"/>
                        </a:rPr>
                        <a:t>11</a:t>
                      </a:r>
                    </a:p>
                  </a:txBody>
                  <a:tcPr marL="64008" marR="64008" marT="41148" marB="41148" anchor="ctr">
                    <a:solidFill>
                      <a:srgbClr val="121821"/>
                    </a:solidFill>
                  </a:tcPr>
                </a:tc>
              </a:tr>
              <a:tr h="231711">
                <a:tc>
                  <a:txBody>
                    <a:bodyPr wrap="square"/>
                    <a:lstStyle/>
                    <a:p>
                      <a:pPr>
                        <a:lnSpc>
                          <a:spcPct val="114000"/>
                        </a:lnSpc>
                      </a:pPr>
                      <a:r>
                        <a:rPr sz="1000" b="1" i="0">
                          <a:solidFill>
                            <a:srgbClr val="F7F6EF"/>
                          </a:solidFill>
                          <a:latin typeface="Arial"/>
                        </a:rPr>
                        <a:t>Apple lookup API — Wayground listing</a:t>
                      </a:r>
                    </a:p>
                  </a:txBody>
                  <a:tcPr marL="64008" marR="64008" marT="41148" marB="41148" anchor="ctr">
                    <a:solidFill>
                      <a:srgbClr val="0D131B"/>
                    </a:solidFill>
                  </a:tcPr>
                </a:tc>
                <a:tc>
                  <a:txBody>
                    <a:bodyPr wrap="square"/>
                    <a:lstStyle/>
                    <a:p>
                      <a:pPr>
                        <a:lnSpc>
                          <a:spcPct val="114000"/>
                        </a:lnSpc>
                      </a:pPr>
                      <a:r>
                        <a:rPr sz="1000" b="0" i="0">
                          <a:solidFill>
                            <a:srgbClr val="F7F6EF"/>
                          </a:solidFill>
                          <a:latin typeface="Arial"/>
                        </a:rPr>
                        <a:t>company disclosure</a:t>
                      </a:r>
                    </a:p>
                  </a:txBody>
                  <a:tcPr marL="64008" marR="64008" marT="41148" marB="41148" anchor="ctr">
                    <a:solidFill>
                      <a:srgbClr val="0D131B"/>
                    </a:solidFill>
                  </a:tcPr>
                </a:tc>
                <a:tc>
                  <a:txBody>
                    <a:bodyPr wrap="square"/>
                    <a:lstStyle/>
                    <a:p>
                      <a:pPr>
                        <a:lnSpc>
                          <a:spcPct val="114000"/>
                        </a:lnSpc>
                      </a:pPr>
                      <a:r>
                        <a:rPr sz="1000" b="0" i="0">
                          <a:solidFill>
                            <a:srgbClr val="F7F6EF"/>
                          </a:solidFill>
                          <a:latin typeface="Arial"/>
                        </a:rPr>
                        <a:t>11</a:t>
                      </a:r>
                    </a:p>
                  </a:txBody>
                  <a:tcPr marL="64008" marR="64008" marT="41148" marB="41148" anchor="ctr">
                    <a:solidFill>
                      <a:srgbClr val="0D131B"/>
                    </a:solidFill>
                  </a:tcPr>
                </a:tc>
              </a:tr>
              <a:tr h="231711">
                <a:tc>
                  <a:txBody>
                    <a:bodyPr wrap="square"/>
                    <a:lstStyle/>
                    <a:p>
                      <a:pPr>
                        <a:lnSpc>
                          <a:spcPct val="114000"/>
                        </a:lnSpc>
                      </a:pPr>
                      <a:r>
                        <a:rPr sz="1000" b="1" i="0">
                          <a:solidFill>
                            <a:srgbClr val="F7F6EF"/>
                          </a:solidFill>
                          <a:latin typeface="Arial"/>
                        </a:rPr>
                        <a:t>SEC 8-K — Skillz FY2025 results</a:t>
                      </a:r>
                    </a:p>
                  </a:txBody>
                  <a:tcPr marL="64008" marR="64008" marT="41148" marB="41148" anchor="ctr">
                    <a:solidFill>
                      <a:srgbClr val="121821"/>
                    </a:solidFill>
                  </a:tcPr>
                </a:tc>
                <a:tc>
                  <a:txBody>
                    <a:bodyPr wrap="square"/>
                    <a:lstStyle/>
                    <a:p>
                      <a:pPr>
                        <a:lnSpc>
                          <a:spcPct val="114000"/>
                        </a:lnSpc>
                      </a:pPr>
                      <a:r>
                        <a:rPr sz="1000" b="0" i="0">
                          <a:solidFill>
                            <a:srgbClr val="F7F6EF"/>
                          </a:solidFill>
                          <a:latin typeface="Arial"/>
                        </a:rPr>
                        <a:t>company disclosure</a:t>
                      </a:r>
                    </a:p>
                  </a:txBody>
                  <a:tcPr marL="64008" marR="64008" marT="41148" marB="41148" anchor="ctr">
                    <a:solidFill>
                      <a:srgbClr val="121821"/>
                    </a:solidFill>
                  </a:tcPr>
                </a:tc>
                <a:tc>
                  <a:txBody>
                    <a:bodyPr wrap="square"/>
                    <a:lstStyle/>
                    <a:p>
                      <a:pPr>
                        <a:lnSpc>
                          <a:spcPct val="114000"/>
                        </a:lnSpc>
                      </a:pPr>
                      <a:r>
                        <a:rPr sz="1000" b="0" i="0">
                          <a:solidFill>
                            <a:srgbClr val="F7F6EF"/>
                          </a:solidFill>
                          <a:latin typeface="Arial"/>
                        </a:rPr>
                        <a:t>11, 18</a:t>
                      </a:r>
                    </a:p>
                  </a:txBody>
                  <a:tcPr marL="64008" marR="64008" marT="41148" marB="41148" anchor="ctr">
                    <a:solidFill>
                      <a:srgbClr val="121821"/>
                    </a:solidFill>
                  </a:tcPr>
                </a:tc>
              </a:tr>
              <a:tr h="231711">
                <a:tc>
                  <a:txBody>
                    <a:bodyPr wrap="square"/>
                    <a:lstStyle/>
                    <a:p>
                      <a:pPr>
                        <a:lnSpc>
                          <a:spcPct val="114000"/>
                        </a:lnSpc>
                      </a:pPr>
                      <a:r>
                        <a:rPr sz="1000" b="1" i="0">
                          <a:solidFill>
                            <a:srgbClr val="F7F6EF"/>
                          </a:solidFill>
                          <a:latin typeface="Arial"/>
                        </a:rPr>
                        <a:t>SEC 8-K — Skillz FY2022 results (FY2021 peak)</a:t>
                      </a:r>
                    </a:p>
                  </a:txBody>
                  <a:tcPr marL="64008" marR="64008" marT="41148" marB="41148" anchor="ctr">
                    <a:solidFill>
                      <a:srgbClr val="0D131B"/>
                    </a:solidFill>
                  </a:tcPr>
                </a:tc>
                <a:tc>
                  <a:txBody>
                    <a:bodyPr wrap="square"/>
                    <a:lstStyle/>
                    <a:p>
                      <a:pPr>
                        <a:lnSpc>
                          <a:spcPct val="114000"/>
                        </a:lnSpc>
                      </a:pPr>
                      <a:r>
                        <a:rPr sz="1000" b="0" i="0">
                          <a:solidFill>
                            <a:srgbClr val="F7F6EF"/>
                          </a:solidFill>
                          <a:latin typeface="Arial"/>
                        </a:rPr>
                        <a:t>audited filing</a:t>
                      </a:r>
                    </a:p>
                  </a:txBody>
                  <a:tcPr marL="64008" marR="64008" marT="41148" marB="41148" anchor="ctr">
                    <a:solidFill>
                      <a:srgbClr val="0D131B"/>
                    </a:solidFill>
                  </a:tcPr>
                </a:tc>
                <a:tc>
                  <a:txBody>
                    <a:bodyPr wrap="square"/>
                    <a:lstStyle/>
                    <a:p>
                      <a:pPr>
                        <a:lnSpc>
                          <a:spcPct val="114000"/>
                        </a:lnSpc>
                      </a:pPr>
                      <a:r>
                        <a:rPr sz="1000" b="0" i="0">
                          <a:solidFill>
                            <a:srgbClr val="F7F6EF"/>
                          </a:solidFill>
                          <a:latin typeface="Arial"/>
                        </a:rPr>
                        <a:t>11, 18</a:t>
                      </a:r>
                    </a:p>
                  </a:txBody>
                  <a:tcPr marL="64008" marR="64008" marT="41148" marB="41148" anchor="ctr">
                    <a:solidFill>
                      <a:srgbClr val="0D131B"/>
                    </a:solidFill>
                  </a:tcPr>
                </a:tc>
              </a:tr>
              <a:tr h="231711">
                <a:tc>
                  <a:txBody>
                    <a:bodyPr wrap="square"/>
                    <a:lstStyle/>
                    <a:p>
                      <a:pPr>
                        <a:lnSpc>
                          <a:spcPct val="114000"/>
                        </a:lnSpc>
                      </a:pPr>
                      <a:r>
                        <a:rPr sz="1000" b="1" i="0">
                          <a:solidFill>
                            <a:srgbClr val="F7F6EF"/>
                          </a:solidFill>
                          <a:latin typeface="Arial"/>
                        </a:rPr>
                        <a:t>SEC 10-K — Skillz FY2023 (Skillz v. AviaGames)</a:t>
                      </a:r>
                    </a:p>
                  </a:txBody>
                  <a:tcPr marL="64008" marR="64008" marT="41148" marB="41148" anchor="ctr">
                    <a:solidFill>
                      <a:srgbClr val="121821"/>
                    </a:solidFill>
                  </a:tcPr>
                </a:tc>
                <a:tc>
                  <a:txBody>
                    <a:bodyPr wrap="square"/>
                    <a:lstStyle/>
                    <a:p>
                      <a:pPr>
                        <a:lnSpc>
                          <a:spcPct val="114000"/>
                        </a:lnSpc>
                      </a:pPr>
                      <a:r>
                        <a:rPr sz="1000" b="0" i="0">
                          <a:solidFill>
                            <a:srgbClr val="F7F6EF"/>
                          </a:solidFill>
                          <a:latin typeface="Arial"/>
                        </a:rPr>
                        <a:t>press report</a:t>
                      </a:r>
                    </a:p>
                  </a:txBody>
                  <a:tcPr marL="64008" marR="64008" marT="41148" marB="41148" anchor="ctr">
                    <a:solidFill>
                      <a:srgbClr val="121821"/>
                    </a:solidFill>
                  </a:tcPr>
                </a:tc>
                <a:tc>
                  <a:txBody>
                    <a:bodyPr wrap="square"/>
                    <a:lstStyle/>
                    <a:p>
                      <a:pPr>
                        <a:lnSpc>
                          <a:spcPct val="114000"/>
                        </a:lnSpc>
                      </a:pPr>
                      <a:r>
                        <a:rPr sz="1000" b="0" i="0">
                          <a:solidFill>
                            <a:srgbClr val="F7F6EF"/>
                          </a:solidFill>
                          <a:latin typeface="Arial"/>
                        </a:rPr>
                        <a:t>12</a:t>
                      </a:r>
                    </a:p>
                  </a:txBody>
                  <a:tcPr marL="64008" marR="64008" marT="41148" marB="41148" anchor="ctr">
                    <a:solidFill>
                      <a:srgbClr val="121821"/>
                    </a:solidFill>
                  </a:tcPr>
                </a:tc>
              </a:tr>
              <a:tr h="231711">
                <a:tc>
                  <a:txBody>
                    <a:bodyPr wrap="square"/>
                    <a:lstStyle/>
                    <a:p>
                      <a:pPr>
                        <a:lnSpc>
                          <a:spcPct val="114000"/>
                        </a:lnSpc>
                      </a:pPr>
                      <a:r>
                        <a:rPr sz="1000" b="1" i="0">
                          <a:solidFill>
                            <a:srgbClr val="F7F6EF"/>
                          </a:solidFill>
                          <a:latin typeface="Arial"/>
                        </a:rPr>
                        <a:t>FACT//DUEL internal — numbers.md §4.4 and §4.5</a:t>
                      </a:r>
                    </a:p>
                  </a:txBody>
                  <a:tcPr marL="64008" marR="64008" marT="41148" marB="41148" anchor="ctr">
                    <a:solidFill>
                      <a:srgbClr val="0D131B"/>
                    </a:solidFill>
                  </a:tcPr>
                </a:tc>
                <a:tc>
                  <a:txBody>
                    <a:bodyPr wrap="square"/>
                    <a:lstStyle/>
                    <a:p>
                      <a:pPr>
                        <a:lnSpc>
                          <a:spcPct val="114000"/>
                        </a:lnSpc>
                      </a:pPr>
                      <a:r>
                        <a:rPr sz="1000" b="0" i="0">
                          <a:solidFill>
                            <a:srgbClr val="F7F6EF"/>
                          </a:solidFill>
                          <a:latin typeface="Arial"/>
                        </a:rPr>
                        <a:t>internal (company disclosure)</a:t>
                      </a:r>
                    </a:p>
                  </a:txBody>
                  <a:tcPr marL="64008" marR="64008" marT="41148" marB="41148" anchor="ctr">
                    <a:solidFill>
                      <a:srgbClr val="0D131B"/>
                    </a:solidFill>
                  </a:tcPr>
                </a:tc>
                <a:tc>
                  <a:txBody>
                    <a:bodyPr wrap="square"/>
                    <a:lstStyle/>
                    <a:p>
                      <a:pPr>
                        <a:lnSpc>
                          <a:spcPct val="114000"/>
                        </a:lnSpc>
                      </a:pPr>
                      <a:r>
                        <a:rPr sz="1000" b="0" i="0">
                          <a:solidFill>
                            <a:srgbClr val="F7F6EF"/>
                          </a:solidFill>
                          <a:latin typeface="Arial"/>
                        </a:rPr>
                        <a:t>13</a:t>
                      </a:r>
                    </a:p>
                  </a:txBody>
                  <a:tcPr marL="64008" marR="64008" marT="41148" marB="41148" anchor="ctr">
                    <a:solidFill>
                      <a:srgbClr val="0D131B"/>
                    </a:solidFill>
                  </a:tcPr>
                </a:tc>
              </a:tr>
              <a:tr h="231711">
                <a:tc>
                  <a:txBody>
                    <a:bodyPr wrap="square"/>
                    <a:lstStyle/>
                    <a:p>
                      <a:pPr>
                        <a:lnSpc>
                          <a:spcPct val="114000"/>
                        </a:lnSpc>
                      </a:pPr>
                      <a:r>
                        <a:rPr sz="1000" b="1" i="0">
                          <a:solidFill>
                            <a:srgbClr val="F7F6EF"/>
                          </a:solidFill>
                          <a:latin typeface="Arial"/>
                        </a:rPr>
                        <a:t>Carta — State of Private Markets, Q3 2025</a:t>
                      </a:r>
                    </a:p>
                  </a:txBody>
                  <a:tcPr marL="64008" marR="64008" marT="41148" marB="41148" anchor="ctr">
                    <a:solidFill>
                      <a:srgbClr val="121821"/>
                    </a:solidFill>
                  </a:tcPr>
                </a:tc>
                <a:tc>
                  <a:txBody>
                    <a:bodyPr wrap="square"/>
                    <a:lstStyle/>
                    <a:p>
                      <a:pPr>
                        <a:lnSpc>
                          <a:spcPct val="114000"/>
                        </a:lnSpc>
                      </a:pPr>
                      <a:r>
                        <a:rPr sz="1000" b="0" i="0">
                          <a:solidFill>
                            <a:srgbClr val="F7F6EF"/>
                          </a:solidFill>
                          <a:latin typeface="Arial"/>
                        </a:rPr>
                        <a:t>third-party estimate</a:t>
                      </a:r>
                    </a:p>
                  </a:txBody>
                  <a:tcPr marL="64008" marR="64008" marT="41148" marB="41148" anchor="ctr">
                    <a:solidFill>
                      <a:srgbClr val="121821"/>
                    </a:solidFill>
                  </a:tcPr>
                </a:tc>
                <a:tc>
                  <a:txBody>
                    <a:bodyPr wrap="square"/>
                    <a:lstStyle/>
                    <a:p>
                      <a:pPr>
                        <a:lnSpc>
                          <a:spcPct val="114000"/>
                        </a:lnSpc>
                      </a:pPr>
                      <a:r>
                        <a:rPr sz="1000" b="0" i="0">
                          <a:solidFill>
                            <a:srgbClr val="F7F6EF"/>
                          </a:solidFill>
                          <a:latin typeface="Arial"/>
                        </a:rPr>
                        <a:t>14</a:t>
                      </a:r>
                    </a:p>
                  </a:txBody>
                  <a:tcPr marL="64008" marR="64008" marT="41148" marB="41148" anchor="ctr">
                    <a:solidFill>
                      <a:srgbClr val="121821"/>
                    </a:solidFill>
                  </a:tcPr>
                </a:tc>
              </a:tr>
              <a:tr h="231711">
                <a:tc>
                  <a:txBody>
                    <a:bodyPr wrap="square"/>
                    <a:lstStyle/>
                    <a:p>
                      <a:pPr>
                        <a:lnSpc>
                          <a:spcPct val="114000"/>
                        </a:lnSpc>
                      </a:pPr>
                      <a:r>
                        <a:rPr sz="1000" b="1" i="0">
                          <a:solidFill>
                            <a:srgbClr val="F7F6EF"/>
                          </a:solidFill>
                          <a:latin typeface="Arial"/>
                        </a:rPr>
                        <a:t>Crunchbase — US seed funding, 2025</a:t>
                      </a:r>
                    </a:p>
                  </a:txBody>
                  <a:tcPr marL="64008" marR="64008" marT="41148" marB="41148" anchor="ctr">
                    <a:solidFill>
                      <a:srgbClr val="0D131B"/>
                    </a:solidFill>
                  </a:tcPr>
                </a:tc>
                <a:tc>
                  <a:txBody>
                    <a:bodyPr wrap="square"/>
                    <a:lstStyle/>
                    <a:p>
                      <a:pPr>
                        <a:lnSpc>
                          <a:spcPct val="114000"/>
                        </a:lnSpc>
                      </a:pPr>
                      <a:r>
                        <a:rPr sz="1000" b="0" i="0">
                          <a:solidFill>
                            <a:srgbClr val="F7F6EF"/>
                          </a:solidFill>
                          <a:latin typeface="Arial"/>
                        </a:rPr>
                        <a:t>press report</a:t>
                      </a:r>
                    </a:p>
                  </a:txBody>
                  <a:tcPr marL="64008" marR="64008" marT="41148" marB="41148" anchor="ctr">
                    <a:solidFill>
                      <a:srgbClr val="0D131B"/>
                    </a:solidFill>
                  </a:tcPr>
                </a:tc>
                <a:tc>
                  <a:txBody>
                    <a:bodyPr wrap="square"/>
                    <a:lstStyle/>
                    <a:p>
                      <a:pPr>
                        <a:lnSpc>
                          <a:spcPct val="114000"/>
                        </a:lnSpc>
                      </a:pPr>
                      <a:r>
                        <a:rPr sz="1000" b="0" i="0">
                          <a:solidFill>
                            <a:srgbClr val="F7F6EF"/>
                          </a:solidFill>
                          <a:latin typeface="Arial"/>
                        </a:rPr>
                        <a:t>14</a:t>
                      </a:r>
                    </a:p>
                  </a:txBody>
                  <a:tcPr marL="64008" marR="64008" marT="41148" marB="41148" anchor="ctr">
                    <a:solidFill>
                      <a:srgbClr val="0D131B"/>
                    </a:solidFill>
                  </a:tcPr>
                </a:tc>
              </a:tr>
              <a:tr h="231711">
                <a:tc>
                  <a:txBody>
                    <a:bodyPr wrap="square"/>
                    <a:lstStyle/>
                    <a:p>
                      <a:pPr>
                        <a:lnSpc>
                          <a:spcPct val="114000"/>
                        </a:lnSpc>
                      </a:pPr>
                      <a:r>
                        <a:rPr sz="1000" b="1" i="0">
                          <a:solidFill>
                            <a:srgbClr val="F7F6EF"/>
                          </a:solidFill>
                          <a:latin typeface="Arial"/>
                        </a:rPr>
                        <a:t>FACT//DUEL internal — numbers.md §4.4, §4.5 and §5.8</a:t>
                      </a:r>
                    </a:p>
                  </a:txBody>
                  <a:tcPr marL="64008" marR="64008" marT="41148" marB="41148" anchor="ctr">
                    <a:solidFill>
                      <a:srgbClr val="121821"/>
                    </a:solidFill>
                  </a:tcPr>
                </a:tc>
                <a:tc>
                  <a:txBody>
                    <a:bodyPr wrap="square"/>
                    <a:lstStyle/>
                    <a:p>
                      <a:pPr>
                        <a:lnSpc>
                          <a:spcPct val="114000"/>
                        </a:lnSpc>
                      </a:pPr>
                      <a:r>
                        <a:rPr sz="1000" b="0" i="0">
                          <a:solidFill>
                            <a:srgbClr val="F7F6EF"/>
                          </a:solidFill>
                          <a:latin typeface="Arial"/>
                        </a:rPr>
                        <a:t>internal (company disclosure)</a:t>
                      </a:r>
                    </a:p>
                  </a:txBody>
                  <a:tcPr marL="64008" marR="64008" marT="41148" marB="41148" anchor="ctr">
                    <a:solidFill>
                      <a:srgbClr val="121821"/>
                    </a:solidFill>
                  </a:tcPr>
                </a:tc>
                <a:tc>
                  <a:txBody>
                    <a:bodyPr wrap="square"/>
                    <a:lstStyle/>
                    <a:p>
                      <a:pPr>
                        <a:lnSpc>
                          <a:spcPct val="114000"/>
                        </a:lnSpc>
                      </a:pPr>
                      <a:r>
                        <a:rPr sz="1000" b="0" i="0">
                          <a:solidFill>
                            <a:srgbClr val="F7F6EF"/>
                          </a:solidFill>
                          <a:latin typeface="Arial"/>
                        </a:rPr>
                        <a:t>14</a:t>
                      </a:r>
                    </a:p>
                  </a:txBody>
                  <a:tcPr marL="64008" marR="64008" marT="41148" marB="41148" anchor="ctr">
                    <a:solidFill>
                      <a:srgbClr val="121821"/>
                    </a:solidFill>
                  </a:tcPr>
                </a:tc>
              </a:tr>
              <a:tr h="231711">
                <a:tc>
                  <a:txBody>
                    <a:bodyPr wrap="square"/>
                    <a:lstStyle/>
                    <a:p>
                      <a:pPr>
                        <a:lnSpc>
                          <a:spcPct val="114000"/>
                        </a:lnSpc>
                      </a:pPr>
                      <a:r>
                        <a:rPr sz="1000" b="1" i="0">
                          <a:solidFill>
                            <a:srgbClr val="F7F6EF"/>
                          </a:solidFill>
                          <a:latin typeface="Arial"/>
                        </a:rPr>
                        <a:t>Fact.MR — second-screen sports apps market</a:t>
                      </a:r>
                    </a:p>
                  </a:txBody>
                  <a:tcPr marL="64008" marR="64008" marT="41148" marB="41148" anchor="ctr">
                    <a:solidFill>
                      <a:srgbClr val="0D131B"/>
                    </a:solidFill>
                  </a:tcPr>
                </a:tc>
                <a:tc>
                  <a:txBody>
                    <a:bodyPr wrap="square"/>
                    <a:lstStyle/>
                    <a:p>
                      <a:pPr>
                        <a:lnSpc>
                          <a:spcPct val="114000"/>
                        </a:lnSpc>
                      </a:pPr>
                      <a:r>
                        <a:rPr sz="1000" b="0" i="0">
                          <a:solidFill>
                            <a:srgbClr val="F7F6EF"/>
                          </a:solidFill>
                          <a:latin typeface="Arial"/>
                        </a:rPr>
                        <a:t>third-party estimate</a:t>
                      </a:r>
                    </a:p>
                  </a:txBody>
                  <a:tcPr marL="64008" marR="64008" marT="41148" marB="41148" anchor="ctr">
                    <a:solidFill>
                      <a:srgbClr val="0D131B"/>
                    </a:solidFill>
                  </a:tcPr>
                </a:tc>
                <a:tc>
                  <a:txBody>
                    <a:bodyPr wrap="square"/>
                    <a:lstStyle/>
                    <a:p>
                      <a:pPr>
                        <a:lnSpc>
                          <a:spcPct val="114000"/>
                        </a:lnSpc>
                      </a:pPr>
                      <a:r>
                        <a:rPr sz="1000" b="0" i="0">
                          <a:solidFill>
                            <a:srgbClr val="F7F6EF"/>
                          </a:solidFill>
                          <a:latin typeface="Arial"/>
                        </a:rPr>
                        <a:t>15</a:t>
                      </a:r>
                    </a:p>
                  </a:txBody>
                  <a:tcPr marL="64008" marR="64008" marT="41148" marB="41148" anchor="ctr">
                    <a:solidFill>
                      <a:srgbClr val="0D131B"/>
                    </a:solidFill>
                  </a:tcPr>
                </a:tc>
              </a:tr>
              <a:tr h="231711">
                <a:tc>
                  <a:txBody>
                    <a:bodyPr wrap="square"/>
                    <a:lstStyle/>
                    <a:p>
                      <a:pPr>
                        <a:lnSpc>
                          <a:spcPct val="114000"/>
                        </a:lnSpc>
                      </a:pPr>
                      <a:r>
                        <a:rPr sz="1000" b="1" i="0">
                          <a:solidFill>
                            <a:srgbClr val="F7F6EF"/>
                          </a:solidFill>
                          <a:latin typeface="Arial"/>
                        </a:rPr>
                        <a:t>The Business Research Company — fan engagement</a:t>
                      </a:r>
                    </a:p>
                  </a:txBody>
                  <a:tcPr marL="64008" marR="64008" marT="41148" marB="41148" anchor="ctr">
                    <a:solidFill>
                      <a:srgbClr val="121821"/>
                    </a:solidFill>
                  </a:tcPr>
                </a:tc>
                <a:tc>
                  <a:txBody>
                    <a:bodyPr wrap="square"/>
                    <a:lstStyle/>
                    <a:p>
                      <a:pPr>
                        <a:lnSpc>
                          <a:spcPct val="114000"/>
                        </a:lnSpc>
                      </a:pPr>
                      <a:r>
                        <a:rPr sz="1000" b="0" i="0">
                          <a:solidFill>
                            <a:srgbClr val="F7F6EF"/>
                          </a:solidFill>
                          <a:latin typeface="Arial"/>
                        </a:rPr>
                        <a:t>third-party estimate</a:t>
                      </a:r>
                    </a:p>
                  </a:txBody>
                  <a:tcPr marL="64008" marR="64008" marT="41148" marB="41148" anchor="ctr">
                    <a:solidFill>
                      <a:srgbClr val="121821"/>
                    </a:solidFill>
                  </a:tcPr>
                </a:tc>
                <a:tc>
                  <a:txBody>
                    <a:bodyPr wrap="square"/>
                    <a:lstStyle/>
                    <a:p>
                      <a:pPr>
                        <a:lnSpc>
                          <a:spcPct val="114000"/>
                        </a:lnSpc>
                      </a:pPr>
                      <a:r>
                        <a:rPr sz="1000" b="0" i="0">
                          <a:solidFill>
                            <a:srgbClr val="F7F6EF"/>
                          </a:solidFill>
                          <a:latin typeface="Arial"/>
                        </a:rPr>
                        <a:t>15</a:t>
                      </a:r>
                    </a:p>
                  </a:txBody>
                  <a:tcPr marL="64008" marR="64008" marT="41148" marB="41148" anchor="ctr">
                    <a:solidFill>
                      <a:srgbClr val="121821"/>
                    </a:solidFill>
                  </a:tcPr>
                </a:tc>
              </a:tr>
            </a:tbl>
          </a:graphicData>
        </a:graphic>
      </p:graphicFrame>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859536"/>
          </a:xfrm>
        </p:spPr>
        <p:txBody>
          <a:bodyPr wrap="square" lIns="0" rIns="0" tIns="0" bIns="0" anchor="t"/>
          <a:lstStyle/>
          <a:p>
            <a:pPr>
              <a:lnSpc>
                <a:spcPct val="108000"/>
              </a:lnSpc>
            </a:pPr>
            <a:r>
              <a:rPr sz="3000" b="1" i="0">
                <a:solidFill>
                  <a:srgbClr val="F7F6EF"/>
                </a:solidFill>
                <a:latin typeface="Arial"/>
              </a:rPr>
              <a:t>Appendix I — every source cited in this deck, and what kind of evidence it is.</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4EE1FF"/>
                </a:solidFill>
                <a:latin typeface="Arial"/>
              </a:rPr>
              <a:t>APPENDIX — SOURCE REGISTER (4 OF 4)</a:t>
            </a:r>
          </a:p>
        </p:txBody>
      </p:sp>
      <p:sp>
        <p:nvSpPr>
          <p:cNvPr id="4" name="Rectangle 3"/>
          <p:cNvSpPr/>
          <p:nvPr/>
        </p:nvSpPr>
        <p:spPr>
          <a:xfrm>
            <a:off x="566928" y="6035040"/>
            <a:ext cx="11057839" cy="11887"/>
          </a:xfrm>
          <a:prstGeom prst="rect">
            <a:avLst/>
          </a:prstGeom>
          <a:solidFill>
            <a:srgbClr val="4EE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26</a:t>
            </a:r>
          </a:p>
        </p:txBody>
      </p:sp>
      <p:sp>
        <p:nvSpPr>
          <p:cNvPr id="6" name="TextBox 5"/>
          <p:cNvSpPr txBox="1"/>
          <p:nvPr/>
        </p:nvSpPr>
        <p:spPr>
          <a:xfrm>
            <a:off x="566928" y="1719072"/>
            <a:ext cx="11057839" cy="242824"/>
          </a:xfrm>
          <a:prstGeom prst="rect">
            <a:avLst/>
          </a:prstGeom>
          <a:noFill/>
        </p:spPr>
        <p:txBody>
          <a:bodyPr wrap="square" lIns="0" rIns="0" tIns="0" bIns="0" anchor="t">
            <a:spAutoFit/>
          </a:bodyPr>
          <a:lstStyle/>
          <a:p>
            <a:pPr marL="238571" indent="-238571">
              <a:lnSpc>
                <a:spcPct val="116000"/>
              </a:lnSpc>
              <a:buClr>
                <a:srgbClr val="4EE1FF"/>
              </a:buClr>
              <a:buFont typeface="Arial"/>
              <a:buChar char="—"/>
            </a:pPr>
            <a:r>
              <a:rPr sz="1400" b="0" i="0">
                <a:solidFill>
                  <a:srgbClr val="F7F6EF"/>
                </a:solidFill>
                <a:latin typeface="Arial"/>
              </a:rPr>
              <a:t>Continued. Kinds are taken from the fact-check register, not assigned by us.</a:t>
            </a:r>
          </a:p>
        </p:txBody>
      </p:sp>
      <p:graphicFrame>
        <p:nvGraphicFramePr>
          <p:cNvPr id="7" name="Table 6"/>
          <p:cNvGraphicFramePr>
            <a:graphicFrameLocks noGrp="1"/>
          </p:cNvGraphicFramePr>
          <p:nvPr/>
        </p:nvGraphicFramePr>
        <p:xfrm>
          <a:off x="566928" y="2199640"/>
          <a:ext cx="11057838" cy="3707376"/>
        </p:xfrm>
        <a:graphic>
          <a:graphicData uri="http://schemas.openxmlformats.org/drawingml/2006/table">
            <a:tbl>
              <a:tblPr>
                <a:tableStyleId>{2D5ABB26-0587-4C30-8999-92F81FD0307C}</a:tableStyleId>
              </a:tblPr>
              <a:tblGrid>
                <a:gridCol w="7453186"/>
                <a:gridCol w="2658443"/>
                <a:gridCol w="946209"/>
              </a:tblGrid>
              <a:tr h="231711">
                <a:tc>
                  <a:txBody>
                    <a:bodyPr wrap="square"/>
                    <a:lstStyle/>
                    <a:p>
                      <a:pPr>
                        <a:lnSpc>
                          <a:spcPct val="114000"/>
                        </a:lnSpc>
                      </a:pPr>
                      <a:r>
                        <a:rPr sz="1000" b="1" i="0">
                          <a:solidFill>
                            <a:srgbClr val="D4FF3A"/>
                          </a:solidFill>
                          <a:latin typeface="Arial"/>
                        </a:rPr>
                        <a:t>Source</a:t>
                      </a:r>
                    </a:p>
                  </a:txBody>
                  <a:tcPr marL="64008" marR="64008" marT="41148" marB="41148" anchor="ctr">
                    <a:solidFill>
                      <a:srgbClr val="121821"/>
                    </a:solidFill>
                  </a:tcPr>
                </a:tc>
                <a:tc>
                  <a:txBody>
                    <a:bodyPr wrap="square"/>
                    <a:lstStyle/>
                    <a:p>
                      <a:pPr>
                        <a:lnSpc>
                          <a:spcPct val="114000"/>
                        </a:lnSpc>
                      </a:pPr>
                      <a:r>
                        <a:rPr sz="1000" b="1" i="0">
                          <a:solidFill>
                            <a:srgbClr val="D4FF3A"/>
                          </a:solidFill>
                          <a:latin typeface="Arial"/>
                        </a:rPr>
                        <a:t>Kind</a:t>
                      </a:r>
                    </a:p>
                  </a:txBody>
                  <a:tcPr marL="64008" marR="64008" marT="41148" marB="41148" anchor="ctr">
                    <a:solidFill>
                      <a:srgbClr val="121821"/>
                    </a:solidFill>
                  </a:tcPr>
                </a:tc>
                <a:tc>
                  <a:txBody>
                    <a:bodyPr wrap="square"/>
                    <a:lstStyle/>
                    <a:p>
                      <a:pPr>
                        <a:lnSpc>
                          <a:spcPct val="114000"/>
                        </a:lnSpc>
                      </a:pPr>
                      <a:r>
                        <a:rPr sz="1000" b="1" i="0">
                          <a:solidFill>
                            <a:srgbClr val="D4FF3A"/>
                          </a:solidFill>
                          <a:latin typeface="Arial"/>
                        </a:rPr>
                        <a:t>Cited on</a:t>
                      </a:r>
                    </a:p>
                  </a:txBody>
                  <a:tcPr marL="64008" marR="64008" marT="41148" marB="41148" anchor="ctr">
                    <a:solidFill>
                      <a:srgbClr val="121821"/>
                    </a:solidFill>
                  </a:tcPr>
                </a:tc>
              </a:tr>
              <a:tr h="231711">
                <a:tc>
                  <a:txBody>
                    <a:bodyPr wrap="square"/>
                    <a:lstStyle/>
                    <a:p>
                      <a:pPr>
                        <a:lnSpc>
                          <a:spcPct val="114000"/>
                        </a:lnSpc>
                      </a:pPr>
                      <a:r>
                        <a:rPr sz="1000" b="1" i="0">
                          <a:solidFill>
                            <a:srgbClr val="F7F6EF"/>
                          </a:solidFill>
                          <a:latin typeface="Arial"/>
                        </a:rPr>
                        <a:t>market.us — fan engagement market</a:t>
                      </a:r>
                    </a:p>
                  </a:txBody>
                  <a:tcPr marL="64008" marR="64008" marT="41148" marB="41148" anchor="ctr">
                    <a:solidFill>
                      <a:srgbClr val="121821"/>
                    </a:solidFill>
                  </a:tcPr>
                </a:tc>
                <a:tc>
                  <a:txBody>
                    <a:bodyPr wrap="square"/>
                    <a:lstStyle/>
                    <a:p>
                      <a:pPr>
                        <a:lnSpc>
                          <a:spcPct val="114000"/>
                        </a:lnSpc>
                      </a:pPr>
                      <a:r>
                        <a:rPr sz="1000" b="0" i="0">
                          <a:solidFill>
                            <a:srgbClr val="F7F6EF"/>
                          </a:solidFill>
                          <a:latin typeface="Arial"/>
                        </a:rPr>
                        <a:t>third-party estimate</a:t>
                      </a:r>
                    </a:p>
                  </a:txBody>
                  <a:tcPr marL="64008" marR="64008" marT="41148" marB="41148" anchor="ctr">
                    <a:solidFill>
                      <a:srgbClr val="121821"/>
                    </a:solidFill>
                  </a:tcPr>
                </a:tc>
                <a:tc>
                  <a:txBody>
                    <a:bodyPr wrap="square"/>
                    <a:lstStyle/>
                    <a:p>
                      <a:pPr>
                        <a:lnSpc>
                          <a:spcPct val="114000"/>
                        </a:lnSpc>
                      </a:pPr>
                      <a:r>
                        <a:rPr sz="1000" b="0" i="0">
                          <a:solidFill>
                            <a:srgbClr val="F7F6EF"/>
                          </a:solidFill>
                          <a:latin typeface="Arial"/>
                        </a:rPr>
                        <a:t>15</a:t>
                      </a:r>
                    </a:p>
                  </a:txBody>
                  <a:tcPr marL="64008" marR="64008" marT="41148" marB="41148" anchor="ctr">
                    <a:solidFill>
                      <a:srgbClr val="121821"/>
                    </a:solidFill>
                  </a:tcPr>
                </a:tc>
              </a:tr>
              <a:tr h="231711">
                <a:tc>
                  <a:txBody>
                    <a:bodyPr wrap="square"/>
                    <a:lstStyle/>
                    <a:p>
                      <a:pPr>
                        <a:lnSpc>
                          <a:spcPct val="114000"/>
                        </a:lnSpc>
                      </a:pPr>
                      <a:r>
                        <a:rPr sz="1000" b="1" i="0">
                          <a:solidFill>
                            <a:srgbClr val="F7F6EF"/>
                          </a:solidFill>
                          <a:latin typeface="Arial"/>
                        </a:rPr>
                        <a:t>MarketsandMarkets — game-based learning</a:t>
                      </a:r>
                    </a:p>
                  </a:txBody>
                  <a:tcPr marL="64008" marR="64008" marT="41148" marB="41148" anchor="ctr">
                    <a:solidFill>
                      <a:srgbClr val="0D131B"/>
                    </a:solidFill>
                  </a:tcPr>
                </a:tc>
                <a:tc>
                  <a:txBody>
                    <a:bodyPr wrap="square"/>
                    <a:lstStyle/>
                    <a:p>
                      <a:pPr>
                        <a:lnSpc>
                          <a:spcPct val="114000"/>
                        </a:lnSpc>
                      </a:pPr>
                      <a:r>
                        <a:rPr sz="1000" b="0" i="0">
                          <a:solidFill>
                            <a:srgbClr val="F7F6EF"/>
                          </a:solidFill>
                          <a:latin typeface="Arial"/>
                        </a:rPr>
                        <a:t>third-party estimate</a:t>
                      </a:r>
                    </a:p>
                  </a:txBody>
                  <a:tcPr marL="64008" marR="64008" marT="41148" marB="41148" anchor="ctr">
                    <a:solidFill>
                      <a:srgbClr val="0D131B"/>
                    </a:solidFill>
                  </a:tcPr>
                </a:tc>
                <a:tc>
                  <a:txBody>
                    <a:bodyPr wrap="square"/>
                    <a:lstStyle/>
                    <a:p>
                      <a:pPr>
                        <a:lnSpc>
                          <a:spcPct val="114000"/>
                        </a:lnSpc>
                      </a:pPr>
                      <a:r>
                        <a:rPr sz="1000" b="0" i="0">
                          <a:solidFill>
                            <a:srgbClr val="F7F6EF"/>
                          </a:solidFill>
                          <a:latin typeface="Arial"/>
                        </a:rPr>
                        <a:t>15</a:t>
                      </a:r>
                    </a:p>
                  </a:txBody>
                  <a:tcPr marL="64008" marR="64008" marT="41148" marB="41148" anchor="ctr">
                    <a:solidFill>
                      <a:srgbClr val="0D131B"/>
                    </a:solidFill>
                  </a:tcPr>
                </a:tc>
              </a:tr>
              <a:tr h="231711">
                <a:tc>
                  <a:txBody>
                    <a:bodyPr wrap="square"/>
                    <a:lstStyle/>
                    <a:p>
                      <a:pPr>
                        <a:lnSpc>
                          <a:spcPct val="114000"/>
                        </a:lnSpc>
                      </a:pPr>
                      <a:r>
                        <a:rPr sz="1000" b="1" i="0">
                          <a:solidFill>
                            <a:srgbClr val="F7F6EF"/>
                          </a:solidFill>
                          <a:latin typeface="Arial"/>
                        </a:rPr>
                        <a:t>IMARC — game-based learning</a:t>
                      </a:r>
                    </a:p>
                  </a:txBody>
                  <a:tcPr marL="64008" marR="64008" marT="41148" marB="41148" anchor="ctr">
                    <a:solidFill>
                      <a:srgbClr val="121821"/>
                    </a:solidFill>
                  </a:tcPr>
                </a:tc>
                <a:tc>
                  <a:txBody>
                    <a:bodyPr wrap="square"/>
                    <a:lstStyle/>
                    <a:p>
                      <a:pPr>
                        <a:lnSpc>
                          <a:spcPct val="114000"/>
                        </a:lnSpc>
                      </a:pPr>
                      <a:r>
                        <a:rPr sz="1000" b="0" i="0">
                          <a:solidFill>
                            <a:srgbClr val="F7F6EF"/>
                          </a:solidFill>
                          <a:latin typeface="Arial"/>
                        </a:rPr>
                        <a:t>third-party estimate</a:t>
                      </a:r>
                    </a:p>
                  </a:txBody>
                  <a:tcPr marL="64008" marR="64008" marT="41148" marB="41148" anchor="ctr">
                    <a:solidFill>
                      <a:srgbClr val="121821"/>
                    </a:solidFill>
                  </a:tcPr>
                </a:tc>
                <a:tc>
                  <a:txBody>
                    <a:bodyPr wrap="square"/>
                    <a:lstStyle/>
                    <a:p>
                      <a:pPr>
                        <a:lnSpc>
                          <a:spcPct val="114000"/>
                        </a:lnSpc>
                      </a:pPr>
                      <a:r>
                        <a:rPr sz="1000" b="0" i="0">
                          <a:solidFill>
                            <a:srgbClr val="F7F6EF"/>
                          </a:solidFill>
                          <a:latin typeface="Arial"/>
                        </a:rPr>
                        <a:t>15</a:t>
                      </a:r>
                    </a:p>
                  </a:txBody>
                  <a:tcPr marL="64008" marR="64008" marT="41148" marB="41148" anchor="ctr">
                    <a:solidFill>
                      <a:srgbClr val="121821"/>
                    </a:solidFill>
                  </a:tcPr>
                </a:tc>
              </a:tr>
              <a:tr h="231711">
                <a:tc>
                  <a:txBody>
                    <a:bodyPr wrap="square"/>
                    <a:lstStyle/>
                    <a:p>
                      <a:pPr>
                        <a:lnSpc>
                          <a:spcPct val="114000"/>
                        </a:lnSpc>
                      </a:pPr>
                      <a:r>
                        <a:rPr sz="1000" b="1" i="0">
                          <a:solidFill>
                            <a:srgbClr val="F7F6EF"/>
                          </a:solidFill>
                          <a:latin typeface="Arial"/>
                        </a:rPr>
                        <a:t>Sensor Tower — State of Mobile 2026</a:t>
                      </a:r>
                    </a:p>
                  </a:txBody>
                  <a:tcPr marL="64008" marR="64008" marT="41148" marB="41148" anchor="ctr">
                    <a:solidFill>
                      <a:srgbClr val="0D131B"/>
                    </a:solidFill>
                  </a:tcPr>
                </a:tc>
                <a:tc>
                  <a:txBody>
                    <a:bodyPr wrap="square"/>
                    <a:lstStyle/>
                    <a:p>
                      <a:pPr>
                        <a:lnSpc>
                          <a:spcPct val="114000"/>
                        </a:lnSpc>
                      </a:pPr>
                      <a:r>
                        <a:rPr sz="1000" b="0" i="0">
                          <a:solidFill>
                            <a:srgbClr val="F7F6EF"/>
                          </a:solidFill>
                          <a:latin typeface="Arial"/>
                        </a:rPr>
                        <a:t>third-party estimate</a:t>
                      </a:r>
                    </a:p>
                  </a:txBody>
                  <a:tcPr marL="64008" marR="64008" marT="41148" marB="41148" anchor="ctr">
                    <a:solidFill>
                      <a:srgbClr val="0D131B"/>
                    </a:solidFill>
                  </a:tcPr>
                </a:tc>
                <a:tc>
                  <a:txBody>
                    <a:bodyPr wrap="square"/>
                    <a:lstStyle/>
                    <a:p>
                      <a:pPr>
                        <a:lnSpc>
                          <a:spcPct val="114000"/>
                        </a:lnSpc>
                      </a:pPr>
                      <a:r>
                        <a:rPr sz="1000" b="0" i="0">
                          <a:solidFill>
                            <a:srgbClr val="F7F6EF"/>
                          </a:solidFill>
                          <a:latin typeface="Arial"/>
                        </a:rPr>
                        <a:t>15</a:t>
                      </a:r>
                    </a:p>
                  </a:txBody>
                  <a:tcPr marL="64008" marR="64008" marT="41148" marB="41148" anchor="ctr">
                    <a:solidFill>
                      <a:srgbClr val="0D131B"/>
                    </a:solidFill>
                  </a:tcPr>
                </a:tc>
              </a:tr>
              <a:tr h="231711">
                <a:tc>
                  <a:txBody>
                    <a:bodyPr wrap="square"/>
                    <a:lstStyle/>
                    <a:p>
                      <a:pPr>
                        <a:lnSpc>
                          <a:spcPct val="114000"/>
                        </a:lnSpc>
                      </a:pPr>
                      <a:r>
                        <a:rPr sz="1000" b="1" i="0">
                          <a:solidFill>
                            <a:srgbClr val="F7F6EF"/>
                          </a:solidFill>
                          <a:latin typeface="Arial"/>
                        </a:rPr>
                        <a:t>a16z — The Insider's Guide to Data Rooms</a:t>
                      </a:r>
                    </a:p>
                  </a:txBody>
                  <a:tcPr marL="64008" marR="64008" marT="41148" marB="41148" anchor="ctr">
                    <a:solidFill>
                      <a:srgbClr val="121821"/>
                    </a:solidFill>
                  </a:tcPr>
                </a:tc>
                <a:tc>
                  <a:txBody>
                    <a:bodyPr wrap="square"/>
                    <a:lstStyle/>
                    <a:p>
                      <a:pPr>
                        <a:lnSpc>
                          <a:spcPct val="114000"/>
                        </a:lnSpc>
                      </a:pPr>
                      <a:r>
                        <a:rPr sz="1000" b="0" i="0">
                          <a:solidFill>
                            <a:srgbClr val="F7F6EF"/>
                          </a:solidFill>
                          <a:latin typeface="Arial"/>
                        </a:rPr>
                        <a:t>company disclosure</a:t>
                      </a:r>
                    </a:p>
                  </a:txBody>
                  <a:tcPr marL="64008" marR="64008" marT="41148" marB="41148" anchor="ctr">
                    <a:solidFill>
                      <a:srgbClr val="121821"/>
                    </a:solidFill>
                  </a:tcPr>
                </a:tc>
                <a:tc>
                  <a:txBody>
                    <a:bodyPr wrap="square"/>
                    <a:lstStyle/>
                    <a:p>
                      <a:pPr>
                        <a:lnSpc>
                          <a:spcPct val="114000"/>
                        </a:lnSpc>
                      </a:pPr>
                      <a:r>
                        <a:rPr sz="1000" b="0" i="0">
                          <a:solidFill>
                            <a:srgbClr val="F7F6EF"/>
                          </a:solidFill>
                          <a:latin typeface="Arial"/>
                        </a:rPr>
                        <a:t>16</a:t>
                      </a:r>
                    </a:p>
                  </a:txBody>
                  <a:tcPr marL="64008" marR="64008" marT="41148" marB="41148" anchor="ctr">
                    <a:solidFill>
                      <a:srgbClr val="121821"/>
                    </a:solidFill>
                  </a:tcPr>
                </a:tc>
              </a:tr>
              <a:tr h="231711">
                <a:tc>
                  <a:txBody>
                    <a:bodyPr wrap="square"/>
                    <a:lstStyle/>
                    <a:p>
                      <a:pPr>
                        <a:lnSpc>
                          <a:spcPct val="114000"/>
                        </a:lnSpc>
                      </a:pPr>
                      <a:r>
                        <a:rPr sz="1000" b="1" i="0">
                          <a:solidFill>
                            <a:srgbClr val="F7F6EF"/>
                          </a:solidFill>
                          <a:latin typeface="Arial"/>
                        </a:rPr>
                        <a:t>FSGA / Angus Reid 2026 — participation research</a:t>
                      </a:r>
                    </a:p>
                  </a:txBody>
                  <a:tcPr marL="64008" marR="64008" marT="41148" marB="41148" anchor="ctr">
                    <a:solidFill>
                      <a:srgbClr val="0D131B"/>
                    </a:solidFill>
                  </a:tcPr>
                </a:tc>
                <a:tc>
                  <a:txBody>
                    <a:bodyPr wrap="square"/>
                    <a:lstStyle/>
                    <a:p>
                      <a:pPr>
                        <a:lnSpc>
                          <a:spcPct val="114000"/>
                        </a:lnSpc>
                      </a:pPr>
                      <a:r>
                        <a:rPr sz="1000" b="0" i="0">
                          <a:solidFill>
                            <a:srgbClr val="F7F6EF"/>
                          </a:solidFill>
                          <a:latin typeface="Arial"/>
                        </a:rPr>
                        <a:t>third-party estimate</a:t>
                      </a:r>
                    </a:p>
                  </a:txBody>
                  <a:tcPr marL="64008" marR="64008" marT="41148" marB="41148" anchor="ctr">
                    <a:solidFill>
                      <a:srgbClr val="0D131B"/>
                    </a:solidFill>
                  </a:tcPr>
                </a:tc>
                <a:tc>
                  <a:txBody>
                    <a:bodyPr wrap="square"/>
                    <a:lstStyle/>
                    <a:p>
                      <a:pPr>
                        <a:lnSpc>
                          <a:spcPct val="114000"/>
                        </a:lnSpc>
                      </a:pPr>
                      <a:r>
                        <a:rPr sz="1000" b="0" i="0">
                          <a:solidFill>
                            <a:srgbClr val="F7F6EF"/>
                          </a:solidFill>
                          <a:latin typeface="Arial"/>
                        </a:rPr>
                        <a:t>17</a:t>
                      </a:r>
                    </a:p>
                  </a:txBody>
                  <a:tcPr marL="64008" marR="64008" marT="41148" marB="41148" anchor="ctr">
                    <a:solidFill>
                      <a:srgbClr val="0D131B"/>
                    </a:solidFill>
                  </a:tcPr>
                </a:tc>
              </a:tr>
              <a:tr h="231711">
                <a:tc>
                  <a:txBody>
                    <a:bodyPr wrap="square"/>
                    <a:lstStyle/>
                    <a:p>
                      <a:pPr>
                        <a:lnSpc>
                          <a:spcPct val="114000"/>
                        </a:lnSpc>
                      </a:pPr>
                      <a:r>
                        <a:rPr sz="1000" b="1" i="0">
                          <a:solidFill>
                            <a:srgbClr val="F7F6EF"/>
                          </a:solidFill>
                          <a:latin typeface="Arial"/>
                        </a:rPr>
                        <a:t>FSGA 2025 — next-generation engagement research</a:t>
                      </a:r>
                    </a:p>
                  </a:txBody>
                  <a:tcPr marL="64008" marR="64008" marT="41148" marB="41148" anchor="ctr">
                    <a:solidFill>
                      <a:srgbClr val="121821"/>
                    </a:solidFill>
                  </a:tcPr>
                </a:tc>
                <a:tc>
                  <a:txBody>
                    <a:bodyPr wrap="square"/>
                    <a:lstStyle/>
                    <a:p>
                      <a:pPr>
                        <a:lnSpc>
                          <a:spcPct val="114000"/>
                        </a:lnSpc>
                      </a:pPr>
                      <a:r>
                        <a:rPr sz="1000" b="0" i="0">
                          <a:solidFill>
                            <a:srgbClr val="F7F6EF"/>
                          </a:solidFill>
                          <a:latin typeface="Arial"/>
                        </a:rPr>
                        <a:t>third-party estimate</a:t>
                      </a:r>
                    </a:p>
                  </a:txBody>
                  <a:tcPr marL="64008" marR="64008" marT="41148" marB="41148" anchor="ctr">
                    <a:solidFill>
                      <a:srgbClr val="121821"/>
                    </a:solidFill>
                  </a:tcPr>
                </a:tc>
                <a:tc>
                  <a:txBody>
                    <a:bodyPr wrap="square"/>
                    <a:lstStyle/>
                    <a:p>
                      <a:pPr>
                        <a:lnSpc>
                          <a:spcPct val="114000"/>
                        </a:lnSpc>
                      </a:pPr>
                      <a:r>
                        <a:rPr sz="1000" b="0" i="0">
                          <a:solidFill>
                            <a:srgbClr val="F7F6EF"/>
                          </a:solidFill>
                          <a:latin typeface="Arial"/>
                        </a:rPr>
                        <a:t>17</a:t>
                      </a:r>
                    </a:p>
                  </a:txBody>
                  <a:tcPr marL="64008" marR="64008" marT="41148" marB="41148" anchor="ctr">
                    <a:solidFill>
                      <a:srgbClr val="121821"/>
                    </a:solidFill>
                  </a:tcPr>
                </a:tc>
              </a:tr>
              <a:tr h="231711">
                <a:tc>
                  <a:txBody>
                    <a:bodyPr wrap="square"/>
                    <a:lstStyle/>
                    <a:p>
                      <a:pPr>
                        <a:lnSpc>
                          <a:spcPct val="114000"/>
                        </a:lnSpc>
                      </a:pPr>
                      <a:r>
                        <a:rPr sz="1000" b="1" i="0">
                          <a:solidFill>
                            <a:srgbClr val="F7F6EF"/>
                          </a:solidFill>
                          <a:latin typeface="Arial"/>
                        </a:rPr>
                        <a:t>ICC — global cricket market research</a:t>
                      </a:r>
                    </a:p>
                  </a:txBody>
                  <a:tcPr marL="64008" marR="64008" marT="41148" marB="41148" anchor="ctr">
                    <a:solidFill>
                      <a:srgbClr val="0D131B"/>
                    </a:solidFill>
                  </a:tcPr>
                </a:tc>
                <a:tc>
                  <a:txBody>
                    <a:bodyPr wrap="square"/>
                    <a:lstStyle/>
                    <a:p>
                      <a:pPr>
                        <a:lnSpc>
                          <a:spcPct val="114000"/>
                        </a:lnSpc>
                      </a:pPr>
                      <a:r>
                        <a:rPr sz="1000" b="0" i="0">
                          <a:solidFill>
                            <a:srgbClr val="F7F6EF"/>
                          </a:solidFill>
                          <a:latin typeface="Arial"/>
                        </a:rPr>
                        <a:t>company disclosure</a:t>
                      </a:r>
                    </a:p>
                  </a:txBody>
                  <a:tcPr marL="64008" marR="64008" marT="41148" marB="41148" anchor="ctr">
                    <a:solidFill>
                      <a:srgbClr val="0D131B"/>
                    </a:solidFill>
                  </a:tcPr>
                </a:tc>
                <a:tc>
                  <a:txBody>
                    <a:bodyPr wrap="square"/>
                    <a:lstStyle/>
                    <a:p>
                      <a:pPr>
                        <a:lnSpc>
                          <a:spcPct val="114000"/>
                        </a:lnSpc>
                      </a:pPr>
                      <a:r>
                        <a:rPr sz="1000" b="0" i="0">
                          <a:solidFill>
                            <a:srgbClr val="F7F6EF"/>
                          </a:solidFill>
                          <a:latin typeface="Arial"/>
                        </a:rPr>
                        <a:t>17</a:t>
                      </a:r>
                    </a:p>
                  </a:txBody>
                  <a:tcPr marL="64008" marR="64008" marT="41148" marB="41148" anchor="ctr">
                    <a:solidFill>
                      <a:srgbClr val="0D131B"/>
                    </a:solidFill>
                  </a:tcPr>
                </a:tc>
              </a:tr>
              <a:tr h="231711">
                <a:tc>
                  <a:txBody>
                    <a:bodyPr wrap="square"/>
                    <a:lstStyle/>
                    <a:p>
                      <a:pPr>
                        <a:lnSpc>
                          <a:spcPct val="114000"/>
                        </a:lnSpc>
                      </a:pPr>
                      <a:r>
                        <a:rPr sz="1000" b="1" i="0">
                          <a:solidFill>
                            <a:srgbClr val="F7F6EF"/>
                          </a:solidFill>
                          <a:latin typeface="Arial"/>
                        </a:rPr>
                        <a:t>Nielsen — 2025 Global Sports Report</a:t>
                      </a:r>
                    </a:p>
                  </a:txBody>
                  <a:tcPr marL="64008" marR="64008" marT="41148" marB="41148" anchor="ctr">
                    <a:solidFill>
                      <a:srgbClr val="121821"/>
                    </a:solidFill>
                  </a:tcPr>
                </a:tc>
                <a:tc>
                  <a:txBody>
                    <a:bodyPr wrap="square"/>
                    <a:lstStyle/>
                    <a:p>
                      <a:pPr>
                        <a:lnSpc>
                          <a:spcPct val="114000"/>
                        </a:lnSpc>
                      </a:pPr>
                      <a:r>
                        <a:rPr sz="1000" b="0" i="0">
                          <a:solidFill>
                            <a:srgbClr val="F7F6EF"/>
                          </a:solidFill>
                          <a:latin typeface="Arial"/>
                        </a:rPr>
                        <a:t>third-party estimate</a:t>
                      </a:r>
                    </a:p>
                  </a:txBody>
                  <a:tcPr marL="64008" marR="64008" marT="41148" marB="41148" anchor="ctr">
                    <a:solidFill>
                      <a:srgbClr val="121821"/>
                    </a:solidFill>
                  </a:tcPr>
                </a:tc>
                <a:tc>
                  <a:txBody>
                    <a:bodyPr wrap="square"/>
                    <a:lstStyle/>
                    <a:p>
                      <a:pPr>
                        <a:lnSpc>
                          <a:spcPct val="114000"/>
                        </a:lnSpc>
                      </a:pPr>
                      <a:r>
                        <a:rPr sz="1000" b="0" i="0">
                          <a:solidFill>
                            <a:srgbClr val="F7F6EF"/>
                          </a:solidFill>
                          <a:latin typeface="Arial"/>
                        </a:rPr>
                        <a:t>17</a:t>
                      </a:r>
                    </a:p>
                  </a:txBody>
                  <a:tcPr marL="64008" marR="64008" marT="41148" marB="41148" anchor="ctr">
                    <a:solidFill>
                      <a:srgbClr val="121821"/>
                    </a:solidFill>
                  </a:tcPr>
                </a:tc>
              </a:tr>
              <a:tr h="231711">
                <a:tc>
                  <a:txBody>
                    <a:bodyPr wrap="square"/>
                    <a:lstStyle/>
                    <a:p>
                      <a:pPr>
                        <a:lnSpc>
                          <a:spcPct val="114000"/>
                        </a:lnSpc>
                      </a:pPr>
                      <a:r>
                        <a:rPr sz="1000" b="1" i="0">
                          <a:solidFill>
                            <a:srgbClr val="F7F6EF"/>
                          </a:solidFill>
                          <a:latin typeface="Arial"/>
                        </a:rPr>
                        <a:t>Newzoo — Global Games Market 2025</a:t>
                      </a:r>
                    </a:p>
                  </a:txBody>
                  <a:tcPr marL="64008" marR="64008" marT="41148" marB="41148" anchor="ctr">
                    <a:solidFill>
                      <a:srgbClr val="0D131B"/>
                    </a:solidFill>
                  </a:tcPr>
                </a:tc>
                <a:tc>
                  <a:txBody>
                    <a:bodyPr wrap="square"/>
                    <a:lstStyle/>
                    <a:p>
                      <a:pPr>
                        <a:lnSpc>
                          <a:spcPct val="114000"/>
                        </a:lnSpc>
                      </a:pPr>
                      <a:r>
                        <a:rPr sz="1000" b="0" i="0">
                          <a:solidFill>
                            <a:srgbClr val="F7F6EF"/>
                          </a:solidFill>
                          <a:latin typeface="Arial"/>
                        </a:rPr>
                        <a:t>third-party estimate</a:t>
                      </a:r>
                    </a:p>
                  </a:txBody>
                  <a:tcPr marL="64008" marR="64008" marT="41148" marB="41148" anchor="ctr">
                    <a:solidFill>
                      <a:srgbClr val="0D131B"/>
                    </a:solidFill>
                  </a:tcPr>
                </a:tc>
                <a:tc>
                  <a:txBody>
                    <a:bodyPr wrap="square"/>
                    <a:lstStyle/>
                    <a:p>
                      <a:pPr>
                        <a:lnSpc>
                          <a:spcPct val="114000"/>
                        </a:lnSpc>
                      </a:pPr>
                      <a:r>
                        <a:rPr sz="1000" b="0" i="0">
                          <a:solidFill>
                            <a:srgbClr val="F7F6EF"/>
                          </a:solidFill>
                          <a:latin typeface="Arial"/>
                        </a:rPr>
                        <a:t>17</a:t>
                      </a:r>
                    </a:p>
                  </a:txBody>
                  <a:tcPr marL="64008" marR="64008" marT="41148" marB="41148" anchor="ctr">
                    <a:solidFill>
                      <a:srgbClr val="0D131B"/>
                    </a:solidFill>
                  </a:tcPr>
                </a:tc>
              </a:tr>
              <a:tr h="231711">
                <a:tc>
                  <a:txBody>
                    <a:bodyPr wrap="square"/>
                    <a:lstStyle/>
                    <a:p>
                      <a:pPr>
                        <a:lnSpc>
                          <a:spcPct val="114000"/>
                        </a:lnSpc>
                      </a:pPr>
                      <a:r>
                        <a:rPr sz="1000" b="1" i="0">
                          <a:solidFill>
                            <a:srgbClr val="F7F6EF"/>
                          </a:solidFill>
                          <a:latin typeface="Arial"/>
                        </a:rPr>
                        <a:t>Paul Graham — How to convince investors</a:t>
                      </a:r>
                    </a:p>
                  </a:txBody>
                  <a:tcPr marL="64008" marR="64008" marT="41148" marB="41148" anchor="ctr">
                    <a:solidFill>
                      <a:srgbClr val="121821"/>
                    </a:solidFill>
                  </a:tcPr>
                </a:tc>
                <a:tc>
                  <a:txBody>
                    <a:bodyPr wrap="square"/>
                    <a:lstStyle/>
                    <a:p>
                      <a:pPr>
                        <a:lnSpc>
                          <a:spcPct val="114000"/>
                        </a:lnSpc>
                      </a:pPr>
                      <a:r>
                        <a:rPr sz="1000" b="0" i="0">
                          <a:solidFill>
                            <a:srgbClr val="F7F6EF"/>
                          </a:solidFill>
                          <a:latin typeface="Arial"/>
                        </a:rPr>
                        <a:t>company disclosure</a:t>
                      </a:r>
                    </a:p>
                  </a:txBody>
                  <a:tcPr marL="64008" marR="64008" marT="41148" marB="41148" anchor="ctr">
                    <a:solidFill>
                      <a:srgbClr val="121821"/>
                    </a:solidFill>
                  </a:tcPr>
                </a:tc>
                <a:tc>
                  <a:txBody>
                    <a:bodyPr wrap="square"/>
                    <a:lstStyle/>
                    <a:p>
                      <a:pPr>
                        <a:lnSpc>
                          <a:spcPct val="114000"/>
                        </a:lnSpc>
                      </a:pPr>
                      <a:r>
                        <a:rPr sz="1000" b="0" i="0">
                          <a:solidFill>
                            <a:srgbClr val="F7F6EF"/>
                          </a:solidFill>
                          <a:latin typeface="Arial"/>
                        </a:rPr>
                        <a:t>17</a:t>
                      </a:r>
                    </a:p>
                  </a:txBody>
                  <a:tcPr marL="64008" marR="64008" marT="41148" marB="41148" anchor="ctr">
                    <a:solidFill>
                      <a:srgbClr val="121821"/>
                    </a:solidFill>
                  </a:tcPr>
                </a:tc>
              </a:tr>
              <a:tr h="231711">
                <a:tc>
                  <a:txBody>
                    <a:bodyPr wrap="square"/>
                    <a:lstStyle/>
                    <a:p>
                      <a:pPr>
                        <a:lnSpc>
                          <a:spcPct val="114000"/>
                        </a:lnSpc>
                      </a:pPr>
                      <a:r>
                        <a:rPr sz="1000" b="1" i="0">
                          <a:solidFill>
                            <a:srgbClr val="F7F6EF"/>
                          </a:solidFill>
                          <a:latin typeface="Arial"/>
                        </a:rPr>
                        <a:t>a16z — 16 More Startup Metrics</a:t>
                      </a:r>
                    </a:p>
                  </a:txBody>
                  <a:tcPr marL="64008" marR="64008" marT="41148" marB="41148" anchor="ctr">
                    <a:solidFill>
                      <a:srgbClr val="0D131B"/>
                    </a:solidFill>
                  </a:tcPr>
                </a:tc>
                <a:tc>
                  <a:txBody>
                    <a:bodyPr wrap="square"/>
                    <a:lstStyle/>
                    <a:p>
                      <a:pPr>
                        <a:lnSpc>
                          <a:spcPct val="114000"/>
                        </a:lnSpc>
                      </a:pPr>
                      <a:r>
                        <a:rPr sz="1000" b="0" i="0">
                          <a:solidFill>
                            <a:srgbClr val="F7F6EF"/>
                          </a:solidFill>
                          <a:latin typeface="Arial"/>
                        </a:rPr>
                        <a:t>company disclosure</a:t>
                      </a:r>
                    </a:p>
                  </a:txBody>
                  <a:tcPr marL="64008" marR="64008" marT="41148" marB="41148" anchor="ctr">
                    <a:solidFill>
                      <a:srgbClr val="0D131B"/>
                    </a:solidFill>
                  </a:tcPr>
                </a:tc>
                <a:tc>
                  <a:txBody>
                    <a:bodyPr wrap="square"/>
                    <a:lstStyle/>
                    <a:p>
                      <a:pPr>
                        <a:lnSpc>
                          <a:spcPct val="114000"/>
                        </a:lnSpc>
                      </a:pPr>
                      <a:r>
                        <a:rPr sz="1000" b="0" i="0">
                          <a:solidFill>
                            <a:srgbClr val="F7F6EF"/>
                          </a:solidFill>
                          <a:latin typeface="Arial"/>
                        </a:rPr>
                        <a:t>17</a:t>
                      </a:r>
                    </a:p>
                  </a:txBody>
                  <a:tcPr marL="64008" marR="64008" marT="41148" marB="41148" anchor="ctr">
                    <a:solidFill>
                      <a:srgbClr val="0D131B"/>
                    </a:solidFill>
                  </a:tcPr>
                </a:tc>
              </a:tr>
              <a:tr h="231711">
                <a:tc>
                  <a:txBody>
                    <a:bodyPr wrap="square"/>
                    <a:lstStyle/>
                    <a:p>
                      <a:pPr>
                        <a:lnSpc>
                          <a:spcPct val="114000"/>
                        </a:lnSpc>
                      </a:pPr>
                      <a:r>
                        <a:rPr sz="1000" b="1" i="0">
                          <a:solidFill>
                            <a:srgbClr val="F7F6EF"/>
                          </a:solidFill>
                          <a:latin typeface="Arial"/>
                        </a:rPr>
                        <a:t>SEC Form D — HQ Trivia</a:t>
                      </a:r>
                    </a:p>
                  </a:txBody>
                  <a:tcPr marL="64008" marR="64008" marT="41148" marB="41148" anchor="ctr">
                    <a:solidFill>
                      <a:srgbClr val="121821"/>
                    </a:solidFill>
                  </a:tcPr>
                </a:tc>
                <a:tc>
                  <a:txBody>
                    <a:bodyPr wrap="square"/>
                    <a:lstStyle/>
                    <a:p>
                      <a:pPr>
                        <a:lnSpc>
                          <a:spcPct val="114000"/>
                        </a:lnSpc>
                      </a:pPr>
                      <a:r>
                        <a:rPr sz="1000" b="0" i="0">
                          <a:solidFill>
                            <a:srgbClr val="F7F6EF"/>
                          </a:solidFill>
                          <a:latin typeface="Arial"/>
                        </a:rPr>
                        <a:t>press report</a:t>
                      </a:r>
                    </a:p>
                  </a:txBody>
                  <a:tcPr marL="64008" marR="64008" marT="41148" marB="41148" anchor="ctr">
                    <a:solidFill>
                      <a:srgbClr val="121821"/>
                    </a:solidFill>
                  </a:tcPr>
                </a:tc>
                <a:tc>
                  <a:txBody>
                    <a:bodyPr wrap="square"/>
                    <a:lstStyle/>
                    <a:p>
                      <a:pPr>
                        <a:lnSpc>
                          <a:spcPct val="114000"/>
                        </a:lnSpc>
                      </a:pPr>
                      <a:r>
                        <a:rPr sz="1000" b="0" i="0">
                          <a:solidFill>
                            <a:srgbClr val="F7F6EF"/>
                          </a:solidFill>
                          <a:latin typeface="Arial"/>
                        </a:rPr>
                        <a:t>18</a:t>
                      </a:r>
                    </a:p>
                  </a:txBody>
                  <a:tcPr marL="64008" marR="64008" marT="41148" marB="41148" anchor="ctr">
                    <a:solidFill>
                      <a:srgbClr val="121821"/>
                    </a:solidFill>
                  </a:tcPr>
                </a:tc>
              </a:tr>
              <a:tr h="231711">
                <a:tc>
                  <a:txBody>
                    <a:bodyPr wrap="square"/>
                    <a:lstStyle/>
                    <a:p>
                      <a:pPr>
                        <a:lnSpc>
                          <a:spcPct val="114000"/>
                        </a:lnSpc>
                      </a:pPr>
                      <a:r>
                        <a:rPr sz="1000" b="1" i="0">
                          <a:solidFill>
                            <a:srgbClr val="F7F6EF"/>
                          </a:solidFill>
                          <a:latin typeface="Arial"/>
                        </a:rPr>
                        <a:t>SEC Form D — Teatime Games (Trivia Royale)</a:t>
                      </a:r>
                    </a:p>
                  </a:txBody>
                  <a:tcPr marL="64008" marR="64008" marT="41148" marB="41148" anchor="ctr">
                    <a:solidFill>
                      <a:srgbClr val="0D131B"/>
                    </a:solidFill>
                  </a:tcPr>
                </a:tc>
                <a:tc>
                  <a:txBody>
                    <a:bodyPr wrap="square"/>
                    <a:lstStyle/>
                    <a:p>
                      <a:pPr>
                        <a:lnSpc>
                          <a:spcPct val="114000"/>
                        </a:lnSpc>
                      </a:pPr>
                      <a:r>
                        <a:rPr sz="1000" b="0" i="0">
                          <a:solidFill>
                            <a:srgbClr val="F7F6EF"/>
                          </a:solidFill>
                          <a:latin typeface="Arial"/>
                        </a:rPr>
                        <a:t>press report</a:t>
                      </a:r>
                    </a:p>
                  </a:txBody>
                  <a:tcPr marL="64008" marR="64008" marT="41148" marB="41148" anchor="ctr">
                    <a:solidFill>
                      <a:srgbClr val="0D131B"/>
                    </a:solidFill>
                  </a:tcPr>
                </a:tc>
                <a:tc>
                  <a:txBody>
                    <a:bodyPr wrap="square"/>
                    <a:lstStyle/>
                    <a:p>
                      <a:pPr>
                        <a:lnSpc>
                          <a:spcPct val="114000"/>
                        </a:lnSpc>
                      </a:pPr>
                      <a:r>
                        <a:rPr sz="1000" b="0" i="0">
                          <a:solidFill>
                            <a:srgbClr val="F7F6EF"/>
                          </a:solidFill>
                          <a:latin typeface="Arial"/>
                        </a:rPr>
                        <a:t>18</a:t>
                      </a:r>
                    </a:p>
                  </a:txBody>
                  <a:tcPr marL="64008" marR="64008" marT="41148" marB="41148" anchor="ctr">
                    <a:solidFill>
                      <a:srgbClr val="0D131B"/>
                    </a:solidFill>
                  </a:tcPr>
                </a:tc>
              </a:tr>
              <a:tr h="231711">
                <a:tc>
                  <a:txBody>
                    <a:bodyPr wrap="square"/>
                    <a:lstStyle/>
                    <a:p>
                      <a:pPr>
                        <a:lnSpc>
                          <a:spcPct val="114000"/>
                        </a:lnSpc>
                      </a:pPr>
                      <a:r>
                        <a:rPr sz="1000" b="1" i="0">
                          <a:solidFill>
                            <a:srgbClr val="F7F6EF"/>
                          </a:solidFill>
                          <a:latin typeface="Arial"/>
                        </a:rPr>
                        <a:t>FACT//DUEL internal — numbers.md §5 (failed verification and unresolved items)</a:t>
                      </a:r>
                    </a:p>
                  </a:txBody>
                  <a:tcPr marL="64008" marR="64008" marT="41148" marB="41148" anchor="ctr">
                    <a:solidFill>
                      <a:srgbClr val="121821"/>
                    </a:solidFill>
                  </a:tcPr>
                </a:tc>
                <a:tc>
                  <a:txBody>
                    <a:bodyPr wrap="square"/>
                    <a:lstStyle/>
                    <a:p>
                      <a:pPr>
                        <a:lnSpc>
                          <a:spcPct val="114000"/>
                        </a:lnSpc>
                      </a:pPr>
                      <a:r>
                        <a:rPr sz="1000" b="0" i="0">
                          <a:solidFill>
                            <a:srgbClr val="F7F6EF"/>
                          </a:solidFill>
                          <a:latin typeface="Arial"/>
                        </a:rPr>
                        <a:t>internal (company disclosure)</a:t>
                      </a:r>
                    </a:p>
                  </a:txBody>
                  <a:tcPr marL="64008" marR="64008" marT="41148" marB="41148" anchor="ctr">
                    <a:solidFill>
                      <a:srgbClr val="121821"/>
                    </a:solidFill>
                  </a:tcPr>
                </a:tc>
                <a:tc>
                  <a:txBody>
                    <a:bodyPr wrap="square"/>
                    <a:lstStyle/>
                    <a:p>
                      <a:pPr>
                        <a:lnSpc>
                          <a:spcPct val="114000"/>
                        </a:lnSpc>
                      </a:pPr>
                      <a:r>
                        <a:rPr sz="1000" b="0" i="0">
                          <a:solidFill>
                            <a:srgbClr val="F7F6EF"/>
                          </a:solidFill>
                          <a:latin typeface="Arial"/>
                        </a:rPr>
                        <a:t>19</a:t>
                      </a:r>
                    </a:p>
                  </a:txBody>
                  <a:tcPr marL="64008" marR="64008" marT="41148" marB="41148" anchor="ctr">
                    <a:solidFill>
                      <a:srgbClr val="121821"/>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