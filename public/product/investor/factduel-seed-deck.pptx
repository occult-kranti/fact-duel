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three zeroes out loud in the first fifteen seconds: no users outside a private playtest, no revenue, no cohort and therefore no retention rate. Then say the fourth thing, which is new since 14 September: the product takes no money from anyone and never will in this form — coins come from attention. That single sentence is what removed the wagering-law risk that sat on this deck two days ago, and it is worth a beat.</a:t>
            </a:r>
          </a:p>
          <a:p/>
          <a:p>
            <a:r>
              <a:t>The pivot is dated 16 September 2026 and evidenced in docs/money/ads/: five research lanes (competitor reviews, ad-tech and policy, coin-economy maths, gamification and dark-pattern audit, launch), the two numeric lanes adversarially audited, and one synthesis. The previous route — real money staked on a knowledge outcome — was found closed in all three target markets (criminal in India under the 2025 Act, unlawful in a hard core of US states, and unbankable: Stripe lists it as prohibited and Apple 5.3 forbids stake currency via IAP). That research is kept in the repository under docs/money/ and is not on this deck, because it describes a business we are not building.</a:t>
            </a:r>
          </a:p>
          <a:p/>
          <a:p>
            <a:r>
              <a:t>The 329: the original reviewed sample's 30 sports questions plus five authored banks of 60 (cricket 59 after QA) — football, cricket, baseball, Formula 1, basketball — written on 16 September with every fact checked against a fetched page, then validated by a separate QA pass (schema, uniqueness across files, reachable sources, difficulty balance, spot-checked extremes). The sample's 24 science questions remain in the repository behind a content flag and are not served. tests/bank.test.mjs keeps the count, the balance and the schema true.</a:t>
            </a:r>
          </a:p>
          <a:p/>
          <a:p>
            <a:r>
              <a:t>The product still runs entirely in a browser with no install and no account (numbers.md §7.2). The live build has no ads in it: the ad provider is a null implementation that says so on screen, and the daily grant and floor keep the game playable without one. That is deliberate — nothing on the live site claims an ad played.</a:t>
            </a:r>
          </a:p>
          <a:p/>
          <a:p>
            <a:r>
              <a:t>SOURCES</a:t>
            </a:r>
          </a:p>
          <a:p>
            <a:r>
              <a:t>- FACT//DUEL internal: public/product/investor/numbers.md — status paragraph and §5.15 (company disclosure)</a:t>
            </a:r>
          </a:p>
          <a:p>
            <a:r>
              <a:t>- https://www.ycombinator.com/library/4A-a-guide-to-seed-fundraising</a:t>
            </a:r>
          </a:p>
          <a:p>
            <a:r>
              <a:t>- https://www.ycombinator.com/library/4T-how-to-design-a-better-pitch-deck</a:t>
            </a:r>
          </a:p>
          <a:p>
            <a:r>
              <a:t>- https://www.gameanalytics.com/reports/2026-mobile-pc-gaming-benchmarks</a:t>
            </a:r>
          </a:p>
          <a:p>
            <a:r>
              <a:t>- https://web.archive.org/web/20260622084020/https://www.docsend.com/blog/what-vcs-really-want-to-see-inside-your-seed-deck/</a:t>
            </a:r>
          </a:p>
          <a:p>
            <a:r>
              <a:t>- https://web.archive.org/web/20240302210508/https://www.docsend.com/blog/what-vcs-really-want-to-see-inside-your-seed-deck/</a:t>
            </a:r>
          </a:p>
          <a:p>
            <a:r>
              <a:t>- FACT//DUEL internal: public/product/investor/numbers.md §7.1 and §7.2 (company disclosure)</a:t>
            </a:r>
          </a:p>
          <a:p>
            <a:r>
              <a:t>- FACT//DUEL internal: public/product/investor/numbers.md §4.4 and §4.5 (company disclosure)</a:t>
            </a:r>
          </a:p>
          <a:p>
            <a:r>
              <a:t>- FACT//DUEL internal: docs/money/ads/synthesis.json (16 Sep 2026; five research lanes, two adversarial audits)</a:t>
            </a:r>
          </a:p>
          <a:p>
            <a:r>
              <a:t>- FACT//DUEL internal: public/product/investor/numbers.md §8 (company disclosure — the ad-funded format, 16 Sep 2026)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Verified 13 Sep 2026. Every figure here is store data or a filed interim report, not an analyst estimate. Both hedges are load-bearing: say "lifetime installs" and "essentially no maintained incumbent" — never the absolute.</a:t>
            </a:r>
          </a:p>
          <a:p/>
          <a:p>
            <a:r>
              <a:t>Volunteer these before you are asked. 267,939,837 is Google Play's own internal lifetime count; the store itself displays only "100M+". It is installs, not users, and lifetime installs are cumulative store installs, not an active base. The widely-quoted "600 million downloads" for Trivia Crack is PR-originated and does not survive checking (numbers.md §5.4) — we deliberately use the smaller, verifiable number.</a:t>
            </a:r>
          </a:p>
          <a:p/>
          <a:p>
            <a:r>
              <a:t>Do not say the category is abandoned or unmaintained. It is not: QuizDuel shipped an iOS build on 10 Sep 2026, Quizion's listing was updated 13 Aug 2026 (10+ downloads), TRIVIA GO! has had no update since 22 May 2025 (10K+ downloads), and Psych!'s Android build landed 26 May 2026 — and the chart on this slide labels Kahoot!, Jeopardy! and Quizion MAINTAINED. The defensible claim is numbers.md §2.2's, word for word: the 1v1 duel format has an installed-base history in the hundreds of millions and essentially no maintained incumbent.</a:t>
            </a:r>
          </a:p>
          <a:p/>
          <a:p>
            <a:r>
              <a:t>"Live and maintained" here means the QuizDuel app is live and shipping builds. It is not a claim about the duel mode itself: nothing in the evidence base establishes whether QuizDuel's duel is live or turn-based, which is why the landscape row on slide 10 says the status is not verified.</a:t>
            </a:r>
          </a:p>
          <a:p/>
          <a:p>
            <a:r>
              <a:t>MAG's DAU and MAU are group-level across its whole portfolio rather than QuizDuel standalone, and they are nine-month averages for Sep 2025 to May 2026. The quarter alone is milder at -12% and -9%, and the slide says both because removing our own milder pair would be removing a disclosure to make the slide look better.</a:t>
            </a:r>
          </a:p>
          <a:p/>
          <a:p>
            <a:r>
              <a:t>Expect the obvious challenge: "maybe the format is dead for a reason." The answer is slide 3, and the honest version is that we agree the reason exists and we have named it.</a:t>
            </a:r>
          </a:p>
          <a:p/>
          <a:p>
            <a:r>
              <a:t>STRUCTURE (apply with this rewrite, do not drop): kind "chart", chart "vacuum", image null, table null, and all six source URLs — Google Play Trivia Crack; MAG Q3 2025/26 interim report; iTunes lookup US; iTunes lookup DE; Google Play Quizion; Google Play TRIVIA GO!.</a:t>
            </a:r>
          </a:p>
          <a:p/>
          <a:p>
            <a:r>
              <a:t>SOURCES</a:t>
            </a:r>
          </a:p>
          <a:p>
            <a:r>
              <a:t>- https://play.google.com/store/apps/details?id=com.etermax.preguntados.lite&amp;hl=en_US&amp;gl=US</a:t>
            </a:r>
          </a:p>
          <a:p>
            <a:r>
              <a:t>- https://storage.mfn.se/8d863483-ccc8-4f02-b0c5-d37d899b23e8/mag-interim-report-eng-2025-26-q3.pdf</a:t>
            </a:r>
          </a:p>
          <a:p>
            <a:r>
              <a:t>- https://itunes.apple.com/lookup?id=1484354626&amp;country=us</a:t>
            </a:r>
          </a:p>
          <a:p>
            <a:r>
              <a:t>- https://itunes.apple.com/lookup?id=1484354626&amp;country=de</a:t>
            </a:r>
          </a:p>
          <a:p>
            <a:r>
              <a:t>- https://play.google.com/store/apps/details?id=com.quizion.app&amp;hl=en_US</a:t>
            </a:r>
          </a:p>
          <a:p>
            <a:r>
              <a:t>- https://play.google.com/store/apps/details?id=live.trivia&amp;hl=en_US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decides whether an investor trusts the rest of the deck.</a:t>
            </a:r>
          </a:p>
          <a:p/>
          <a:p>
            <a:r>
              <a:t>Trivia Royale is the cleanest natural experiment in the category: built by Thor Fridriksson, QuizUp's own founder, so this is not a story about weak operators. About 40% of the under-$500,000 launch budget went to TikTok influencers, and Teatime also reported roughly 30 minutes of average daily use. Launched 17 Jun 2020, closure announced 23 Feb 2021 — eight months — all 16 staff let go: revenue insufficient, and funding talks collapsed. Keep "launch" in front of the budget figure: Teatime itself had raised $9,155,139 plus $1,499,913 per SEC Form Ds, so the sub-$500,000 number is the launch campaign, not the company.</a:t>
            </a:r>
          </a:p>
          <a:p/>
          <a:p>
            <a:r>
              <a:t>Precision if challenged. The download count, the launch budget, the $0.20 and the 45% D1 are all Teatime Games statements to TechCrunch — press reports, not filings, not audited. The $0.20 is blended cost per download including organic and viral, not a paid CPI (numbers.md §3.6). Do not place the 45% D1 against the GameAnalytics medians as a percentile: Trivia Royale's figure is iOS-only and company-reported, while those medians are measured on iOS and Android app-store installs, so the comparison is not like-for-like (§5.14). And it is Trivia Royale's number, never ours — we have no D1 of our own and no cohort to compute one from.</a:t>
            </a:r>
          </a:p>
          <a:p/>
          <a:p>
            <a:r>
              <a:t>HQ Trivia peaked at 2.38M concurrent players on 28 Mar 2018. Its story does not stop in February 2020: the franchise was bought and relaunched on 29 Mar 2020, played its last official game on 17 Nov 2022 and was delisted from both stores on 5 Aug 2023 — say so before an investor who knows the history says it for you. The 67,000 (Jan 2020) and ~2M/month (Feb 2018) figures are sourced to TechCrunch, not Sensor Tower; Sensor Tower attaches to exactly one HQ number, the ~15M all-time installs this slide does not use (§2.3).</a:t>
            </a:r>
          </a:p>
          <a:p/>
          <a:p>
            <a:r>
              <a:t>Glu's $3.2M fair-value mark on QuizUp, against $7.5M of cancelled notes at face value, is the honest ceiling to attach to a large unmonetised trivia audience; the sale closed 19 Dec 2016 and the ~$32.4M of Plain Vanilla equity behind it comes from SEC filings.</a:t>
            </a:r>
          </a:p>
          <a:p/>
          <a:p>
            <a:r>
              <a:t>The takeaway to say out loud: any pitch in this category that leads with "we will go viral" is arguing the case that was already settled and ignoring the case that killed everyone. If asked what we would do differently, do not answer with features — answer with slide 4.</a:t>
            </a:r>
          </a:p>
          <a:p/>
          <a:p>
            <a:r>
              <a:t>SOURCES</a:t>
            </a:r>
          </a:p>
          <a:p>
            <a:r>
              <a:t>- https://techcrunch.com/2020/07/10/how-thor-fridrikssons-trivia-royale-earned-2-5m-downloads-in-3-weeks/</a:t>
            </a:r>
          </a:p>
          <a:p>
            <a:r>
              <a:t>- https://techcrunch.com/2020/02/14/hq-trivia-shuts-down/</a:t>
            </a:r>
          </a:p>
          <a:p>
            <a:r>
              <a:t>- https://techcrunch.com/2018/08/14/hq-trivia-apple-tv/</a:t>
            </a:r>
          </a:p>
          <a:p>
            <a:r>
              <a:t>- https://www.sec.gov/Archives/edgar/data/1366246/000155837017001621/gluu-20161231x10k.htm</a:t>
            </a:r>
          </a:p>
          <a:p>
            <a:r>
              <a:t>- https://www.sec.gov/Archives/edgar/data/1366246/000155837016010604/gluu-20161215x8k.htm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claim on this slide that matters is "needs no licence", so be able to say where it comes from: the legal research of 14 September (docs/money/legal-merge.json, six lanes, audited) found that a closed-loop coin economy with no purchase and no prize of value is outside every real-money rule read in the US, the EU and India, and the ad-tech lane of 16 September found the same for Google's publisher gambling policy. The residual policy risk is different and smaller — Google's rewarded-ad policy requires rewards to be non-transferable, which is why the copy says "the house pays a prize" and never "take your opponent's coins" — and it is on the risks slide.</a:t>
            </a:r>
          </a:p>
          <a:p/>
          <a:p>
            <a:r>
              <a:t>On the competitor complaint cluster, the review evidence is verbatim and sourced in docs/money/ads/lane-competitors.json: Trivia Crack ("Every missed question, every screen change, pretty much anything you do results in an ad"), Trivia Star, Jeopardy!, Sporcle and every mass-market football quiz app. The two products that died — QuizUp and HQ Trivia — died of no monetisation, in the founders' own words. That is the whole argument for monetising from day one with the one format users say they tolerate: rewarded video, which mobile gamers prefer to interstitials roughly four to one (Mistplay, vendor figure, likely).</a:t>
            </a:r>
          </a:p>
          <a:p/>
          <a:p>
            <a:r>
              <a:t>The economy is built: a pure reducer with the researched configuration, tested at fifteen scenarios plus a property test, with a config sanitiser that structurally cannot carry a difficulty or bot-skill field — because a loss-streak "mercy" that softens questions is the conduct the FTC's dark-pattern orders describe. Say that if integrity comes up.</a:t>
            </a:r>
          </a:p>
          <a:p/>
          <a:p>
            <a:r>
              <a:t>SOURCES</a:t>
            </a:r>
          </a:p>
          <a:p>
            <a:r>
              <a:t>- https://www.gameanalytics.com/reports/2026-mobile-pc-gaming-benchmarks</a:t>
            </a:r>
          </a:p>
          <a:p>
            <a:r>
              <a:t>- FACT//DUEL internal: public/product/investor/numbers.md §3.2, status paragraph and §5.15 (company disclosure)</a:t>
            </a:r>
          </a:p>
          <a:p>
            <a:r>
              <a:t>- FACT//DUEL internal: repository — product code, unaudited</a:t>
            </a:r>
          </a:p>
          <a:p>
            <a:r>
              <a:t>- FACT//DUEL internal: public/product/investor/numbers.md §7.1 and §7.2 (company disclosure)</a:t>
            </a:r>
          </a:p>
          <a:p>
            <a:r>
              <a:t>- https://www.sec.gov/Archives/edgar/data/1562088/000162828026012246/q4fy25duolingo12-31x25shar.htm</a:t>
            </a:r>
          </a:p>
          <a:p>
            <a:r>
              <a:t>- FACT//DUEL internal: public/product/investor/numbers.md §1.1 and §1.6 (company disclosure)</a:t>
            </a:r>
          </a:p>
          <a:p>
            <a:r>
              <a:t>- FACT//DUEL internal: docs/money/ads/synthesis.json (16 Sep 2026; five research lanes, two adversarial audits)</a:t>
            </a:r>
          </a:p>
          <a:p>
            <a:r>
              <a:t>- FACT//DUEL internal: public/product/investor/numbers.md §8 (company disclosure — the ad-funded format, 16 Sep 2026)</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MERGED SLIDE: old slide 6 (PRODUCT — THE NON-DUEL SURFACE) is folded in here. Its screenshot (desktop-journeys.png) is deleted; its four sources must be appended to this slide's three, because this slide today cites neither §2.3 nor lib/events-data.mjs, which is the only source for the calendar disclosure in body line 3. Entries to append: "numbers.md §7.2 (company disclosure)"; "numbers.md — status paragraph, §2.3, §4.4, §4.5, §7.1 and §7.3 (company disclosure)"; "repository — lib/expeditions.mjs, lib/events.mjs, lib/events-data.mjs, app/screens/expeditions/run.tsx, product code, unaudited".</a:t>
            </a:r>
          </a:p>
          <a:p/>
          <a:p>
            <a:r>
              <a:t>Say the link, hand over a phone, and stop talking. DocSend estimates 59 seconds of dwell on the product section, second only to business model at 64 (third-party estimate, §4.6).</a:t>
            </a:r>
          </a:p>
          <a:p/>
          <a:p>
            <a:r>
              <a:t>What to say while they play. Pick a mode, answer the first question, finish a complete bot duel, see the result screen — that is the walkthrough, and §7.2 puts the whole thing at about fifteen seconds. The static build carries bot duels in all three modes, expeditions, discovery, the vault, the passport, the events calendar and the limited modes (§7.2).</a:t>
            </a:r>
          </a:p>
          <a:p/>
          <a:p>
            <a:r>
              <a:t>Why it is the same game, not a demo of one. The build is `pnpm build:static`: it keeps the real duel engine and replaces only the storage beneath it, and 14 differential tests run each scenario against both the in-memory store and the real D1-backed store, comparing every return value, every thrown error and the rows left behind (§7.2).</a:t>
            </a:r>
          </a:p>
          <a:p/>
          <a:p>
            <a:r>
              <a:t>Check the link the morning of a meeting. .github/workflows/pages.yml publishes the built site to the gh-pages branch and prints that it is live only once the repository's Pages source is set to that branch — liveness depends on a repository setting, so verify rather than assume.</a:t>
            </a:r>
          </a:p>
          <a:p/>
          <a:p>
            <a:r>
              <a:t>Volunteer the boundaries before they are found: two-device friend duels are disabled with an on-screen notice; progression is device-local and there are still no accounts, so a cleared browser clears the profile; /analytics shows the player their own record with JSON and CSV export and erase (§7.1); nobody who opens the link is a user in any sense this deck would count.</a:t>
            </a:r>
          </a:p>
          <a:p/>
          <a:p>
            <a:r>
              <a:t>Between duels, if asked. Solo expeditions are short, untimed six-card routes, and each card carries a risk call — Steady, Bold or Called (lib/expeditions.mjs:115-120, three tiers, not two) — set on the question screen and locked when the answer is submitted (app/screens/expeditions/run.tsx renders the question first, then the stake control). The question is on screen while you choose; nothing is wagered blind. Limited-time modes are derived from the calendar: one opens on a real fixture or announcement and closes when that window closes (lib/events.mjs). The calendar is hand-assembled and static, and the date it was last checked is printed in the app (CALENDAR_ASOF = '2026-09-13' in lib/events-data.mjs, rendered by app/screens/events-screen.tsx) — that is the part an investor can verify without taking our word for it. There is no live feed, no scores service and no partnership with any league, broadcaster or rights holder, and none is claimed anywhere in this deck. We have no content production cost, no curation rate and no vendor quote anywhere in the evidence base, so describe the calendar as unpriced, not as cheap or low-risk.</a:t>
            </a:r>
          </a:p>
          <a:p/>
          <a:p>
            <a:r>
              <a:t>If asked whether any of it helps retention: we do not know. The instrument that would measure one shipped on 13 September 2026; the players it needs have not. No cadence is claimed. §2.3 says the graveyard died of monetisation and long-tail retention; this surface is our untested answer to the second of those.</a:t>
            </a:r>
          </a:p>
          <a:p/>
          <a:p>
            <a:r>
              <a:t>The bank is 54 sample questions today. Growing it is milestone 4: a target and a production rate we have not set yet, and there is no content line in the use of funds (§4.5 funds four engineers and nothing else).</a:t>
            </a:r>
          </a:p>
          <a:p/>
          <a:p>
            <a:r>
              <a:t>Do not assert anything about how the bot is implemented, how progression is stored or how the transport is sized that an investor cannot open the repository and check — after Skillz v. AviaGames this is where an unverifiable claim does the most damage.</a:t>
            </a:r>
          </a:p>
          <a:p/>
          <a:p>
            <a:r>
              <a:t>IMAGE: recommend dropping phone-home.png from this slide. The only sourced argument is Hale's "photos with no titles or captions"; the rest is editorial — a picture of the product is dead weight next to a live link to the product.</a:t>
            </a:r>
          </a:p>
          <a:p/>
          <a:p>
            <a:r>
              <a:t>SPORTS-ONLY (16 Sep 2026): lib/content.mjs carries ENABLED_DOMAINS = ['sports']; the served bank, the visible expeditions and the calendar are filtered at one seam each, and every sanitiser still accepts science so a profile that earned a Physics stamp last month round-trips unchanged. A hidden expedition is refused with the same words as a nonexistent one. Tests pin all of it.</a:t>
            </a:r>
          </a:p>
          <a:p/>
          <a:p>
            <a:r>
              <a:t>FREE BOTS: normalizeConfig refuses a staked bot match and add_bot refuses to seat a bot in a staked friend room; the entry picker shows the paid tiers disabled with the reason when a bot is chosen. The economy research's arithmetic: farming a bot at p = 0.7 pays about 78 coins an hour against 4,000+ from ads, so it is not even a good faucet — only a liability.</a:t>
            </a:r>
          </a:p>
          <a:p/>
          <a:p>
            <a:r>
              <a:t>SOURCES</a:t>
            </a:r>
          </a:p>
          <a:p>
            <a:r>
              <a:t>- FACT//DUEL internal: public/product/investor/numbers.md — status paragraph, §4.4 and §7.1-§7.2 (company disclosure)</a:t>
            </a:r>
          </a:p>
          <a:p>
            <a:r>
              <a:t>- FACT//DUEL internal: repository — product code, unaudited</a:t>
            </a:r>
          </a:p>
          <a:p>
            <a:r>
              <a:t>- https://web.archive.org/web/20260622084020/https://www.docsend.com/blog/what-vcs-really-want-to-see-inside-your-seed-deck/</a:t>
            </a:r>
          </a:p>
          <a:p>
            <a:r>
              <a:t>- FACT//DUEL internal: public/product/investor/numbers.md — status paragraph and §5.15 (company disclosure)</a:t>
            </a:r>
          </a:p>
          <a:p>
            <a:r>
              <a:t>- FACT//DUEL internal: public/product/investor/numbers.md §2.3, §4.3 and §4.4 (company disclosure)</a:t>
            </a:r>
          </a:p>
          <a:p>
            <a:r>
              <a:t>- FACT//DUEL internal: public/product/investor/numbers.md §7.1 and §7.2 (company disclosure)</a:t>
            </a:r>
          </a:p>
          <a:p>
            <a:r>
              <a:t>- FACT//DUEL internal: docs/money/ads/synthesis.json (16 Sep 2026; five research lanes, two adversarial audits)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it in one breath: a forecast 216.8M US second-screen adults times $7.80-$13.07 revenue per active user per year is $1.69bn-$2.83bn, built bottom-up, and every input is somebody else's published figure. This slide gets 29 seconds in DocSend's estimates, so it carries one number and one arithmetic line and nothing else.</a:t>
            </a:r>
          </a:p>
          <a:p/>
          <a:p>
            <a:r>
              <a:t>Three things to volunteer before being asked.</a:t>
            </a:r>
          </a:p>
          <a:p/>
          <a:p>
            <a:r>
              <a:t>One — the population. 216.8M (80.6% of US adults) is EMARKETER's third-party estimate of US second-screen smartphone use for 2026. It is a modelled projection of second-screen behaviour generally, not a headcount and not a live-sport-only population. Do not describe it as measured, and do not give a publication date: §1.2 and §6 carry the year, the source and the kind, and no publication month, so there is nothing to stand behind if a partner asks when it was published. The string "April" appears nowhere in numbers.md.</a:t>
            </a:r>
          </a:p>
          <a:p/>
          <a:p>
            <a:r>
              <a:t>Two — the ARPU band, and mind the unit: it is revenue per active user per year, per MAU, not per adult. Neither end is reported by anybody; both are ours. $7.80 is Duolingo's FY2025 revenue ($1,037.6M, audited SEC 8-K ex-99 shareholder letter) divided by the 133.1M MAU reported at 31 December 2025 — a ratio Duolingo does not publish, and one that divides a full-year flow by a period-end stock. $13.07 is MAG Interactive's $21.563M nine-month net sales divided by 2.2M group MAU ($9.80 per nine months, × 12/9), from an unaudited interim report covering its whole portfolio rather than QuizDuel standalone.</a:t>
            </a:r>
          </a:p>
          <a:p/>
          <a:p>
            <a:r>
              <a:t>Three — TAM-A is an upper bound with no activation, retention or conversion discount applied. Paul Graham's own framing is that investors do not expect you to collect it; the method here is his definition used literally, x customers × $y per year, with no penetration percentage anywhere in TAM or SAM, which is a16z's toothbrush failure case avoided. That method note and the FSGA participation research sit on appendix slide 16, where their figures actually appear.</a:t>
            </a:r>
          </a:p>
          <a:p/>
          <a:p>
            <a:r>
              <a:t>SAM ($704M-$1.18bn) and SOM (0.14%-0.23% of SAM) are on appendix slide 16 with the full table. SOM stays labelled (P) on the chart itself, per §1.5 ("this is a plan, not a forecast") and §4.3 ("Output — all figures (P)"). The headline serves as the chart's conclusion caption.</a:t>
            </a:r>
          </a:p>
          <a:p/>
          <a:p>
            <a:r>
              <a:t>We deliberately exclude Europe, Latin America and every science-audience bloc, which makes the number smaller: say so, it is a credibility asset. One line worth saying: two paid research firms size game-based learning 3.93x apart for the identical year, so no vendor top-down number can discipline this plan.</a:t>
            </a:r>
          </a:p>
          <a:p/>
          <a:p>
            <a:r>
              <a:t>SOURCES</a:t>
            </a:r>
          </a:p>
          <a:p>
            <a:r>
              <a:t>- https://www.emarketer.com/content/second-screen-engagement-during-live-sports</a:t>
            </a:r>
          </a:p>
          <a:p>
            <a:r>
              <a:t>- https://www.sec.gov/Archives/edgar/data/1562088/000162828026012246/q4fy25duolingo12-31x25shar.htm</a:t>
            </a:r>
          </a:p>
          <a:p>
            <a:r>
              <a:t>- https://storage.mfn.se/8d863483-ccc8-4f02-b0c5-d37d899b23e8/mag-interim-report-eng-2025-26-q3.pdf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Least-read slide in the deck at 23 seconds in DocSend's estimates, so it makes one point: the timing argument is behavioural and competitive, not technological. Resist any temptation to invent an AI or platform-shift narrative — we do not have one, and a fabricated one is the fastest way to lose a reader.</a:t>
            </a:r>
          </a:p>
          <a:p/>
          <a:p>
            <a:r>
              <a:t>Caveats in the same breath as the numbers, never after them: AppTweak estimates, US only, calendar year 2025, App Store page-views to installs, read off AppTweak's underlying chart data in our own verification pass rather than taken from the circulating claim. The circulating pair — 8.2% iOS / 20.4% Android against 3.2% / 14.3% casual — is inverted and wrong: AppTweak's own chart puts casual at 34.1% on iOS, an order of magnitude off (§5.2), and §6 marks the row re-confirm before use. Quote both platforms every time, never the iOS half alone, and do not oversell Google Play: 19.8% is at par with games (19.9%), above only the 16.15% all-category average. Do not put the Adjust IPM figures (10.3 vs 8.62) anywhere — entirely unverified, §5.2.</a:t>
            </a:r>
          </a:p>
          <a:p/>
          <a:p>
            <a:r>
              <a:t>If asked why now, the answer is occupancy, not technology: the largest lifetime Android install base in the format — 267,939,837 installs on Google Play's own count, and Apple publishes no count (§5.4) — has left the duel, with the Play listing now built around a FOX TV tie-in. That is stated in full on slide 2, in slide 10's landscape row and on appendix slide 14; never say "largest install base" unqualified, because the cross-platform "&gt;600 million downloads" is PR-originated and unverifiable.</a:t>
            </a:r>
          </a:p>
          <a:p/>
          <a:p>
            <a:r>
              <a:t>Second half of the answer: the same streak/XP/quest subscription loop earns at Duolingo scale — $1,037.6M of total revenue in FY2025 with 12.2M paid subscribers against 133.1M MAU (9.17%). Do not say that proves the loop works for us: §1.6 supports only that Duolingo collects $1,037.6M through a loop of that shape, and §5.14 forbids reading a Duolingo result as proof for a web app. $1,037.6M is total revenue; nothing in the evidence base breaks out subscription revenue. Do not mix in the 30 June 2026 figures, which belong to slide 9.</a:t>
            </a:r>
          </a:p>
          <a:p/>
          <a:p>
            <a:r>
              <a:t>Say "no maintained incumbent in the live 1v1 duel", not "an unattended category": QuizDuel, Quizion and Psych! all ship builds.</a:t>
            </a:r>
          </a:p>
          <a:p/>
          <a:p>
            <a:r>
              <a:t>SOURCES — keep all four on the face: the Google Play Trivia Crack URL (https://play.google.com/store/apps/details?id=com.etermax.preguntados.lite&amp;hl=en_US&amp;gl=US), https://www.apptweak.com/, and "FACT//DUEL internal: numbers.md §2.1, §2.2, §3.5, §5.2 and §5.14 (company disclosure)". The headline still prints the departure claim in the largest type on the slide, so its source cannot come off.</a:t>
            </a:r>
          </a:p>
          <a:p/>
          <a:p>
            <a:r>
              <a:t>SOURCES</a:t>
            </a:r>
          </a:p>
          <a:p>
            <a:r>
              <a:t>- https://play.google.com/store/apps/details?id=com.etermax.preguntados.lite&amp;hl=en_US&amp;gl=US</a:t>
            </a:r>
          </a:p>
          <a:p>
            <a:r>
              <a:t>- https://www.sec.gov/Archives/edgar/data/1562088/000162828026012246/q4fy25duolingo12-31x25shar.htm</a:t>
            </a:r>
          </a:p>
          <a:p>
            <a:r>
              <a:t>- https://www.apptweak.com/</a:t>
            </a:r>
          </a:p>
          <a:p>
            <a:r>
              <a:t>- FACT//DUEL internal: public/product/investor/numbers.md §3.5, §5.2 and §5.14 (company disclosure)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DocSend: VCs spend 80 percent more time evaluating the traction of companies that did not raise successfully. A vague traction slide invites the inspection that kills the round, so state zero and move on. Say the headline out loud, unsoftened, and do not fill the pause. No waitlist presented as users, no playtest presented as a cohort, no pilot presented as revenue, and the measurement layer presented as a capability, never as a result.</a:t>
            </a:r>
          </a:p>
          <a:p/>
          <a:p>
            <a:r>
              <a:t>Precision if asked: zero users outside a private playtest — that is the only play the product has seen, and it produced no cohort and no rate. Zero revenue, no DAU/MAU, no session length, no ARPDAU, no conversion, no CAC, no LTV (numbers.md status paragraph, §5.15, §7.3).</a:t>
            </a:r>
          </a:p>
          <a:p/>
          <a:p>
            <a:r>
              <a:t>What changed on 13 Sep 2026 (§7.1): the app records install day, active days, session count, engaged time and four in-app counters per device, and computes that device's own D1/D7/D30 — returning true, false, or null while a window is still open, so an unfinished window can never read as a miss. There is a player-facing /analytics screen with JSON and CSV export and erase (24 tests on the device module). An opt-in anonymous daily ping (cohort-ping / cohort-report, table cohort_days, 20 tests) makes a cohort rate computable, aggregate-only, with no per-device row and every bucket describing fewer than five devices suppressed. Appendix G (slide 20) documents the whole design for anyone who wants to interrogate it.</a:t>
            </a:r>
          </a:p>
          <a:p/>
          <a:p>
            <a:r>
              <a:t>State the deliberate limitation before anyone finds it: one device can only ever answer yes, no, or not-yet. A rate needs a cohort, the app never computes one from a single device, and the screen says so in its own copy.</a:t>
            </a:r>
          </a:p>
          <a:p/>
          <a:p>
            <a:r>
              <a:t>On the milestones: §4.4's milestone 1 was "ship accounts and server-side progression" because nothing was measurable without them, and measurement arrived without accounts — a de-risking of milestones 1 and 2 from build-then-measure to simply run the cohort, not their completion. Accounts remain unbuilt.</a:t>
            </a:r>
          </a:p>
          <a:p/>
          <a:p>
            <a:r>
              <a:t>GameAnalytics provenance: 16,000+ mobile games, nine regions, titles with ≥1,000 MAU, iOS and Android, calendar year 2025, published 24 Aug 2026; North America ranks third of nine on D7. Every one of those medians is measured on app-store installs while we are a browser product with no install step and no push notifications — §5.14 calls that the single largest methodological risk in the model, §7.3 confirms it stands, and slide 11 carries it as a named risk alongside the consenting-device denominator.</a:t>
            </a:r>
          </a:p>
          <a:p/>
          <a:p>
            <a:r>
              <a:t>CHART: benchmark bars only. There is no FACT//DUEL bar because there is no FACT//DUEL rate. Say that when the chart goes up.</a:t>
            </a:r>
          </a:p>
          <a:p/>
          <a:p>
            <a:r>
              <a:t>Milestones 4-6 are untouched — grow the bank from 54 questions, ship an opponent-integrity answer before monetisation, validate exactly one monetisation route — and slide 13 lists all three as what the money buys; their supporting figures (the Skillz v. AviaGames verdict, Sporcle's $43.99/yr, the 9% MAU-to-paid anchor) are printed on slides 11 and 9, not here.</a:t>
            </a:r>
          </a:p>
          <a:p/>
          <a:p>
            <a:r>
              <a:t>SOURCES</a:t>
            </a:r>
          </a:p>
          <a:p>
            <a:r>
              <a:t>- FACT//DUEL internal: public/product/investor/numbers.md — status paragraph, §4.4 and §7.1 (company disclosure)</a:t>
            </a:r>
          </a:p>
          <a:p>
            <a:r>
              <a:t>- FACT//DUEL internal: repository — product code, unaudited</a:t>
            </a:r>
          </a:p>
          <a:p>
            <a:r>
              <a:t>- https://www.gameanalytics.com/reports/2026-mobile-pc-gaming-benchmarks</a:t>
            </a:r>
          </a:p>
          <a:p>
            <a:r>
              <a:t>- https://web.archive.org/web/20240302210508/https://www.docsend.com/blog/what-vcs-really-want-to-see-inside-your-seed-deck/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unit, not the totals. The whole economy is anchored on one number — 50 coins for a US rewarded ad at a blended US eCPM the research put at $27.32 (a simple mean of Tenjin/CAS.AI Q2 2024 iOS and Android; the audit notes cross-dataset ranges span $15-30 and asked that no single US figure be implied) — which makes a coin worth about 0.055 US cents of revenue. Every other geo's reward is that anchor scaled by its eCPM, then floored at the smallest entry tier so that one ad always buys one duel. The audit recomputed the table (US 50 / UK 35.1→35 / DE 24.0→25 / FR 18.7→20 / BR 10.5→10) and the revenue-per-coin spread across non-floored geos is 6.4%. Say that a weekly job will re-derive the table from realised eCPM; until it exists these are researched values, not measurements.</a:t>
            </a:r>
          </a:p>
          <a:p/>
          <a:p>
            <a:r>
              <a:t>INDIA is the honest gap: no per-country rewarded eCPM for India exists in any table the research could reach; $1-3 is illustrative. At a 10:1 US:India ratio a revenue-flat table makes India nearly unplayable, which is exactly why India floors at 10 coins per ad — and why the launch lane treats India as a retention read rather than a revenue read.</a:t>
            </a:r>
          </a:p>
          <a:p/>
          <a:p>
            <a:r>
              <a:t>ARPDAU arithmetic: ads per DAU × eCPM / 1000. The "2 ads per DAU" is 3.85 sessions × 2 ads offered × a 26% watch rate, and the 26% is an assumption (the synthesis lists it as an open question; the go/no-go gate is opt-in ≥ 25% of DAU). LTV180 uses GameAnalytics CY2025 median retention (D1 ~22%, D7 just under 4%, D30 0.68-0.79%) fitted to a power law: lifetime days 2.28 at 180 days median, 3.57 at P75. So US LTV180 is $0.125 median / $0.195 P75; UK $0.087 / $0.137; DE $0.060 / $0.094; FR $0.047 / $0.073; India $0.009-0.018.</a:t>
            </a:r>
          </a:p>
          <a:p/>
          <a:p>
            <a:r>
              <a:t>QuizDuel is the comparable to quote because it is filed, not estimated: MAG Interactive reports 9.0 US cents ARPDAU for nine months to May 2026, up 31%, on 0.9M DAU (down 12%) — and that is IAP plus ads, so it is a ceiling for an ads-only product, not a target.</a:t>
            </a:r>
          </a:p>
          <a:p/>
          <a:p>
            <a:r>
              <a:t>The fee exists because grants (ads, daily, floor) are not zero-sum even though duels are; without a sink that scales with play the coin supply inflates. Zero on the micro tiers keeps "one ad, one duel" exactly true. It is printed before commit because a hidden rake is the exact mechanic reviewers call rigged. Break-even win rate under a fee r is 1/(2(1-r)): 50.0% at 0%, 52.6% at 5%, 55.6% at 10%, 58.8% at 15% — audit-confirmed.</a:t>
            </a:r>
          </a:p>
          <a:p/>
          <a:p>
            <a:r>
              <a:t>What the chart used to show — trivia IAP peaks of ~$102.5K/week across the US iOS top three — is still true and still small; it is in appendix slide 14. It came off this slide because it argues about a business we are no longer building.</a:t>
            </a:r>
          </a:p>
          <a:p/>
          <a:p>
            <a:r>
              <a:t>Subscription (Route B on the previous deck) is not dead: it is lawful everywhere the research looked and it has the Duolingo comparable behind it. It is sequenced after the ad loop has a retention number, and it is marked (P) because nothing of it is built.</a:t>
            </a:r>
          </a:p>
          <a:p/>
          <a:p>
            <a:r>
              <a:t>SOURCES</a:t>
            </a:r>
          </a:p>
          <a:p>
            <a:r>
              <a:t>- https://www.businessofapps.com/marketplace/app-marketing/research/cost-per-install/</a:t>
            </a:r>
          </a:p>
          <a:p>
            <a:r>
              <a:t>- https://storage.mfn.se/ (MAG Interactive Q3 2025/26 interim report PDF — QuizDuel ARPDAU)</a:t>
            </a:r>
          </a:p>
          <a:p>
            <a:r>
              <a:t>- https://support.google.com/admanager/answer/9116812 (rewarded ads for web: "Server-side verification is an app only feature")</a:t>
            </a:r>
          </a:p>
          <a:p>
            <a:r>
              <a:t>- https://support.google.com/adsense/answer/9121589 (policies for ad units that offer rewards)</a:t>
            </a:r>
          </a:p>
          <a:p>
            <a:r>
              <a:t>- https://www.gameanalytics.com/reports/2026-mobile-pc-gaming-benchmarks</a:t>
            </a:r>
          </a:p>
          <a:p>
            <a:r>
              <a:t>- https://applixir.com/faq (web rewarded eCPM ranges, vendor)</a:t>
            </a:r>
          </a:p>
          <a:p>
            <a:r>
              <a:t>- FACT//DUEL internal: docs/money/ads/lane-economy.json + audit-2-economy.json (recomputed table and break-evens)</a:t>
            </a:r>
          </a:p>
          <a:p>
            <a:r>
              <a:t>- FACT//DUEL internal: docs/money/ads/lane-adtech.json + audit-1.json</a:t>
            </a:r>
          </a:p>
          <a:p>
            <a:r>
              <a:t>- FACT//DUEL internal: public/product/investor/numbers.md §8 (company disclosure — the ad-funded format, 16 Sep 2026)</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Competition gets 34 seconds in DocSend's estimates, so the table has to do the work and the bullets only frame it. The long-tail-loop clause was cut from bullet 4 for length; it is slide 4's claim and is unchanged there.</a:t>
            </a:r>
          </a:p>
          <a:p/>
          <a:p>
            <a:r>
              <a:t>Putting our own row in with zeroes is deliberate: it is the row an investor would otherwise add themselves, and the zeroes are unchanged by the product having become publicly playable on 13 September 2026 (§7.2) — playable is not users. Read the column headings literally: lifetime installs are cumulative store installs, not users and not an active base, and Trivia Crack's 267,939,837 is Google Play's internal count against a store display of "100M+".</a:t>
            </a:r>
          </a:p>
          <a:p/>
          <a:p>
            <a:r>
              <a:t>Caveats: Trivia Crack's weekly figure is a Sensor Tower modelled estimate for the Trivia Crack Premium SKU in Q2 2025, not disclosed revenue and not current; MAG's MAU and net sales are group-level across its whole portfolio and the MAU figure is a nine-month average for Sep 2025 to May 2026, which is why the row is labelled MAG Interactive rather than QuizDuel; nothing in the evidence base establishes whether QuizDuel's duel is live or turn-based, so the cell says the status is not verified; Kahoot has published no audited consolidated group figures since delisting on 23 Jan 2024, so FY2022 is the last comparable full year and the parent-only Norwegian statutory accounts are not group results; Wayground's $44M is a sum across disclosed rounds of which only the $31.5M Series B has a source URL in our evidence base, and the frequently-cited ~$300M valuation appears in no primary source and is deliberately absent.</a:t>
            </a:r>
          </a:p>
          <a:p/>
          <a:p>
            <a:r>
              <a:t>Both large-base rows that say "No" never ran a 1v1 duel at all, which is why the first bullet says the one that ran it has left it rather than that they all walked away.</a:t>
            </a:r>
          </a:p>
          <a:p/>
          <a:p>
            <a:r>
              <a:t>Skillz is the adjacent warning and it cuts both ways: revenue fell from $380.2M to $104.5M and paying MAU from 513,000 to 141,000 while monthly ARPPU held at about $62, and the company posted net losses of $187.9M in FY2021 and $70.4M in FY2025 — per-payer monetisation is not the same thing as a profitable business, and Skillz is a real-money cash-tournament product, which a free knowledge duel is not.</a:t>
            </a:r>
          </a:p>
          <a:p/>
          <a:p>
            <a:r>
              <a:t>STRUCTURE: kind "table", the six-row landscape table and all sixteen sources carry forward unchanged.</a:t>
            </a:r>
          </a:p>
          <a:p/>
          <a:p>
            <a:r>
              <a:t>SOURCES</a:t>
            </a:r>
          </a:p>
          <a:p>
            <a:r>
              <a:t>- https://play.google.com/store/apps/details?id=com.etermax.preguntados.lite&amp;hl=en_US&amp;gl=US</a:t>
            </a:r>
          </a:p>
          <a:p>
            <a:r>
              <a:t>- https://sensortower.com/blog/2025-q2-ios-top-5-trivia%20games-revenue-us-604118ed241bc16eb8b8453a</a:t>
            </a:r>
          </a:p>
          <a:p>
            <a:r>
              <a:t>- https://storage.mfn.se/8d863483-ccc8-4f02-b0c5-d37d899b23e8/mag-interim-report-eng-2025-26-q3.pdf</a:t>
            </a:r>
          </a:p>
          <a:p>
            <a:r>
              <a:t>- https://itunes.apple.com/lookup?id=1484354626&amp;country=us</a:t>
            </a:r>
          </a:p>
          <a:p>
            <a:r>
              <a:t>- https://itunes.apple.com/lookup?id=1484354626&amp;country=de</a:t>
            </a:r>
          </a:p>
          <a:p>
            <a:r>
              <a:t>- https://play.google.com/store/apps/details?id=no.mobitroll.kahoot.android&amp;hl=en_US&amp;gl=US</a:t>
            </a:r>
          </a:p>
          <a:p>
            <a:r>
              <a:t>- https://kahoot.com/files/2023/02/4Q22_Kahoot_quarterly_report.pdf</a:t>
            </a:r>
          </a:p>
          <a:p>
            <a:r>
              <a:t>- https://newsweb.oslobors.no/message/608893</a:t>
            </a:r>
          </a:p>
          <a:p>
            <a:r>
              <a:t>- https://www.prnewswire.com/news-releases/quizizz-gains-momentum-raises-31-5-million-to-motivate-every-student-301322655.html</a:t>
            </a:r>
          </a:p>
          <a:p>
            <a:r>
              <a:t>- https://itunes.apple.com/lookup?id=1160249042&amp;country=us</a:t>
            </a:r>
          </a:p>
          <a:p>
            <a:r>
              <a:t>- https://play.google.com/store/apps/details?id=com.quizion.app&amp;hl=en_US</a:t>
            </a:r>
          </a:p>
          <a:p>
            <a:r>
              <a:t>- https://play.google.com/store/apps/details?id=live.trivia&amp;hl=en_US</a:t>
            </a:r>
          </a:p>
          <a:p>
            <a:r>
              <a:t>- https://www.sec.gov/Archives/edgar/data/1801661/000180166126000019/q425skillzex991-earningsre.htm</a:t>
            </a:r>
          </a:p>
          <a:p>
            <a:r>
              <a:t>- https://www.sec.gov/Archives/edgar/data/1801661/000180166123000003/ex991_fy22q4-8xkxearningsr.htm</a:t>
            </a:r>
          </a:p>
          <a:p>
            <a:r>
              <a:t>- FACT//DUEL internal: public/product/investor/numbers.md — status paragraph and §5.15 (company disclosure)</a:t>
            </a:r>
          </a:p>
          <a:p>
            <a:r>
              <a:t>- FACT//DUEL internal: public/product/investor/numbers.md §7.1 and §7.2 (company disclosure)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risks, and the order is deliberate: the two that emptied the category first, then the four the ad model introduces, then the two carried over. Papaya replaces AviaGames as the integrity example because it is larger and more recent: the SDNY jury found for Skillz under the Lanham Act on 23 April 2026 ($420M) and the 28 July 2026 judgment added $719M disgorgement as an alternative remedy the plaintiff may elect — it is a district-court judgment subject to appeal, binding nobody, and still the most decision-relevant fact about bots in this genre. Our answer is structural: every opponent card is badged Human / Practice bot / Ghost, bots never play for coins, and the trust page publishes the bot policy.</a:t>
            </a:r>
          </a:p>
          <a:p/>
          <a:p>
            <a:r>
              <a:t>The ad-policy risk is the one to rehearse. Google's Policies for ad units that offer rewards say a reward must be non-transferable — "only redeemable and usable by the same user who received it, and is not ... items that can be transferred to a third party" (confirmed verbatim by the audit). A coin earned from an ad, staked into a pot the opponent wins, has arguably been transferred. Our flow is entry-to-the-house and prize-from-the-house, sized equal, so no coin moves between players and the copy never says "take their coins". We believe that satisfies the clause; we have not been told so by Google, and the launch plan sends that enquiry before the soft launch. An account-level disable would end the model overnight, which is why it is on this slide and not in a footnote.</a:t>
            </a:r>
          </a:p>
          <a:p/>
          <a:p>
            <a:r>
              <a:t>"No web verification" is a quote, not a paraphrase: "Server-side verification is an app only feature and it is unavailable for web use." Consequence: a web reward is treated as spoofable and kept cheap, with a server-issued nonce, a completion window no shorter than the ad, and daily caps — the ceiling on a lying client is one payout per nonce the server chose to issue. Verified rewards arrive with the Capacitor/TWA builds and AdMob's signed callbacks in week 8.</a:t>
            </a:r>
          </a:p>
          <a:p/>
          <a:p>
            <a:r>
              <a:t>The paid-acquisition line is the launch lane's headline and it is arithmetic, not opinion: ad LTV per install of roughly $0.06 (median retention) to $0.25 (90 days, good curve) in the US, about a cent in India, against 2026 CPIs of $2.50-5.00 North America and $1.50-3.00 APAC. So paid spend is capped at brand defence, and the plan is SEO pages per intent, fixture-driven beats, and community — with Reddit's per-subreddit self-promotion rules read from snapshots and respected.</a:t>
            </a:r>
          </a:p>
          <a:p/>
          <a:p>
            <a:r>
              <a:t>SOURCES</a:t>
            </a:r>
          </a:p>
          <a:p>
            <a:r>
              <a:t>- https://techcrunch.com/2020/07/10/how-thor-fridrikssons-trivia-royale-earned-2-5m-downloads-in-3-weeks/</a:t>
            </a:r>
          </a:p>
          <a:p>
            <a:r>
              <a:t>- https://www.gameanalytics.com/reports/2026-mobile-pc-gaming-benchmarks</a:t>
            </a:r>
          </a:p>
          <a:p>
            <a:r>
              <a:t>- https://www.sec.gov/Archives/edgar/data/1801661/000180166124000100/sklz-20231231.htm</a:t>
            </a:r>
          </a:p>
          <a:p>
            <a:r>
              <a:t>- https://www.sporcle.com/memberships/</a:t>
            </a:r>
          </a:p>
          <a:p>
            <a:r>
              <a:t>- https://www.sec.gov/Archives/edgar/data/1562088/000162828026053299/q2fy26duolingo6-30x26share.htm</a:t>
            </a:r>
          </a:p>
          <a:p>
            <a:r>
              <a:t>- FACT//DUEL internal: public/product/investor/numbers.md §2.3, §4.3 and §4.4 (company disclosure)</a:t>
            </a:r>
          </a:p>
          <a:p>
            <a:r>
              <a:t>- FACT//DUEL internal: public/product/investor/numbers.md §3.5, §5.2 and §5.14 (company disclosure)</a:t>
            </a:r>
          </a:p>
          <a:p>
            <a:r>
              <a:t>- FACT//DUEL internal: public/product/investor/numbers.md §7.1 and §7.2 (company disclosure)</a:t>
            </a:r>
          </a:p>
          <a:p>
            <a:r>
              <a:t>- FACT//DUEL internal: public/product/investor/numbers.md §4.4b (company disclosure)</a:t>
            </a:r>
          </a:p>
          <a:p>
            <a:r>
              <a:t>- https://www.yogonet.com/ (Skillz v. Papaya verdict, 28 Apr 2026)</a:t>
            </a:r>
          </a:p>
          <a:p>
            <a:r>
              <a:t>- https://support.google.com/admanager/answer/9116812</a:t>
            </a:r>
          </a:p>
          <a:p>
            <a:r>
              <a:t>- https://support.google.com/adsense/answer/9121589</a:t>
            </a:r>
          </a:p>
          <a:p>
            <a:r>
              <a:t>- https://support.google.com/adsense/answer/1705831 (H5 Games Ads: approval "not guaranteed")</a:t>
            </a:r>
          </a:p>
          <a:p>
            <a:r>
              <a:t>- https://www.businessofapps.com/marketplace/app-marketing/research/cost-per-install/</a:t>
            </a:r>
          </a:p>
          <a:p>
            <a:r>
              <a:t>- FACT//DUEL internal: docs/money/ads/lane-adtech.json + audit-1.json</a:t>
            </a:r>
          </a:p>
          <a:p>
            <a:r>
              <a:t>- FACT//DUEL internal: docs/money/ads/synthesis.json (16 Sep 2026; five research lanes, two adversarial audits)</a:t>
            </a:r>
          </a:p>
          <a:p>
            <a:r>
              <a:t>- FACT//DUEL internal: public/product/investor/numbers.md §8 (company disclosure — the ad-funded format, 16 Sep 2026)</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intentionally unfinished and must not be filled in by anyone but the founder. YC's own framing is that investors invest in teams, not slides, and one of the 17 DON'Ts in its seed fundraising guide is "Be dishonest in any way" — this deck's whole credibility strategy is that every claim survives checking, so no advisor, hire, partner or customer appears anywhere in it until one is real and has agreed in writing.</a:t>
            </a:r>
          </a:p>
          <a:p/>
          <a:p>
            <a:r>
              <a:t>The role list is derived from the funded milestones rather than from an org chart: milestone 1 is the account and analytics layer, which is why backend leads the list — accounts and server-side progression remain unbuilt even though the measurement layer shipped without them.</a:t>
            </a:r>
          </a:p>
          <a:p/>
          <a:p>
            <a:r>
              <a:t>Content and question production is named because §4.4 requires it, but it is not funded by the ask arithmetic, which covers four engineers and nothing else — do not present it as a costed hire.</a:t>
            </a:r>
          </a:p>
          <a:p/>
          <a:p>
            <a:r>
              <a:t>The four-engineer, 18-month shape is a plan built on YC's undated $15k-per-engineer-per-month rule of thumb, which slide 13 flags as very likely understated today.</a:t>
            </a:r>
          </a:p>
          <a:p/>
          <a:p>
            <a:r>
              <a:t>DocSend estimates 38 seconds on the team section (third-party estimate, §4.6); a blank placeholder sent to an investor spends all 38 of them badly, so the deck is not sendable until this page is real.</a:t>
            </a:r>
          </a:p>
          <a:p/>
          <a:p>
            <a:r>
              <a:t>SOURCES</a:t>
            </a:r>
          </a:p>
          <a:p>
            <a:r>
              <a:t>- FACT//DUEL internal: public/product/investor/numbers.md §4.4 and §4.5</a:t>
            </a:r>
          </a:p>
          <a:p>
            <a:r>
              <a:t>- https://www.ycombinator.com/library/4A-a-guide-to-seed-fundraising</a:t>
            </a:r>
          </a:p>
          <a:p>
            <a:r>
              <a:t>- https://www.ycombinator.com/library/4T-how-to-design-a-better-pitch-deck</a:t>
            </a:r>
          </a:p>
          <a:p>
            <a:r>
              <a:t>- https://web.archive.org/web/20260622084020/https://www.docsend.com/blog/what-vcs-really-want-to-see-inside-your-seed-deck/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ask uses YC's structure — N months x team x cost = $X, with dilution against a published median — and the arithmetic is shown so it can be checked in the 32 seconds this slide gets.</a:t>
            </a:r>
          </a:p>
          <a:p/>
          <a:p>
            <a:r>
              <a:t>Quote YC's dilution sentence in full, because the second half is what makes 6.98% unremarkable rather than exceptional: "as little as 10%... is wonderful, but most rounds will require up to 20% dilution and you should try to avoid more than 25%." It came off the slide face for length, so it has to be in the founder's mouth.</a:t>
            </a:r>
          </a:p>
          <a:p/>
          <a:p>
            <a:r>
              <a:t>Caveats to volunteer rather than defend. YC's $15,000 per engineer per month and its $500k-$1.5M band are undated editorial rules of thumb, not measured or inflation-indexed 2026 figures, and are very likely understated today; we use the structure and expect to substitute a current, defensible cost base once the team on slide 12 is real. Both the $1,080,000 and the ~$1.2M are therefore marked (P).</a:t>
            </a:r>
          </a:p>
          <a:p/>
          <a:p>
            <a:r>
              <a:t>Carta's $16.0M is the Q3 2025 median seed pre-money, up 14% YoY, in a quarter with about 17% down rounds; the 6.98% is what a $1.2M round would cost at that median — an illustration rather than a price, and an optimistic one, because Crunchbase reports that more than half of 2025 US seed dollars went into rounds of $10M or larger, so that median is set by rounds an order of magnitude bigger than this ask. We do not quote Carta's Q4 2025 all-time-high post-money: our evidence base contains no primary Carta Q4 2025 source, the figure is all-sector with no consumer split, and Carta's own Q1 2026 note says early-stage primary valuations softened (§5.8).</a:t>
            </a:r>
          </a:p>
          <a:p/>
          <a:p>
            <a:r>
              <a:t>On the question bank: state 54 as the baseline and say plainly that the target and production rate are still to be set (§4.4 milestone 4), rather than promising "a larger bank".</a:t>
            </a:r>
          </a:p>
          <a:p/>
          <a:p>
            <a:r>
              <a:t>The one change since the last version of this deck is a de-risking rather than a result: the measurement layer no longer has to be built with this money, because it shipped on 13 September 2026 (§7.1), so the round buys the cohort rather than the instrument. Say it in one sentence and do not inflate it — there is still no cohort, no rate and no revenue, and §7.3 is explicit that every figure in §4 remains a plan.</a:t>
            </a:r>
          </a:p>
          <a:p/>
          <a:p>
            <a:r>
              <a:t>Base-case Year-1 revenue of $101,907 (P) is immaterial to runway and should be described that way — the raise buys 18 months to produce the retention data we do not have, which is the entire thesis of the round. No detailed financial model belongs in this conversation: ours is appendix slide 15, where it can be interrogated rather than performed.</a:t>
            </a:r>
          </a:p>
          <a:p/>
          <a:p>
            <a:r>
              <a:t>THE TWELVE WEEKS (synthesis, 16 Sep 2026): pre-W1 the founder buys the domain and briefs counsel; W1 AdSense and H5 Games Ads applications, TCF 2.3 CMP, analytics; W2 closed alpha (~50 friends, UK and India); W3 fix wave, Report button, 300 questions per sport for football/cricket/F1; W4 public soft launch India + UK/Ireland, web only, zero paid UA; W5 fixture mode; W6 loss-streak levers and the priced ad card; W7 EU with localised football pages and bracketed leagues; W8 Capacitor iOS and TWA Android submitted with AdMob SSV, NBA/MLB banks at 300; W9 wrapper live, trust page; W10 the US around the NBA Cup; W11 F1 season-review expedition; W12 go/no-go on 14 Dec against D1 ≥ 30%, D7 ≥ 10%, D30 ≥ 4%, rewarded opt-in ≥ 25% of DAU, ≥ 1.5 rewarded ads per DAU — kill or pivot if D1 &lt; 20% after two fix cycles. Total paid spend to date ≤ $500.</a:t>
            </a:r>
          </a:p>
          <a:p/>
          <a:p>
            <a:r>
              <a:t>SOURCES</a:t>
            </a:r>
          </a:p>
          <a:p>
            <a:r>
              <a:t>- https://www.ycombinator.com/library/4A-a-guide-to-seed-fundraising</a:t>
            </a:r>
          </a:p>
          <a:p>
            <a:r>
              <a:t>- https://carta.com/data/state-of-private-markets-q3-2025/</a:t>
            </a:r>
          </a:p>
          <a:p>
            <a:r>
              <a:t>- https://news.crunchbase.com/venture/average-seed-funding-amounts-deals-grew-2025/</a:t>
            </a:r>
          </a:p>
          <a:p>
            <a:r>
              <a:t>- FACT//DUEL internal: public/product/investor/numbers.md §4.4, §4.5 and §5.8</a:t>
            </a:r>
          </a:p>
          <a:p>
            <a:r>
              <a:t>- FACT//DUEL internal: public/product/investor/numbers.md §7.1 and §7.3 (company disclosure)</a:t>
            </a:r>
          </a:p>
          <a:p>
            <a:r>
              <a:t>- FACT//DUEL internal: docs/money/ads/synthesis.json (16 Sep 2026; five research lanes, two adversarial audits)</a:t>
            </a:r>
          </a:p>
          <a:p>
            <a:r>
              <a:t>- FACT//DUEL internal: public/product/investor/numbers.md §8 (company disclosure — the ad-funded format, 16 Sep 2026)</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 top-down poles are $3.0bn for second-screen sports apps and $8.09bn for fan engagement; ~$102.5K in peak weeks is ~$5.33M/yr if sustained, which is the form the chart plots. The thesis reading's supporting fact — 267,939,837 lifetime Trivia Crack installs with duels abandoned — is on slide 2 and slide 10; the risk reading's — HQ, QuizUp and Trivia Royale all died with audiences — is slide 3 and appendix D.</a:t>
            </a:r>
          </a:p>
          <a:p/>
          <a:p>
            <a:r>
              <a:t>Present both readings and let the investor pick; a deck that only presents the thesis reading of a 1,000x gap has not understood it.</a:t>
            </a:r>
          </a:p>
          <a:p/>
          <a:p>
            <a:r>
              <a:t>The vendor disagreement is itself evidence: IMARC sizes game-based learning at $24.5bn for the same year MarketsandMarkets sizes it at $6.23bn, a 3.93x spread, and market.us sizes fan engagement at 2.00x The Business Research Company's figure. When two paid research firms differ by four times on the same market in the same year, neither number can discipline a business plan, which is the empirical case for the bottom-up construction on slide 6.</a:t>
            </a:r>
          </a:p>
          <a:p/>
          <a:p>
            <a:r>
              <a:t>Our own TAM-A of $1.69-2.83bn sits below the top-down range, because we count only US second-screen adults at observed per-user revenue while the vendors count sponsorship, ticketing, merchandising and B2B platform spend we will never touch.</a:t>
            </a:r>
          </a:p>
          <a:p/>
          <a:p>
            <a:r>
              <a:t>All Sensor Tower figures are modelled estimates of gross consumer spend, before Apple's 15-30% cut.</a:t>
            </a:r>
          </a:p>
          <a:p/>
          <a:p>
            <a:r>
              <a:t>STRUCTURE: kind "appendix", chart "the-gap", all eight sources carry forward.</a:t>
            </a:r>
          </a:p>
          <a:p/>
          <a:p>
            <a:r>
              <a:t>SOURCES</a:t>
            </a:r>
          </a:p>
          <a:p>
            <a:r>
              <a:t>- https://www.factmr.com/report/second-screen-sports-apps-market</a:t>
            </a:r>
          </a:p>
          <a:p>
            <a:r>
              <a:t>- https://www.thebusinessresearchcompany.com/report/fan-engagement-global-market-report</a:t>
            </a:r>
          </a:p>
          <a:p>
            <a:r>
              <a:t>- https://market.us/report/fan-engagement-market/</a:t>
            </a:r>
          </a:p>
          <a:p>
            <a:r>
              <a:t>- https://www.marketsandmarkets.com/Market-Reports/game-based-learning-market-169115901.html</a:t>
            </a:r>
          </a:p>
          <a:p>
            <a:r>
              <a:t>- https://www.imarcgroup.com/game-based-learning-market</a:t>
            </a:r>
          </a:p>
          <a:p>
            <a:r>
              <a:t>- https://sensortower.com/blog/2025-q2-ios-top-5-trivia%20games-revenue-us-604118ed241bc16eb8b8453a</a:t>
            </a:r>
          </a:p>
          <a:p>
            <a:r>
              <a:t>- https://play.google.com/store/apps/details?id=com.etermax.preguntados.lite&amp;hl=en_US&amp;gl=US</a:t>
            </a:r>
          </a:p>
          <a:p>
            <a:r>
              <a:t>- https://www.sensortower.com/blog/state-of-mobile-2026</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replaces the three-year IAP/subscription scenarios of the 14 September deck, which modelled a business we are not building. It keeps their posture: a16z lists multi-year projections among the things not to include, and there is no historical data to anchor to, so nothing here is a forecast.</a:t>
            </a:r>
          </a:p>
          <a:p/>
          <a:p>
            <a:r>
              <a:t>The arithmetic is the economy lane's, recomputed by its audit. The audit's corrections are applied: the steady-state balance is presented as an order of magnitude (5,800 at the brief's own faucet figure, not the 5,000 it first claimed as confirming the soft cap); the sinks/faucets ratio at launch is 0.32, below the brief's 0.35 target, so the target is stated as a ratio to instrument; the gambler's-ruin figures elsewhere in the evidence describe "can no longer afford the tier", not "hits zero".</a:t>
            </a:r>
          </a:p>
          <a:p/>
          <a:p>
            <a:r>
              <a:t>The illustrative-day arithmetic is the ad-tech lane's, also audit-checked: 20,000 impressions × $15/1000 = $300; × $1.50/1000 = $30; and the web line uses AppLixir's latest stated averages ($4+ average, $7+ tier-1) rather than its $8-15 headline, per the audit.</a:t>
            </a:r>
          </a:p>
          <a:p/>
          <a:p>
            <a:r>
              <a:t>The one comparable with filed numbers is QuizDuel at 9.0¢ ARPDAU with IAP plus ads (business-model slide). We do not quote a genre ARPDAU benchmark because we have none that is verified.</a:t>
            </a:r>
          </a:p>
          <a:p/>
          <a:p>
            <a:r>
              <a:t>SOURCES</a:t>
            </a:r>
          </a:p>
          <a:p>
            <a:r>
              <a:t>- https://www.gameanalytics.com/reports/2026-mobile-pc-gaming-benchmarks</a:t>
            </a:r>
          </a:p>
          <a:p>
            <a:r>
              <a:t>- https://www.businessofapps.com/marketplace/app-marketing/research/cost-per-install/</a:t>
            </a:r>
          </a:p>
          <a:p>
            <a:r>
              <a:t>- https://applixir.com/faq</a:t>
            </a:r>
          </a:p>
          <a:p>
            <a:r>
              <a:t>- https://support.google.com/admanager/answer/9116812</a:t>
            </a:r>
          </a:p>
          <a:p>
            <a:r>
              <a:t>- FACT//DUEL internal: docs/money/ads/lane-economy.json + audit-2-economy.json (recomputed table and break-evens)</a:t>
            </a:r>
          </a:p>
          <a:p>
            <a:r>
              <a:t>- FACT//DUEL internal: docs/money/ads/lane-adtech.json + audit-1.json</a:t>
            </a:r>
          </a:p>
          <a:p>
            <a:r>
              <a:t>- FACT//DUEL internal: docs/money/ads/lane-launch.json</a:t>
            </a:r>
          </a:p>
          <a:p>
            <a:r>
              <a:t>- FACT//DUEL internal: public/product/investor/numbers.md §8 (company disclosure — the ad-funded format, 16 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seed-stage SOM that is a fraction of one percent is what honest arithmetic produces; TAM-B adds the 1bn+ global cricket bloc and is in this deck only as an upper bound with its own refutation attached.</a:t>
            </a:r>
          </a:p>
          <a:p/>
          <a:p>
            <a:r>
              <a:t>Two flaws to disclose before anyone finds them. First, a nesting inconsistency: TAM-A is US-only at 216.8M while SAM includes Canada at 90.3M (82.8M US plus about 7.5M Canadian), so roughly 7.5M people sit in SAM but not TAM-A. It is immaterial and it is flagged rather than smoothed over. Second, TAM-B's population and ARPU are mismatched by construction.</a:t>
            </a:r>
          </a:p>
          <a:p/>
          <a:p>
            <a:r>
              <a:t>Why SAM is genuinely addressable rather than merely large, both from FSGA 2026: 66% of 13-20-year-old season-long fantasy players update lineups daily, with an average starting age of 14 and a $100 median annual spend, and 51% of participants do both fantasy and betting, up from 49%. That is a daily-habit, already-spending, competitively-motivated audience — the behavioural profile a 1v1 duel is built for. This is also where Paul Graham's method note belongs: x customers × $y per year, used literally, with a16z's toothbrush failure case avoided.</a:t>
            </a:r>
          </a:p>
          <a:p/>
          <a:p>
            <a:r>
              <a:t>Nielsen's "51% of people globally are fans of football" is deliberately not converted to a headcount because we have no verified population denominator for it; we use only its 62M US soccer fans and the ICC's 1bn+ cricket figure. Aggregator fan-base numbers circulating for other sports failed verification and are excluded.</a:t>
            </a:r>
          </a:p>
          <a:p/>
          <a:p>
            <a:r>
              <a:t>STRUCTURE: kind "appendix", the four-row TAM/SAM/SOM table and all eight sources carry forward. SOM stays labelled (P) in the table.</a:t>
            </a:r>
          </a:p>
          <a:p/>
          <a:p>
            <a:r>
              <a:t>SOURCES</a:t>
            </a:r>
          </a:p>
          <a:p>
            <a:r>
              <a:t>- https://www.emarketer.com/content/second-screen-engagement-during-live-sports</a:t>
            </a:r>
          </a:p>
          <a:p>
            <a:r>
              <a:t>- https://members.thefsga.org/news/Details/new-fsga-research-details-growing-role-of-ai-prediction-markets-in-fantasy-sports-and-sports-betting-341850</a:t>
            </a:r>
          </a:p>
          <a:p>
            <a:r>
              <a:t>- https://members.thefsga.org/news/Details/new-fsga-research-highlights-industry-stability-and-next-generation-growth-in-fantasy-sports-and-sports-betting-305937</a:t>
            </a:r>
          </a:p>
          <a:p>
            <a:r>
              <a:t>- https://www.icc-cricket.com/media-releases/first-global-market-research-project-unveils-more-than-one-billion-cricket-fans</a:t>
            </a:r>
          </a:p>
          <a:p>
            <a:r>
              <a:t>- https://www.nielsen.com/news-center/2025/the-future-of-sport-nielsens-2025-report-reveals-growth-drivers/</a:t>
            </a:r>
          </a:p>
          <a:p>
            <a:r>
              <a:t>- https://newzoo.com/articles/global-games-market-2025</a:t>
            </a:r>
          </a:p>
          <a:p>
            <a:r>
              <a:t>- https://paulgraham.com/convince.html</a:t>
            </a:r>
          </a:p>
          <a:p>
            <a:r>
              <a:t>- https://a16z.com/16-more-startup-metrics/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Precision notes that matter if challenged. QuizUp's "20 million users" is a company statement from 19 May 2014 describing a six-month registration milestone, not a measured peak — we quote it as claimed, attributed and dated; the sale to Glu closed 19 Dec 2016.</a:t>
            </a:r>
          </a:p>
          <a:p/>
          <a:p>
            <a:r>
              <a:t>HQ Trivia's decline figure compares 67,000 installs in January 2020 against roughly 2 million a month in February 2018 — 3.35%, sourced to TechCrunch rather than Sensor Tower (§2.3 attaches Sensor Tower only to the ~15M all-time installs figure this deck does not use). Its peak was 2.38M concurrent players on 28 Mar 2018. It relaunched on 29 Mar 2020, played its last game on 17 Nov 2022 and was delisted from stores on 5 Aug 2023.</a:t>
            </a:r>
          </a:p>
          <a:p/>
          <a:p>
            <a:r>
              <a:t>Trivia Royale's 45% D1 and sub-$500,000 launch budget are company statements to TechCrunch, not audited, and the sub-$0.20 per download is blended including organic and viral rather than a paid CPI. Teatime had itself raised $9,155,139 plus $1,499,913 per SEC Form Ds, so the sub-$500,000 figure is the launch campaign, not the company. Teatime also reported roughly 30 minutes of average daily use, and closure followed collapsed funding talks.</a:t>
            </a:r>
          </a:p>
          <a:p/>
          <a:p>
            <a:r>
              <a:t>Skillz's monthly ARPPU was $61.75 in FY2021 (derived) and $61.70 in FY2025 (stated) — essentially flat while the paying base fell 73%, which is the cleanest available evidence that competitive-play users monetise well and churn hard.</a:t>
            </a:r>
          </a:p>
          <a:p/>
          <a:p>
            <a:r>
              <a:t>STRUCTURE: kind "appendix", the four-row graveyard table and all eight sources carry forward.</a:t>
            </a:r>
          </a:p>
          <a:p/>
          <a:p>
            <a:r>
              <a:t>SOURCES</a:t>
            </a:r>
          </a:p>
          <a:p>
            <a:r>
              <a:t>- https://techcrunch.com/2020/02/14/hq-trivia-shuts-down/</a:t>
            </a:r>
          </a:p>
          <a:p>
            <a:r>
              <a:t>- https://www.sec.gov/Archives/edgar/data/1734125/000173412518000001/xslFormDX01/primary_doc.xml</a:t>
            </a:r>
          </a:p>
          <a:p>
            <a:r>
              <a:t>- https://www.sec.gov/Archives/edgar/data/1366246/000155837017001621/gluu-20161231x10k.htm</a:t>
            </a:r>
          </a:p>
          <a:p>
            <a:r>
              <a:t>- https://www.sec.gov/Archives/edgar/data/1366246/000155837016010604/gluu-20161215x8k.htm</a:t>
            </a:r>
          </a:p>
          <a:p>
            <a:r>
              <a:t>- https://techcrunch.com/2020/07/10/how-thor-fridrikssons-trivia-royale-earned-2-5m-downloads-in-3-weeks/</a:t>
            </a:r>
          </a:p>
          <a:p>
            <a:r>
              <a:t>- https://www.sec.gov/Archives/edgar/data/1717682/000171768218000001/primary_doc.xml</a:t>
            </a:r>
          </a:p>
          <a:p>
            <a:r>
              <a:t>- https://www.sec.gov/Archives/edgar/data/1801661/000180166123000003/ex991_fy22q4-8xkxearningsr.htm</a:t>
            </a:r>
          </a:p>
          <a:p>
            <a:r>
              <a:t>- https://www.sec.gov/Archives/edgar/data/1801661/000180166126000019/q425skillzex991-earningsre.htm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a credibility instrument, not an apology.</a:t>
            </a:r>
          </a:p>
          <a:p/>
          <a:p>
            <a:r>
              <a:t>Specific exclusions an investor may expect to see and will not: no genre ARPDAU band (traced to one consultant's blog, relabelled as a benchmark by a secondary source; the only company-reported figure in our base is MAG Interactive's 9.0 US cents group ARPDAU for the nine months to May 2026); no Trivia Crack "600 million downloads" or "150 million active users" (PR-originated, and the second describes etermax company-wide); no ~$300M Wayground valuation (no primary source); no Sensor Tower puzzle-genre revenue figures (gated report, secondary summary, and the framing is wrong twice over); no IPM figures for trivia (gated, unverified); and no aggregator global fan-base counts, one of which is contradicted by the sport's own governing body.</a:t>
            </a:r>
          </a:p>
          <a:p/>
          <a:p>
            <a:r>
              <a:t>On store conversion we corrected a claim in our own favour's opposite direction and kept the correction — the circulating 8.2% iOS / 20.4% Android pair is inverted, and slide 7 prints the corrected figures with their re-confirm flag.</a:t>
            </a:r>
          </a:p>
          <a:p/>
          <a:p>
            <a:r>
              <a:t>Note that §5.14 is scoped to what we hold: GameAnalytics, Liftoff and AppsFlyer web-first data are gated, so a benchmark may exist behind a paywall — we have simply not verified one, and we say it that way rather than claiming none exists.</a:t>
            </a:r>
          </a:p>
          <a:p/>
          <a:p>
            <a:r>
              <a:t>The single largest methodological risk is benchmark transfer to web, and the only thing that resolves it is our own instrumented cohort — which is what the raise funds.</a:t>
            </a:r>
          </a:p>
          <a:p/>
          <a:p>
            <a:r>
              <a:t>STRUCTURE: kind "appendix", all five sources carry forward.</a:t>
            </a:r>
          </a:p>
          <a:p/>
          <a:p>
            <a:r>
              <a:t>SOURCES</a:t>
            </a:r>
          </a:p>
          <a:p>
            <a:r>
              <a:t>- FACT//DUEL internal: public/product/investor/numbers.md §5 (failed verification and unresolved items)</a:t>
            </a:r>
          </a:p>
          <a:p>
            <a:r>
              <a:t>- https://storage.mfn.se/8d863483-ccc8-4f02-b0c5-d37d899b23e8/mag-interim-report-eng-2025-26-q3.pdf</a:t>
            </a:r>
          </a:p>
          <a:p>
            <a:r>
              <a:t>- https://techcrunch.com/2020/07/10/how-thor-fridrikssons-trivia-royale-earned-2-5m-downloads-in-3-weeks/</a:t>
            </a:r>
          </a:p>
          <a:p>
            <a:r>
              <a:t>- https://www.apptweak.com/</a:t>
            </a:r>
          </a:p>
          <a:p>
            <a:r>
              <a:t>- FACT//DUEL internal: public/product/investor/numbers.md §7.1 and §7.3 (company disclosure)</a:t>
            </a:r>
          </a:p>
          <a:p>
            <a:r>
              <a:t>- FACT//DUEL internal: docs/money/ads/synthesis.json (16 Sep 2026; five research lanes, two adversarial audits)</a:t>
            </a:r>
          </a:p>
          <a:p>
            <a:r>
              <a:t>- FACT//DUEL internal: docs/money/ads/lane-adtech.json + audit-1.json</a:t>
            </a:r>
          </a:p>
          <a:p>
            <a:r>
              <a:t>- FACT//DUEL internal: public/product/investor/numbers.md §8 (company disclosure — the ad-funded format, 16 Sep 2026)</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link rather than describing the product a third time; since 13 September 2026 it costs nothing to hand over, because the build is public, runs entirely in the browser and needs no install, no account and no server (§7.2).</a:t>
            </a:r>
          </a:p>
          <a:p/>
          <a:p>
            <a:r>
              <a:t>The full shipped inventory in the static build (§7.2): bot duels in all three modes, expeditions, discovery, the vault, the passport, the events calendar and the limited modes.</a:t>
            </a:r>
          </a:p>
          <a:p/>
          <a:p>
            <a:r>
              <a:t>Mechanic detail moved here from the old non-duel-surface slide. Solo expeditions are short, untimed six-card routes; each card carries a risk call with three tiers — Steady, Bold, Called (lib/expeditions.mjs:115-120) — set on the question screen and locked when the answer is submitted (app/screens/expeditions/run.tsx renders the question first, then the stake control), so nothing is wagered blind. Limited-time modes are derived from the calendar: one opens on a real fixture or announcement and closes when that window closes (lib/events.mjs). The calendar is hand-assembled and static, and the date it was last checked is printed in the app (CALENDAR_ASOF = '2026-09-13', lib/events-data.mjs, rendered by app/screens/events-screen.tsx). Nothing in the evidence base attaches a retention result to any of it.</a:t>
            </a:r>
          </a:p>
          <a:p/>
          <a:p>
            <a:r>
              <a:t>Be exact about what it is and is not: no accounts and no server-side progression, the bank is 54 sample questions, two-device friend duels are disabled in that build with an on-screen notice, it produces no retention data on its own, and nobody who opens it is a user in any sense this deck would count. There is no live feed, no scores service and no rights deal with any league, broadcaster or rights holder.</a:t>
            </a:r>
          </a:p>
          <a:p/>
          <a:p>
            <a:r>
              <a:t>The link is served from the repository's own Pages workflow and is live once the repository owner has pointed Pages at the gh-pages branch, so check it the morning of a meeting rather than assuming. Appendix G covers what the app does measure and what it deliberately does not.</a:t>
            </a:r>
          </a:p>
          <a:p/>
          <a:p>
            <a:r>
              <a:t>If asked about engineering rigour, the repository's own release record is the place to point — it lists the automated regression suites, the TypeScript and production-build gates, and, just as importantly, the checks that were not performed, including physical-device play, assistive-technology evaluation and any WAN or capacity testing. Quote specific counts from that record only if you have re-read it that day.</a:t>
            </a:r>
          </a:p>
          <a:p/>
          <a:p>
            <a:r>
              <a:t>STRUCTURE: kind "appendix", image desktop-passport.png and both sources carry forward.</a:t>
            </a:r>
          </a:p>
          <a:p/>
          <a:p>
            <a:r>
              <a:t>SOURCES</a:t>
            </a:r>
          </a:p>
          <a:p>
            <a:r>
              <a:t>- FACT//DUEL internal: public/product/investor/numbers.md — status paragraph, §7.1 and §7.2 (company disclosure)</a:t>
            </a:r>
          </a:p>
          <a:p>
            <a:r>
              <a:t>- FACT//DUEL internal: repository — product code, unaudited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exists so that the claim on slide 8 can be interrogated rather than believed. It is numbers.md §7.1 in slide form and it should be read as a design, not as a result.</a:t>
            </a:r>
          </a:p>
          <a:p/>
          <a:p>
            <a:r>
              <a:t>The device-local half is a pure module with no storage, no network call and no third-party SDK, which is why the privacy properties are checkable by reading one file rather than by trusting a vendor: it records install day, the days the device was active, session count under a stated inactivity threshold that the app names on screen, engaged time counted only while the app is on screen, and four in-app counters, then answers whether this device came back on day 1, 7 or 30. Both of those conventions are chosen rather than standard and the app names them on screen; say so before someone asks how a session is defined.</a:t>
            </a:r>
          </a:p>
          <a:p/>
          <a:p>
            <a:r>
              <a:t>The null return is the part worth dwelling on with a numerate investor — a window that has not finished reads as null rather than as a miss, which is the single easiest way to flatter or wreck an early retention number, and a test asserts it.</a:t>
            </a:r>
          </a:p>
          <a:p/>
          <a:p>
            <a:r>
              <a:t>The cohort half is the only part that can ever produce a rate, it is opt-in, the identifier is anonymous, the report can return no per-device row by construction, and any bucket describing fewer than five devices is suppressed rather than rounded — which is also a real limit on how early the first number can be published, and it is deliberate. The corresponding weakness is on slide 11 as a named risk: an opt-in denominator is consenting devices, not all devices, and the first published cohort figure has to carry its consent rate next to it.</a:t>
            </a:r>
          </a:p>
          <a:p/>
          <a:p>
            <a:r>
              <a:t>Twenty-four tests cover the device module and twenty the cohort endpoints; quote those two counts only, because they are the two that §7.1 records.</a:t>
            </a:r>
          </a:p>
          <a:p/>
          <a:p>
            <a:r>
              <a:t>Finally, the honest close: none of this is traction and none of it is a number. §7.3 is explicit that there are still no users, no revenue, no cohort, no CAC, no LTV and no ARPDAU, and that every figure in §4 remains a plan.</a:t>
            </a:r>
          </a:p>
          <a:p/>
          <a:p>
            <a:r>
              <a:t>STRUCTURE: kind "appendix", both sources carry forward.</a:t>
            </a:r>
          </a:p>
          <a:p/>
          <a:p>
            <a:r>
              <a:t>SOURCES</a:t>
            </a:r>
          </a:p>
          <a:p>
            <a:r>
              <a:t>- FACT//DUEL internal: public/product/investor/numbers.md §7.1 and §7.3 (company disclosure)</a:t>
            </a:r>
          </a:p>
          <a:p>
            <a:r>
              <a:t>- FACT//DUEL internal: repository — product code, unaudited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§4.3 of numbers.md reproduced in full, so that anyone who wants to check the arithmetic can do it on the page instead of asking for a spreadsheet. Two things to say before they are asked. First, the only thing that changes between scenarios is three inputs — D30 retention, install-to-payer rate and install volume; the model itself is identical, ARPPU is held at AppsFlyer's casual D90 $7.26 in all three, and monthly churn of the retained base is held at 20% everywhere so it cannot flatter one case. Second, the install volumes are chosen assumptions with no company data behind them, which is why appendix I lists them as assumptions rather than inputs. Revenue per MAU rises across scenarios only because higher churn makes annual installs about 11x steady-state MAU — that is throughput, not better monetisation, and it is the reason the subscription cross-check on slide 10 exists.</a:t>
            </a:r>
          </a:p>
          <a:p/>
          <a:p>
            <a:r>
              <a:t>SOURCES</a:t>
            </a:r>
          </a:p>
          <a:p>
            <a:r>
              <a:t>- https://www.gameanalytics.com/reports/2026-mobile-pc-gaming-benchmarks</a:t>
            </a:r>
          </a:p>
          <a:p>
            <a:r>
              <a:t>- https://www.appsflyer.com/resources/reports/app-marketing-monetization-report/</a:t>
            </a:r>
          </a:p>
          <a:p>
            <a:r>
              <a:t>- FACT//DUEL internal: public/product/investor/numbers.md §4.1-§4.3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showing the inputs separately from the outputs is that an investor can replace any one of them and re-run the model without our help. Even the optimistic case assumes only median casual per-install monetisation — AppsFlyer's own $1.34 IAP plus $0.55 ad revenue — so all of the optimism sits in install volume and none of it in monetisation quality. The derived 18.46% payer rate is arithmetic on two published figures that may rest on different samples and windows, and it sits well above the 11.14% North American 30-day figure, which is why it is used only as a ceiling and labelled derived. The conservative case carries $0.00 of ad revenue because we are a web app with no mediation stack today. On break-even cost per install: Trivia Royale's sourced blended figure of under $0.20 is inside all three of ours, and that company still died with 2.5M downloads and 45% D1, so clearing break-even is necessary and demonstrably not sufficient.</a:t>
            </a:r>
          </a:p>
          <a:p/>
          <a:p>
            <a:r>
              <a:t>SOURCES</a:t>
            </a:r>
          </a:p>
          <a:p>
            <a:r>
              <a:t>- https://www.gameanalytics.com/reports/2026-mobile-pc-gaming-benchmarks</a:t>
            </a:r>
          </a:p>
          <a:p>
            <a:r>
              <a:t>- https://www.appsflyer.com/resources/reports/app-marketing-monetization-report/</a:t>
            </a:r>
          </a:p>
          <a:p>
            <a:r>
              <a:t>- https://techcrunch.com/2020/07/10/how-thor-fridrikssons-trivia-royale-earned-2-5m-downloads-in-3-weeks/</a:t>
            </a:r>
          </a:p>
          <a:p>
            <a:r>
              <a:t>- https://www.sec.gov/Archives/edgar/data/1562088/000162828026012246/q4fy25duolingo12-31x25shar.htm</a:t>
            </a:r>
          </a:p>
          <a:p>
            <a:r>
              <a:t>- https://storage.mfn.se/8d863483-ccc8-4f02-b0c5-d37d899b23e8/mag-interim-report-eng-2025-26-q3.pdf</a:t>
            </a:r>
          </a:p>
          <a:p>
            <a:r>
              <a:t>- FACT//DUEL internal: public/product/investor/numbers.md §4.1-§4.3</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this page alongside appendix E. The kinds matter more than the count: an audited filing and a vendor's modelled estimate are not the same evidence, and the deck says which is which every time it uses one. Where a figure is a modelled estimate — every Sensor Tower number, every GameAnalytics and AppsFlyer benchmark, the AppTweak conversion figures — it is labelled as an estimate on the slide that carries it. Full URLs for this page:</a:t>
            </a:r>
          </a:p>
          <a:p/>
          <a:p>
            <a:r>
              <a:t>- FACT//DUEL internal — numbers.md — status paragraph and §5.15</a:t>
            </a:r>
          </a:p>
          <a:p>
            <a:r>
              <a:t>  FACT//DUEL internal: public/product/investor/numbers.md — status paragraph and §5.15 (company disclosure)</a:t>
            </a:r>
          </a:p>
          <a:p>
            <a:r>
              <a:t>- Y Combinator — A guide to seed fundraising</a:t>
            </a:r>
          </a:p>
          <a:p>
            <a:r>
              <a:t>  https://www.ycombinator.com/library/4A-a-guide-to-seed-fundraising</a:t>
            </a:r>
          </a:p>
          <a:p>
            <a:r>
              <a:t>- Y Combinator — How to design a better pitch deck</a:t>
            </a:r>
          </a:p>
          <a:p>
            <a:r>
              <a:t>  https://www.ycombinator.com/library/4T-how-to-design-a-better-pitch-deck</a:t>
            </a:r>
          </a:p>
          <a:p>
            <a:r>
              <a:t>- GameAnalytics — 2026 Mobile &amp; PC Gaming Benchmarks</a:t>
            </a:r>
          </a:p>
          <a:p>
            <a:r>
              <a:t>  https://www.gameanalytics.com/reports/2026-mobile-pc-gaming-benchmarks</a:t>
            </a:r>
          </a:p>
          <a:p>
            <a:r>
              <a:t>- DocSend — per-section dwell times</a:t>
            </a:r>
          </a:p>
          <a:p>
            <a:r>
              <a:t>  https://web.archive.org/web/20260622084020/https://www.docsend.com/blog/what-vcs-really-want-to-see-inside-your-seed-deck/</a:t>
            </a:r>
          </a:p>
          <a:p>
            <a:r>
              <a:t>- DocSend — what VCs want inside a seed deck</a:t>
            </a:r>
          </a:p>
          <a:p>
            <a:r>
              <a:t>  https://web.archive.org/web/20240302210508/https://www.docsend.com/blog/what-vcs-really-want-to-see-inside-your-seed-deck/</a:t>
            </a:r>
          </a:p>
          <a:p>
            <a:r>
              <a:t>- FACT//DUEL internal — numbers.md §7.1 and §7.2</a:t>
            </a:r>
          </a:p>
          <a:p>
            <a:r>
              <a:t>  FACT//DUEL internal: public/product/investor/numbers.md §7.1 and §7.2 (company disclosure)</a:t>
            </a:r>
          </a:p>
          <a:p>
            <a:r>
              <a:t>- FACT//DUEL internal — numbers.md §4.4 and §4.5</a:t>
            </a:r>
          </a:p>
          <a:p>
            <a:r>
              <a:t>  FACT//DUEL internal: public/product/investor/numbers.md §4.4 and §4.5 (company disclosure)</a:t>
            </a:r>
          </a:p>
          <a:p>
            <a:r>
              <a:t>- FACT//DUEL internal — docs/money/ads/synthesis.json (16 Sep 2026; five research lanes, two adversarial audits)</a:t>
            </a:r>
          </a:p>
          <a:p>
            <a:r>
              <a:t>  FACT//DUEL internal: docs/money/ads/synthesis.json (16 Sep 2026; five research lanes, two adversarial audits)</a:t>
            </a:r>
          </a:p>
          <a:p>
            <a:r>
              <a:t>- FACT//DUEL internal — numbers.md §8 (company disclosure — the ad-funded format, 16 Sep 2026)</a:t>
            </a:r>
          </a:p>
          <a:p>
            <a:r>
              <a:t>  FACT//DUEL internal: public/product/investor/numbers.md §8 (company disclosure — the ad-funded format, 16 Sep 2026)</a:t>
            </a:r>
          </a:p>
          <a:p>
            <a:r>
              <a:t>- Google Play — Trivia Crack listing</a:t>
            </a:r>
          </a:p>
          <a:p>
            <a:r>
              <a:t>  https://play.google.com/store/apps/details?id=com.etermax.preguntados.lite&amp;hl=en_US&amp;gl=US</a:t>
            </a:r>
          </a:p>
          <a:p>
            <a:r>
              <a:t>- MAG Interactive — Q3 2025/26 interim report</a:t>
            </a:r>
          </a:p>
          <a:p>
            <a:r>
              <a:t>  https://storage.mfn.se/8d863483-ccc8-4f02-b0c5-d37d899b23e8/mag-interim-report-eng-2025-26-q3.pdf</a:t>
            </a:r>
          </a:p>
          <a:p>
            <a:r>
              <a:t>- Apple lookup API — QuizDuel listing (US storefront)</a:t>
            </a:r>
          </a:p>
          <a:p>
            <a:r>
              <a:t>  https://itunes.apple.com/lookup?id=1484354626&amp;country=us</a:t>
            </a:r>
          </a:p>
          <a:p>
            <a:r>
              <a:t>- Apple lookup API — QuizDuel listing</a:t>
            </a:r>
          </a:p>
          <a:p>
            <a:r>
              <a:t>  https://itunes.apple.com/lookup?id=1484354626&amp;country=de</a:t>
            </a:r>
          </a:p>
          <a:p>
            <a:r>
              <a:t>- Google Play — Quizion listing</a:t>
            </a:r>
          </a:p>
          <a:p>
            <a:r>
              <a:t>  https://play.google.com/store/apps/details?id=com.quizion.app&amp;hl=en_US</a:t>
            </a:r>
          </a:p>
          <a:p>
            <a:r>
              <a:t>- Google Play — TRIVIA GO! listing</a:t>
            </a:r>
          </a:p>
          <a:p>
            <a:r>
              <a:t>  https://play.google.com/store/apps/details?id=live.trivia&amp;hl=en_US</a:t>
            </a:r>
          </a:p>
          <a:p>
            <a:r>
              <a:t>- TechCrunch — Trivia Royale, 2.5M downloads in 3 weeks</a:t>
            </a:r>
          </a:p>
          <a:p>
            <a:r>
              <a:t>  https://techcrunch.com/2020/07/10/how-thor-fridrikssons-trivia-royale-earned-2-5m-downloads-in-3-weeks/</a:t>
            </a:r>
          </a:p>
          <a:p>
            <a:r>
              <a:t>- TechCrunch — HQ Trivia shuts down</a:t>
            </a:r>
          </a:p>
          <a:p>
            <a:r>
              <a:t>  https://techcrunch.com/2020/02/14/hq-trivia-shuts-down/</a:t>
            </a:r>
          </a:p>
          <a:p>
            <a:r>
              <a:t>- TechCrunch — HQ Trivia peak concurrent record</a:t>
            </a:r>
          </a:p>
          <a:p>
            <a:r>
              <a:t>  https://techcrunch.com/2018/08/14/hq-trivia-apple-tv/</a:t>
            </a:r>
          </a:p>
          <a:p>
            <a:r>
              <a:t>- SEC 10-K — Glu Mobile FY2016 (QuizUp mark)</a:t>
            </a:r>
          </a:p>
          <a:p>
            <a:r>
              <a:t>  https://www.sec.gov/Archives/edgar/data/1366246/000155837017001621/gluu-20161231x10k.htm</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register, continued. Full URLs for this page:</a:t>
            </a:r>
          </a:p>
          <a:p/>
          <a:p>
            <a:r>
              <a:t>- SEC 8-K — Glu Mobile / QuizUp acquisition</a:t>
            </a:r>
          </a:p>
          <a:p>
            <a:r>
              <a:t>  https://www.sec.gov/Archives/edgar/data/1366246/000155837016010604/gluu-20161215x8k.htm</a:t>
            </a:r>
          </a:p>
          <a:p>
            <a:r>
              <a:t>- FACT//DUEL internal — numbers.md §3.2, status paragraph and §5.15</a:t>
            </a:r>
          </a:p>
          <a:p>
            <a:r>
              <a:t>  FACT//DUEL internal: public/product/investor/numbers.md §3.2, status paragraph and §5.15 (company disclosure)</a:t>
            </a:r>
          </a:p>
          <a:p>
            <a:r>
              <a:t>- FACT//DUEL internal — repository — product code, unaudited</a:t>
            </a:r>
          </a:p>
          <a:p>
            <a:r>
              <a:t>  FACT//DUEL internal: repository — product code, unaudited</a:t>
            </a:r>
          </a:p>
          <a:p>
            <a:r>
              <a:t>- SEC — Duolingo FY2025 shareholder letter</a:t>
            </a:r>
          </a:p>
          <a:p>
            <a:r>
              <a:t>  https://www.sec.gov/Archives/edgar/data/1562088/000162828026012246/q4fy25duolingo12-31x25shar.htm</a:t>
            </a:r>
          </a:p>
          <a:p>
            <a:r>
              <a:t>- FACT//DUEL internal — numbers.md §1.1 and §1.6</a:t>
            </a:r>
          </a:p>
          <a:p>
            <a:r>
              <a:t>  FACT//DUEL internal: public/product/investor/numbers.md §1.1 and §1.6 (company disclosure)</a:t>
            </a:r>
          </a:p>
          <a:p>
            <a:r>
              <a:t>- FACT//DUEL internal — numbers.md — status paragraph, §4.4 and §7.1-§7.2</a:t>
            </a:r>
          </a:p>
          <a:p>
            <a:r>
              <a:t>  FACT//DUEL internal: public/product/investor/numbers.md — status paragraph, §4.4 and §7.1-§7.2 (company disclosure)</a:t>
            </a:r>
          </a:p>
          <a:p>
            <a:r>
              <a:t>- FACT//DUEL internal — numbers.md §2.3, §4.3 and §4.4</a:t>
            </a:r>
          </a:p>
          <a:p>
            <a:r>
              <a:t>  FACT//DUEL internal: public/product/investor/numbers.md §2.3, §4.3 and §4.4 (company disclosure)</a:t>
            </a:r>
          </a:p>
          <a:p>
            <a:r>
              <a:t>- EMARKETER — second-screen engagement during live sport</a:t>
            </a:r>
          </a:p>
          <a:p>
            <a:r>
              <a:t>  https://www.emarketer.com/content/second-screen-engagement-during-live-sports</a:t>
            </a:r>
          </a:p>
          <a:p>
            <a:r>
              <a:t>- AppTweak — US store conversion benchmarks, CY2025</a:t>
            </a:r>
          </a:p>
          <a:p>
            <a:r>
              <a:t>  https://www.apptweak.com/</a:t>
            </a:r>
          </a:p>
          <a:p>
            <a:r>
              <a:t>- FACT//DUEL internal — numbers.md §3.5, §5.2 and §5.14</a:t>
            </a:r>
          </a:p>
          <a:p>
            <a:r>
              <a:t>  FACT//DUEL internal: public/product/investor/numbers.md §3.5, §5.2 and §5.14 (company disclosure)</a:t>
            </a:r>
          </a:p>
          <a:p>
            <a:r>
              <a:t>- FACT//DUEL internal — numbers.md — status paragraph, §4.4 and §7.1</a:t>
            </a:r>
          </a:p>
          <a:p>
            <a:r>
              <a:t>  FACT//DUEL internal: public/product/investor/numbers.md — status paragraph, §4.4 and §7.1 (company disclosure)</a:t>
            </a:r>
          </a:p>
          <a:p>
            <a:r>
              <a:t>- businessofapps.com</a:t>
            </a:r>
          </a:p>
          <a:p>
            <a:r>
              <a:t>  https://www.businessofapps.com/marketplace/app-marketing/research/cost-per-install/</a:t>
            </a:r>
          </a:p>
          <a:p>
            <a:r>
              <a:t>- storage.mfn.se</a:t>
            </a:r>
          </a:p>
          <a:p>
            <a:r>
              <a:t>  https://storage.mfn.se/ (MAG Interactive Q3 2025/26 interim report PDF — QuizDuel ARPDAU)</a:t>
            </a:r>
          </a:p>
          <a:p>
            <a:r>
              <a:t>- support.google.com</a:t>
            </a:r>
          </a:p>
          <a:p>
            <a:r>
              <a:t>  https://support.google.com/admanager/answer/9116812 (rewarded ads for web: "Server-side verification is an app only feature")</a:t>
            </a:r>
          </a:p>
          <a:p>
            <a:r>
              <a:t>- support.google.com</a:t>
            </a:r>
          </a:p>
          <a:p>
            <a:r>
              <a:t>  https://support.google.com/adsense/answer/9121589 (policies for ad units that offer rewards)</a:t>
            </a:r>
          </a:p>
          <a:p>
            <a:r>
              <a:t>- applixir.com</a:t>
            </a:r>
          </a:p>
          <a:p>
            <a:r>
              <a:t>  https://applixir.com/faq (web rewarded eCPM ranges, vendor)</a:t>
            </a:r>
          </a:p>
          <a:p>
            <a:r>
              <a:t>- FACT//DUEL internal — docs/money/ads/lane-economy.json + audit-2-economy.json (recomputed table and break-evens)</a:t>
            </a:r>
          </a:p>
          <a:p>
            <a:r>
              <a:t>  FACT//DUEL internal: docs/money/ads/lane-economy.json + audit-2-economy.json (recomputed table and break-evens)</a:t>
            </a:r>
          </a:p>
          <a:p>
            <a:r>
              <a:t>- FACT//DUEL internal — docs/money/ads/lane-adtech.json + audit-1.json</a:t>
            </a:r>
          </a:p>
          <a:p>
            <a:r>
              <a:t>  FACT//DUEL internal: docs/money/ads/lane-adtech.json + audit-1.json</a:t>
            </a:r>
          </a:p>
          <a:p>
            <a:r>
              <a:t>- Sensor Tower — Q2 2025 US iOS trivia revenue (est.)</a:t>
            </a:r>
          </a:p>
          <a:p>
            <a:r>
              <a:t>  https://sensortower.com/blog/2025-q2-ios-top-5-trivia%20games-revenue-us-604118ed241bc16eb8b8453a</a:t>
            </a:r>
          </a:p>
          <a:p>
            <a:r>
              <a:t>- Google Play — Kahoot! listing</a:t>
            </a:r>
          </a:p>
          <a:p>
            <a:r>
              <a:t>  https://play.google.com/store/apps/details?id=no.mobitroll.kahoot.android&amp;hl=en_US&amp;gl=US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register, continued. Full URLs for this page:</a:t>
            </a:r>
          </a:p>
          <a:p/>
          <a:p>
            <a:r>
              <a:t>- Kahoot! — Q4 2022 quarterly report</a:t>
            </a:r>
          </a:p>
          <a:p>
            <a:r>
              <a:t>  https://kahoot.com/files/2023/02/4Q22_Kahoot_quarterly_report.pdf</a:t>
            </a:r>
          </a:p>
          <a:p>
            <a:r>
              <a:t>- Oslo Børs — Kahoot! delisting notice</a:t>
            </a:r>
          </a:p>
          <a:p>
            <a:r>
              <a:t>  https://newsweb.oslobors.no/message/608893</a:t>
            </a:r>
          </a:p>
          <a:p>
            <a:r>
              <a:t>- PR Newswire — Quizizz $31.5M Series B</a:t>
            </a:r>
          </a:p>
          <a:p>
            <a:r>
              <a:t>  https://www.prnewswire.com/news-releases/quizizz-gains-momentum-raises-31-5-million-to-motivate-every-student-301322655.html</a:t>
            </a:r>
          </a:p>
          <a:p>
            <a:r>
              <a:t>- Apple lookup API — Wayground listing</a:t>
            </a:r>
          </a:p>
          <a:p>
            <a:r>
              <a:t>  https://itunes.apple.com/lookup?id=1160249042&amp;country=us</a:t>
            </a:r>
          </a:p>
          <a:p>
            <a:r>
              <a:t>- SEC 8-K — Skillz FY2025 results</a:t>
            </a:r>
          </a:p>
          <a:p>
            <a:r>
              <a:t>  https://www.sec.gov/Archives/edgar/data/1801661/000180166126000019/q425skillzex991-earningsre.htm</a:t>
            </a:r>
          </a:p>
          <a:p>
            <a:r>
              <a:t>- SEC 8-K — Skillz FY2022 results (FY2021 peak)</a:t>
            </a:r>
          </a:p>
          <a:p>
            <a:r>
              <a:t>  https://www.sec.gov/Archives/edgar/data/1801661/000180166123000003/ex991_fy22q4-8xkxearningsr.htm</a:t>
            </a:r>
          </a:p>
          <a:p>
            <a:r>
              <a:t>- SEC 10-K — Skillz FY2023 (Skillz v. AviaGames)</a:t>
            </a:r>
          </a:p>
          <a:p>
            <a:r>
              <a:t>  https://www.sec.gov/Archives/edgar/data/1801661/000180166124000100/sklz-20231231.htm</a:t>
            </a:r>
          </a:p>
          <a:p>
            <a:r>
              <a:t>- Sporcle — Orange membership pricing</a:t>
            </a:r>
          </a:p>
          <a:p>
            <a:r>
              <a:t>  https://www.sporcle.com/memberships/</a:t>
            </a:r>
          </a:p>
          <a:p>
            <a:r>
              <a:t>- SEC — Duolingo Q2 FY2026 shareholder letter</a:t>
            </a:r>
          </a:p>
          <a:p>
            <a:r>
              <a:t>  https://www.sec.gov/Archives/edgar/data/1562088/000162828026053299/q2fy26duolingo6-30x26share.htm</a:t>
            </a:r>
          </a:p>
          <a:p>
            <a:r>
              <a:t>- FACT//DUEL internal — numbers.md §4.4b</a:t>
            </a:r>
          </a:p>
          <a:p>
            <a:r>
              <a:t>  FACT//DUEL internal: public/product/investor/numbers.md §4.4b (company disclosure)</a:t>
            </a:r>
          </a:p>
          <a:p>
            <a:r>
              <a:t>- yogonet.com</a:t>
            </a:r>
          </a:p>
          <a:p>
            <a:r>
              <a:t>  https://www.yogonet.com/ (Skillz v. Papaya verdict, 28 Apr 2026)</a:t>
            </a:r>
          </a:p>
          <a:p>
            <a:r>
              <a:t>- support.google.com</a:t>
            </a:r>
          </a:p>
          <a:p>
            <a:r>
              <a:t>  https://support.google.com/admanager/answer/9116812</a:t>
            </a:r>
          </a:p>
          <a:p>
            <a:r>
              <a:t>- support.google.com</a:t>
            </a:r>
          </a:p>
          <a:p>
            <a:r>
              <a:t>  https://support.google.com/adsense/answer/9121589</a:t>
            </a:r>
          </a:p>
          <a:p>
            <a:r>
              <a:t>- support.google.com</a:t>
            </a:r>
          </a:p>
          <a:p>
            <a:r>
              <a:t>  https://support.google.com/adsense/answer/1705831 (H5 Games Ads: approval "not guaranteed")</a:t>
            </a:r>
          </a:p>
          <a:p>
            <a:r>
              <a:t>- FACT//DUEL internal — numbers.md §4.4 and §4.5</a:t>
            </a:r>
          </a:p>
          <a:p>
            <a:r>
              <a:t>  FACT//DUEL internal: public/product/investor/numbers.md §4.4 and §4.5</a:t>
            </a:r>
          </a:p>
          <a:p>
            <a:r>
              <a:t>- Carta — State of Private Markets, Q3 2025</a:t>
            </a:r>
          </a:p>
          <a:p>
            <a:r>
              <a:t>  https://carta.com/data/state-of-private-markets-q3-2025/</a:t>
            </a:r>
          </a:p>
          <a:p>
            <a:r>
              <a:t>- Crunchbase — US seed funding, 2025</a:t>
            </a:r>
          </a:p>
          <a:p>
            <a:r>
              <a:t>  https://news.crunchbase.com/venture/average-seed-funding-amounts-deals-grew-2025/</a:t>
            </a:r>
          </a:p>
          <a:p>
            <a:r>
              <a:t>- FACT//DUEL internal — numbers.md §4.4, §4.5 and §5.8</a:t>
            </a:r>
          </a:p>
          <a:p>
            <a:r>
              <a:t>  FACT//DUEL internal: public/product/investor/numbers.md §4.4, §4.5 and §5.8</a:t>
            </a:r>
          </a:p>
          <a:p>
            <a:r>
              <a:t>- FACT//DUEL internal — numbers.md §7.1 and §7.3</a:t>
            </a:r>
          </a:p>
          <a:p>
            <a:r>
              <a:t>  FACT//DUEL internal: public/product/investor/numbers.md §7.1 and §7.3 (company disclosure)</a:t>
            </a:r>
          </a:p>
          <a:p>
            <a:r>
              <a:t>- Fact.MR — second-screen sports apps market</a:t>
            </a:r>
          </a:p>
          <a:p>
            <a:r>
              <a:t>  https://www.factmr.com/report/second-screen-sports-apps-market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register, continued. Full URLs for this page:</a:t>
            </a:r>
          </a:p>
          <a:p/>
          <a:p>
            <a:r>
              <a:t>- The Business Research Company — fan engagement</a:t>
            </a:r>
          </a:p>
          <a:p>
            <a:r>
              <a:t>  https://www.thebusinessresearchcompany.com/report/fan-engagement-global-market-report</a:t>
            </a:r>
          </a:p>
          <a:p>
            <a:r>
              <a:t>- market.us — fan engagement market</a:t>
            </a:r>
          </a:p>
          <a:p>
            <a:r>
              <a:t>  https://market.us/report/fan-engagement-market/</a:t>
            </a:r>
          </a:p>
          <a:p>
            <a:r>
              <a:t>- MarketsandMarkets — game-based learning</a:t>
            </a:r>
          </a:p>
          <a:p>
            <a:r>
              <a:t>  https://www.marketsandmarkets.com/Market-Reports/game-based-learning-market-169115901.html</a:t>
            </a:r>
          </a:p>
          <a:p>
            <a:r>
              <a:t>- IMARC — game-based learning</a:t>
            </a:r>
          </a:p>
          <a:p>
            <a:r>
              <a:t>  https://www.imarcgroup.com/game-based-learning-market</a:t>
            </a:r>
          </a:p>
          <a:p>
            <a:r>
              <a:t>- Sensor Tower — State of Mobile 2026</a:t>
            </a:r>
          </a:p>
          <a:p>
            <a:r>
              <a:t>  https://www.sensortower.com/blog/state-of-mobile-2026</a:t>
            </a:r>
          </a:p>
          <a:p>
            <a:r>
              <a:t>- applixir.com</a:t>
            </a:r>
          </a:p>
          <a:p>
            <a:r>
              <a:t>  https://applixir.com/faq</a:t>
            </a:r>
          </a:p>
          <a:p>
            <a:r>
              <a:t>- FACT//DUEL internal — docs/money/ads/lane-launch.json</a:t>
            </a:r>
          </a:p>
          <a:p>
            <a:r>
              <a:t>  FACT//DUEL internal: docs/money/ads/lane-launch.json</a:t>
            </a:r>
          </a:p>
          <a:p>
            <a:r>
              <a:t>- FSGA / Angus Reid 2026 — participation research</a:t>
            </a:r>
          </a:p>
          <a:p>
            <a:r>
              <a:t>  https://members.thefsga.org/news/Details/new-fsga-research-details-growing-role-of-ai-prediction-markets-in-fantasy-sports-and-sports-betting-341850</a:t>
            </a:r>
          </a:p>
          <a:p>
            <a:r>
              <a:t>- FSGA 2025 — next-generation engagement research</a:t>
            </a:r>
          </a:p>
          <a:p>
            <a:r>
              <a:t>  https://members.thefsga.org/news/Details/new-fsga-research-highlights-industry-stability-and-next-generation-growth-in-fantasy-sports-and-sports-betting-305937</a:t>
            </a:r>
          </a:p>
          <a:p>
            <a:r>
              <a:t>- ICC — global cricket market research</a:t>
            </a:r>
          </a:p>
          <a:p>
            <a:r>
              <a:t>  https://www.icc-cricket.com/media-releases/first-global-market-research-project-unveils-more-than-one-billion-cricket-fans</a:t>
            </a:r>
          </a:p>
          <a:p>
            <a:r>
              <a:t>- Nielsen — 2025 Global Sports Report</a:t>
            </a:r>
          </a:p>
          <a:p>
            <a:r>
              <a:t>  https://www.nielsen.com/news-center/2025/the-future-of-sport-nielsens-2025-report-reveals-growth-drivers/</a:t>
            </a:r>
          </a:p>
          <a:p>
            <a:r>
              <a:t>- Newzoo — Global Games Market 2025</a:t>
            </a:r>
          </a:p>
          <a:p>
            <a:r>
              <a:t>  https://newzoo.com/articles/global-games-market-2025</a:t>
            </a:r>
          </a:p>
          <a:p>
            <a:r>
              <a:t>- Paul Graham — How to convince investors</a:t>
            </a:r>
          </a:p>
          <a:p>
            <a:r>
              <a:t>  https://paulgraham.com/convince.html</a:t>
            </a:r>
          </a:p>
          <a:p>
            <a:r>
              <a:t>- a16z — 16 More Startup Metrics</a:t>
            </a:r>
          </a:p>
          <a:p>
            <a:r>
              <a:t>  https://a16z.com/16-more-startup-metrics/</a:t>
            </a:r>
          </a:p>
          <a:p>
            <a:r>
              <a:t>- SEC Form D — HQ Trivia</a:t>
            </a:r>
          </a:p>
          <a:p>
            <a:r>
              <a:t>  https://www.sec.gov/Archives/edgar/data/1734125/000173412518000001/xslFormDX01/primary_doc.xml</a:t>
            </a:r>
          </a:p>
          <a:p>
            <a:r>
              <a:t>- SEC Form D — Teatime Games (Trivia Royale)</a:t>
            </a:r>
          </a:p>
          <a:p>
            <a:r>
              <a:t>  https://www.sec.gov/Archives/edgar/data/1717682/000171768218000001/primary_doc.xml</a:t>
            </a:r>
          </a:p>
          <a:p>
            <a:r>
              <a:t>- FACT//DUEL internal — numbers.md §5 (failed verification and unresolved items)</a:t>
            </a:r>
          </a:p>
          <a:p>
            <a:r>
              <a:t>  FACT//DUEL internal: public/product/investor/numbers.md §5 (failed verification and unresolved items)</a:t>
            </a:r>
          </a:p>
          <a:p>
            <a:r>
              <a:t>- FACT//DUEL internal — numbers.md — status paragraph, §7.1 and §7.2</a:t>
            </a:r>
          </a:p>
          <a:p>
            <a:r>
              <a:t>  FACT//DUEL internal: public/product/investor/numbers.md — status paragraph, §7.1 and §7.2 (company disclosure)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1335024"/>
            <a:ext cx="11057839" cy="1856231"/>
          </a:xfrm>
        </p:spPr>
        <p:txBody>
          <a:bodyPr wrap="square" lIns="0" rIns="0" tIns="0" bIns="0"/>
          <a:lstStyle/>
          <a:p>
            <a:pPr>
              <a:lnSpc>
                <a:spcPct val="100000"/>
              </a:lnSpc>
            </a:pPr>
            <a:r>
              <a:rPr sz="6200" b="1" i="0" spc="50">
                <a:solidFill>
                  <a:srgbClr val="F7F6EF"/>
                </a:solidFill>
                <a:latin typeface="Arial"/>
              </a:rPr>
              <a:t>FACT</a:t>
            </a:r>
            <a:r>
              <a:rPr sz="6200" b="1" i="0" spc="50">
                <a:solidFill>
                  <a:srgbClr val="D4FF3A"/>
                </a:solidFill>
                <a:latin typeface="Arial"/>
              </a:rPr>
              <a:t>//</a:t>
            </a:r>
            <a:r>
              <a:rPr sz="6200" b="1" i="0" spc="50">
                <a:solidFill>
                  <a:srgbClr val="F7F6EF"/>
                </a:solidFill>
                <a:latin typeface="Arial"/>
              </a:rPr>
              <a:t>DUEL</a:t>
            </a:r>
          </a:p>
          <a:p>
            <a:pPr>
              <a:lnSpc>
                <a:spcPct val="108000"/>
              </a:lnSpc>
              <a:spcBef>
                <a:spcPts val="1400"/>
              </a:spcBef>
            </a:pPr>
            <a:r>
              <a:rPr sz="2600" b="1" i="0">
                <a:solidFill>
                  <a:srgbClr val="D4FF3A"/>
                </a:solidFill>
                <a:latin typeface="Arial"/>
              </a:rPr>
              <a:t>A 1v1 sports trivia duel, ad-funded, playable against a bot in a browser..</a:t>
            </a:r>
          </a:p>
        </p:txBody>
      </p:sp>
      <p:sp>
        <p:nvSpPr>
          <p:cNvPr id="3" name="TextBox 2"/>
          <p:cNvSpPr txBox="1"/>
          <p:nvPr/>
        </p:nvSpPr>
        <p:spPr>
          <a:xfrm>
            <a:off x="566928" y="969264"/>
            <a:ext cx="11057839" cy="274320"/>
          </a:xfrm>
          <a:prstGeom prst="rect">
            <a:avLst/>
          </a:prstGeom>
          <a:noFill/>
        </p:spPr>
        <p:txBody>
          <a:bodyPr wrap="square" lIns="0" rIns="0" tIns="0" bIns="0" anchor="t">
            <a:spAutoFit/>
          </a:bodyPr>
          <a:lstStyle/>
          <a:p>
            <a:r>
              <a:rPr sz="1100" b="1" i="0" spc="180">
                <a:solidFill>
                  <a:srgbClr val="D4FF3A"/>
                </a:solidFill>
                <a:latin typeface="Arial"/>
              </a:rPr>
              <a:t>SEED ROUND — SEPTEMBER 2026</a:t>
            </a:r>
          </a:p>
        </p:txBody>
      </p:sp>
      <p:sp>
        <p:nvSpPr>
          <p:cNvPr id="4" name="TextBox 3"/>
          <p:cNvSpPr txBox="1"/>
          <p:nvPr/>
        </p:nvSpPr>
        <p:spPr>
          <a:xfrm>
            <a:off x="566928" y="3319272"/>
            <a:ext cx="9594799" cy="517144"/>
          </a:xfrm>
          <a:prstGeom prst="rect">
            <a:avLst/>
          </a:prstGeom>
          <a:noFill/>
        </p:spPr>
        <p:txBody>
          <a:bodyPr wrap="square" lIns="0" rIns="0" tIns="0" bIns="0" anchor="t">
            <a:spAutoFit/>
          </a:bodyPr>
          <a:lstStyle/>
          <a:p>
            <a:pPr>
              <a:lnSpc>
                <a:spcPct val="120000"/>
              </a:lnSpc>
            </a:pPr>
            <a:r>
              <a:rPr sz="1600" b="0" i="0">
                <a:solidFill>
                  <a:srgbClr val="A6ADBA"/>
                </a:solidFill>
                <a:latin typeface="Arial"/>
              </a:rPr>
              <a:t>A 1v1 sports trivia duel, ad-funded: coins are earned by watching, never bought, never cashed out. Retention proof first; the business is the ad.</a:t>
            </a:r>
          </a:p>
        </p:txBody>
      </p:sp>
      <p:sp>
        <p:nvSpPr>
          <p:cNvPr id="5" name="TextBox 4"/>
          <p:cNvSpPr txBox="1"/>
          <p:nvPr/>
        </p:nvSpPr>
        <p:spPr>
          <a:xfrm>
            <a:off x="566928" y="4101592"/>
            <a:ext cx="9960559" cy="1040765"/>
          </a:xfrm>
          <a:prstGeom prst="rect">
            <a:avLst/>
          </a:prstGeom>
          <a:noFill/>
        </p:spPr>
        <p:txBody>
          <a:bodyPr wrap="square" lIns="0" rIns="0" tIns="0" bIns="0" anchor="t">
            <a:spAutoFit/>
          </a:bodyPr>
          <a:lstStyle/>
          <a:p>
            <a:pPr marL="187445" indent="-187445">
              <a:lnSpc>
                <a:spcPct val="116000"/>
              </a:lnSpc>
              <a:buClr>
                <a:srgbClr val="D4FF3A"/>
              </a:buClr>
              <a:buFont typeface="Arial"/>
              <a:buChar char="—"/>
            </a:pPr>
            <a:r>
              <a:rPr sz="1100" b="0" i="0">
                <a:solidFill>
                  <a:srgbClr val="F7F6EF"/>
                </a:solidFill>
                <a:latin typeface="Arial"/>
              </a:rPr>
              <a:t>Play a full bot duel on a phone or laptop: https://occult-kranti.github.io/fact-duel/ — no install, no account, no server.</a:t>
            </a:r>
          </a:p>
          <a:p>
            <a:pPr marL="187445" indent="-187445">
              <a:lnSpc>
                <a:spcPct val="116000"/>
              </a:lnSpc>
              <a:spcBef>
                <a:spcPts val="605"/>
              </a:spcBef>
              <a:buClr>
                <a:srgbClr val="D4FF3A"/>
              </a:buClr>
              <a:buFont typeface="Arial"/>
              <a:buChar char="—"/>
            </a:pPr>
            <a:r>
              <a:rPr sz="1100" b="0" i="0">
                <a:solidFill>
                  <a:srgbClr val="F7F6EF"/>
                </a:solidFill>
                <a:latin typeface="Arial"/>
              </a:rPr>
              <a:t>Zero users outside a private playtest. Zero revenue. 329 questions in the shipped bank across five sports, every fact source-checked and QA'd; 24 science questions hidden, not deleted.</a:t>
            </a:r>
          </a:p>
          <a:p>
            <a:pPr marL="187445" indent="-187445">
              <a:lnSpc>
                <a:spcPct val="116000"/>
              </a:lnSpc>
              <a:spcBef>
                <a:spcPts val="605"/>
              </a:spcBef>
              <a:buClr>
                <a:srgbClr val="D4FF3A"/>
              </a:buClr>
              <a:buFont typeface="Arial"/>
              <a:buChar char="—"/>
            </a:pPr>
            <a:r>
              <a:rPr sz="1100" b="0" i="0">
                <a:solidFill>
                  <a:srgbClr val="F7F6EF"/>
                </a:solidFill>
                <a:latin typeface="Arial"/>
              </a:rPr>
              <a:t>The model: coins earned by watching rewarded ads, spent on duel entries. Never purchasable, never cashable. No licence needed in the US, EU or India.</a:t>
            </a:r>
          </a:p>
          <a:p>
            <a:pPr marL="187445" indent="-187445">
              <a:lnSpc>
                <a:spcPct val="116000"/>
              </a:lnSpc>
              <a:spcBef>
                <a:spcPts val="605"/>
              </a:spcBef>
              <a:buClr>
                <a:srgbClr val="D4FF3A"/>
              </a:buClr>
              <a:buFont typeface="Arial"/>
              <a:buChar char="—"/>
            </a:pPr>
            <a:r>
              <a:rPr sz="1100" b="0" i="0">
                <a:solidFill>
                  <a:srgbClr val="F7F6EF"/>
                </a:solidFill>
                <a:latin typeface="Arial"/>
              </a:rPr>
              <a:t>Raising about </a:t>
            </a:r>
            <a:r>
              <a:rPr sz="1100" b="0" i="0">
                <a:solidFill>
                  <a:srgbClr val="FFC83D"/>
                </a:solidFill>
                <a:latin typeface="Arial"/>
              </a:rPr>
              <a:t>$1.2M</a:t>
            </a:r>
            <a:r>
              <a:rPr sz="1100" b="0" i="0">
                <a:solidFill>
                  <a:srgbClr val="F7F6EF"/>
                </a:solidFill>
                <a:latin typeface="Arial"/>
              </a:rPr>
              <a:t> </a:t>
            </a:r>
            <a:r>
              <a:rPr sz="1100" b="1" i="0">
                <a:solidFill>
                  <a:srgbClr val="4EE1FF"/>
                </a:solidFill>
                <a:latin typeface="Arial"/>
              </a:rPr>
              <a:t>(P)</a:t>
            </a:r>
            <a:r>
              <a:rPr sz="1100" b="0" i="0">
                <a:solidFill>
                  <a:srgbClr val="F7F6EF"/>
                </a:solidFill>
                <a:latin typeface="Arial"/>
              </a:rPr>
              <a:t> for 18 months to buy the retention data this deck does not have, and to ship the store builds that make ad rewards verifiable.</a:t>
            </a:r>
          </a:p>
        </p:txBody>
      </p:sp>
      <p:sp>
        <p:nvSpPr>
          <p:cNvPr id="6" name="Rectangle 5"/>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6144768"/>
            <a:ext cx="9869119" cy="548640"/>
          </a:xfrm>
          <a:prstGeom prst="rect">
            <a:avLst/>
          </a:prstGeom>
          <a:noFill/>
        </p:spPr>
        <p:txBody>
          <a:bodyPr wrap="square" lIns="0" rIns="0" tIns="0" bIns="0" anchor="t">
            <a:spAutoFit/>
          </a:bodyPr>
          <a:lstStyle/>
          <a:p>
            <a:pPr>
              <a:lnSpc>
                <a:spcPct val="120000"/>
              </a:lnSpc>
            </a:pPr>
            <a:r>
              <a:rPr sz="800" b="0" i="0">
                <a:solidFill>
                  <a:srgbClr val="A6ADBA"/>
                </a:solidFill>
                <a:latin typeface="Arial"/>
              </a:rPr>
              <a:t>Confidential. For the named recipient only. Every number carries its source. Figures marked (P) are a plan, not a forecast; figures marked (likely) are third-party benchmarks the research could not independently verify. FACT//DUEL has no users outside a private playtest, no revenue, and takes no money from anyone.</a:t>
            </a:r>
          </a:p>
        </p:txBody>
      </p:sp>
      <p:sp>
        <p:nvSpPr>
          <p:cNvPr id="8" name="TextBox 7"/>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682496"/>
          </a:xfrm>
        </p:spPr>
        <p:txBody>
          <a:bodyPr wrap="square" lIns="0" rIns="0" tIns="0" bIns="0" anchor="t"/>
          <a:lstStyle/>
          <a:p>
            <a:pPr>
              <a:lnSpc>
                <a:spcPct val="108000"/>
              </a:lnSpc>
            </a:pPr>
            <a:r>
              <a:rPr sz="4000" b="1" i="0">
                <a:solidFill>
                  <a:srgbClr val="F7F6EF"/>
                </a:solidFill>
                <a:latin typeface="Arial"/>
              </a:rPr>
              <a:t>The 1v1 duel: hundreds of millions of lifetime installs, essentially no maintained incumbent.</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THE VACUUM</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Google Play — Trivia Crack listing  ·  MAG Interactive — Q3 2025/26 interim report  ·  Apple lookup API — QuizDuel listing (US storefront)  ·  Apple lookup API — QuizDuel listing</a:t>
            </a:r>
          </a:p>
          <a:p>
            <a:pPr>
              <a:lnSpc>
                <a:spcPct val="115000"/>
              </a:lnSpc>
            </a:pPr>
            <a:r>
              <a:rPr sz="800" b="0" i="0">
                <a:solidFill>
                  <a:srgbClr val="A6ADBA"/>
                </a:solidFill>
                <a:latin typeface="Arial"/>
              </a:rPr>
              <a:t>Google Play — Quizion listing  ·  Google Play — TRIVIA GO! listing</a:t>
            </a:r>
          </a:p>
        </p:txBody>
      </p:sp>
      <p:sp>
        <p:nvSpPr>
          <p:cNvPr id="7" name="TextBox 6"/>
          <p:cNvSpPr txBox="1"/>
          <p:nvPr/>
        </p:nvSpPr>
        <p:spPr>
          <a:xfrm>
            <a:off x="566928" y="2542032"/>
            <a:ext cx="5114239" cy="3364991"/>
          </a:xfrm>
          <a:prstGeom prst="rect">
            <a:avLst/>
          </a:prstGeom>
          <a:noFill/>
        </p:spPr>
        <p:txBody>
          <a:bodyPr wrap="square" lIns="0" rIns="0" tIns="0" bIns="0" anchor="t">
            <a:spAutoFit/>
          </a:bodyPr>
          <a:lstStyle/>
          <a:p>
            <a:pPr marL="281154" indent="-281154">
              <a:lnSpc>
                <a:spcPct val="116000"/>
              </a:lnSpc>
              <a:buClr>
                <a:srgbClr val="D4FF3A"/>
              </a:buClr>
              <a:buFont typeface="Arial"/>
              <a:buChar char="—"/>
            </a:pPr>
            <a:r>
              <a:rPr sz="1650" b="0" i="0">
                <a:solidFill>
                  <a:srgbClr val="F7F6EF"/>
                </a:solidFill>
                <a:latin typeface="Arial"/>
              </a:rPr>
              <a:t>Trivia Crack: 267,939,837 lifetime Android installs — Google Play's internal count, displayed publicly as 100M+. Installs, not users.</a:t>
            </a:r>
          </a:p>
          <a:p>
            <a:pPr marL="281154" indent="-281154">
              <a:lnSpc>
                <a:spcPct val="116000"/>
              </a:lnSpc>
              <a:spcBef>
                <a:spcPts val="907"/>
              </a:spcBef>
              <a:buClr>
                <a:srgbClr val="D4FF3A"/>
              </a:buClr>
              <a:buFont typeface="Arial"/>
              <a:buChar char="—"/>
            </a:pPr>
            <a:r>
              <a:rPr sz="1650" b="0" i="0">
                <a:solidFill>
                  <a:srgbClr val="F7F6EF"/>
                </a:solidFill>
                <a:latin typeface="Arial"/>
              </a:rPr>
              <a:t>Its Play listing is now retitled around a FOX TV tie-in.</a:t>
            </a:r>
          </a:p>
          <a:p>
            <a:pPr marL="281154" indent="-281154">
              <a:lnSpc>
                <a:spcPct val="116000"/>
              </a:lnSpc>
              <a:spcBef>
                <a:spcPts val="907"/>
              </a:spcBef>
              <a:buClr>
                <a:srgbClr val="D4FF3A"/>
              </a:buClr>
              <a:buFont typeface="Arial"/>
              <a:buChar char="—"/>
            </a:pPr>
            <a:r>
              <a:rPr sz="1650" b="0" i="0">
                <a:solidFill>
                  <a:srgbClr val="F7F6EF"/>
                </a:solidFill>
                <a:latin typeface="Arial"/>
              </a:rPr>
              <a:t>QuizDuel is live and maintained — iOS build 10 Sep 2026 — and tiny on US iOS: 3.51 stars from 78 ratings.</a:t>
            </a:r>
          </a:p>
          <a:p>
            <a:pPr marL="281154" indent="-281154">
              <a:lnSpc>
                <a:spcPct val="116000"/>
              </a:lnSpc>
              <a:spcBef>
                <a:spcPts val="907"/>
              </a:spcBef>
              <a:buClr>
                <a:srgbClr val="D4FF3A"/>
              </a:buClr>
              <a:buFont typeface="Arial"/>
              <a:buChar char="—"/>
            </a:pPr>
            <a:r>
              <a:rPr sz="1650" b="0" i="0">
                <a:solidFill>
                  <a:srgbClr val="F7F6EF"/>
                </a:solidFill>
                <a:latin typeface="Arial"/>
              </a:rPr>
              <a:t>Owner MAG Interactive: group DAU -14% and MAU -13% YoY, nine-month average to May 2026; Q3 alone -12% and -9%.</a:t>
            </a:r>
          </a:p>
        </p:txBody>
      </p:sp>
      <p:pic>
        <p:nvPicPr>
          <p:cNvPr id="8" name="Picture 7" descr="vacuum.png"/>
          <p:cNvPicPr>
            <a:picLocks noChangeAspect="1"/>
          </p:cNvPicPr>
          <p:nvPr/>
        </p:nvPicPr>
        <p:blipFill>
          <a:blip r:embed="rId2"/>
          <a:stretch>
            <a:fillRect/>
          </a:stretch>
        </p:blipFill>
        <p:spPr>
          <a:xfrm>
            <a:off x="6001207" y="2666074"/>
            <a:ext cx="5623560" cy="3116906"/>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133856"/>
          </a:xfrm>
        </p:spPr>
        <p:txBody>
          <a:bodyPr wrap="square" lIns="0" rIns="0" tIns="0" bIns="0" anchor="t"/>
          <a:lstStyle/>
          <a:p>
            <a:pPr>
              <a:lnSpc>
                <a:spcPct val="108000"/>
              </a:lnSpc>
            </a:pPr>
            <a:r>
              <a:rPr sz="4000" b="1" i="0">
                <a:solidFill>
                  <a:srgbClr val="F7F6EF"/>
                </a:solidFill>
                <a:latin typeface="Arial"/>
              </a:rPr>
              <a:t>All three died of monetisation and long-tail retention, not distribution.</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THE GRAVEYARD</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3</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TechCrunch — Trivia Royale, 2.5M downloads in 3 weeks  ·  TechCrunch — HQ Trivia shuts down  ·  TechCrunch — HQ Trivia peak concurrent record  ·  SEC 10-K — Glu Mobile FY2016 (QuizUp mark)</a:t>
            </a:r>
          </a:p>
          <a:p>
            <a:pPr>
              <a:lnSpc>
                <a:spcPct val="115000"/>
              </a:lnSpc>
            </a:pPr>
            <a:r>
              <a:rPr sz="800" b="0" i="0">
                <a:solidFill>
                  <a:srgbClr val="A6ADBA"/>
                </a:solidFill>
                <a:latin typeface="Arial"/>
              </a:rPr>
              <a:t>SEC 8-K — Glu Mobile / QuizUp acquisition</a:t>
            </a:r>
          </a:p>
        </p:txBody>
      </p:sp>
      <p:sp>
        <p:nvSpPr>
          <p:cNvPr id="7" name="TextBox 6"/>
          <p:cNvSpPr txBox="1"/>
          <p:nvPr/>
        </p:nvSpPr>
        <p:spPr>
          <a:xfrm>
            <a:off x="566928" y="1993392"/>
            <a:ext cx="5114239" cy="3913631"/>
          </a:xfrm>
          <a:prstGeom prst="rect">
            <a:avLst/>
          </a:prstGeom>
          <a:noFill/>
        </p:spPr>
        <p:txBody>
          <a:bodyPr wrap="square" lIns="0" rIns="0" tIns="0" bIns="0" anchor="t">
            <a:spAutoFit/>
          </a:bodyPr>
          <a:lstStyle/>
          <a:p>
            <a:pPr marL="281154" indent="-281154">
              <a:lnSpc>
                <a:spcPct val="116000"/>
              </a:lnSpc>
              <a:buClr>
                <a:srgbClr val="D4FF3A"/>
              </a:buClr>
              <a:buFont typeface="Arial"/>
              <a:buChar char="—"/>
            </a:pPr>
            <a:r>
              <a:rPr sz="1650" b="0" i="0">
                <a:solidFill>
                  <a:srgbClr val="F7F6EF"/>
                </a:solidFill>
                <a:latin typeface="Arial"/>
              </a:rPr>
              <a:t>Trivia Royale: 2.5M downloads in ~3 weeks on a launch budget under </a:t>
            </a:r>
            <a:r>
              <a:rPr sz="1650" b="0" i="0">
                <a:solidFill>
                  <a:srgbClr val="FFC83D"/>
                </a:solidFill>
                <a:latin typeface="Arial"/>
              </a:rPr>
              <a:t>$500,000</a:t>
            </a:r>
            <a:r>
              <a:rPr sz="1650" b="0" i="0">
                <a:solidFill>
                  <a:srgbClr val="F7F6EF"/>
                </a:solidFill>
                <a:latin typeface="Arial"/>
              </a:rPr>
              <a:t> — a blended </a:t>
            </a:r>
            <a:r>
              <a:rPr sz="1650" b="0" i="0">
                <a:solidFill>
                  <a:srgbClr val="FFC83D"/>
                </a:solidFill>
                <a:latin typeface="Arial"/>
              </a:rPr>
              <a:t>$0.20</a:t>
            </a:r>
            <a:r>
              <a:rPr sz="1650" b="0" i="0">
                <a:solidFill>
                  <a:srgbClr val="F7F6EF"/>
                </a:solidFill>
                <a:latin typeface="Arial"/>
              </a:rPr>
              <a:t> or less per download.</a:t>
            </a:r>
          </a:p>
          <a:p>
            <a:pPr marL="281154" indent="-281154">
              <a:lnSpc>
                <a:spcPct val="116000"/>
              </a:lnSpc>
              <a:spcBef>
                <a:spcPts val="907"/>
              </a:spcBef>
              <a:buClr>
                <a:srgbClr val="D4FF3A"/>
              </a:buClr>
              <a:buFont typeface="Arial"/>
              <a:buChar char="—"/>
            </a:pPr>
            <a:r>
              <a:rPr sz="1650" b="0" i="0">
                <a:solidFill>
                  <a:srgbClr val="F7F6EF"/>
                </a:solidFill>
                <a:latin typeface="Arial"/>
              </a:rPr>
              <a:t>45% day-one iOS retention. Dead in eight months — revenue insufficient.</a:t>
            </a:r>
          </a:p>
          <a:p>
            <a:pPr marL="281154" indent="-281154">
              <a:lnSpc>
                <a:spcPct val="116000"/>
              </a:lnSpc>
              <a:spcBef>
                <a:spcPts val="907"/>
              </a:spcBef>
              <a:buClr>
                <a:srgbClr val="D4FF3A"/>
              </a:buClr>
              <a:buFont typeface="Arial"/>
              <a:buChar char="—"/>
            </a:pPr>
            <a:r>
              <a:rPr sz="1650" b="0" i="0">
                <a:solidFill>
                  <a:srgbClr val="F7F6EF"/>
                </a:solidFill>
                <a:latin typeface="Arial"/>
              </a:rPr>
              <a:t>Every Trivia Royale figure above: Teatime statements to TechCrunch, unaudited. </a:t>
            </a:r>
            <a:r>
              <a:rPr sz="1650" b="0" i="0">
                <a:solidFill>
                  <a:srgbClr val="FFC83D"/>
                </a:solidFill>
                <a:latin typeface="Arial"/>
              </a:rPr>
              <a:t>$0.20</a:t>
            </a:r>
            <a:r>
              <a:rPr sz="1650" b="0" i="0">
                <a:solidFill>
                  <a:srgbClr val="F7F6EF"/>
                </a:solidFill>
                <a:latin typeface="Arial"/>
              </a:rPr>
              <a:t> blended — organic and viral included, not paid CPI.</a:t>
            </a:r>
          </a:p>
          <a:p>
            <a:pPr marL="281154" indent="-281154">
              <a:lnSpc>
                <a:spcPct val="116000"/>
              </a:lnSpc>
              <a:spcBef>
                <a:spcPts val="907"/>
              </a:spcBef>
              <a:buClr>
                <a:srgbClr val="D4FF3A"/>
              </a:buClr>
              <a:buFont typeface="Arial"/>
              <a:buChar char="—"/>
            </a:pPr>
            <a:r>
              <a:rPr sz="1650" b="0" i="0">
                <a:solidFill>
                  <a:srgbClr val="F7F6EF"/>
                </a:solidFill>
                <a:latin typeface="Arial"/>
              </a:rPr>
              <a:t>HQ Trivia: monthly installs fell from ~2M/month at peak (Feb 2018) to 67,000 (Jan 2020) — 3.35%, per TechCrunch.</a:t>
            </a:r>
          </a:p>
          <a:p>
            <a:pPr marL="281154" indent="-281154">
              <a:lnSpc>
                <a:spcPct val="116000"/>
              </a:lnSpc>
              <a:spcBef>
                <a:spcPts val="907"/>
              </a:spcBef>
              <a:buClr>
                <a:srgbClr val="D4FF3A"/>
              </a:buClr>
              <a:buFont typeface="Arial"/>
              <a:buChar char="—"/>
            </a:pPr>
            <a:r>
              <a:rPr sz="1650" b="0" i="0">
                <a:solidFill>
                  <a:srgbClr val="F7F6EF"/>
                </a:solidFill>
                <a:latin typeface="Arial"/>
              </a:rPr>
              <a:t>QuizUp: ~</a:t>
            </a:r>
            <a:r>
              <a:rPr sz="1650" b="0" i="0">
                <a:solidFill>
                  <a:srgbClr val="FFC83D"/>
                </a:solidFill>
                <a:latin typeface="Arial"/>
              </a:rPr>
              <a:t>$32.4M</a:t>
            </a:r>
            <a:r>
              <a:rPr sz="1650" b="0" i="0">
                <a:solidFill>
                  <a:srgbClr val="F7F6EF"/>
                </a:solidFill>
                <a:latin typeface="Arial"/>
              </a:rPr>
              <a:t> equity raised; sold to Glu for cancellation of </a:t>
            </a:r>
            <a:r>
              <a:rPr sz="1650" b="0" i="0">
                <a:solidFill>
                  <a:srgbClr val="FFC83D"/>
                </a:solidFill>
                <a:latin typeface="Arial"/>
              </a:rPr>
              <a:t>$7.5M</a:t>
            </a:r>
            <a:r>
              <a:rPr sz="1650" b="0" i="0">
                <a:solidFill>
                  <a:srgbClr val="F7F6EF"/>
                </a:solidFill>
                <a:latin typeface="Arial"/>
              </a:rPr>
              <a:t> face-value notes — </a:t>
            </a:r>
            <a:r>
              <a:rPr sz="1650" b="0" i="0">
                <a:solidFill>
                  <a:srgbClr val="FFC83D"/>
                </a:solidFill>
                <a:latin typeface="Arial"/>
              </a:rPr>
              <a:t>$3.2M</a:t>
            </a:r>
            <a:r>
              <a:rPr sz="1650" b="0" i="0">
                <a:solidFill>
                  <a:srgbClr val="F7F6EF"/>
                </a:solidFill>
                <a:latin typeface="Arial"/>
              </a:rPr>
              <a:t> fair value, zero goodwill.</a:t>
            </a:r>
          </a:p>
        </p:txBody>
      </p:sp>
      <p:pic>
        <p:nvPicPr>
          <p:cNvPr id="8" name="Picture 7" descr="graveyard.png"/>
          <p:cNvPicPr>
            <a:picLocks noChangeAspect="1"/>
          </p:cNvPicPr>
          <p:nvPr/>
        </p:nvPicPr>
        <p:blipFill>
          <a:blip r:embed="rId2"/>
          <a:stretch>
            <a:fillRect/>
          </a:stretch>
        </p:blipFill>
        <p:spPr>
          <a:xfrm>
            <a:off x="6001207" y="2306255"/>
            <a:ext cx="5623560" cy="3287904"/>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682496"/>
          </a:xfrm>
        </p:spPr>
        <p:txBody>
          <a:bodyPr wrap="square" lIns="0" rIns="0" tIns="0" bIns="0" anchor="t"/>
          <a:lstStyle/>
          <a:p>
            <a:pPr>
              <a:lnSpc>
                <a:spcPct val="108000"/>
              </a:lnSpc>
            </a:pPr>
            <a:r>
              <a:rPr sz="4000" b="1" i="0">
                <a:solidFill>
                  <a:srgbClr val="F7F6EF"/>
                </a:solidFill>
                <a:latin typeface="Arial"/>
              </a:rPr>
              <a:t>The bet is sequencing: prove retention on a free, ad-funded loop — the business is already legal and already the default.</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THE SOLUTION</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4</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GameAnalytics — 2026 Mobile &amp; PC Gaming Benchmarks  ·  FACT//DUEL internal — numbers.md §3.2, status paragraph and §5.15  ·  FACT//DUEL internal — repository — product code, unaudited</a:t>
            </a:r>
          </a:p>
          <a:p>
            <a:pPr>
              <a:lnSpc>
                <a:spcPct val="115000"/>
              </a:lnSpc>
            </a:pPr>
            <a:r>
              <a:rPr sz="800" b="0" i="0">
                <a:solidFill>
                  <a:srgbClr val="A6ADBA"/>
                </a:solidFill>
                <a:latin typeface="Arial"/>
              </a:rPr>
              <a:t>FACT//DUEL internal — numbers.md §7.1 and §7.2  ·  SEC — Duolingo FY2025 shareholder letter  ·  FACT//DUEL internal — numbers.md §1.1 and §1.6</a:t>
            </a:r>
          </a:p>
          <a:p>
            <a:pPr>
              <a:lnSpc>
                <a:spcPct val="115000"/>
              </a:lnSpc>
            </a:pPr>
            <a:r>
              <a:rPr sz="800" b="0" i="0">
                <a:solidFill>
                  <a:srgbClr val="A6ADBA"/>
                </a:solidFill>
                <a:latin typeface="Arial"/>
              </a:rPr>
              <a:t>FACT//DUEL internal — docs/money/ads/synthesis.json (16 Sep 2026; five research lanes, two adversarial audits)  ·  FACT//DUEL internal — numbers.md §8 (company disclosure — the ad-funded format, 16 Sep 2026)</a:t>
            </a:r>
          </a:p>
        </p:txBody>
      </p:sp>
      <p:sp>
        <p:nvSpPr>
          <p:cNvPr id="7" name="TextBox 6"/>
          <p:cNvSpPr txBox="1"/>
          <p:nvPr/>
        </p:nvSpPr>
        <p:spPr>
          <a:xfrm>
            <a:off x="566928" y="2542032"/>
            <a:ext cx="11057839" cy="3364991"/>
          </a:xfrm>
          <a:prstGeom prst="rect">
            <a:avLst/>
          </a:prstGeom>
          <a:noFill/>
        </p:spPr>
        <p:txBody>
          <a:bodyPr wrap="square" lIns="0" rIns="0" tIns="0" bIns="0" anchor="t">
            <a:spAutoFit/>
          </a:bodyPr>
          <a:lstStyle/>
          <a:p>
            <a:pPr marL="306731" indent="-306731">
              <a:lnSpc>
                <a:spcPct val="116000"/>
              </a:lnSpc>
              <a:buClr>
                <a:srgbClr val="D4FF3A"/>
              </a:buClr>
              <a:buFont typeface="Arial"/>
              <a:buChar char="—"/>
            </a:pPr>
            <a:r>
              <a:rPr sz="1800" b="0" i="0">
                <a:solidFill>
                  <a:srgbClr val="F7F6EF"/>
                </a:solidFill>
                <a:latin typeface="Arial"/>
              </a:rPr>
              <a:t>Retention is still the gate. Monetisation is no longer downstream of a licence: rewarded ads on a coin economy need none, in the US, EU or India (§8.1).</a:t>
            </a:r>
          </a:p>
          <a:p>
            <a:pPr marL="306731" indent="-306731">
              <a:lnSpc>
                <a:spcPct val="116000"/>
              </a:lnSpc>
              <a:spcBef>
                <a:spcPts val="990"/>
              </a:spcBef>
              <a:buClr>
                <a:srgbClr val="D4FF3A"/>
              </a:buClr>
              <a:buFont typeface="Arial"/>
              <a:buChar char="—"/>
            </a:pPr>
            <a:r>
              <a:rPr sz="1800" b="0" i="0">
                <a:solidFill>
                  <a:srgbClr val="F7F6EF"/>
                </a:solidFill>
                <a:latin typeface="Arial"/>
              </a:rPr>
              <a:t>The loop: watch a short ad → coins; enter a duel; the house pays the winner a prize. No coin ever moves between players. No purchase. No cash-out.</a:t>
            </a:r>
          </a:p>
          <a:p>
            <a:pPr marL="306731" indent="-306731">
              <a:lnSpc>
                <a:spcPct val="116000"/>
              </a:lnSpc>
              <a:spcBef>
                <a:spcPts val="990"/>
              </a:spcBef>
              <a:buClr>
                <a:srgbClr val="D4FF3A"/>
              </a:buClr>
              <a:buFont typeface="Arial"/>
              <a:buChar char="—"/>
            </a:pPr>
            <a:r>
              <a:rPr sz="1800" b="0" i="0">
                <a:solidFill>
                  <a:srgbClr val="F7F6EF"/>
                </a:solidFill>
                <a:latin typeface="Arial"/>
              </a:rPr>
              <a:t>Every competitor that scaled is drowning in one complaint cluster — ads after every question, unskippable, lives walls, hidden bots (§8.6). Ours are opt-in only, priced before the tap, never inside a round.</a:t>
            </a:r>
          </a:p>
          <a:p>
            <a:pPr marL="306731" indent="-306731">
              <a:lnSpc>
                <a:spcPct val="116000"/>
              </a:lnSpc>
              <a:spcBef>
                <a:spcPts val="990"/>
              </a:spcBef>
              <a:buClr>
                <a:srgbClr val="D4FF3A"/>
              </a:buClr>
              <a:buFont typeface="Arial"/>
              <a:buChar char="—"/>
            </a:pPr>
            <a:r>
              <a:rPr sz="1800" b="0" i="0">
                <a:solidFill>
                  <a:srgbClr val="F7F6EF"/>
                </a:solidFill>
                <a:latin typeface="Arial"/>
              </a:rPr>
              <a:t>We have measured no session length and no retention benefit (numbers.md §5.15, §7.1). The economy is built and tested; the number it depends on is not.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133856"/>
          </a:xfrm>
        </p:spPr>
        <p:txBody>
          <a:bodyPr wrap="square" lIns="0" rIns="0" tIns="0" bIns="0" anchor="t"/>
          <a:lstStyle/>
          <a:p>
            <a:pPr>
              <a:lnSpc>
                <a:spcPct val="108000"/>
              </a:lnSpc>
            </a:pPr>
            <a:r>
              <a:rPr sz="4000" b="1" i="0">
                <a:solidFill>
                  <a:srgbClr val="F7F6EF"/>
                </a:solidFill>
                <a:latin typeface="Arial"/>
              </a:rPr>
              <a:t>Play a complete duel in a browser, on a phone — about fifteen seconds.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PRODUCT — DO NOT TAKE OUR WORD FOR IT</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5</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FACT//DUEL internal — numbers.md — status paragraph, §4.4 and §7.1-§7.2  ·  FACT//DUEL internal — repository — product code, unaudited  ·  DocSend — per-section dwell times</a:t>
            </a:r>
          </a:p>
          <a:p>
            <a:pPr>
              <a:lnSpc>
                <a:spcPct val="115000"/>
              </a:lnSpc>
            </a:pPr>
            <a:r>
              <a:rPr sz="800" b="0" i="0">
                <a:solidFill>
                  <a:srgbClr val="A6ADBA"/>
                </a:solidFill>
                <a:latin typeface="Arial"/>
              </a:rPr>
              <a:t>FACT//DUEL internal — numbers.md — status paragraph and §5.15  ·  FACT//DUEL internal — numbers.md §2.3, §4.3 and §4.4  ·  FACT//DUEL internal — numbers.md §7.1 and §7.2</a:t>
            </a:r>
          </a:p>
          <a:p>
            <a:pPr>
              <a:lnSpc>
                <a:spcPct val="115000"/>
              </a:lnSpc>
            </a:pPr>
            <a:r>
              <a:rPr sz="800" b="0" i="0">
                <a:solidFill>
                  <a:srgbClr val="A6ADBA"/>
                </a:solidFill>
                <a:latin typeface="Arial"/>
              </a:rPr>
              <a:t>FACT//DUEL internal — docs/money/ads/synthesis.json (16 Sep 2026; five research lanes, two adversarial audits)</a:t>
            </a:r>
          </a:p>
        </p:txBody>
      </p:sp>
      <p:sp>
        <p:nvSpPr>
          <p:cNvPr id="7" name="TextBox 6"/>
          <p:cNvSpPr txBox="1"/>
          <p:nvPr/>
        </p:nvSpPr>
        <p:spPr>
          <a:xfrm>
            <a:off x="566928" y="1993392"/>
            <a:ext cx="4754880" cy="3913631"/>
          </a:xfrm>
          <a:prstGeom prst="rect">
            <a:avLst/>
          </a:prstGeom>
          <a:noFill/>
        </p:spPr>
        <p:txBody>
          <a:bodyPr wrap="square" lIns="0" rIns="0" tIns="0" bIns="0" anchor="t">
            <a:spAutoFit/>
          </a:bodyPr>
          <a:lstStyle/>
          <a:p>
            <a:pPr marL="247088" indent="-247088">
              <a:lnSpc>
                <a:spcPct val="116000"/>
              </a:lnSpc>
              <a:buClr>
                <a:srgbClr val="D4FF3A"/>
              </a:buClr>
              <a:buFont typeface="Arial"/>
              <a:buChar char="—"/>
            </a:pPr>
            <a:r>
              <a:rPr sz="1400" b="0" i="0">
                <a:solidFill>
                  <a:srgbClr val="F7F6EF"/>
                </a:solidFill>
                <a:latin typeface="Arial"/>
              </a:rPr>
              <a:t>Open https://occult-kranti.github.io/fact-duel/ on a phone: the static build runs the entire game in a browser, keeping the real duel engine.</a:t>
            </a:r>
          </a:p>
          <a:p>
            <a:pPr marL="247088" indent="-247088">
              <a:lnSpc>
                <a:spcPct val="116000"/>
              </a:lnSpc>
              <a:spcBef>
                <a:spcPts val="770"/>
              </a:spcBef>
              <a:buClr>
                <a:srgbClr val="D4FF3A"/>
              </a:buClr>
              <a:buFont typeface="Arial"/>
              <a:buChar char="—"/>
            </a:pPr>
            <a:r>
              <a:rPr sz="1400" b="0" i="0">
                <a:solidFill>
                  <a:srgbClr val="F7F6EF"/>
                </a:solidFill>
                <a:latin typeface="Arial"/>
              </a:rPr>
              <a:t>Sports only since 16 Sep 2026: football, cricket, baseball, Formula 1 and basketball, 60-66 questions each. Science is hidden behind one flag, not deleted.</a:t>
            </a:r>
          </a:p>
          <a:p>
            <a:pPr marL="247088" indent="-247088">
              <a:lnSpc>
                <a:spcPct val="116000"/>
              </a:lnSpc>
              <a:spcBef>
                <a:spcPts val="770"/>
              </a:spcBef>
              <a:buClr>
                <a:srgbClr val="D4FF3A"/>
              </a:buClr>
              <a:buFont typeface="Arial"/>
              <a:buChar char="—"/>
            </a:pPr>
            <a:r>
              <a:rPr sz="1400" b="0" i="0">
                <a:solidFill>
                  <a:srgbClr val="F7F6EF"/>
                </a:solidFill>
                <a:latin typeface="Arial"/>
              </a:rPr>
              <a:t>Practice bots play for free — enforced in the engine and on screen, because a house-banked bot is a faucet or a sink and any balance-aware tuning of it is rigging.</a:t>
            </a:r>
          </a:p>
          <a:p>
            <a:pPr marL="247088" indent="-247088">
              <a:lnSpc>
                <a:spcPct val="116000"/>
              </a:lnSpc>
              <a:spcBef>
                <a:spcPts val="770"/>
              </a:spcBef>
              <a:buClr>
                <a:srgbClr val="D4FF3A"/>
              </a:buClr>
              <a:buFont typeface="Arial"/>
              <a:buChar char="—"/>
            </a:pPr>
            <a:r>
              <a:rPr sz="1400" b="0" i="0">
                <a:solidFill>
                  <a:srgbClr val="F7F6EF"/>
                </a:solidFill>
                <a:latin typeface="Arial"/>
              </a:rPr>
              <a:t>Two-device friend duels need a server and are disabled in that build, with an on-screen notice. The calendar is hand-checked and static: no live feed, no scores API.</a:t>
            </a:r>
          </a:p>
          <a:p>
            <a:pPr marL="247088" indent="-247088">
              <a:lnSpc>
                <a:spcPct val="116000"/>
              </a:lnSpc>
              <a:spcBef>
                <a:spcPts val="770"/>
              </a:spcBef>
              <a:buClr>
                <a:srgbClr val="D4FF3A"/>
              </a:buClr>
              <a:buFont typeface="Arial"/>
              <a:buChar char="—"/>
            </a:pPr>
            <a:r>
              <a:rPr sz="1400" b="0" i="0">
                <a:solidFill>
                  <a:srgbClr val="F7F6EF"/>
                </a:solidFill>
                <a:latin typeface="Arial"/>
              </a:rPr>
              <a:t>Playable is not traction: no users outside a private playtest, no revenue, no retention effect measured (§7.1).</a:t>
            </a:r>
          </a:p>
        </p:txBody>
      </p:sp>
      <p:sp>
        <p:nvSpPr>
          <p:cNvPr id="8" name="Rectangle 7"/>
          <p:cNvSpPr/>
          <p:nvPr/>
        </p:nvSpPr>
        <p:spPr>
          <a:xfrm>
            <a:off x="5669280" y="2277317"/>
            <a:ext cx="4325464" cy="3345781"/>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desktop-home.png"/>
          <p:cNvPicPr>
            <a:picLocks noChangeAspect="1"/>
          </p:cNvPicPr>
          <p:nvPr/>
        </p:nvPicPr>
        <p:blipFill>
          <a:blip r:embed="rId2"/>
          <a:stretch>
            <a:fillRect/>
          </a:stretch>
        </p:blipFill>
        <p:spPr>
          <a:xfrm>
            <a:off x="5769864" y="2377901"/>
            <a:ext cx="4124296" cy="2577685"/>
          </a:xfrm>
          <a:prstGeom prst="rect">
            <a:avLst/>
          </a:prstGeom>
        </p:spPr>
      </p:pic>
      <p:sp>
        <p:nvSpPr>
          <p:cNvPr id="10" name="TextBox 9"/>
          <p:cNvSpPr txBox="1"/>
          <p:nvPr/>
        </p:nvSpPr>
        <p:spPr>
          <a:xfrm>
            <a:off x="5769864" y="5019594"/>
            <a:ext cx="4124296" cy="457200"/>
          </a:xfrm>
          <a:prstGeom prst="rect">
            <a:avLst/>
          </a:prstGeom>
          <a:noFill/>
        </p:spPr>
        <p:txBody>
          <a:bodyPr wrap="square" lIns="0" rIns="0" tIns="0" bIns="0" anchor="t">
            <a:spAutoFit/>
          </a:bodyPr>
          <a:lstStyle/>
          <a:p>
            <a:pPr>
              <a:lnSpc>
                <a:spcPct val="112000"/>
              </a:lnSpc>
            </a:pPr>
            <a:r>
              <a:rPr sz="950" b="0" i="0">
                <a:solidFill>
                  <a:srgbClr val="A6ADBA"/>
                </a:solidFill>
                <a:latin typeface="Arial"/>
              </a:rPr>
              <a:t>Home: level and XP, day streak, gems, Arena Rank, the day's quests, one-tap duel.</a:t>
            </a:r>
          </a:p>
        </p:txBody>
      </p:sp>
      <p:sp>
        <p:nvSpPr>
          <p:cNvPr id="11" name="Rectangle 10"/>
          <p:cNvSpPr/>
          <p:nvPr/>
        </p:nvSpPr>
        <p:spPr>
          <a:xfrm>
            <a:off x="10232488" y="2277317"/>
            <a:ext cx="1392278" cy="3345781"/>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phone-home.png"/>
          <p:cNvPicPr>
            <a:picLocks noChangeAspect="1"/>
          </p:cNvPicPr>
          <p:nvPr/>
        </p:nvPicPr>
        <p:blipFill>
          <a:blip r:embed="rId3"/>
          <a:stretch>
            <a:fillRect/>
          </a:stretch>
        </p:blipFill>
        <p:spPr>
          <a:xfrm>
            <a:off x="10333072" y="2377901"/>
            <a:ext cx="1191110" cy="2577685"/>
          </a:xfrm>
          <a:prstGeom prst="rect">
            <a:avLst/>
          </a:prstGeom>
        </p:spPr>
      </p:pic>
      <p:sp>
        <p:nvSpPr>
          <p:cNvPr id="13" name="TextBox 12"/>
          <p:cNvSpPr txBox="1"/>
          <p:nvPr/>
        </p:nvSpPr>
        <p:spPr>
          <a:xfrm>
            <a:off x="10333072" y="5019594"/>
            <a:ext cx="1191110" cy="457200"/>
          </a:xfrm>
          <a:prstGeom prst="rect">
            <a:avLst/>
          </a:prstGeom>
          <a:noFill/>
        </p:spPr>
        <p:txBody>
          <a:bodyPr wrap="square" lIns="0" rIns="0" tIns="0" bIns="0" anchor="t">
            <a:spAutoFit/>
          </a:bodyPr>
          <a:lstStyle/>
          <a:p>
            <a:pPr>
              <a:lnSpc>
                <a:spcPct val="112000"/>
              </a:lnSpc>
            </a:pPr>
            <a:r>
              <a:rPr sz="950" b="0" i="0">
                <a:solidFill>
                  <a:srgbClr val="A6ADBA"/>
                </a:solidFill>
                <a:latin typeface="Arial"/>
              </a:rPr>
              <a:t>Home on a phone.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133856"/>
          </a:xfrm>
        </p:spPr>
        <p:txBody>
          <a:bodyPr wrap="square" lIns="0" rIns="0" tIns="0" bIns="0" anchor="t"/>
          <a:lstStyle/>
          <a:p>
            <a:pPr>
              <a:lnSpc>
                <a:spcPct val="108000"/>
              </a:lnSpc>
            </a:pPr>
            <a:r>
              <a:rPr sz="4000" b="1" i="0">
                <a:solidFill>
                  <a:srgbClr val="F7F6EF"/>
                </a:solidFill>
                <a:latin typeface="Arial"/>
              </a:rPr>
              <a:t>TAM-A is $1.69bn–$2.83bn, built bottom-up from one population forecast and two filings.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MARKET</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6</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EMARKETER — second-screen engagement during live sport  ·  SEC — Duolingo FY2025 shareholder letter  ·  MAG Interactive — Q3 2025/26 interim report</a:t>
            </a:r>
          </a:p>
        </p:txBody>
      </p:sp>
      <p:sp>
        <p:nvSpPr>
          <p:cNvPr id="7" name="TextBox 6"/>
          <p:cNvSpPr txBox="1"/>
          <p:nvPr/>
        </p:nvSpPr>
        <p:spPr>
          <a:xfrm>
            <a:off x="566928" y="1993392"/>
            <a:ext cx="5114239" cy="3913631"/>
          </a:xfrm>
          <a:prstGeom prst="rect">
            <a:avLst/>
          </a:prstGeom>
          <a:noFill/>
        </p:spPr>
        <p:txBody>
          <a:bodyPr wrap="square" lIns="0" rIns="0" tIns="0" bIns="0" anchor="t">
            <a:spAutoFit/>
          </a:bodyPr>
          <a:lstStyle/>
          <a:p>
            <a:pPr marL="281154" indent="-281154">
              <a:lnSpc>
                <a:spcPct val="116000"/>
              </a:lnSpc>
              <a:buClr>
                <a:srgbClr val="D4FF3A"/>
              </a:buClr>
              <a:buFont typeface="Arial"/>
              <a:buChar char="—"/>
            </a:pPr>
            <a:r>
              <a:rPr sz="1650" b="0" i="0">
                <a:solidFill>
                  <a:srgbClr val="F7F6EF"/>
                </a:solidFill>
                <a:latin typeface="Arial"/>
              </a:rPr>
              <a:t>EMARKETER's 2026 forecast of 216.8M US second-screen adults × </a:t>
            </a:r>
            <a:r>
              <a:rPr sz="1650" b="0" i="0">
                <a:solidFill>
                  <a:srgbClr val="FFC83D"/>
                </a:solidFill>
                <a:latin typeface="Arial"/>
              </a:rPr>
              <a:t>$7.80</a:t>
            </a:r>
            <a:r>
              <a:rPr sz="1650" b="0" i="0">
                <a:solidFill>
                  <a:srgbClr val="F7F6EF"/>
                </a:solidFill>
                <a:latin typeface="Arial"/>
              </a:rPr>
              <a:t>–</a:t>
            </a:r>
            <a:r>
              <a:rPr sz="1650" b="0" i="0">
                <a:solidFill>
                  <a:srgbClr val="FFC83D"/>
                </a:solidFill>
                <a:latin typeface="Arial"/>
              </a:rPr>
              <a:t>$13.07</a:t>
            </a:r>
            <a:r>
              <a:rPr sz="1650" b="0" i="0">
                <a:solidFill>
                  <a:srgbClr val="F7F6EF"/>
                </a:solidFill>
                <a:latin typeface="Arial"/>
              </a:rPr>
              <a:t> revenue per active user per year = </a:t>
            </a:r>
            <a:r>
              <a:rPr sz="1650" b="0" i="0">
                <a:solidFill>
                  <a:srgbClr val="FFC83D"/>
                </a:solidFill>
                <a:latin typeface="Arial"/>
              </a:rPr>
              <a:t>$1.69bn</a:t>
            </a:r>
            <a:r>
              <a:rPr sz="1650" b="0" i="0">
                <a:solidFill>
                  <a:srgbClr val="F7F6EF"/>
                </a:solidFill>
                <a:latin typeface="Arial"/>
              </a:rPr>
              <a:t>–</a:t>
            </a:r>
            <a:r>
              <a:rPr sz="1650" b="0" i="0">
                <a:solidFill>
                  <a:srgbClr val="FFC83D"/>
                </a:solidFill>
                <a:latin typeface="Arial"/>
              </a:rPr>
              <a:t>$2.83bn</a:t>
            </a:r>
            <a:r>
              <a:rPr sz="1650" b="0" i="0">
                <a:solidFill>
                  <a:srgbClr val="F7F6EF"/>
                </a:solidFill>
                <a:latin typeface="Arial"/>
              </a:rPr>
              <a:t>.</a:t>
            </a:r>
          </a:p>
          <a:p>
            <a:pPr marL="281154" indent="-281154">
              <a:lnSpc>
                <a:spcPct val="116000"/>
              </a:lnSpc>
              <a:spcBef>
                <a:spcPts val="907"/>
              </a:spcBef>
              <a:buClr>
                <a:srgbClr val="D4FF3A"/>
              </a:buClr>
              <a:buFont typeface="Arial"/>
              <a:buChar char="—"/>
            </a:pPr>
            <a:r>
              <a:rPr sz="1650" b="0" i="0">
                <a:solidFill>
                  <a:srgbClr val="F7F6EF"/>
                </a:solidFill>
                <a:latin typeface="Arial"/>
              </a:rPr>
              <a:t>ARPU low </a:t>
            </a:r>
            <a:r>
              <a:rPr sz="1650" b="0" i="0">
                <a:solidFill>
                  <a:srgbClr val="FFC83D"/>
                </a:solidFill>
                <a:latin typeface="Arial"/>
              </a:rPr>
              <a:t>$7.80,</a:t>
            </a:r>
            <a:r>
              <a:rPr sz="1650" b="0" i="0">
                <a:solidFill>
                  <a:srgbClr val="F7F6EF"/>
                </a:solidFill>
                <a:latin typeface="Arial"/>
              </a:rPr>
              <a:t> our arithmetic, not a published ratio: Duolingo FY2025 revenue ÷ 133.1M MAU at 31 Dec 2025.</a:t>
            </a:r>
          </a:p>
          <a:p>
            <a:pPr marL="281154" indent="-281154">
              <a:lnSpc>
                <a:spcPct val="116000"/>
              </a:lnSpc>
              <a:spcBef>
                <a:spcPts val="907"/>
              </a:spcBef>
              <a:buClr>
                <a:srgbClr val="D4FF3A"/>
              </a:buClr>
              <a:buFont typeface="Arial"/>
              <a:buChar char="—"/>
            </a:pPr>
            <a:r>
              <a:rPr sz="1650" b="0" i="0">
                <a:solidFill>
                  <a:srgbClr val="F7F6EF"/>
                </a:solidFill>
                <a:latin typeface="Arial"/>
              </a:rPr>
              <a:t>ARPU high </a:t>
            </a:r>
            <a:r>
              <a:rPr sz="1650" b="0" i="0">
                <a:solidFill>
                  <a:srgbClr val="FFC83D"/>
                </a:solidFill>
                <a:latin typeface="Arial"/>
              </a:rPr>
              <a:t>$13.07,</a:t>
            </a:r>
            <a:r>
              <a:rPr sz="1650" b="0" i="0">
                <a:solidFill>
                  <a:srgbClr val="F7F6EF"/>
                </a:solidFill>
                <a:latin typeface="Arial"/>
              </a:rPr>
              <a:t> also ours: MAG Interactive nine-month group net sales ÷ group MAU, annualised; unaudited interim, portfolio-wide, not QuizDuel standalone.</a:t>
            </a:r>
          </a:p>
          <a:p>
            <a:pPr marL="281154" indent="-281154">
              <a:lnSpc>
                <a:spcPct val="116000"/>
              </a:lnSpc>
              <a:spcBef>
                <a:spcPts val="907"/>
              </a:spcBef>
              <a:buClr>
                <a:srgbClr val="D4FF3A"/>
              </a:buClr>
              <a:buFont typeface="Arial"/>
              <a:buChar char="—"/>
            </a:pPr>
            <a:r>
              <a:rPr sz="1650" b="0" i="0">
                <a:solidFill>
                  <a:srgbClr val="F7F6EF"/>
                </a:solidFill>
                <a:latin typeface="Arial"/>
              </a:rPr>
              <a:t>Upper bound only: no activation, retention or conversion discount is applied.</a:t>
            </a:r>
          </a:p>
        </p:txBody>
      </p:sp>
      <p:pic>
        <p:nvPicPr>
          <p:cNvPr id="8" name="Picture 7" descr="tam-sam-som.png"/>
          <p:cNvPicPr>
            <a:picLocks noChangeAspect="1"/>
          </p:cNvPicPr>
          <p:nvPr/>
        </p:nvPicPr>
        <p:blipFill>
          <a:blip r:embed="rId2"/>
          <a:stretch>
            <a:fillRect/>
          </a:stretch>
        </p:blipFill>
        <p:spPr>
          <a:xfrm>
            <a:off x="6001207" y="2241140"/>
            <a:ext cx="5623560" cy="3418134"/>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133856"/>
          </a:xfrm>
        </p:spPr>
        <p:txBody>
          <a:bodyPr wrap="square" lIns="0" rIns="0" tIns="0" bIns="0" anchor="t"/>
          <a:lstStyle/>
          <a:p>
            <a:pPr>
              <a:lnSpc>
                <a:spcPct val="108000"/>
              </a:lnSpc>
            </a:pPr>
            <a:r>
              <a:rPr sz="4000" b="1" i="0">
                <a:solidFill>
                  <a:srgbClr val="F7F6EF"/>
                </a:solidFill>
                <a:latin typeface="Arial"/>
              </a:rPr>
              <a:t>Why now is who left the duel, not what technology arrived.</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WHY NOW</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7</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Google Play — Trivia Crack listing  ·  SEC — Duolingo FY2025 shareholder letter  ·  AppTweak — US store conversion benchmarks, CY2025  ·  FACT//DUEL internal — numbers.md §3.5, §5.2 and §5.14</a:t>
            </a:r>
          </a:p>
        </p:txBody>
      </p:sp>
      <p:sp>
        <p:nvSpPr>
          <p:cNvPr id="7" name="TextBox 6"/>
          <p:cNvSpPr txBox="1"/>
          <p:nvPr/>
        </p:nvSpPr>
        <p:spPr>
          <a:xfrm>
            <a:off x="566928" y="1993392"/>
            <a:ext cx="11057839" cy="3913631"/>
          </a:xfrm>
          <a:prstGeom prst="rect">
            <a:avLst/>
          </a:prstGeom>
          <a:noFill/>
        </p:spPr>
        <p:txBody>
          <a:bodyPr wrap="square" lIns="0" rIns="0" tIns="0" bIns="0" anchor="t">
            <a:spAutoFit/>
          </a:bodyPr>
          <a:lstStyle/>
          <a:p>
            <a:pPr marL="306731" indent="-306731">
              <a:lnSpc>
                <a:spcPct val="116000"/>
              </a:lnSpc>
              <a:buClr>
                <a:srgbClr val="D4FF3A"/>
              </a:buClr>
              <a:buFont typeface="Arial"/>
              <a:buChar char="—"/>
            </a:pPr>
            <a:r>
              <a:rPr sz="1800" b="0" i="0">
                <a:solidFill>
                  <a:srgbClr val="F7F6EF"/>
                </a:solidFill>
                <a:latin typeface="Arial"/>
              </a:rPr>
              <a:t>AppTweak estimates trivia converts worst of ~38 iOS categories: 5.2% page-view-to-install against an 8.56% all-category average (US, CY2025).</a:t>
            </a:r>
          </a:p>
          <a:p>
            <a:pPr marL="306731" indent="-306731">
              <a:lnSpc>
                <a:spcPct val="116000"/>
              </a:lnSpc>
              <a:spcBef>
                <a:spcPts val="990"/>
              </a:spcBef>
              <a:buClr>
                <a:srgbClr val="D4FF3A"/>
              </a:buClr>
              <a:buFont typeface="Arial"/>
              <a:buChar char="—"/>
            </a:pPr>
            <a:r>
              <a:rPr sz="1800" b="0" i="0">
                <a:solidFill>
                  <a:srgbClr val="F7F6EF"/>
                </a:solidFill>
                <a:latin typeface="Arial"/>
              </a:rPr>
              <a:t>Google Play is roughly at par: trivia 19.8% against a 16.15% all-category average, and 19.9% for games.</a:t>
            </a:r>
          </a:p>
          <a:p>
            <a:pPr marL="306731" indent="-306731">
              <a:lnSpc>
                <a:spcPct val="116000"/>
              </a:lnSpc>
              <a:spcBef>
                <a:spcPts val="990"/>
              </a:spcBef>
              <a:buClr>
                <a:srgbClr val="D4FF3A"/>
              </a:buClr>
              <a:buFont typeface="Arial"/>
              <a:buChar char="—"/>
            </a:pPr>
            <a:r>
              <a:rPr sz="1800" b="0" i="0">
                <a:solidFill>
                  <a:srgbClr val="F7F6EF"/>
                </a:solidFill>
                <a:latin typeface="Arial"/>
              </a:rPr>
              <a:t>Both are vendor-measured estimates we read from AppTweak's chart data in our own verification pass; flagged for re-confirmation (§5.2).</a:t>
            </a:r>
          </a:p>
          <a:p>
            <a:pPr marL="306731" indent="-306731">
              <a:lnSpc>
                <a:spcPct val="116000"/>
              </a:lnSpc>
              <a:spcBef>
                <a:spcPts val="990"/>
              </a:spcBef>
              <a:buClr>
                <a:srgbClr val="D4FF3A"/>
              </a:buClr>
              <a:buFont typeface="Arial"/>
              <a:buChar char="—"/>
            </a:pPr>
            <a:r>
              <a:rPr sz="1800" b="0" i="0">
                <a:solidFill>
                  <a:srgbClr val="F7F6EF"/>
                </a:solidFill>
                <a:latin typeface="Arial"/>
              </a:rPr>
              <a:t>A web app never runs the iOS page — an argument, not a measured advantage.</a:t>
            </a:r>
          </a:p>
          <a:p>
            <a:pPr marL="306731" indent="-306731">
              <a:lnSpc>
                <a:spcPct val="116000"/>
              </a:lnSpc>
              <a:spcBef>
                <a:spcPts val="990"/>
              </a:spcBef>
              <a:buClr>
                <a:srgbClr val="D4FF3A"/>
              </a:buClr>
              <a:buFont typeface="Arial"/>
              <a:buChar char="—"/>
            </a:pPr>
            <a:r>
              <a:rPr sz="1800" b="0" i="0">
                <a:solidFill>
                  <a:srgbClr val="F7F6EF"/>
                </a:solidFill>
                <a:latin typeface="Arial"/>
              </a:rPr>
              <a:t>We have no verified web-first conversion benchmark of any kind (§5.14); our own instrumented cohort is what settles 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133856"/>
          </a:xfrm>
        </p:spPr>
        <p:txBody>
          <a:bodyPr wrap="square" lIns="0" rIns="0" tIns="0" bIns="0" anchor="t"/>
          <a:lstStyle/>
          <a:p>
            <a:pPr>
              <a:lnSpc>
                <a:spcPct val="108000"/>
              </a:lnSpc>
            </a:pPr>
            <a:r>
              <a:rPr sz="4000" b="1" i="0">
                <a:solidFill>
                  <a:srgbClr val="F7F6EF"/>
                </a:solidFill>
                <a:latin typeface="Arial"/>
              </a:rPr>
              <a:t>Zero users outside a private playtest. Zero revenue. No cohort. The instrument shipped.</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TRACTION — STATED PLAINLY</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8</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FACT//DUEL internal — numbers.md — status paragraph, §4.4 and §7.1  ·  FACT//DUEL internal — repository — product code, unaudited  ·  GameAnalytics — 2026 Mobile &amp; PC Gaming Benchmarks</a:t>
            </a:r>
          </a:p>
          <a:p>
            <a:pPr>
              <a:lnSpc>
                <a:spcPct val="115000"/>
              </a:lnSpc>
            </a:pPr>
            <a:r>
              <a:rPr sz="800" b="0" i="0">
                <a:solidFill>
                  <a:srgbClr val="A6ADBA"/>
                </a:solidFill>
                <a:latin typeface="Arial"/>
              </a:rPr>
              <a:t>DocSend — what VCs want inside a seed deck</a:t>
            </a:r>
          </a:p>
        </p:txBody>
      </p:sp>
      <p:sp>
        <p:nvSpPr>
          <p:cNvPr id="7" name="TextBox 6"/>
          <p:cNvSpPr txBox="1"/>
          <p:nvPr/>
        </p:nvSpPr>
        <p:spPr>
          <a:xfrm>
            <a:off x="566928" y="1993392"/>
            <a:ext cx="5114239" cy="3913631"/>
          </a:xfrm>
          <a:prstGeom prst="rect">
            <a:avLst/>
          </a:prstGeom>
          <a:noFill/>
        </p:spPr>
        <p:txBody>
          <a:bodyPr wrap="square" lIns="0" rIns="0" tIns="0" bIns="0" anchor="t">
            <a:spAutoFit/>
          </a:bodyPr>
          <a:lstStyle/>
          <a:p>
            <a:pPr marL="247088" indent="-247088">
              <a:lnSpc>
                <a:spcPct val="116000"/>
              </a:lnSpc>
              <a:buClr>
                <a:srgbClr val="D4FF3A"/>
              </a:buClr>
              <a:buFont typeface="Arial"/>
              <a:buChar char="—"/>
            </a:pPr>
            <a:r>
              <a:rPr sz="1450" b="0" i="0">
                <a:solidFill>
                  <a:srgbClr val="F7F6EF"/>
                </a:solidFill>
                <a:latin typeface="Arial"/>
              </a:rPr>
              <a:t>Shipped 13 Sep 2026, tested: per-device D1/D7/D30 returns a boolean, never a rate (numbers.md §7.1; Appendix G).</a:t>
            </a:r>
          </a:p>
          <a:p>
            <a:pPr marL="247088" indent="-247088">
              <a:lnSpc>
                <a:spcPct val="116000"/>
              </a:lnSpc>
              <a:spcBef>
                <a:spcPts val="797"/>
              </a:spcBef>
              <a:buClr>
                <a:srgbClr val="D4FF3A"/>
              </a:buClr>
              <a:buFont typeface="Arial"/>
              <a:buChar char="—"/>
            </a:pPr>
            <a:r>
              <a:rPr sz="1450" b="0" i="0">
                <a:solidFill>
                  <a:srgbClr val="F7F6EF"/>
                </a:solidFill>
                <a:latin typeface="Arial"/>
              </a:rPr>
              <a:t>Also shipped: opt-in anonymous cohort ping, aggregate-only, buckets under five devices suppressed. A rate becomes computable the day there are players.</a:t>
            </a:r>
          </a:p>
          <a:p>
            <a:pPr marL="247088" indent="-247088">
              <a:lnSpc>
                <a:spcPct val="116000"/>
              </a:lnSpc>
              <a:spcBef>
                <a:spcPts val="797"/>
              </a:spcBef>
              <a:buClr>
                <a:srgbClr val="D4FF3A"/>
              </a:buClr>
              <a:buFont typeface="Arial"/>
              <a:buChar char="—"/>
            </a:pPr>
            <a:r>
              <a:rPr sz="1450" b="0" i="0">
                <a:solidFill>
                  <a:srgbClr val="F7F6EF"/>
                </a:solidFill>
                <a:latin typeface="Arial"/>
              </a:rPr>
              <a:t>Milestone 1 was accounts; measurement landed without them. Accounts remain unbuilt; the anonymous-principal design that promotes in place is specified (docs/money/architecture-plan.json M4).</a:t>
            </a:r>
          </a:p>
          <a:p>
            <a:pPr marL="247088" indent="-247088">
              <a:lnSpc>
                <a:spcPct val="116000"/>
              </a:lnSpc>
              <a:spcBef>
                <a:spcPts val="797"/>
              </a:spcBef>
              <a:buClr>
                <a:srgbClr val="D4FF3A"/>
              </a:buClr>
              <a:buFont typeface="Arial"/>
              <a:buChar char="—"/>
            </a:pPr>
            <a:r>
              <a:rPr sz="1450" b="0" i="0">
                <a:solidFill>
                  <a:srgbClr val="F7F6EF"/>
                </a:solidFill>
                <a:latin typeface="Arial"/>
              </a:rPr>
              <a:t>Milestone 2: publish D1/D7/D30 against GameAnalytics NA medians 23.28%/4.97%/1.18% (third-party estimates, 16,000+ mobile games, iOS and Android, CY2025).</a:t>
            </a:r>
          </a:p>
          <a:p>
            <a:pPr marL="247088" indent="-247088">
              <a:lnSpc>
                <a:spcPct val="116000"/>
              </a:lnSpc>
              <a:spcBef>
                <a:spcPts val="797"/>
              </a:spcBef>
              <a:buClr>
                <a:srgbClr val="D4FF3A"/>
              </a:buClr>
              <a:buFont typeface="Arial"/>
              <a:buChar char="—"/>
            </a:pPr>
            <a:r>
              <a:rPr sz="1450" b="0" i="0">
                <a:solidFill>
                  <a:srgbClr val="F7F6EF"/>
                </a:solidFill>
                <a:latin typeface="Arial"/>
              </a:rPr>
              <a:t>Target: beat that 4.97% D7 on a 1,000+ player cohort. Benchmark is app-store installs; web transfer unproven (§5.14).</a:t>
            </a:r>
          </a:p>
        </p:txBody>
      </p:sp>
      <p:pic>
        <p:nvPicPr>
          <p:cNvPr id="8" name="Picture 7" descr="retention-bar.png"/>
          <p:cNvPicPr>
            <a:picLocks noChangeAspect="1"/>
          </p:cNvPicPr>
          <p:nvPr/>
        </p:nvPicPr>
        <p:blipFill>
          <a:blip r:embed="rId2"/>
          <a:stretch>
            <a:fillRect/>
          </a:stretch>
        </p:blipFill>
        <p:spPr>
          <a:xfrm>
            <a:off x="6001207" y="2066911"/>
            <a:ext cx="5623560" cy="3766593"/>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682496"/>
          </a:xfrm>
        </p:spPr>
        <p:txBody>
          <a:bodyPr wrap="square" lIns="0" rIns="0" tIns="0" bIns="0" anchor="t"/>
          <a:lstStyle/>
          <a:p>
            <a:pPr>
              <a:lnSpc>
                <a:spcPct val="108000"/>
              </a:lnSpc>
            </a:pPr>
            <a:r>
              <a:rPr sz="4000" b="1" i="0">
                <a:solidFill>
                  <a:srgbClr val="F7F6EF"/>
                </a:solidFill>
                <a:latin typeface="Arial"/>
              </a:rPr>
              <a:t>The business is the rewarded ad. One ad ≈ one duel entry, everywhere; the coin is a constant-revenue unit.</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BUSINESS MODEL</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9</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businessofapps.com  ·  storage.mfn.se  ·  support.google.com  ·  support.google.com  ·  GameAnalytics — 2026 Mobile &amp; PC Gaming Benchmarks  ·  applixir.com</a:t>
            </a:r>
          </a:p>
          <a:p>
            <a:pPr>
              <a:lnSpc>
                <a:spcPct val="115000"/>
              </a:lnSpc>
            </a:pPr>
            <a:r>
              <a:rPr sz="800" b="0" i="0">
                <a:solidFill>
                  <a:srgbClr val="A6ADBA"/>
                </a:solidFill>
                <a:latin typeface="Arial"/>
              </a:rPr>
              <a:t>FACT//DUEL internal — docs/money/ads/lane-economy.json + audit-2-economy.json (recomputed table and break-evens)  ·  FACT//DUEL internal — docs/money/ads/lane-adtech.json + audit-1.json</a:t>
            </a:r>
          </a:p>
          <a:p>
            <a:pPr>
              <a:lnSpc>
                <a:spcPct val="115000"/>
              </a:lnSpc>
            </a:pPr>
            <a:r>
              <a:rPr sz="800" b="0" i="0">
                <a:solidFill>
                  <a:srgbClr val="A6ADBA"/>
                </a:solidFill>
                <a:latin typeface="Arial"/>
              </a:rPr>
              <a:t>FACT//DUEL internal — numbers.md §8 (company disclosure — the ad-funded format, 16 Sep 2026)</a:t>
            </a:r>
          </a:p>
        </p:txBody>
      </p:sp>
      <p:sp>
        <p:nvSpPr>
          <p:cNvPr id="7" name="TextBox 6"/>
          <p:cNvSpPr txBox="1"/>
          <p:nvPr/>
        </p:nvSpPr>
        <p:spPr>
          <a:xfrm>
            <a:off x="566928" y="2542032"/>
            <a:ext cx="11057839" cy="3364991"/>
          </a:xfrm>
          <a:prstGeom prst="rect">
            <a:avLst/>
          </a:prstGeom>
          <a:noFill/>
        </p:spPr>
        <p:txBody>
          <a:bodyPr wrap="square" lIns="0" rIns="0" tIns="0" bIns="0" anchor="t">
            <a:spAutoFit/>
          </a:bodyPr>
          <a:lstStyle/>
          <a:p>
            <a:pPr marL="264121" indent="-264121">
              <a:lnSpc>
                <a:spcPct val="116000"/>
              </a:lnSpc>
              <a:buClr>
                <a:srgbClr val="D4FF3A"/>
              </a:buClr>
              <a:buFont typeface="Arial"/>
              <a:buChar char="—"/>
            </a:pPr>
            <a:r>
              <a:rPr sz="1550" b="0" i="0">
                <a:solidFill>
                  <a:srgbClr val="F7F6EF"/>
                </a:solidFill>
                <a:latin typeface="Arial"/>
              </a:rPr>
              <a:t>Rewarded video eCPM, in-app, 2024-26 (likely): US </a:t>
            </a:r>
            <a:r>
              <a:rPr sz="1550" b="0" i="0">
                <a:solidFill>
                  <a:srgbClr val="FFC83D"/>
                </a:solidFill>
                <a:latin typeface="Arial"/>
              </a:rPr>
              <a:t>$15</a:t>
            </a:r>
            <a:r>
              <a:rPr sz="1550" b="0" i="0">
                <a:solidFill>
                  <a:srgbClr val="F7F6EF"/>
                </a:solidFill>
                <a:latin typeface="Arial"/>
              </a:rPr>
              <a:t>-30; UK </a:t>
            </a:r>
            <a:r>
              <a:rPr sz="1550" b="0" i="0">
                <a:solidFill>
                  <a:srgbClr val="FFC83D"/>
                </a:solidFill>
                <a:latin typeface="Arial"/>
              </a:rPr>
              <a:t>$17</a:t>
            </a:r>
            <a:r>
              <a:rPr sz="1550" b="0" i="0">
                <a:solidFill>
                  <a:srgbClr val="F7F6EF"/>
                </a:solidFill>
                <a:latin typeface="Arial"/>
              </a:rPr>
              <a:t>-22; DE </a:t>
            </a:r>
            <a:r>
              <a:rPr sz="1550" b="0" i="0">
                <a:solidFill>
                  <a:srgbClr val="FFC83D"/>
                </a:solidFill>
                <a:latin typeface="Arial"/>
              </a:rPr>
              <a:t>$12</a:t>
            </a:r>
            <a:r>
              <a:rPr sz="1550" b="0" i="0">
                <a:solidFill>
                  <a:srgbClr val="F7F6EF"/>
                </a:solidFill>
                <a:latin typeface="Arial"/>
              </a:rPr>
              <a:t>-14; FR </a:t>
            </a:r>
            <a:r>
              <a:rPr sz="1550" b="0" i="0">
                <a:solidFill>
                  <a:srgbClr val="FFC83D"/>
                </a:solidFill>
                <a:latin typeface="Arial"/>
              </a:rPr>
              <a:t>$10</a:t>
            </a:r>
            <a:r>
              <a:rPr sz="1550" b="0" i="0">
                <a:solidFill>
                  <a:srgbClr val="F7F6EF"/>
                </a:solidFill>
                <a:latin typeface="Arial"/>
              </a:rPr>
              <a:t>-11; India unverified in any reachable table, </a:t>
            </a:r>
            <a:r>
              <a:rPr sz="1550" b="0" i="0">
                <a:solidFill>
                  <a:srgbClr val="FFC83D"/>
                </a:solidFill>
                <a:latin typeface="Arial"/>
              </a:rPr>
              <a:t>$1</a:t>
            </a:r>
            <a:r>
              <a:rPr sz="1550" b="0" i="0">
                <a:solidFill>
                  <a:srgbClr val="F7F6EF"/>
                </a:solidFill>
                <a:latin typeface="Arial"/>
              </a:rPr>
              <a:t>-3 (§8.2).</a:t>
            </a:r>
          </a:p>
          <a:p>
            <a:pPr marL="264121" indent="-264121">
              <a:lnSpc>
                <a:spcPct val="116000"/>
              </a:lnSpc>
              <a:spcBef>
                <a:spcPts val="852"/>
              </a:spcBef>
              <a:buClr>
                <a:srgbClr val="D4FF3A"/>
              </a:buClr>
              <a:buFont typeface="Arial"/>
              <a:buChar char="—"/>
            </a:pPr>
            <a:r>
              <a:rPr sz="1550" b="0" i="0">
                <a:solidFill>
                  <a:srgbClr val="F7F6EF"/>
                </a:solidFill>
                <a:latin typeface="Arial"/>
              </a:rPr>
              <a:t>The coin: 50 per US ad ≈ 0.055¢ (likely). Derived rewards US 50 / UK 35 / DE 25 / FR 20 / India 10 — India floors so one ad always buys one duel (§8.3).</a:t>
            </a:r>
          </a:p>
          <a:p>
            <a:pPr marL="264121" indent="-264121">
              <a:lnSpc>
                <a:spcPct val="116000"/>
              </a:lnSpc>
              <a:spcBef>
                <a:spcPts val="852"/>
              </a:spcBef>
              <a:buClr>
                <a:srgbClr val="D4FF3A"/>
              </a:buClr>
              <a:buFont typeface="Arial"/>
              <a:buChar char="—"/>
            </a:pPr>
            <a:r>
              <a:rPr sz="1550" b="0" i="0">
                <a:solidFill>
                  <a:srgbClr val="F7F6EF"/>
                </a:solidFill>
                <a:latin typeface="Arial"/>
              </a:rPr>
              <a:t>ARPDAU at 2 rewarded ads per DAU (likely): US 5.5¢ · UK 3.8¢ · DE 2.6¢ · FR 2.0¢ · India 0.4-0.8¢. LTV180 at median retention: US </a:t>
            </a:r>
            <a:r>
              <a:rPr sz="1550" b="0" i="0">
                <a:solidFill>
                  <a:srgbClr val="FFC83D"/>
                </a:solidFill>
                <a:latin typeface="Arial"/>
              </a:rPr>
              <a:t>$0.125,</a:t>
            </a:r>
            <a:r>
              <a:rPr sz="1550" b="0" i="0">
                <a:solidFill>
                  <a:srgbClr val="F7F6EF"/>
                </a:solidFill>
                <a:latin typeface="Arial"/>
              </a:rPr>
              <a:t> India ~</a:t>
            </a:r>
            <a:r>
              <a:rPr sz="1550" b="0" i="0">
                <a:solidFill>
                  <a:srgbClr val="FFC83D"/>
                </a:solidFill>
                <a:latin typeface="Arial"/>
              </a:rPr>
              <a:t>$0.01</a:t>
            </a:r>
            <a:r>
              <a:rPr sz="1550" b="0" i="0">
                <a:solidFill>
                  <a:srgbClr val="F7F6EF"/>
                </a:solidFill>
                <a:latin typeface="Arial"/>
              </a:rPr>
              <a:t> (§8.4).</a:t>
            </a:r>
          </a:p>
          <a:p>
            <a:pPr marL="264121" indent="-264121">
              <a:lnSpc>
                <a:spcPct val="116000"/>
              </a:lnSpc>
              <a:spcBef>
                <a:spcPts val="852"/>
              </a:spcBef>
              <a:buClr>
                <a:srgbClr val="D4FF3A"/>
              </a:buClr>
              <a:buFont typeface="Arial"/>
              <a:buChar char="—"/>
            </a:pPr>
            <a:r>
              <a:rPr sz="1550" b="0" i="0">
                <a:solidFill>
                  <a:srgbClr val="F7F6EF"/>
                </a:solidFill>
                <a:latin typeface="Arial"/>
              </a:rPr>
              <a:t>The one public comparable: QuizDuel (MAG Interactive) ARPDAU 9.0¢, 9 months to May 2026, +31% — IAP plus ads, 0.9M DAU (verified, §8.5).</a:t>
            </a:r>
          </a:p>
          <a:p>
            <a:pPr marL="264121" indent="-264121">
              <a:lnSpc>
                <a:spcPct val="116000"/>
              </a:lnSpc>
              <a:spcBef>
                <a:spcPts val="852"/>
              </a:spcBef>
              <a:buClr>
                <a:srgbClr val="D4FF3A"/>
              </a:buClr>
              <a:buFont typeface="Arial"/>
              <a:buChar char="—"/>
            </a:pPr>
            <a:r>
              <a:rPr sz="1550" b="0" i="0">
                <a:solidFill>
                  <a:srgbClr val="F7F6EF"/>
                </a:solidFill>
                <a:latin typeface="Arial"/>
              </a:rPr>
              <a:t>Sink: a disclosed arena fee — 0% on 10- and 25-coin entries, 10% from 50, 15% at 500. Printed on the entry card as "pot 100 · prize 90". Break-even win rate at 10%: 55.6% (verified).</a:t>
            </a:r>
          </a:p>
          <a:p>
            <a:pPr marL="264121" indent="-264121">
              <a:lnSpc>
                <a:spcPct val="116000"/>
              </a:lnSpc>
              <a:spcBef>
                <a:spcPts val="852"/>
              </a:spcBef>
              <a:buClr>
                <a:srgbClr val="D4FF3A"/>
              </a:buClr>
              <a:buFont typeface="Arial"/>
              <a:buChar char="—"/>
            </a:pPr>
            <a:r>
              <a:rPr sz="1550" b="0" i="0">
                <a:solidFill>
                  <a:srgbClr val="F7F6EF"/>
                </a:solidFill>
                <a:latin typeface="Arial"/>
              </a:rPr>
              <a:t>Web pays 30-70% less than in-app and has no server-side verification of completion; verified rewards need the store build (§8.6). Subscription remains an unbuilt later option </a:t>
            </a:r>
            <a:r>
              <a:rPr sz="1550" b="1" i="0">
                <a:solidFill>
                  <a:srgbClr val="4EE1FF"/>
                </a:solidFill>
                <a:latin typeface="Arial"/>
              </a:rPr>
              <a:t>(P)</a:t>
            </a:r>
            <a:r>
              <a:rPr sz="1550" b="0" i="0">
                <a:solidFill>
                  <a:srgbClr val="F7F6EF"/>
                </a:solidFill>
                <a:latin typeface="Arial"/>
              </a:rP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133856"/>
          </a:xfrm>
        </p:spPr>
        <p:txBody>
          <a:bodyPr wrap="square" lIns="0" rIns="0" tIns="0" bIns="0" anchor="t"/>
          <a:lstStyle/>
          <a:p>
            <a:pPr>
              <a:lnSpc>
                <a:spcPct val="108000"/>
              </a:lnSpc>
            </a:pPr>
            <a:r>
              <a:rPr sz="4000" b="1" i="0">
                <a:solidFill>
                  <a:srgbClr val="F7F6EF"/>
                </a:solidFill>
                <a:latin typeface="Arial"/>
              </a:rPr>
              <a:t>In the live 1v1 duel, nobody holds both scale and maintenance.</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LANDSCAPE</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10</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Google Play — Trivia Crack listing  ·  Sensor Tower — Q2 2025 US iOS trivia revenue (est.)  ·  MAG Interactive — Q3 2025/26 interim report  ·  Apple lookup API — QuizDuel listing (US storefront)</a:t>
            </a:r>
          </a:p>
          <a:p>
            <a:pPr>
              <a:lnSpc>
                <a:spcPct val="115000"/>
              </a:lnSpc>
            </a:pPr>
            <a:r>
              <a:rPr sz="800" b="0" i="0">
                <a:solidFill>
                  <a:srgbClr val="A6ADBA"/>
                </a:solidFill>
                <a:latin typeface="Arial"/>
              </a:rPr>
              <a:t>Apple lookup API — QuizDuel listing  ·  Google Play — Kahoot! listing  ·  Kahoot! — Q4 2022 quarterly report  ·  Oslo Børs — Kahoot! delisting notice  ·  PR Newswire — Quizizz $31.5M Series B</a:t>
            </a:r>
          </a:p>
          <a:p>
            <a:pPr>
              <a:lnSpc>
                <a:spcPct val="115000"/>
              </a:lnSpc>
            </a:pPr>
            <a:r>
              <a:rPr sz="800" b="0" i="0">
                <a:solidFill>
                  <a:srgbClr val="A6ADBA"/>
                </a:solidFill>
                <a:latin typeface="Arial"/>
              </a:rPr>
              <a:t>Apple lookup API — Wayground listing  ·  Google Play — Quizion listing  ·  Google Play — TRIVIA GO! listing  ·  SEC 8-K — Skillz FY2025 results  ·  SEC 8-K — Skillz FY2022 results (FY2021 peak)</a:t>
            </a:r>
          </a:p>
        </p:txBody>
      </p:sp>
      <p:sp>
        <p:nvSpPr>
          <p:cNvPr id="7" name="TextBox 6"/>
          <p:cNvSpPr txBox="1"/>
          <p:nvPr/>
        </p:nvSpPr>
        <p:spPr>
          <a:xfrm>
            <a:off x="566928" y="1993392"/>
            <a:ext cx="11057839" cy="1361186"/>
          </a:xfrm>
          <a:prstGeom prst="rect">
            <a:avLst/>
          </a:prstGeom>
          <a:noFill/>
        </p:spPr>
        <p:txBody>
          <a:bodyPr wrap="square" lIns="0" rIns="0" tIns="0" bIns="0" anchor="t">
            <a:spAutoFit/>
          </a:bodyPr>
          <a:lstStyle/>
          <a:p>
            <a:pPr marL="238571" indent="-238571">
              <a:lnSpc>
                <a:spcPct val="116000"/>
              </a:lnSpc>
              <a:buClr>
                <a:srgbClr val="D4FF3A"/>
              </a:buClr>
              <a:buFont typeface="Arial"/>
              <a:buChar char="—"/>
            </a:pPr>
            <a:r>
              <a:rPr sz="1400" b="0" i="0">
                <a:solidFill>
                  <a:srgbClr val="F7F6EF"/>
                </a:solidFill>
                <a:latin typeface="Arial"/>
              </a:rPr>
              <a:t>Of the products that own the installed base, the one that ran the duel has left it; the rest never ran one.</a:t>
            </a:r>
          </a:p>
          <a:p>
            <a:pPr marL="238571" indent="-238571">
              <a:lnSpc>
                <a:spcPct val="116000"/>
              </a:lnSpc>
              <a:spcBef>
                <a:spcPts val="770"/>
              </a:spcBef>
              <a:buClr>
                <a:srgbClr val="D4FF3A"/>
              </a:buClr>
              <a:buFont typeface="Arial"/>
              <a:buChar char="—"/>
            </a:pPr>
            <a:r>
              <a:rPr sz="1400" b="0" i="0">
                <a:solidFill>
                  <a:srgbClr val="F7F6EF"/>
                </a:solidFill>
                <a:latin typeface="Arial"/>
              </a:rPr>
              <a:t>Skillz FY2021 to FY2025: monthly ARPPU </a:t>
            </a:r>
            <a:r>
              <a:rPr sz="1400" b="0" i="0">
                <a:solidFill>
                  <a:srgbClr val="FFC83D"/>
                </a:solidFill>
                <a:latin typeface="Arial"/>
              </a:rPr>
              <a:t>$61.75</a:t>
            </a:r>
            <a:r>
              <a:rPr sz="1400" b="0" i="0">
                <a:solidFill>
                  <a:srgbClr val="F7F6EF"/>
                </a:solidFill>
                <a:latin typeface="Arial"/>
              </a:rPr>
              <a:t> (derived) to </a:t>
            </a:r>
            <a:r>
              <a:rPr sz="1400" b="0" i="0">
                <a:solidFill>
                  <a:srgbClr val="FFC83D"/>
                </a:solidFill>
                <a:latin typeface="Arial"/>
              </a:rPr>
              <a:t>$61.70</a:t>
            </a:r>
            <a:r>
              <a:rPr sz="1400" b="0" i="0">
                <a:solidFill>
                  <a:srgbClr val="F7F6EF"/>
                </a:solidFill>
                <a:latin typeface="Arial"/>
              </a:rPr>
              <a:t> (stated), while paying MAU fell 513,000 to 141,000.</a:t>
            </a:r>
          </a:p>
          <a:p>
            <a:pPr marL="238571" indent="-238571">
              <a:lnSpc>
                <a:spcPct val="116000"/>
              </a:lnSpc>
              <a:spcBef>
                <a:spcPts val="770"/>
              </a:spcBef>
              <a:buClr>
                <a:srgbClr val="D4FF3A"/>
              </a:buClr>
              <a:buFont typeface="Arial"/>
              <a:buChar char="—"/>
            </a:pPr>
            <a:r>
              <a:rPr sz="1400" b="0" i="0">
                <a:solidFill>
                  <a:srgbClr val="F7F6EF"/>
                </a:solidFill>
                <a:latin typeface="Arial"/>
              </a:rPr>
              <a:t>Competitive-play users monetise well per payer and churn hard — in a real-money cash-tournament product, and Skillz has never been profitable.</a:t>
            </a:r>
          </a:p>
          <a:p>
            <a:pPr marL="238571" indent="-238571">
              <a:lnSpc>
                <a:spcPct val="116000"/>
              </a:lnSpc>
              <a:spcBef>
                <a:spcPts val="770"/>
              </a:spcBef>
              <a:buClr>
                <a:srgbClr val="D4FF3A"/>
              </a:buClr>
              <a:buFont typeface="Arial"/>
              <a:buChar char="—"/>
            </a:pPr>
            <a:r>
              <a:rPr sz="1400" b="0" i="0">
                <a:solidFill>
                  <a:srgbClr val="F7F6EF"/>
                </a:solidFill>
                <a:latin typeface="Arial"/>
              </a:rPr>
              <a:t>Our axis is being the maintained 1v1 duel. Untested: the cohort the round buys is what tests it.</a:t>
            </a:r>
          </a:p>
        </p:txBody>
      </p:sp>
      <p:graphicFrame>
        <p:nvGraphicFramePr>
          <p:cNvPr id="8" name="Table 7"/>
          <p:cNvGraphicFramePr>
            <a:graphicFrameLocks noGrp="1"/>
          </p:cNvGraphicFramePr>
          <p:nvPr/>
        </p:nvGraphicFramePr>
        <p:xfrm>
          <a:off x="566928" y="3592322"/>
          <a:ext cx="11057837" cy="2314696"/>
        </p:xfrm>
        <a:graphic>
          <a:graphicData uri="http://schemas.openxmlformats.org/drawingml/2006/table">
            <a:tbl>
              <a:tblPr>
                <a:tableStyleId>{2D5ABB26-0587-4C30-8999-92F81FD0307C}</a:tableStyleId>
              </a:tblPr>
              <a:tblGrid>
                <a:gridCol w="1690589"/>
                <a:gridCol w="2795829"/>
                <a:gridCol w="2549103"/>
                <a:gridCol w="1402042"/>
                <a:gridCol w="2620274"/>
              </a:tblGrid>
              <a:tr h="216784">
                <a:tc>
                  <a:txBody>
                    <a:bodyPr wrap="square"/>
                    <a:lstStyle/>
                    <a:p>
                      <a:pPr>
                        <a:lnSpc>
                          <a:spcPct val="114000"/>
                        </a:lnSpc>
                      </a:pPr>
                      <a:r>
                        <a:rPr sz="900" b="1" i="0">
                          <a:solidFill>
                            <a:srgbClr val="D4FF3A"/>
                          </a:solidFill>
                          <a:latin typeface="Arial"/>
                        </a:rPr>
                        <a:t>Product</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Scale (metric as stated)</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Money</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Live 1v1 duel?</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Latest signal</a:t>
                      </a:r>
                    </a:p>
                  </a:txBody>
                  <a:tcPr marL="64008" marR="64008" marT="41148" marB="41148" anchor="ctr">
                    <a:solidFill>
                      <a:srgbClr val="121821"/>
                    </a:solidFill>
                  </a:tcPr>
                </a:tc>
              </a:tr>
              <a:tr h="349652">
                <a:tc>
                  <a:txBody>
                    <a:bodyPr wrap="square"/>
                    <a:lstStyle/>
                    <a:p>
                      <a:pPr>
                        <a:lnSpc>
                          <a:spcPct val="114000"/>
                        </a:lnSpc>
                      </a:pPr>
                      <a:r>
                        <a:rPr sz="900" b="1" i="0">
                          <a:solidFill>
                            <a:srgbClr val="F7F6EF"/>
                          </a:solidFill>
                          <a:latin typeface="Arial"/>
                        </a:rPr>
                        <a:t>Trivia Crack (etermax)</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267,939,837 lifetime Android installs (Play internal; store shows 100M+)</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~$33K/wk, Trivia Crack Premium, US iOS gross, Q2 2025 (est.)</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Pivoted away</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Listing retitled around a FOX TV tie-in</a:t>
                      </a:r>
                    </a:p>
                  </a:txBody>
                  <a:tcPr marL="64008" marR="64008" marT="41148" marB="41148" anchor="ctr">
                    <a:solidFill>
                      <a:srgbClr val="121821"/>
                    </a:solidFill>
                  </a:tcPr>
                </a:tc>
              </a:tr>
              <a:tr h="349652">
                <a:tc>
                  <a:txBody>
                    <a:bodyPr wrap="square"/>
                    <a:lstStyle/>
                    <a:p>
                      <a:pPr>
                        <a:lnSpc>
                          <a:spcPct val="114000"/>
                        </a:lnSpc>
                      </a:pPr>
                      <a:r>
                        <a:rPr sz="900" b="1" i="0">
                          <a:solidFill>
                            <a:srgbClr val="F7F6EF"/>
                          </a:solidFill>
                          <a:latin typeface="Arial"/>
                        </a:rPr>
                        <a:t>MAG Interactive (owner of QuizDuel)</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2.2M group MAU, 9-mo avg to May 2026, -13% YoY</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$21.563M group net sales, 9 months to May 2026</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Duel — live status not verified</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iOS build updated 10 Sep 2026; 3.51 stars / 78 US ratings</a:t>
                      </a:r>
                    </a:p>
                  </a:txBody>
                  <a:tcPr marL="64008" marR="64008" marT="41148" marB="41148" anchor="ctr">
                    <a:solidFill>
                      <a:srgbClr val="0D131B"/>
                    </a:solidFill>
                  </a:tcPr>
                </a:tc>
              </a:tr>
              <a:tr h="349652">
                <a:tc>
                  <a:txBody>
                    <a:bodyPr wrap="square"/>
                    <a:lstStyle/>
                    <a:p>
                      <a:pPr>
                        <a:lnSpc>
                          <a:spcPct val="114000"/>
                        </a:lnSpc>
                      </a:pPr>
                      <a:r>
                        <a:rPr sz="900" b="1" i="0">
                          <a:solidFill>
                            <a:srgbClr val="F7F6EF"/>
                          </a:solidFill>
                          <a:latin typeface="Arial"/>
                        </a:rPr>
                        <a:t>Kahoot!</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100,263,409 lifetime Android installs</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$146.0M FY2022, 95% gross margin, B2B/education</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No — classroom/B2B</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Private since 23 Jan 2024; Play build 3 Sep 2026</a:t>
                      </a:r>
                    </a:p>
                  </a:txBody>
                  <a:tcPr marL="64008" marR="64008" marT="41148" marB="41148" anchor="ctr">
                    <a:solidFill>
                      <a:srgbClr val="121821"/>
                    </a:solidFill>
                  </a:tcPr>
                </a:tc>
              </a:tr>
              <a:tr h="349652">
                <a:tc>
                  <a:txBody>
                    <a:bodyPr wrap="square"/>
                    <a:lstStyle/>
                    <a:p>
                      <a:pPr>
                        <a:lnSpc>
                          <a:spcPct val="114000"/>
                        </a:lnSpc>
                      </a:pPr>
                      <a:r>
                        <a:rPr sz="900" b="1" i="0">
                          <a:solidFill>
                            <a:srgbClr val="F7F6EF"/>
                          </a:solidFill>
                          <a:latin typeface="Arial"/>
                        </a:rPr>
                        <a:t>Wayground (ex-Quizizz)</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10M+ Android installs</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$31.5M Series B; ~$44M across disclosed rounds, no valuation</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No</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iOS app last updated 14 Nov 2025</a:t>
                      </a:r>
                    </a:p>
                  </a:txBody>
                  <a:tcPr marL="64008" marR="64008" marT="41148" marB="41148" anchor="ctr">
                    <a:solidFill>
                      <a:srgbClr val="0D131B"/>
                    </a:solidFill>
                  </a:tcPr>
                </a:tc>
              </a:tr>
              <a:tr h="349652">
                <a:tc>
                  <a:txBody>
                    <a:bodyPr wrap="square"/>
                    <a:lstStyle/>
                    <a:p>
                      <a:pPr>
                        <a:lnSpc>
                          <a:spcPct val="114000"/>
                        </a:lnSpc>
                      </a:pPr>
                      <a:r>
                        <a:rPr sz="900" b="1" i="0">
                          <a:solidFill>
                            <a:srgbClr val="F7F6EF"/>
                          </a:solidFill>
                          <a:latin typeface="Arial"/>
                        </a:rPr>
                        <a:t>Quizion / TRIVIA GO!</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10+ / 10K+ Android downloads</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None disclosed</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Yes</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Quizion updated 13 Aug 2026; TRIVIA GO! stale since 22 May 2025</a:t>
                      </a:r>
                    </a:p>
                  </a:txBody>
                  <a:tcPr marL="64008" marR="64008" marT="41148" marB="41148" anchor="ctr">
                    <a:solidFill>
                      <a:srgbClr val="121821"/>
                    </a:solidFill>
                  </a:tcPr>
                </a:tc>
              </a:tr>
              <a:tr h="349652">
                <a:tc>
                  <a:txBody>
                    <a:bodyPr wrap="square"/>
                    <a:lstStyle/>
                    <a:p>
                      <a:pPr>
                        <a:lnSpc>
                          <a:spcPct val="114000"/>
                        </a:lnSpc>
                      </a:pPr>
                      <a:r>
                        <a:rPr sz="900" b="1" i="0">
                          <a:solidFill>
                            <a:srgbClr val="F7F6EF"/>
                          </a:solidFill>
                          <a:latin typeface="Arial"/>
                        </a:rPr>
                        <a:t>FACT//DUEL</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Zero users</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Zero revenue</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Yes — bot practice opponent</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Publicly playable in a browser, 54 sample questions</a:t>
                      </a:r>
                    </a:p>
                  </a:txBody>
                  <a:tcPr marL="64008" marR="64008" marT="41148" marB="41148" anchor="ctr">
                    <a:solidFill>
                      <a:srgbClr val="0D131B"/>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133856"/>
          </a:xfrm>
        </p:spPr>
        <p:txBody>
          <a:bodyPr wrap="square" lIns="0" rIns="0" tIns="0" bIns="0" anchor="t"/>
          <a:lstStyle/>
          <a:p>
            <a:pPr>
              <a:lnSpc>
                <a:spcPct val="108000"/>
              </a:lnSpc>
            </a:pPr>
            <a:r>
              <a:rPr sz="4000" b="1" i="0">
                <a:solidFill>
                  <a:srgbClr val="F7F6EF"/>
                </a:solidFill>
                <a:latin typeface="Arial"/>
              </a:rPr>
              <a:t>The risks that emptied this category still lead — and the ad model adds four of its own.</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RISKS</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11</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TechCrunch — Trivia Royale, 2.5M downloads in 3 weeks  ·  GameAnalytics — 2026 Mobile &amp; PC Gaming Benchmarks  ·  SEC 10-K — Skillz FY2023 (Skillz v. AviaGames)</a:t>
            </a:r>
          </a:p>
          <a:p>
            <a:pPr>
              <a:lnSpc>
                <a:spcPct val="115000"/>
              </a:lnSpc>
            </a:pPr>
            <a:r>
              <a:rPr sz="800" b="0" i="0">
                <a:solidFill>
                  <a:srgbClr val="A6ADBA"/>
                </a:solidFill>
                <a:latin typeface="Arial"/>
              </a:rPr>
              <a:t>Sporcle — Orange membership pricing  ·  SEC — Duolingo Q2 FY2026 shareholder letter  ·  FACT//DUEL internal — numbers.md §2.3, §4.3 and §4.4  ·  FACT//DUEL internal — numbers.md §3.5, §5.2 and §5.14</a:t>
            </a:r>
          </a:p>
          <a:p>
            <a:pPr>
              <a:lnSpc>
                <a:spcPct val="115000"/>
              </a:lnSpc>
            </a:pPr>
            <a:r>
              <a:rPr sz="800" b="0" i="0">
                <a:solidFill>
                  <a:srgbClr val="A6ADBA"/>
                </a:solidFill>
                <a:latin typeface="Arial"/>
              </a:rPr>
              <a:t>FACT//DUEL internal — numbers.md §7.1 and §7.2  ·  FACT//DUEL internal — numbers.md §4.4b  ·  yogonet.com  ·  support.google.com  ·  support.google.com  ·  support.google.com  ·  businessofapps.com</a:t>
            </a:r>
          </a:p>
        </p:txBody>
      </p:sp>
      <p:sp>
        <p:nvSpPr>
          <p:cNvPr id="7" name="TextBox 6"/>
          <p:cNvSpPr txBox="1"/>
          <p:nvPr/>
        </p:nvSpPr>
        <p:spPr>
          <a:xfrm>
            <a:off x="566928" y="1993392"/>
            <a:ext cx="11057839" cy="3913631"/>
          </a:xfrm>
          <a:prstGeom prst="rect">
            <a:avLst/>
          </a:prstGeom>
          <a:noFill/>
        </p:spPr>
        <p:txBody>
          <a:bodyPr wrap="square" lIns="0" rIns="0" tIns="0" bIns="0" anchor="t">
            <a:spAutoFit/>
          </a:bodyPr>
          <a:lstStyle/>
          <a:p>
            <a:pPr marL="230028" indent="-230028">
              <a:lnSpc>
                <a:spcPct val="116000"/>
              </a:lnSpc>
              <a:buClr>
                <a:srgbClr val="D4FF3A"/>
              </a:buClr>
              <a:buFont typeface="Arial"/>
              <a:buChar char="—"/>
            </a:pPr>
            <a:r>
              <a:rPr sz="1350" b="0" i="0">
                <a:solidFill>
                  <a:srgbClr val="F7F6EF"/>
                </a:solidFill>
                <a:latin typeface="Arial"/>
              </a:rPr>
              <a:t>Long-tail retention. Global median D30 across 16,000+ mobile games is 0.68-0.79% (GameAnalytics est., CY2025). Trivia Royale reported 45% D1 and closed in eight months.</a:t>
            </a:r>
          </a:p>
          <a:p>
            <a:pPr marL="230028" indent="-230028">
              <a:lnSpc>
                <a:spcPct val="116000"/>
              </a:lnSpc>
              <a:spcBef>
                <a:spcPts val="742"/>
              </a:spcBef>
              <a:buClr>
                <a:srgbClr val="D4FF3A"/>
              </a:buClr>
              <a:buFont typeface="Arial"/>
              <a:buChar char="—"/>
            </a:pPr>
            <a:r>
              <a:rPr sz="1350" b="0" i="0">
                <a:solidFill>
                  <a:srgbClr val="F7F6EF"/>
                </a:solidFill>
                <a:latin typeface="Arial"/>
              </a:rPr>
              <a:t>Opponent integrity. Skillz v. Papaya: a </a:t>
            </a:r>
            <a:r>
              <a:rPr sz="1350" b="0" i="0">
                <a:solidFill>
                  <a:srgbClr val="FFC83D"/>
                </a:solidFill>
                <a:latin typeface="Arial"/>
              </a:rPr>
              <a:t>$420M</a:t>
            </a:r>
            <a:r>
              <a:rPr sz="1350" b="0" i="0">
                <a:solidFill>
                  <a:srgbClr val="F7F6EF"/>
                </a:solidFill>
                <a:latin typeface="Arial"/>
              </a:rPr>
              <a:t> jury verdict (Apr 2026) and </a:t>
            </a:r>
            <a:r>
              <a:rPr sz="1350" b="0" i="0">
                <a:solidFill>
                  <a:srgbClr val="FFC83D"/>
                </a:solidFill>
                <a:latin typeface="Arial"/>
              </a:rPr>
              <a:t>$719M</a:t>
            </a:r>
            <a:r>
              <a:rPr sz="1350" b="0" i="0">
                <a:solidFill>
                  <a:srgbClr val="F7F6EF"/>
                </a:solidFill>
                <a:latin typeface="Arial"/>
              </a:rPr>
              <a:t> disgorgement (Jul 2026) — the court found it "undisputed" Papaya ran bots while denying it 200+ times.</a:t>
            </a:r>
          </a:p>
          <a:p>
            <a:pPr marL="230028" indent="-230028">
              <a:lnSpc>
                <a:spcPct val="116000"/>
              </a:lnSpc>
              <a:spcBef>
                <a:spcPts val="742"/>
              </a:spcBef>
              <a:buClr>
                <a:srgbClr val="D4FF3A"/>
              </a:buClr>
              <a:buFont typeface="Arial"/>
              <a:buChar char="—"/>
            </a:pPr>
            <a:r>
              <a:rPr sz="1350" b="0" i="0">
                <a:solidFill>
                  <a:srgbClr val="F7F6EF"/>
                </a:solidFill>
                <a:latin typeface="Arial"/>
              </a:rPr>
              <a:t>Ad policy. Google requires rewarded-ad rewards to be non-transferable. Our entry-and-prize flow is designed to satisfy it; a written answer from Google is the open question we must get first.</a:t>
            </a:r>
          </a:p>
          <a:p>
            <a:pPr marL="230028" indent="-230028">
              <a:lnSpc>
                <a:spcPct val="116000"/>
              </a:lnSpc>
              <a:spcBef>
                <a:spcPts val="742"/>
              </a:spcBef>
              <a:buClr>
                <a:srgbClr val="D4FF3A"/>
              </a:buClr>
              <a:buFont typeface="Arial"/>
              <a:buChar char="—"/>
            </a:pPr>
            <a:r>
              <a:rPr sz="1350" b="0" i="0">
                <a:solidFill>
                  <a:srgbClr val="F7F6EF"/>
                </a:solidFill>
                <a:latin typeface="Arial"/>
              </a:rPr>
              <a:t>No web verification. No web ad network verifies a completion server-side (Google, verbatim). Web rewards are cheap and capped by design; verified rewards need the store build (W8).</a:t>
            </a:r>
          </a:p>
          <a:p>
            <a:pPr marL="230028" indent="-230028">
              <a:lnSpc>
                <a:spcPct val="116000"/>
              </a:lnSpc>
              <a:spcBef>
                <a:spcPts val="742"/>
              </a:spcBef>
              <a:buClr>
                <a:srgbClr val="D4FF3A"/>
              </a:buClr>
              <a:buFont typeface="Arial"/>
              <a:buChar char="—"/>
            </a:pPr>
            <a:r>
              <a:rPr sz="1350" b="0" i="0">
                <a:solidFill>
                  <a:srgbClr val="F7F6EF"/>
                </a:solidFill>
                <a:latin typeface="Arial"/>
              </a:rPr>
              <a:t>Web eCPM. Every published rewarded eCPM is in-app; web is quoted 30-70% lower, and ad-blocking runs ~30% of users. India eCPM is unverified anywhere reachable.</a:t>
            </a:r>
          </a:p>
          <a:p>
            <a:pPr marL="230028" indent="-230028">
              <a:lnSpc>
                <a:spcPct val="116000"/>
              </a:lnSpc>
              <a:spcBef>
                <a:spcPts val="742"/>
              </a:spcBef>
              <a:buClr>
                <a:srgbClr val="D4FF3A"/>
              </a:buClr>
              <a:buFont typeface="Arial"/>
              <a:buChar char="—"/>
            </a:pPr>
            <a:r>
              <a:rPr sz="1350" b="0" i="0">
                <a:solidFill>
                  <a:srgbClr val="F7F6EF"/>
                </a:solidFill>
                <a:latin typeface="Arial"/>
              </a:rPr>
              <a:t>Paid acquisition never pays back. Ad LTV per install is </a:t>
            </a:r>
            <a:r>
              <a:rPr sz="1350" b="0" i="0">
                <a:solidFill>
                  <a:srgbClr val="FFC83D"/>
                </a:solidFill>
                <a:latin typeface="Arial"/>
              </a:rPr>
              <a:t>$0.06</a:t>
            </a:r>
            <a:r>
              <a:rPr sz="1350" b="0" i="0">
                <a:solidFill>
                  <a:srgbClr val="F7F6EF"/>
                </a:solidFill>
                <a:latin typeface="Arial"/>
              </a:rPr>
              <a:t>-0.25 in the US and about a cent in India against CPIs of </a:t>
            </a:r>
            <a:r>
              <a:rPr sz="1350" b="0" i="0">
                <a:solidFill>
                  <a:srgbClr val="FFC83D"/>
                </a:solidFill>
                <a:latin typeface="Arial"/>
              </a:rPr>
              <a:t>$2.50</a:t>
            </a:r>
            <a:r>
              <a:rPr sz="1350" b="0" i="0">
                <a:solidFill>
                  <a:srgbClr val="F7F6EF"/>
                </a:solidFill>
                <a:latin typeface="Arial"/>
              </a:rPr>
              <a:t>-5.00. Growth must be organic and calendar-driven.</a:t>
            </a:r>
          </a:p>
          <a:p>
            <a:pPr marL="230028" indent="-230028">
              <a:lnSpc>
                <a:spcPct val="116000"/>
              </a:lnSpc>
              <a:spcBef>
                <a:spcPts val="742"/>
              </a:spcBef>
              <a:buClr>
                <a:srgbClr val="D4FF3A"/>
              </a:buClr>
              <a:buFont typeface="Arial"/>
              <a:buChar char="—"/>
            </a:pPr>
            <a:r>
              <a:rPr sz="1350" b="0" i="0">
                <a:solidFill>
                  <a:srgbClr val="F7F6EF"/>
                </a:solidFill>
                <a:latin typeface="Arial"/>
              </a:rPr>
              <a:t>Benchmark transfer and content depth. All retention benchmarks are app-store installs, not web (§5.14). 329 shipped (60-66 per sport); 300 per sport is the launch gate.</a:t>
            </a:r>
          </a:p>
          <a:p>
            <a:pPr marL="230028" indent="-230028">
              <a:lnSpc>
                <a:spcPct val="116000"/>
              </a:lnSpc>
              <a:spcBef>
                <a:spcPts val="742"/>
              </a:spcBef>
              <a:buClr>
                <a:srgbClr val="D4FF3A"/>
              </a:buClr>
              <a:buFont typeface="Arial"/>
              <a:buChar char="—"/>
            </a:pPr>
            <a:r>
              <a:rPr sz="1350" b="0" i="0">
                <a:solidFill>
                  <a:srgbClr val="F7F6EF"/>
                </a:solidFill>
                <a:latin typeface="Arial"/>
              </a:rPr>
              <a:t>Approval risk. AdSense will not approve a github.io subdomain; H5 Games Ads is application-only and "not guaranteed". A first-party domain is the first item on the critical path.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585216"/>
          </a:xfrm>
        </p:spPr>
        <p:txBody>
          <a:bodyPr wrap="square" lIns="0" rIns="0" tIns="0" bIns="0" anchor="t"/>
          <a:lstStyle/>
          <a:p>
            <a:pPr>
              <a:lnSpc>
                <a:spcPct val="108000"/>
              </a:lnSpc>
            </a:pPr>
            <a:r>
              <a:rPr sz="4000" b="1" i="0">
                <a:solidFill>
                  <a:srgbClr val="F7F6EF"/>
                </a:solidFill>
                <a:latin typeface="Arial"/>
              </a:rPr>
              <a:t>TO BE COMPLETED BY THE FOUNDER</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FF7A2F"/>
                </a:solidFill>
                <a:latin typeface="Arial"/>
              </a:rPr>
              <a:t>TEAM</a:t>
            </a:r>
          </a:p>
        </p:txBody>
      </p:sp>
      <p:sp>
        <p:nvSpPr>
          <p:cNvPr id="4" name="Rectangle 3"/>
          <p:cNvSpPr/>
          <p:nvPr/>
        </p:nvSpPr>
        <p:spPr>
          <a:xfrm>
            <a:off x="566928" y="6035040"/>
            <a:ext cx="11057839" cy="11887"/>
          </a:xfrm>
          <a:prstGeom prst="rect">
            <a:avLst/>
          </a:prstGeom>
          <a:solidFill>
            <a:srgbClr val="FF7A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12</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FACT//DUEL internal — numbers.md §4.4 and §4.5  ·  Y Combinator — A guide to seed fundraising  ·  Y Combinator — How to design a better pitch deck  ·  DocSend — per-section dwell times</a:t>
            </a:r>
          </a:p>
        </p:txBody>
      </p:sp>
      <p:sp>
        <p:nvSpPr>
          <p:cNvPr id="7" name="TextBox 6"/>
          <p:cNvSpPr txBox="1"/>
          <p:nvPr/>
        </p:nvSpPr>
        <p:spPr>
          <a:xfrm>
            <a:off x="566928" y="1444752"/>
            <a:ext cx="11057839" cy="4462272"/>
          </a:xfrm>
          <a:prstGeom prst="rect">
            <a:avLst/>
          </a:prstGeom>
          <a:noFill/>
        </p:spPr>
        <p:txBody>
          <a:bodyPr wrap="square" lIns="0" rIns="0" tIns="0" bIns="0" anchor="t">
            <a:spAutoFit/>
          </a:bodyPr>
          <a:lstStyle/>
          <a:p>
            <a:pPr marL="306731" indent="-306731">
              <a:lnSpc>
                <a:spcPct val="116000"/>
              </a:lnSpc>
              <a:buClr>
                <a:srgbClr val="FF7A2F"/>
              </a:buClr>
              <a:buFont typeface="Arial"/>
              <a:buChar char="—"/>
            </a:pPr>
            <a:r>
              <a:rPr sz="1800" b="0" i="0">
                <a:solidFill>
                  <a:srgbClr val="F7F6EF"/>
                </a:solidFill>
                <a:latin typeface="Arial"/>
              </a:rPr>
              <a:t>TO BE COMPLETED BY THE FOUNDER. No team member, hire, advisor, partner or customer is claimed in this deck.</a:t>
            </a:r>
          </a:p>
          <a:p>
            <a:pPr marL="306731" indent="-306731">
              <a:lnSpc>
                <a:spcPct val="116000"/>
              </a:lnSpc>
              <a:spcBef>
                <a:spcPts val="990"/>
              </a:spcBef>
              <a:buClr>
                <a:srgbClr val="FF7A2F"/>
              </a:buClr>
              <a:buFont typeface="Arial"/>
              <a:buChar char="—"/>
            </a:pPr>
            <a:r>
              <a:rPr sz="1800" b="0" i="0">
                <a:solidFill>
                  <a:srgbClr val="F7F6EF"/>
                </a:solidFill>
                <a:latin typeface="Arial"/>
              </a:rPr>
              <a:t>The plan </a:t>
            </a:r>
            <a:r>
              <a:rPr sz="1800" b="1" i="0">
                <a:solidFill>
                  <a:srgbClr val="4EE1FF"/>
                </a:solidFill>
                <a:latin typeface="Arial"/>
              </a:rPr>
              <a:t>(P)</a:t>
            </a:r>
            <a:r>
              <a:rPr sz="1800" b="0" i="0">
                <a:solidFill>
                  <a:srgbClr val="F7F6EF"/>
                </a:solidFill>
                <a:latin typeface="Arial"/>
              </a:rPr>
              <a:t> budgets four engineers at YC's </a:t>
            </a:r>
            <a:r>
              <a:rPr sz="1800" b="0" i="0">
                <a:solidFill>
                  <a:srgbClr val="FFC83D"/>
                </a:solidFill>
                <a:latin typeface="Arial"/>
              </a:rPr>
              <a:t>$15,000</a:t>
            </a:r>
            <a:r>
              <a:rPr sz="1800" b="0" i="0">
                <a:solidFill>
                  <a:srgbClr val="F7F6EF"/>
                </a:solidFill>
                <a:latin typeface="Arial"/>
              </a:rPr>
              <a:t>/engineer/month over 18 months = </a:t>
            </a:r>
            <a:r>
              <a:rPr sz="1800" b="0" i="0">
                <a:solidFill>
                  <a:srgbClr val="FFC83D"/>
                </a:solidFill>
                <a:latin typeface="Arial"/>
              </a:rPr>
              <a:t>$1,080,000</a:t>
            </a:r>
            <a:r>
              <a:rPr sz="1800" b="0" i="0">
                <a:solidFill>
                  <a:srgbClr val="F7F6EF"/>
                </a:solidFill>
                <a:latin typeface="Arial"/>
              </a:rPr>
              <a:t> — a rule of thumb, not a measured 2026 cost base (§4.5).</a:t>
            </a:r>
          </a:p>
          <a:p>
            <a:pPr marL="306731" indent="-306731">
              <a:lnSpc>
                <a:spcPct val="116000"/>
              </a:lnSpc>
              <a:spcBef>
                <a:spcPts val="990"/>
              </a:spcBef>
              <a:buClr>
                <a:srgbClr val="FF7A2F"/>
              </a:buClr>
              <a:buFont typeface="Arial"/>
              <a:buChar char="—"/>
            </a:pPr>
            <a:r>
              <a:rPr sz="1800" b="0" i="0">
                <a:solidFill>
                  <a:srgbClr val="F7F6EF"/>
                </a:solidFill>
                <a:latin typeface="Arial"/>
              </a:rPr>
              <a:t>Roles the milestones require: backend for accounts, server-side progression and the cohort service; client and game engineering for the duel and progression surfaces.</a:t>
            </a:r>
          </a:p>
          <a:p>
            <a:pPr marL="306731" indent="-306731">
              <a:lnSpc>
                <a:spcPct val="116000"/>
              </a:lnSpc>
              <a:spcBef>
                <a:spcPts val="990"/>
              </a:spcBef>
              <a:buClr>
                <a:srgbClr val="FF7A2F"/>
              </a:buClr>
              <a:buFont typeface="Arial"/>
              <a:buChar char="—"/>
            </a:pPr>
            <a:r>
              <a:rPr sz="1800" b="0" i="0">
                <a:solidFill>
                  <a:srgbClr val="F7F6EF"/>
                </a:solidFill>
                <a:latin typeface="Arial"/>
              </a:rPr>
              <a:t>Content and question production is an unbudgeted role beyond the four-engineer line (§4.4, milestone 4).</a:t>
            </a:r>
          </a:p>
          <a:p>
            <a:pPr marL="306731" indent="-306731">
              <a:lnSpc>
                <a:spcPct val="116000"/>
              </a:lnSpc>
              <a:spcBef>
                <a:spcPts val="990"/>
              </a:spcBef>
              <a:buClr>
                <a:srgbClr val="FF7A2F"/>
              </a:buClr>
              <a:buFont typeface="Arial"/>
              <a:buChar char="—"/>
            </a:pPr>
            <a:r>
              <a:rPr sz="1800" b="0" i="0">
                <a:solidFill>
                  <a:srgbClr val="F7F6EF"/>
                </a:solidFill>
                <a:latin typeface="Arial"/>
              </a:rPr>
              <a:t>This slide must name those four, with agreement in writing, before the deck is sent. Founder background — TO BE COMPLETED.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133856"/>
          </a:xfrm>
        </p:spPr>
        <p:txBody>
          <a:bodyPr wrap="square" lIns="0" rIns="0" tIns="0" bIns="0" anchor="t"/>
          <a:lstStyle/>
          <a:p>
            <a:pPr>
              <a:lnSpc>
                <a:spcPct val="108000"/>
              </a:lnSpc>
            </a:pPr>
            <a:r>
              <a:rPr sz="4000" b="1" i="0">
                <a:solidFill>
                  <a:srgbClr val="F7F6EF"/>
                </a:solidFill>
                <a:latin typeface="Arial"/>
              </a:rPr>
              <a:t>About $1.2M for 18 months, to buy the one number this deck lacks.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THE ASK</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13</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Y Combinator — A guide to seed fundraising  ·  Carta — State of Private Markets, Q3 2025  ·  Crunchbase — US seed funding, 2025  ·  FACT//DUEL internal — numbers.md §4.4, §4.5 and §5.8</a:t>
            </a:r>
          </a:p>
          <a:p>
            <a:pPr>
              <a:lnSpc>
                <a:spcPct val="115000"/>
              </a:lnSpc>
            </a:pPr>
            <a:r>
              <a:rPr sz="800" b="0" i="0">
                <a:solidFill>
                  <a:srgbClr val="A6ADBA"/>
                </a:solidFill>
                <a:latin typeface="Arial"/>
              </a:rPr>
              <a:t>FACT//DUEL internal — numbers.md §7.1 and §7.3  ·  FACT//DUEL internal — docs/money/ads/synthesis.json (16 Sep 2026; five research lanes, two adversarial audits)</a:t>
            </a:r>
          </a:p>
          <a:p>
            <a:pPr>
              <a:lnSpc>
                <a:spcPct val="115000"/>
              </a:lnSpc>
            </a:pPr>
            <a:r>
              <a:rPr sz="800" b="0" i="0">
                <a:solidFill>
                  <a:srgbClr val="A6ADBA"/>
                </a:solidFill>
                <a:latin typeface="Arial"/>
              </a:rPr>
              <a:t>FACT//DUEL internal — numbers.md §8 (company disclosure — the ad-funded format, 16 Sep 2026)</a:t>
            </a:r>
          </a:p>
        </p:txBody>
      </p:sp>
      <p:sp>
        <p:nvSpPr>
          <p:cNvPr id="7" name="Rectangle 6"/>
          <p:cNvSpPr/>
          <p:nvPr/>
        </p:nvSpPr>
        <p:spPr>
          <a:xfrm>
            <a:off x="566928" y="1993392"/>
            <a:ext cx="3539642" cy="1115568"/>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93392"/>
            <a:ext cx="41148" cy="1115568"/>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86384" y="2139696"/>
            <a:ext cx="3155594" cy="457200"/>
          </a:xfrm>
          <a:prstGeom prst="rect">
            <a:avLst/>
          </a:prstGeom>
          <a:noFill/>
        </p:spPr>
        <p:txBody>
          <a:bodyPr wrap="square" lIns="0" rIns="0" tIns="0" bIns="0" anchor="t">
            <a:spAutoFit/>
          </a:bodyPr>
          <a:lstStyle/>
          <a:p>
            <a:r>
              <a:rPr sz="2700" b="1" i="0">
                <a:solidFill>
                  <a:srgbClr val="FFC83D"/>
                </a:solidFill>
                <a:latin typeface="Arial"/>
              </a:rPr>
              <a:t>$1,080,000</a:t>
            </a:r>
          </a:p>
        </p:txBody>
      </p:sp>
      <p:sp>
        <p:nvSpPr>
          <p:cNvPr id="10" name="TextBox 9"/>
          <p:cNvSpPr txBox="1"/>
          <p:nvPr/>
        </p:nvSpPr>
        <p:spPr>
          <a:xfrm>
            <a:off x="786384" y="2596896"/>
            <a:ext cx="3155594" cy="438912"/>
          </a:xfrm>
          <a:prstGeom prst="rect">
            <a:avLst/>
          </a:prstGeom>
          <a:noFill/>
        </p:spPr>
        <p:txBody>
          <a:bodyPr wrap="square" lIns="0" rIns="0" tIns="0" bIns="0" anchor="t">
            <a:spAutoFit/>
          </a:bodyPr>
          <a:lstStyle/>
          <a:p>
            <a:pPr>
              <a:lnSpc>
                <a:spcPct val="114000"/>
              </a:lnSpc>
            </a:pPr>
            <a:r>
              <a:rPr sz="950" b="0" i="0">
                <a:solidFill>
                  <a:srgbClr val="A6ADBA"/>
                </a:solidFill>
                <a:latin typeface="Arial"/>
              </a:rPr>
              <a:t>4 engineers x $15,000/month x 18 months (YC's own arithmetic)</a:t>
            </a:r>
          </a:p>
        </p:txBody>
      </p:sp>
      <p:sp>
        <p:nvSpPr>
          <p:cNvPr id="11" name="Rectangle 10"/>
          <p:cNvSpPr/>
          <p:nvPr/>
        </p:nvSpPr>
        <p:spPr>
          <a:xfrm>
            <a:off x="4326026" y="1993392"/>
            <a:ext cx="3539642" cy="1115568"/>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326026" y="1993392"/>
            <a:ext cx="41148" cy="1115568"/>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545482" y="2139696"/>
            <a:ext cx="3155594" cy="457200"/>
          </a:xfrm>
          <a:prstGeom prst="rect">
            <a:avLst/>
          </a:prstGeom>
          <a:noFill/>
        </p:spPr>
        <p:txBody>
          <a:bodyPr wrap="square" lIns="0" rIns="0" tIns="0" bIns="0" anchor="t">
            <a:spAutoFit/>
          </a:bodyPr>
          <a:lstStyle/>
          <a:p>
            <a:r>
              <a:rPr sz="2700" b="1" i="0">
                <a:solidFill>
                  <a:srgbClr val="FFC83D"/>
                </a:solidFill>
                <a:latin typeface="Arial"/>
              </a:rPr>
              <a:t>6.98%</a:t>
            </a:r>
          </a:p>
        </p:txBody>
      </p:sp>
      <p:sp>
        <p:nvSpPr>
          <p:cNvPr id="14" name="TextBox 13"/>
          <p:cNvSpPr txBox="1"/>
          <p:nvPr/>
        </p:nvSpPr>
        <p:spPr>
          <a:xfrm>
            <a:off x="4545482" y="2596896"/>
            <a:ext cx="3155594" cy="438912"/>
          </a:xfrm>
          <a:prstGeom prst="rect">
            <a:avLst/>
          </a:prstGeom>
          <a:noFill/>
        </p:spPr>
        <p:txBody>
          <a:bodyPr wrap="square" lIns="0" rIns="0" tIns="0" bIns="0" anchor="t">
            <a:spAutoFit/>
          </a:bodyPr>
          <a:lstStyle/>
          <a:p>
            <a:pPr>
              <a:lnSpc>
                <a:spcPct val="114000"/>
              </a:lnSpc>
            </a:pPr>
            <a:r>
              <a:rPr sz="950" b="0" i="0">
                <a:solidFill>
                  <a:srgbClr val="A6ADBA"/>
                </a:solidFill>
                <a:latin typeface="Arial"/>
              </a:rPr>
              <a:t>dilution: $1.2M into a $17.2M post-money (Carta Q3 2025 median)</a:t>
            </a:r>
          </a:p>
        </p:txBody>
      </p:sp>
      <p:sp>
        <p:nvSpPr>
          <p:cNvPr id="15" name="Rectangle 14"/>
          <p:cNvSpPr/>
          <p:nvPr/>
        </p:nvSpPr>
        <p:spPr>
          <a:xfrm>
            <a:off x="8085124" y="1993392"/>
            <a:ext cx="3539642" cy="1115568"/>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8085124" y="1993392"/>
            <a:ext cx="41148" cy="1115568"/>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304580" y="2139696"/>
            <a:ext cx="3155594" cy="457200"/>
          </a:xfrm>
          <a:prstGeom prst="rect">
            <a:avLst/>
          </a:prstGeom>
          <a:noFill/>
        </p:spPr>
        <p:txBody>
          <a:bodyPr wrap="square" lIns="0" rIns="0" tIns="0" bIns="0" anchor="t">
            <a:spAutoFit/>
          </a:bodyPr>
          <a:lstStyle/>
          <a:p>
            <a:r>
              <a:rPr sz="2700" b="1" i="0">
                <a:solidFill>
                  <a:srgbClr val="FFC83D"/>
                </a:solidFill>
                <a:latin typeface="Arial"/>
              </a:rPr>
              <a:t>5.00%</a:t>
            </a:r>
          </a:p>
        </p:txBody>
      </p:sp>
      <p:sp>
        <p:nvSpPr>
          <p:cNvPr id="18" name="TextBox 17"/>
          <p:cNvSpPr txBox="1"/>
          <p:nvPr/>
        </p:nvSpPr>
        <p:spPr>
          <a:xfrm>
            <a:off x="8304580" y="2596896"/>
            <a:ext cx="3155594" cy="438912"/>
          </a:xfrm>
          <a:prstGeom prst="rect">
            <a:avLst/>
          </a:prstGeom>
          <a:noFill/>
        </p:spPr>
        <p:txBody>
          <a:bodyPr wrap="square" lIns="0" rIns="0" tIns="0" bIns="0" anchor="t">
            <a:spAutoFit/>
          </a:bodyPr>
          <a:lstStyle/>
          <a:p>
            <a:pPr>
              <a:lnSpc>
                <a:spcPct val="114000"/>
              </a:lnSpc>
            </a:pPr>
            <a:r>
              <a:rPr sz="950" b="0" i="0">
                <a:solidFill>
                  <a:srgbClr val="A6ADBA"/>
                </a:solidFill>
                <a:latin typeface="Arial"/>
              </a:rPr>
              <a:t>dilution: $1.2M into a $24.0M post-money (Carta Q4 2025 high)</a:t>
            </a:r>
          </a:p>
        </p:txBody>
      </p:sp>
      <p:sp>
        <p:nvSpPr>
          <p:cNvPr id="19" name="TextBox 18"/>
          <p:cNvSpPr txBox="1"/>
          <p:nvPr/>
        </p:nvSpPr>
        <p:spPr>
          <a:xfrm>
            <a:off x="566928" y="3383280"/>
            <a:ext cx="11057839" cy="2523744"/>
          </a:xfrm>
          <a:prstGeom prst="rect">
            <a:avLst/>
          </a:prstGeom>
          <a:noFill/>
        </p:spPr>
        <p:txBody>
          <a:bodyPr wrap="square" lIns="0" rIns="0" tIns="0" bIns="0" anchor="t">
            <a:spAutoFit/>
          </a:bodyPr>
          <a:lstStyle/>
          <a:p>
            <a:pPr marL="264121" indent="-264121">
              <a:lnSpc>
                <a:spcPct val="116000"/>
              </a:lnSpc>
              <a:buClr>
                <a:srgbClr val="D4FF3A"/>
              </a:buClr>
              <a:buFont typeface="Arial"/>
              <a:buChar char="—"/>
            </a:pPr>
            <a:r>
              <a:rPr sz="1550" b="0" i="0">
                <a:solidFill>
                  <a:srgbClr val="F7F6EF"/>
                </a:solidFill>
                <a:latin typeface="Arial"/>
              </a:rPr>
              <a:t>4 engineers x </a:t>
            </a:r>
            <a:r>
              <a:rPr sz="1550" b="0" i="0">
                <a:solidFill>
                  <a:srgbClr val="FFC83D"/>
                </a:solidFill>
                <a:latin typeface="Arial"/>
              </a:rPr>
              <a:t>$15,000</a:t>
            </a:r>
            <a:r>
              <a:rPr sz="1550" b="0" i="0">
                <a:solidFill>
                  <a:srgbClr val="F7F6EF"/>
                </a:solidFill>
                <a:latin typeface="Arial"/>
              </a:rPr>
              <a:t>/month x 18 months = </a:t>
            </a:r>
            <a:r>
              <a:rPr sz="1550" b="0" i="0">
                <a:solidFill>
                  <a:srgbClr val="FFC83D"/>
                </a:solidFill>
                <a:latin typeface="Arial"/>
              </a:rPr>
              <a:t>$1,080,000</a:t>
            </a:r>
            <a:r>
              <a:rPr sz="1550" b="0" i="0">
                <a:solidFill>
                  <a:srgbClr val="F7F6EF"/>
                </a:solidFill>
                <a:latin typeface="Arial"/>
              </a:rPr>
              <a:t> </a:t>
            </a:r>
            <a:r>
              <a:rPr sz="1550" b="1" i="0">
                <a:solidFill>
                  <a:srgbClr val="4EE1FF"/>
                </a:solidFill>
                <a:latin typeface="Arial"/>
              </a:rPr>
              <a:t>(P)</a:t>
            </a:r>
            <a:r>
              <a:rPr sz="1550" b="0" i="0">
                <a:solidFill>
                  <a:srgbClr val="F7F6EF"/>
                </a:solidFill>
                <a:latin typeface="Arial"/>
              </a:rPr>
              <a:t>. Raising about </a:t>
            </a:r>
            <a:r>
              <a:rPr sz="1550" b="0" i="0">
                <a:solidFill>
                  <a:srgbClr val="FFC83D"/>
                </a:solidFill>
                <a:latin typeface="Arial"/>
              </a:rPr>
              <a:t>$1.2M</a:t>
            </a:r>
            <a:r>
              <a:rPr sz="1550" b="0" i="0">
                <a:solidFill>
                  <a:srgbClr val="F7F6EF"/>
                </a:solidFill>
                <a:latin typeface="Arial"/>
              </a:rPr>
              <a:t> </a:t>
            </a:r>
            <a:r>
              <a:rPr sz="1550" b="1" i="0">
                <a:solidFill>
                  <a:srgbClr val="4EE1FF"/>
                </a:solidFill>
                <a:latin typeface="Arial"/>
              </a:rPr>
              <a:t>(P)</a:t>
            </a:r>
            <a:r>
              <a:rPr sz="1550" b="0" i="0">
                <a:solidFill>
                  <a:srgbClr val="F7F6EF"/>
                </a:solidFill>
                <a:latin typeface="Arial"/>
              </a:rPr>
              <a:t>, inside YC's </a:t>
            </a:r>
            <a:r>
              <a:rPr sz="1550" b="0" i="0">
                <a:solidFill>
                  <a:srgbClr val="FFC83D"/>
                </a:solidFill>
                <a:latin typeface="Arial"/>
              </a:rPr>
              <a:t>$500k</a:t>
            </a:r>
            <a:r>
              <a:rPr sz="1550" b="0" i="0">
                <a:solidFill>
                  <a:srgbClr val="F7F6EF"/>
                </a:solidFill>
                <a:latin typeface="Arial"/>
              </a:rPr>
              <a:t>-</a:t>
            </a:r>
            <a:r>
              <a:rPr sz="1550" b="0" i="0">
                <a:solidFill>
                  <a:srgbClr val="FFC83D"/>
                </a:solidFill>
                <a:latin typeface="Arial"/>
              </a:rPr>
              <a:t>$1.5M</a:t>
            </a:r>
            <a:r>
              <a:rPr sz="1550" b="0" i="0">
                <a:solidFill>
                  <a:srgbClr val="F7F6EF"/>
                </a:solidFill>
                <a:latin typeface="Arial"/>
              </a:rPr>
              <a:t> band.</a:t>
            </a:r>
          </a:p>
          <a:p>
            <a:pPr marL="264121" indent="-264121">
              <a:lnSpc>
                <a:spcPct val="116000"/>
              </a:lnSpc>
              <a:spcBef>
                <a:spcPts val="852"/>
              </a:spcBef>
              <a:buClr>
                <a:srgbClr val="D4FF3A"/>
              </a:buClr>
              <a:buFont typeface="Arial"/>
              <a:buChar char="—"/>
            </a:pPr>
            <a:r>
              <a:rPr sz="1550" b="0" i="0">
                <a:solidFill>
                  <a:srgbClr val="FFC83D"/>
                </a:solidFill>
                <a:latin typeface="Arial"/>
              </a:rPr>
              <a:t>$15,000</a:t>
            </a:r>
            <a:r>
              <a:rPr sz="1550" b="0" i="0">
                <a:solidFill>
                  <a:srgbClr val="F7F6EF"/>
                </a:solidFill>
                <a:latin typeface="Arial"/>
              </a:rPr>
              <a:t> is YC's own rule of thumb for an all-in engineer month — undated editorial guidance, not a measured 2026 cost base.</a:t>
            </a:r>
          </a:p>
          <a:p>
            <a:pPr marL="264121" indent="-264121">
              <a:lnSpc>
                <a:spcPct val="116000"/>
              </a:lnSpc>
              <a:spcBef>
                <a:spcPts val="852"/>
              </a:spcBef>
              <a:buClr>
                <a:srgbClr val="D4FF3A"/>
              </a:buClr>
              <a:buFont typeface="Arial"/>
              <a:buChar char="—"/>
            </a:pPr>
            <a:r>
              <a:rPr sz="1550" b="0" i="0">
                <a:solidFill>
                  <a:srgbClr val="F7F6EF"/>
                </a:solidFill>
                <a:latin typeface="Arial"/>
              </a:rPr>
              <a:t>Illustrative, not a price: at Carta's Q3 2025 median seed pre-money of </a:t>
            </a:r>
            <a:r>
              <a:rPr sz="1550" b="0" i="0">
                <a:solidFill>
                  <a:srgbClr val="FFC83D"/>
                </a:solidFill>
                <a:latin typeface="Arial"/>
              </a:rPr>
              <a:t>$16.0M</a:t>
            </a:r>
            <a:r>
              <a:rPr sz="1550" b="0" i="0">
                <a:solidFill>
                  <a:srgbClr val="F7F6EF"/>
                </a:solidFill>
                <a:latin typeface="Arial"/>
              </a:rPr>
              <a:t>, </a:t>
            </a:r>
            <a:r>
              <a:rPr sz="1550" b="0" i="0">
                <a:solidFill>
                  <a:srgbClr val="FFC83D"/>
                </a:solidFill>
                <a:latin typeface="Arial"/>
              </a:rPr>
              <a:t>$1.2M</a:t>
            </a:r>
            <a:r>
              <a:rPr sz="1550" b="0" i="0">
                <a:solidFill>
                  <a:srgbClr val="F7F6EF"/>
                </a:solidFill>
                <a:latin typeface="Arial"/>
              </a:rPr>
              <a:t> into </a:t>
            </a:r>
            <a:r>
              <a:rPr sz="1550" b="0" i="0">
                <a:solidFill>
                  <a:srgbClr val="FFC83D"/>
                </a:solidFill>
                <a:latin typeface="Arial"/>
              </a:rPr>
              <a:t>$17.2M</a:t>
            </a:r>
            <a:r>
              <a:rPr sz="1550" b="0" i="0">
                <a:solidFill>
                  <a:srgbClr val="F7F6EF"/>
                </a:solidFill>
                <a:latin typeface="Arial"/>
              </a:rPr>
              <a:t> post is 6.98% dilution </a:t>
            </a:r>
            <a:r>
              <a:rPr sz="1550" b="1" i="0">
                <a:solidFill>
                  <a:srgbClr val="4EE1FF"/>
                </a:solidFill>
                <a:latin typeface="Arial"/>
              </a:rPr>
              <a:t>(P)</a:t>
            </a:r>
            <a:r>
              <a:rPr sz="1550" b="0" i="0">
                <a:solidFill>
                  <a:srgbClr val="F7F6EF"/>
                </a:solidFill>
                <a:latin typeface="Arial"/>
              </a:rPr>
              <a:t>.</a:t>
            </a:r>
          </a:p>
          <a:p>
            <a:pPr marL="264121" indent="-264121">
              <a:lnSpc>
                <a:spcPct val="116000"/>
              </a:lnSpc>
              <a:spcBef>
                <a:spcPts val="852"/>
              </a:spcBef>
              <a:buClr>
                <a:srgbClr val="D4FF3A"/>
              </a:buClr>
              <a:buFont typeface="Arial"/>
              <a:buChar char="—"/>
            </a:pPr>
            <a:r>
              <a:rPr sz="1550" b="0" i="0">
                <a:solidFill>
                  <a:srgbClr val="F7F6EF"/>
                </a:solidFill>
                <a:latin typeface="Arial"/>
              </a:rPr>
              <a:t>It buys the twelve-week plan: soft launch India + UK on 12 Oct 2026, EU 2 Nov, US 23 Nov, store builds with verified rewards in week 8, go/no-go 14 Dec (§8.7).</a:t>
            </a:r>
          </a:p>
          <a:p>
            <a:pPr marL="264121" indent="-264121">
              <a:lnSpc>
                <a:spcPct val="116000"/>
              </a:lnSpc>
              <a:spcBef>
                <a:spcPts val="852"/>
              </a:spcBef>
              <a:buClr>
                <a:srgbClr val="D4FF3A"/>
              </a:buClr>
              <a:buFont typeface="Arial"/>
              <a:buChar char="—"/>
            </a:pPr>
            <a:r>
              <a:rPr sz="1550" b="0" i="0">
                <a:solidFill>
                  <a:srgbClr val="F7F6EF"/>
                </a:solidFill>
                <a:latin typeface="Arial"/>
              </a:rPr>
              <a:t>And the number this deck lacks: a published D1/D7/D30 cohort of 1,000+ players; 300 verified questions per sport; an opponent-integrity answer in production.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The ~1,000x gap between the category's claimed size and its observed revenue.</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MARKET STRUCTURE</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14</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Fact.MR — second-screen sports apps market  ·  The Business Research Company — fan engagement  ·  market.us — fan engagement market  ·  MarketsandMarkets — game-based learning</a:t>
            </a:r>
          </a:p>
          <a:p>
            <a:pPr>
              <a:lnSpc>
                <a:spcPct val="115000"/>
              </a:lnSpc>
            </a:pPr>
            <a:r>
              <a:rPr sz="800" b="0" i="0">
                <a:solidFill>
                  <a:srgbClr val="A6ADBA"/>
                </a:solidFill>
                <a:latin typeface="Arial"/>
              </a:rPr>
              <a:t>IMARC — game-based learning  ·  Sensor Tower — Q2 2025 US iOS trivia revenue (est.)  ·  Google Play — Trivia Crack listing  ·  Sensor Tower — State of Mobile 2026</a:t>
            </a:r>
          </a:p>
        </p:txBody>
      </p:sp>
      <p:sp>
        <p:nvSpPr>
          <p:cNvPr id="7" name="TextBox 6"/>
          <p:cNvSpPr txBox="1"/>
          <p:nvPr/>
        </p:nvSpPr>
        <p:spPr>
          <a:xfrm>
            <a:off x="566928" y="1719072"/>
            <a:ext cx="5114239" cy="4187952"/>
          </a:xfrm>
          <a:prstGeom prst="rect">
            <a:avLst/>
          </a:prstGeom>
          <a:noFill/>
        </p:spPr>
        <p:txBody>
          <a:bodyPr wrap="square" lIns="0" rIns="0" tIns="0" bIns="0" anchor="t">
            <a:spAutoFit/>
          </a:bodyPr>
          <a:lstStyle/>
          <a:p>
            <a:pPr marL="281154" indent="-281154">
              <a:lnSpc>
                <a:spcPct val="116000"/>
              </a:lnSpc>
              <a:buClr>
                <a:srgbClr val="4EE1FF"/>
              </a:buClr>
              <a:buFont typeface="Arial"/>
              <a:buChar char="—"/>
            </a:pPr>
            <a:r>
              <a:rPr sz="1650" b="0" i="0">
                <a:solidFill>
                  <a:srgbClr val="F7F6EF"/>
                </a:solidFill>
                <a:latin typeface="Arial"/>
              </a:rPr>
              <a:t>Top-down vendors size the nearest categories at </a:t>
            </a:r>
            <a:r>
              <a:rPr sz="1650" b="0" i="0">
                <a:solidFill>
                  <a:srgbClr val="FFC83D"/>
                </a:solidFill>
                <a:latin typeface="Arial"/>
              </a:rPr>
              <a:t>$3.0bn</a:t>
            </a:r>
            <a:r>
              <a:rPr sz="1650" b="0" i="0">
                <a:solidFill>
                  <a:srgbClr val="F7F6EF"/>
                </a:solidFill>
                <a:latin typeface="Arial"/>
              </a:rPr>
              <a:t>–</a:t>
            </a:r>
            <a:r>
              <a:rPr sz="1650" b="0" i="0">
                <a:solidFill>
                  <a:srgbClr val="FFC83D"/>
                </a:solidFill>
                <a:latin typeface="Arial"/>
              </a:rPr>
              <a:t>$8.09bn</a:t>
            </a:r>
            <a:r>
              <a:rPr sz="1650" b="0" i="0">
                <a:solidFill>
                  <a:srgbClr val="F7F6EF"/>
                </a:solidFill>
                <a:latin typeface="Arial"/>
              </a:rPr>
              <a:t>; Sensor Tower estimates the top three trivia apps at ~</a:t>
            </a:r>
            <a:r>
              <a:rPr sz="1650" b="0" i="0">
                <a:solidFill>
                  <a:srgbClr val="FFC83D"/>
                </a:solidFill>
                <a:latin typeface="Arial"/>
              </a:rPr>
              <a:t>$102.5K</a:t>
            </a:r>
            <a:r>
              <a:rPr sz="1650" b="0" i="0">
                <a:solidFill>
                  <a:srgbClr val="F7F6EF"/>
                </a:solidFill>
                <a:latin typeface="Arial"/>
              </a:rPr>
              <a:t> in their peak Q2 2025 weeks — roughly three orders of magnitude apart.</a:t>
            </a:r>
          </a:p>
          <a:p>
            <a:pPr marL="281154" indent="-281154">
              <a:lnSpc>
                <a:spcPct val="116000"/>
              </a:lnSpc>
              <a:spcBef>
                <a:spcPts val="907"/>
              </a:spcBef>
              <a:buClr>
                <a:srgbClr val="4EE1FF"/>
              </a:buClr>
              <a:buFont typeface="Arial"/>
              <a:buChar char="—"/>
            </a:pPr>
            <a:r>
              <a:rPr sz="1650" b="0" i="0">
                <a:solidFill>
                  <a:srgbClr val="F7F6EF"/>
                </a:solidFill>
                <a:latin typeface="Arial"/>
              </a:rPr>
              <a:t>Thesis reading: the category is structurally under-monetised. Risk reading: trivia audiences do not pay, and this is the ceiling.</a:t>
            </a:r>
          </a:p>
          <a:p>
            <a:pPr marL="281154" indent="-281154">
              <a:lnSpc>
                <a:spcPct val="116000"/>
              </a:lnSpc>
              <a:spcBef>
                <a:spcPts val="907"/>
              </a:spcBef>
              <a:buClr>
                <a:srgbClr val="4EE1FF"/>
              </a:buClr>
              <a:buFont typeface="Arial"/>
              <a:buChar char="—"/>
            </a:pPr>
            <a:r>
              <a:rPr sz="1650" b="0" i="0">
                <a:solidFill>
                  <a:srgbClr val="F7F6EF"/>
                </a:solidFill>
                <a:latin typeface="Arial"/>
              </a:rPr>
              <a:t>Reconciliation is slide 9: the category monetises through habit subscriptions, not consumer trivia IAP.</a:t>
            </a:r>
          </a:p>
        </p:txBody>
      </p:sp>
      <p:pic>
        <p:nvPicPr>
          <p:cNvPr id="8" name="Picture 7" descr="the-gap.png"/>
          <p:cNvPicPr>
            <a:picLocks noChangeAspect="1"/>
          </p:cNvPicPr>
          <p:nvPr/>
        </p:nvPicPr>
        <p:blipFill>
          <a:blip r:embed="rId2"/>
          <a:stretch>
            <a:fillRect/>
          </a:stretch>
        </p:blipFill>
        <p:spPr>
          <a:xfrm>
            <a:off x="6001207" y="2171837"/>
            <a:ext cx="5623560" cy="3282421"/>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271016"/>
          </a:xfrm>
        </p:spPr>
        <p:txBody>
          <a:bodyPr wrap="square" lIns="0" rIns="0" tIns="0" bIns="0" anchor="t"/>
          <a:lstStyle/>
          <a:p>
            <a:pPr>
              <a:lnSpc>
                <a:spcPct val="108000"/>
              </a:lnSpc>
            </a:pPr>
            <a:r>
              <a:rPr sz="3000" b="1" i="0">
                <a:solidFill>
                  <a:srgbClr val="F7F6EF"/>
                </a:solidFill>
                <a:latin typeface="Arial"/>
              </a:rPr>
              <a:t>The ad-funded arithmetic, all figures (likely) or (P): benchmarks the research could not independently verify, and no company data.</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THE MODEL</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15</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GameAnalytics — 2026 Mobile &amp; PC Gaming Benchmarks  ·  businessofapps.com  ·  applixir.com  ·  support.google.com</a:t>
            </a:r>
          </a:p>
          <a:p>
            <a:pPr>
              <a:lnSpc>
                <a:spcPct val="115000"/>
              </a:lnSpc>
            </a:pPr>
            <a:r>
              <a:rPr sz="800" b="0" i="0">
                <a:solidFill>
                  <a:srgbClr val="A6ADBA"/>
                </a:solidFill>
                <a:latin typeface="Arial"/>
              </a:rPr>
              <a:t>FACT//DUEL internal — docs/money/ads/lane-economy.json + audit-2-economy.json (recomputed table and break-evens)  ·  FACT//DUEL internal — docs/money/ads/lane-adtech.json + audit-1.json</a:t>
            </a:r>
          </a:p>
          <a:p>
            <a:pPr>
              <a:lnSpc>
                <a:spcPct val="115000"/>
              </a:lnSpc>
            </a:pPr>
            <a:r>
              <a:rPr sz="800" b="0" i="0">
                <a:solidFill>
                  <a:srgbClr val="A6ADBA"/>
                </a:solidFill>
                <a:latin typeface="Arial"/>
              </a:rPr>
              <a:t>FACT//DUEL internal — docs/money/ads/lane-launch.json  ·  FACT//DUEL internal — numbers.md §8 (company disclosure — the ad-funded format, 16 Sep 2026)</a:t>
            </a:r>
          </a:p>
        </p:txBody>
      </p:sp>
      <p:sp>
        <p:nvSpPr>
          <p:cNvPr id="7" name="TextBox 6"/>
          <p:cNvSpPr txBox="1"/>
          <p:nvPr/>
        </p:nvSpPr>
        <p:spPr>
          <a:xfrm>
            <a:off x="566928" y="2130552"/>
            <a:ext cx="11057839" cy="3776472"/>
          </a:xfrm>
          <a:prstGeom prst="rect">
            <a:avLst/>
          </a:prstGeom>
          <a:noFill/>
        </p:spPr>
        <p:txBody>
          <a:bodyPr wrap="square" lIns="0" rIns="0" tIns="0" bIns="0" anchor="t">
            <a:spAutoFit/>
          </a:bodyPr>
          <a:lstStyle/>
          <a:p>
            <a:pPr marL="298188" indent="-298188">
              <a:lnSpc>
                <a:spcPct val="116000"/>
              </a:lnSpc>
              <a:buClr>
                <a:srgbClr val="4EE1FF"/>
              </a:buClr>
              <a:buFont typeface="Arial"/>
              <a:buChar char="—"/>
            </a:pPr>
            <a:r>
              <a:rPr sz="1750" b="0" i="0">
                <a:solidFill>
                  <a:srgbClr val="F7F6EF"/>
                </a:solidFill>
                <a:latin typeface="Arial"/>
              </a:rPr>
              <a:t>ARPDAU = ads per DAU x eCPM / 1000. LTV(H) = ARPDAU x lifetime days, where lifetime days = 1 + Σ retention(d) fitted to GameAnalytics CY2025 medians (2.28 at 180 days; P75 3.57).</a:t>
            </a:r>
          </a:p>
          <a:p>
            <a:pPr marL="298188" indent="-298188">
              <a:lnSpc>
                <a:spcPct val="116000"/>
              </a:lnSpc>
              <a:spcBef>
                <a:spcPts val="962"/>
              </a:spcBef>
              <a:buClr>
                <a:srgbClr val="4EE1FF"/>
              </a:buClr>
              <a:buFont typeface="Arial"/>
              <a:buChar char="—"/>
            </a:pPr>
            <a:r>
              <a:rPr sz="1750" b="0" i="0">
                <a:solidFill>
                  <a:srgbClr val="F7F6EF"/>
                </a:solidFill>
                <a:latin typeface="Arial"/>
              </a:rPr>
              <a:t>US at 2 ads/DAU and </a:t>
            </a:r>
            <a:r>
              <a:rPr sz="1750" b="0" i="0">
                <a:solidFill>
                  <a:srgbClr val="FFC83D"/>
                </a:solidFill>
                <a:latin typeface="Arial"/>
              </a:rPr>
              <a:t>$27.32</a:t>
            </a:r>
            <a:r>
              <a:rPr sz="1750" b="0" i="0">
                <a:solidFill>
                  <a:srgbClr val="F7F6EF"/>
                </a:solidFill>
                <a:latin typeface="Arial"/>
              </a:rPr>
              <a:t> eCPM: ARPDAU 5.46¢; LTV180 </a:t>
            </a:r>
            <a:r>
              <a:rPr sz="1750" b="0" i="0">
                <a:solidFill>
                  <a:srgbClr val="FFC83D"/>
                </a:solidFill>
                <a:latin typeface="Arial"/>
              </a:rPr>
              <a:t>$0.125</a:t>
            </a:r>
            <a:r>
              <a:rPr sz="1750" b="0" i="0">
                <a:solidFill>
                  <a:srgbClr val="F7F6EF"/>
                </a:solidFill>
                <a:latin typeface="Arial"/>
              </a:rPr>
              <a:t> median, </a:t>
            </a:r>
            <a:r>
              <a:rPr sz="1750" b="0" i="0">
                <a:solidFill>
                  <a:srgbClr val="FFC83D"/>
                </a:solidFill>
                <a:latin typeface="Arial"/>
              </a:rPr>
              <a:t>$0.195</a:t>
            </a:r>
            <a:r>
              <a:rPr sz="1750" b="0" i="0">
                <a:solidFill>
                  <a:srgbClr val="F7F6EF"/>
                </a:solidFill>
                <a:latin typeface="Arial"/>
              </a:rPr>
              <a:t> P75. UK 3.84¢ / </a:t>
            </a:r>
            <a:r>
              <a:rPr sz="1750" b="0" i="0">
                <a:solidFill>
                  <a:srgbClr val="FFC83D"/>
                </a:solidFill>
                <a:latin typeface="Arial"/>
              </a:rPr>
              <a:t>$0.087</a:t>
            </a:r>
            <a:r>
              <a:rPr sz="1750" b="0" i="0">
                <a:solidFill>
                  <a:srgbClr val="F7F6EF"/>
                </a:solidFill>
                <a:latin typeface="Arial"/>
              </a:rPr>
              <a:t> / </a:t>
            </a:r>
            <a:r>
              <a:rPr sz="1750" b="0" i="0">
                <a:solidFill>
                  <a:srgbClr val="FFC83D"/>
                </a:solidFill>
                <a:latin typeface="Arial"/>
              </a:rPr>
              <a:t>$0.137.</a:t>
            </a:r>
            <a:r>
              <a:rPr sz="1750" b="0" i="0">
                <a:solidFill>
                  <a:srgbClr val="F7F6EF"/>
                </a:solidFill>
                <a:latin typeface="Arial"/>
              </a:rPr>
              <a:t> DE 2.63¢ / </a:t>
            </a:r>
            <a:r>
              <a:rPr sz="1750" b="0" i="0">
                <a:solidFill>
                  <a:srgbClr val="FFC83D"/>
                </a:solidFill>
                <a:latin typeface="Arial"/>
              </a:rPr>
              <a:t>$0.060</a:t>
            </a:r>
            <a:r>
              <a:rPr sz="1750" b="0" i="0">
                <a:solidFill>
                  <a:srgbClr val="F7F6EF"/>
                </a:solidFill>
                <a:latin typeface="Arial"/>
              </a:rPr>
              <a:t> / </a:t>
            </a:r>
            <a:r>
              <a:rPr sz="1750" b="0" i="0">
                <a:solidFill>
                  <a:srgbClr val="FFC83D"/>
                </a:solidFill>
                <a:latin typeface="Arial"/>
              </a:rPr>
              <a:t>$0.094.</a:t>
            </a:r>
            <a:r>
              <a:rPr sz="1750" b="0" i="0">
                <a:solidFill>
                  <a:srgbClr val="F7F6EF"/>
                </a:solidFill>
                <a:latin typeface="Arial"/>
              </a:rPr>
              <a:t> FR 2.04¢ / </a:t>
            </a:r>
            <a:r>
              <a:rPr sz="1750" b="0" i="0">
                <a:solidFill>
                  <a:srgbClr val="FFC83D"/>
                </a:solidFill>
                <a:latin typeface="Arial"/>
              </a:rPr>
              <a:t>$0.047</a:t>
            </a:r>
            <a:r>
              <a:rPr sz="1750" b="0" i="0">
                <a:solidFill>
                  <a:srgbClr val="F7F6EF"/>
                </a:solidFill>
                <a:latin typeface="Arial"/>
              </a:rPr>
              <a:t> / </a:t>
            </a:r>
            <a:r>
              <a:rPr sz="1750" b="0" i="0">
                <a:solidFill>
                  <a:srgbClr val="FFC83D"/>
                </a:solidFill>
                <a:latin typeface="Arial"/>
              </a:rPr>
              <a:t>$0.073.</a:t>
            </a:r>
            <a:r>
              <a:rPr sz="1750" b="0" i="0">
                <a:solidFill>
                  <a:srgbClr val="F7F6EF"/>
                </a:solidFill>
                <a:latin typeface="Arial"/>
              </a:rPr>
              <a:t> India 0.4-0.8¢ / </a:t>
            </a:r>
            <a:r>
              <a:rPr sz="1750" b="0" i="0">
                <a:solidFill>
                  <a:srgbClr val="FFC83D"/>
                </a:solidFill>
                <a:latin typeface="Arial"/>
              </a:rPr>
              <a:t>$0.009</a:t>
            </a:r>
            <a:r>
              <a:rPr sz="1750" b="0" i="0">
                <a:solidFill>
                  <a:srgbClr val="F7F6EF"/>
                </a:solidFill>
                <a:latin typeface="Arial"/>
              </a:rPr>
              <a:t>-0.018.</a:t>
            </a:r>
          </a:p>
          <a:p>
            <a:pPr marL="298188" indent="-298188">
              <a:lnSpc>
                <a:spcPct val="116000"/>
              </a:lnSpc>
              <a:spcBef>
                <a:spcPts val="962"/>
              </a:spcBef>
              <a:buClr>
                <a:srgbClr val="4EE1FF"/>
              </a:buClr>
              <a:buFont typeface="Arial"/>
              <a:buChar char="—"/>
            </a:pPr>
            <a:r>
              <a:rPr sz="1750" b="0" i="0">
                <a:solidFill>
                  <a:srgbClr val="F7F6EF"/>
                </a:solidFill>
                <a:latin typeface="Arial"/>
              </a:rPr>
              <a:t>Illustrative day: 10,000 DAU x 2 rewarded/DAU x </a:t>
            </a:r>
            <a:r>
              <a:rPr sz="1750" b="0" i="0">
                <a:solidFill>
                  <a:srgbClr val="FFC83D"/>
                </a:solidFill>
                <a:latin typeface="Arial"/>
              </a:rPr>
              <a:t>$15</a:t>
            </a:r>
            <a:r>
              <a:rPr sz="1750" b="0" i="0">
                <a:solidFill>
                  <a:srgbClr val="F7F6EF"/>
                </a:solidFill>
                <a:latin typeface="Arial"/>
              </a:rPr>
              <a:t> eCPM = </a:t>
            </a:r>
            <a:r>
              <a:rPr sz="1750" b="0" i="0">
                <a:solidFill>
                  <a:srgbClr val="FFC83D"/>
                </a:solidFill>
                <a:latin typeface="Arial"/>
              </a:rPr>
              <a:t>$300</a:t>
            </a:r>
            <a:r>
              <a:rPr sz="1750" b="0" i="0">
                <a:solidFill>
                  <a:srgbClr val="F7F6EF"/>
                </a:solidFill>
                <a:latin typeface="Arial"/>
              </a:rPr>
              <a:t>/day (US in-app); at </a:t>
            </a:r>
            <a:r>
              <a:rPr sz="1750" b="0" i="0">
                <a:solidFill>
                  <a:srgbClr val="FFC83D"/>
                </a:solidFill>
                <a:latin typeface="Arial"/>
              </a:rPr>
              <a:t>$1.50</a:t>
            </a:r>
            <a:r>
              <a:rPr sz="1750" b="0" i="0">
                <a:solidFill>
                  <a:srgbClr val="F7F6EF"/>
                </a:solidFill>
                <a:latin typeface="Arial"/>
              </a:rPr>
              <a:t> = </a:t>
            </a:r>
            <a:r>
              <a:rPr sz="1750" b="0" i="0">
                <a:solidFill>
                  <a:srgbClr val="FFC83D"/>
                </a:solidFill>
                <a:latin typeface="Arial"/>
              </a:rPr>
              <a:t>$30</a:t>
            </a:r>
            <a:r>
              <a:rPr sz="1750" b="0" i="0">
                <a:solidFill>
                  <a:srgbClr val="F7F6EF"/>
                </a:solidFill>
                <a:latin typeface="Arial"/>
              </a:rPr>
              <a:t>/day (India); on the web at </a:t>
            </a:r>
            <a:r>
              <a:rPr sz="1750" b="0" i="0">
                <a:solidFill>
                  <a:srgbClr val="FFC83D"/>
                </a:solidFill>
                <a:latin typeface="Arial"/>
              </a:rPr>
              <a:t>$4</a:t>
            </a:r>
            <a:r>
              <a:rPr sz="1750" b="0" i="0">
                <a:solidFill>
                  <a:srgbClr val="F7F6EF"/>
                </a:solidFill>
                <a:latin typeface="Arial"/>
              </a:rPr>
              <a:t>-7 = </a:t>
            </a:r>
            <a:r>
              <a:rPr sz="1750" b="0" i="0">
                <a:solidFill>
                  <a:srgbClr val="FFC83D"/>
                </a:solidFill>
                <a:latin typeface="Arial"/>
              </a:rPr>
              <a:t>$80</a:t>
            </a:r>
            <a:r>
              <a:rPr sz="1750" b="0" i="0">
                <a:solidFill>
                  <a:srgbClr val="F7F6EF"/>
                </a:solidFill>
                <a:latin typeface="Arial"/>
              </a:rPr>
              <a:t>-140/day before ad-block loss.</a:t>
            </a:r>
          </a:p>
          <a:p>
            <a:pPr marL="298188" indent="-298188">
              <a:lnSpc>
                <a:spcPct val="116000"/>
              </a:lnSpc>
              <a:spcBef>
                <a:spcPts val="962"/>
              </a:spcBef>
              <a:buClr>
                <a:srgbClr val="4EE1FF"/>
              </a:buClr>
              <a:buFont typeface="Arial"/>
              <a:buChar char="—"/>
            </a:pPr>
            <a:r>
              <a:rPr sz="1750" b="0" i="0">
                <a:solidFill>
                  <a:srgbClr val="F7F6EF"/>
                </a:solidFill>
                <a:latin typeface="Arial"/>
              </a:rPr>
              <a:t>Break-even CPI (organic-only unless this changes): </a:t>
            </a:r>
            <a:r>
              <a:rPr sz="1750" b="0" i="0">
                <a:solidFill>
                  <a:srgbClr val="FFC83D"/>
                </a:solidFill>
                <a:latin typeface="Arial"/>
              </a:rPr>
              <a:t>$0.06</a:t>
            </a:r>
            <a:r>
              <a:rPr sz="1750" b="0" i="0">
                <a:solidFill>
                  <a:srgbClr val="F7F6EF"/>
                </a:solidFill>
                <a:latin typeface="Arial"/>
              </a:rPr>
              <a:t>-0.25 US, ~</a:t>
            </a:r>
            <a:r>
              <a:rPr sz="1750" b="0" i="0">
                <a:solidFill>
                  <a:srgbClr val="FFC83D"/>
                </a:solidFill>
                <a:latin typeface="Arial"/>
              </a:rPr>
              <a:t>$0.01</a:t>
            </a:r>
            <a:r>
              <a:rPr sz="1750" b="0" i="0">
                <a:solidFill>
                  <a:srgbClr val="F7F6EF"/>
                </a:solidFill>
                <a:latin typeface="Arial"/>
              </a:rPr>
              <a:t>-0.02 India. 2026 CPIs: North America </a:t>
            </a:r>
            <a:r>
              <a:rPr sz="1750" b="0" i="0">
                <a:solidFill>
                  <a:srgbClr val="FFC83D"/>
                </a:solidFill>
                <a:latin typeface="Arial"/>
              </a:rPr>
              <a:t>$2.50</a:t>
            </a:r>
            <a:r>
              <a:rPr sz="1750" b="0" i="0">
                <a:solidFill>
                  <a:srgbClr val="F7F6EF"/>
                </a:solidFill>
                <a:latin typeface="Arial"/>
              </a:rPr>
              <a:t>-5.00, EMEA </a:t>
            </a:r>
            <a:r>
              <a:rPr sz="1750" b="0" i="0">
                <a:solidFill>
                  <a:srgbClr val="FFC83D"/>
                </a:solidFill>
                <a:latin typeface="Arial"/>
              </a:rPr>
              <a:t>$2.00</a:t>
            </a:r>
            <a:r>
              <a:rPr sz="1750" b="0" i="0">
                <a:solidFill>
                  <a:srgbClr val="F7F6EF"/>
                </a:solidFill>
                <a:latin typeface="Arial"/>
              </a:rPr>
              <a:t>-4.00, APAC </a:t>
            </a:r>
            <a:r>
              <a:rPr sz="1750" b="0" i="0">
                <a:solidFill>
                  <a:srgbClr val="FFC83D"/>
                </a:solidFill>
                <a:latin typeface="Arial"/>
              </a:rPr>
              <a:t>$1.50</a:t>
            </a:r>
            <a:r>
              <a:rPr sz="1750" b="0" i="0">
                <a:solidFill>
                  <a:srgbClr val="F7F6EF"/>
                </a:solidFill>
                <a:latin typeface="Arial"/>
              </a:rPr>
              <a:t>-3.00 (verified).</a:t>
            </a:r>
          </a:p>
          <a:p>
            <a:pPr marL="298188" indent="-298188">
              <a:lnSpc>
                <a:spcPct val="116000"/>
              </a:lnSpc>
              <a:spcBef>
                <a:spcPts val="962"/>
              </a:spcBef>
              <a:buClr>
                <a:srgbClr val="4EE1FF"/>
              </a:buClr>
              <a:buFont typeface="Arial"/>
              <a:buChar char="—"/>
            </a:pPr>
            <a:r>
              <a:rPr sz="1750" b="0" i="0">
                <a:solidFill>
                  <a:srgbClr val="F7F6EF"/>
                </a:solidFill>
                <a:latin typeface="Arial"/>
              </a:rPr>
              <a:t>Economy steady state (order of magnitude): faucets ~116 coins/session, sinks ~37, balance settling near 5,800 at a 10% fee; sinks/faucets 0.32 at launch, a ratio to instrument, not a target met.</a:t>
            </a:r>
          </a:p>
          <a:p>
            <a:pPr marL="298188" indent="-298188">
              <a:lnSpc>
                <a:spcPct val="116000"/>
              </a:lnSpc>
              <a:spcBef>
                <a:spcPts val="962"/>
              </a:spcBef>
              <a:buClr>
                <a:srgbClr val="4EE1FF"/>
              </a:buClr>
              <a:buFont typeface="Arial"/>
              <a:buChar char="—"/>
            </a:pPr>
            <a:r>
              <a:rPr sz="1750" b="0" i="0">
                <a:solidFill>
                  <a:srgbClr val="F7F6EF"/>
                </a:solidFill>
                <a:latin typeface="Arial"/>
              </a:rPr>
              <a:t>Every input above is third-party or derived; the two that decide everything — the watch rate (assumed 26%) and web eCPM by geo — are unknown until day 30 of the soft launch.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TAM, SAM and SOM in full, including the number we left off the slide.</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MARKET SIZING</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16</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EMARKETER — second-screen engagement during live sport  ·  FSGA / Angus Reid 2026 — participation research  ·  FSGA 2025 — next-generation engagement research</a:t>
            </a:r>
          </a:p>
          <a:p>
            <a:pPr>
              <a:lnSpc>
                <a:spcPct val="115000"/>
              </a:lnSpc>
            </a:pPr>
            <a:r>
              <a:rPr sz="800" b="0" i="0">
                <a:solidFill>
                  <a:srgbClr val="A6ADBA"/>
                </a:solidFill>
                <a:latin typeface="Arial"/>
              </a:rPr>
              <a:t>ICC — global cricket market research  ·  Nielsen — 2025 Global Sports Report  ·  Newzoo — Global Games Market 2025  ·  Paul Graham — How to convince investors  ·  a16z — 16 More Startup Metrics</a:t>
            </a:r>
          </a:p>
        </p:txBody>
      </p:sp>
      <p:sp>
        <p:nvSpPr>
          <p:cNvPr id="7" name="TextBox 6"/>
          <p:cNvSpPr txBox="1"/>
          <p:nvPr/>
        </p:nvSpPr>
        <p:spPr>
          <a:xfrm>
            <a:off x="566928" y="1719072"/>
            <a:ext cx="11057839" cy="1057148"/>
          </a:xfrm>
          <a:prstGeom prst="rect">
            <a:avLst/>
          </a:prstGeom>
          <a:noFill/>
        </p:spPr>
        <p:txBody>
          <a:bodyPr wrap="square" lIns="0" rIns="0" tIns="0" bIns="0" anchor="t">
            <a:spAutoFit/>
          </a:bodyPr>
          <a:lstStyle/>
          <a:p>
            <a:pPr marL="238571" indent="-238571">
              <a:lnSpc>
                <a:spcPct val="116000"/>
              </a:lnSpc>
              <a:buClr>
                <a:srgbClr val="4EE1FF"/>
              </a:buClr>
              <a:buFont typeface="Arial"/>
              <a:buChar char="—"/>
            </a:pPr>
            <a:r>
              <a:rPr sz="1400" b="0" i="0">
                <a:solidFill>
                  <a:srgbClr val="F7F6EF"/>
                </a:solidFill>
                <a:latin typeface="Arial"/>
              </a:rPr>
              <a:t>No penetration percentage appears anywhere in TAM or SAM. Every haircut lives in SOM — 0.14%-0.23% of SAM.</a:t>
            </a:r>
          </a:p>
          <a:p>
            <a:pPr marL="238571" indent="-238571">
              <a:lnSpc>
                <a:spcPct val="116000"/>
              </a:lnSpc>
              <a:spcBef>
                <a:spcPts val="770"/>
              </a:spcBef>
              <a:buClr>
                <a:srgbClr val="4EE1FF"/>
              </a:buClr>
              <a:buFont typeface="Arial"/>
              <a:buChar char="—"/>
            </a:pPr>
            <a:r>
              <a:rPr sz="1400" b="0" i="0">
                <a:solidFill>
                  <a:srgbClr val="F7F6EF"/>
                </a:solidFill>
                <a:latin typeface="Arial"/>
              </a:rPr>
              <a:t>TAM-B applies US ARPU to a South Asian population, directional only; Newzoo contradicts it — APAC </a:t>
            </a:r>
            <a:r>
              <a:rPr sz="1400" b="0" i="0">
                <a:solidFill>
                  <a:srgbClr val="FFC83D"/>
                </a:solidFill>
                <a:latin typeface="Arial"/>
              </a:rPr>
              <a:t>$95.0bn</a:t>
            </a:r>
            <a:r>
              <a:rPr sz="1400" b="0" i="0">
                <a:solidFill>
                  <a:srgbClr val="F7F6EF"/>
                </a:solidFill>
                <a:latin typeface="Arial"/>
              </a:rPr>
              <a:t> of 2025 games revenue against North America's </a:t>
            </a:r>
            <a:r>
              <a:rPr sz="1400" b="0" i="0">
                <a:solidFill>
                  <a:srgbClr val="FFC83D"/>
                </a:solidFill>
                <a:latin typeface="Arial"/>
              </a:rPr>
              <a:t>$54.0bn</a:t>
            </a:r>
            <a:r>
              <a:rPr sz="1400" b="0" i="0">
                <a:solidFill>
                  <a:srgbClr val="F7F6EF"/>
                </a:solidFill>
                <a:latin typeface="Arial"/>
              </a:rPr>
              <a:t>.</a:t>
            </a:r>
          </a:p>
          <a:p>
            <a:pPr marL="238571" indent="-238571">
              <a:lnSpc>
                <a:spcPct val="116000"/>
              </a:lnSpc>
              <a:spcBef>
                <a:spcPts val="770"/>
              </a:spcBef>
              <a:buClr>
                <a:srgbClr val="4EE1FF"/>
              </a:buClr>
              <a:buFont typeface="Arial"/>
              <a:buChar char="—"/>
            </a:pPr>
            <a:r>
              <a:rPr sz="1400" b="0" i="0">
                <a:solidFill>
                  <a:srgbClr val="F7F6EF"/>
                </a:solidFill>
                <a:latin typeface="Arial"/>
              </a:rPr>
              <a:t>Excluded on purpose: Europe, Latin America, every science-audience bloc. Followers and visits are not people.</a:t>
            </a:r>
          </a:p>
        </p:txBody>
      </p:sp>
      <p:graphicFrame>
        <p:nvGraphicFramePr>
          <p:cNvPr id="8" name="Table 7"/>
          <p:cNvGraphicFramePr>
            <a:graphicFrameLocks noGrp="1"/>
          </p:cNvGraphicFramePr>
          <p:nvPr/>
        </p:nvGraphicFramePr>
        <p:xfrm>
          <a:off x="566928" y="3013964"/>
          <a:ext cx="11057837" cy="2304285"/>
        </p:xfrm>
        <a:graphic>
          <a:graphicData uri="http://schemas.openxmlformats.org/drawingml/2006/table">
            <a:tbl>
              <a:tblPr>
                <a:tableStyleId>{2D5ABB26-0587-4C30-8999-92F81FD0307C}</a:tableStyleId>
              </a:tblPr>
              <a:tblGrid>
                <a:gridCol w="2217067"/>
                <a:gridCol w="2972645"/>
                <a:gridCol w="1608535"/>
                <a:gridCol w="1810017"/>
                <a:gridCol w="2449573"/>
              </a:tblGrid>
              <a:tr h="460857">
                <a:tc>
                  <a:txBody>
                    <a:bodyPr wrap="square"/>
                    <a:lstStyle/>
                    <a:p>
                      <a:pPr>
                        <a:lnSpc>
                          <a:spcPct val="114000"/>
                        </a:lnSpc>
                      </a:pPr>
                      <a:r>
                        <a:rPr sz="1200" b="1" i="0">
                          <a:solidFill>
                            <a:srgbClr val="D4FF3A"/>
                          </a:solidFill>
                          <a:latin typeface="Arial"/>
                        </a:rPr>
                        <a:t>Layer</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Population</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x ARPU</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Result</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Source of population</a:t>
                      </a:r>
                    </a:p>
                  </a:txBody>
                  <a:tcPr marL="64008" marR="64008" marT="41148" marB="41148" anchor="ctr">
                    <a:solidFill>
                      <a:srgbClr val="121821"/>
                    </a:solidFill>
                  </a:tcPr>
                </a:tc>
              </a:tr>
              <a:tr h="460857">
                <a:tc>
                  <a:txBody>
                    <a:bodyPr wrap="square"/>
                    <a:lstStyle/>
                    <a:p>
                      <a:pPr>
                        <a:lnSpc>
                          <a:spcPct val="114000"/>
                        </a:lnSpc>
                      </a:pPr>
                      <a:r>
                        <a:rPr sz="1200" b="1" i="0">
                          <a:solidFill>
                            <a:srgbClr val="F7F6EF"/>
                          </a:solidFill>
                          <a:latin typeface="Arial"/>
                        </a:rPr>
                        <a:t>TAM-A (on the slide)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216.8M US second-screen adults</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$7.80 - $13.07</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$1.69bn - $2.83bn</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EMARKETER, 2026</a:t>
                      </a:r>
                    </a:p>
                  </a:txBody>
                  <a:tcPr marL="64008" marR="64008" marT="41148" marB="41148" anchor="ctr">
                    <a:solidFill>
                      <a:srgbClr val="121821"/>
                    </a:solidFill>
                  </a:tcPr>
                </a:tc>
              </a:tr>
              <a:tr h="460857">
                <a:tc>
                  <a:txBody>
                    <a:bodyPr wrap="square"/>
                    <a:lstStyle/>
                    <a:p>
                      <a:pPr>
                        <a:lnSpc>
                          <a:spcPct val="114000"/>
                        </a:lnSpc>
                      </a:pPr>
                      <a:r>
                        <a:rPr sz="1200" b="1" i="0">
                          <a:solidFill>
                            <a:srgbClr val="F7F6EF"/>
                          </a:solidFill>
                          <a:latin typeface="Arial"/>
                        </a:rPr>
                        <a:t>SAM</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90.3M NA fantasy/betting adults</a:t>
                      </a:r>
                    </a:p>
                  </a:txBody>
                  <a:tcPr marL="64008" marR="64008" marT="41148" marB="41148" anchor="ctr">
                    <a:solidFill>
                      <a:srgbClr val="0D131B"/>
                    </a:solidFill>
                  </a:tcPr>
                </a:tc>
                <a:tc>
                  <a:txBody>
                    <a:bodyPr wrap="square"/>
                    <a:lstStyle/>
                    <a:p>
                      <a:pPr>
                        <a:lnSpc>
                          <a:spcPct val="114000"/>
                        </a:lnSpc>
                      </a:pPr>
                      <a:r>
                        <a:rPr sz="1200" b="0" i="0">
                          <a:solidFill>
                            <a:srgbClr val="FFC83D"/>
                          </a:solidFill>
                          <a:latin typeface="Arial"/>
                        </a:rPr>
                        <a:t>$7.80 - $13.07</a:t>
                      </a:r>
                    </a:p>
                  </a:txBody>
                  <a:tcPr marL="64008" marR="64008" marT="41148" marB="41148" anchor="ctr">
                    <a:solidFill>
                      <a:srgbClr val="0D131B"/>
                    </a:solidFill>
                  </a:tcPr>
                </a:tc>
                <a:tc>
                  <a:txBody>
                    <a:bodyPr wrap="square"/>
                    <a:lstStyle/>
                    <a:p>
                      <a:pPr>
                        <a:lnSpc>
                          <a:spcPct val="114000"/>
                        </a:lnSpc>
                      </a:pPr>
                      <a:r>
                        <a:rPr sz="1200" b="0" i="0">
                          <a:solidFill>
                            <a:srgbClr val="FFC83D"/>
                          </a:solidFill>
                          <a:latin typeface="Arial"/>
                        </a:rPr>
                        <a:t>$704M - $1.18bn</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FSGA / Angus Reid, 2026</a:t>
                      </a:r>
                    </a:p>
                  </a:txBody>
                  <a:tcPr marL="64008" marR="64008" marT="41148" marB="41148" anchor="ctr">
                    <a:solidFill>
                      <a:srgbClr val="0D131B"/>
                    </a:solidFill>
                  </a:tcPr>
                </a:tc>
              </a:tr>
              <a:tr h="460857">
                <a:tc>
                  <a:txBody>
                    <a:bodyPr wrap="square"/>
                    <a:lstStyle/>
                    <a:p>
                      <a:pPr>
                        <a:lnSpc>
                          <a:spcPct val="114000"/>
                        </a:lnSpc>
                      </a:pPr>
                      <a:r>
                        <a:rPr sz="1200" b="1" i="0">
                          <a:solidFill>
                            <a:srgbClr val="F7F6EF"/>
                          </a:solidFill>
                          <a:latin typeface="Arial"/>
                        </a:rPr>
                        <a:t>SOM (P)</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~106,000 steady-state MAU</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base-case model</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$0.4M - $1.6M (P)</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Chosen Year-3 plan target</a:t>
                      </a:r>
                    </a:p>
                  </a:txBody>
                  <a:tcPr marL="64008" marR="64008" marT="41148" marB="41148" anchor="ctr">
                    <a:solidFill>
                      <a:srgbClr val="121821"/>
                    </a:solidFill>
                  </a:tcPr>
                </a:tc>
              </a:tr>
              <a:tr h="460857">
                <a:tc>
                  <a:txBody>
                    <a:bodyPr wrap="square"/>
                    <a:lstStyle/>
                    <a:p>
                      <a:pPr>
                        <a:lnSpc>
                          <a:spcPct val="114000"/>
                        </a:lnSpc>
                      </a:pPr>
                      <a:r>
                        <a:rPr sz="1200" b="1" i="0">
                          <a:solidFill>
                            <a:srgbClr val="F7F6EF"/>
                          </a:solidFill>
                          <a:latin typeface="Arial"/>
                        </a:rPr>
                        <a:t>TAM-B (appendix only)</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1,216.8M incl. cricket bloc</a:t>
                      </a:r>
                    </a:p>
                  </a:txBody>
                  <a:tcPr marL="64008" marR="64008" marT="41148" marB="41148" anchor="ctr">
                    <a:solidFill>
                      <a:srgbClr val="0D131B"/>
                    </a:solidFill>
                  </a:tcPr>
                </a:tc>
                <a:tc>
                  <a:txBody>
                    <a:bodyPr wrap="square"/>
                    <a:lstStyle/>
                    <a:p>
                      <a:pPr>
                        <a:lnSpc>
                          <a:spcPct val="114000"/>
                        </a:lnSpc>
                      </a:pPr>
                      <a:r>
                        <a:rPr sz="1200" b="0" i="0">
                          <a:solidFill>
                            <a:srgbClr val="FFC83D"/>
                          </a:solidFill>
                          <a:latin typeface="Arial"/>
                        </a:rPr>
                        <a:t>$7.80 - $13.07</a:t>
                      </a:r>
                    </a:p>
                  </a:txBody>
                  <a:tcPr marL="64008" marR="64008" marT="41148" marB="41148" anchor="ctr">
                    <a:solidFill>
                      <a:srgbClr val="0D131B"/>
                    </a:solidFill>
                  </a:tcPr>
                </a:tc>
                <a:tc>
                  <a:txBody>
                    <a:bodyPr wrap="square"/>
                    <a:lstStyle/>
                    <a:p>
                      <a:pPr>
                        <a:lnSpc>
                          <a:spcPct val="114000"/>
                        </a:lnSpc>
                      </a:pPr>
                      <a:r>
                        <a:rPr sz="1200" b="0" i="0">
                          <a:solidFill>
                            <a:srgbClr val="FFC83D"/>
                          </a:solidFill>
                          <a:latin typeface="Arial"/>
                        </a:rPr>
                        <a:t>$9.49bn - $15.90bn</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ICC, 1bn+ fans aged 16-69</a:t>
                      </a:r>
                    </a:p>
                  </a:txBody>
                  <a:tcPr marL="64008" marR="64008" marT="41148" marB="41148" anchor="ctr">
                    <a:solidFill>
                      <a:srgbClr val="0D131B"/>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The graveyard in full, with capital raised and what it ended up worth.</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WHAT HAPPENED BEFORE</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17</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TechCrunch — HQ Trivia shuts down  ·  SEC Form D — HQ Trivia  ·  SEC 10-K — Glu Mobile FY2016 (QuizUp mark)  ·  SEC 8-K — Glu Mobile / QuizUp acquisition</a:t>
            </a:r>
          </a:p>
          <a:p>
            <a:pPr>
              <a:lnSpc>
                <a:spcPct val="115000"/>
              </a:lnSpc>
            </a:pPr>
            <a:r>
              <a:rPr sz="800" b="0" i="0">
                <a:solidFill>
                  <a:srgbClr val="A6ADBA"/>
                </a:solidFill>
                <a:latin typeface="Arial"/>
              </a:rPr>
              <a:t>TechCrunch — Trivia Royale, 2.5M downloads in 3 weeks  ·  SEC Form D — Teatime Games (Trivia Royale)  ·  SEC 8-K — Skillz FY2022 results (FY2021 peak)  ·  SEC 8-K — Skillz FY2025 results</a:t>
            </a:r>
          </a:p>
        </p:txBody>
      </p:sp>
      <p:sp>
        <p:nvSpPr>
          <p:cNvPr id="7" name="TextBox 6"/>
          <p:cNvSpPr txBox="1"/>
          <p:nvPr/>
        </p:nvSpPr>
        <p:spPr>
          <a:xfrm>
            <a:off x="566928" y="1719072"/>
            <a:ext cx="11057839" cy="1057148"/>
          </a:xfrm>
          <a:prstGeom prst="rect">
            <a:avLst/>
          </a:prstGeom>
          <a:noFill/>
        </p:spPr>
        <p:txBody>
          <a:bodyPr wrap="square" lIns="0" rIns="0" tIns="0" bIns="0" anchor="t">
            <a:spAutoFit/>
          </a:bodyPr>
          <a:lstStyle/>
          <a:p>
            <a:pPr marL="238571" indent="-238571">
              <a:lnSpc>
                <a:spcPct val="116000"/>
              </a:lnSpc>
              <a:buClr>
                <a:srgbClr val="4EE1FF"/>
              </a:buClr>
              <a:buFont typeface="Arial"/>
              <a:buChar char="—"/>
            </a:pPr>
            <a:r>
              <a:rPr sz="1400" b="0" i="0">
                <a:solidFill>
                  <a:srgbClr val="F7F6EF"/>
                </a:solidFill>
                <a:latin typeface="Arial"/>
              </a:rPr>
              <a:t>Every row is from a filing or contemporaneous reporting. No estimate in this table is ours.</a:t>
            </a:r>
          </a:p>
          <a:p>
            <a:pPr marL="238571" indent="-238571">
              <a:lnSpc>
                <a:spcPct val="116000"/>
              </a:lnSpc>
              <a:spcBef>
                <a:spcPts val="770"/>
              </a:spcBef>
              <a:buClr>
                <a:srgbClr val="4EE1FF"/>
              </a:buClr>
              <a:buFont typeface="Arial"/>
              <a:buChar char="—"/>
            </a:pPr>
            <a:r>
              <a:rPr sz="1400" b="0" i="0">
                <a:solidFill>
                  <a:srgbClr val="F7F6EF"/>
                </a:solidFill>
                <a:latin typeface="Arial"/>
              </a:rPr>
              <a:t>The pattern: large audiences, cheap acquisition, no durable day-30 behaviour and no working price.</a:t>
            </a:r>
          </a:p>
          <a:p>
            <a:pPr marL="238571" indent="-238571">
              <a:lnSpc>
                <a:spcPct val="116000"/>
              </a:lnSpc>
              <a:spcBef>
                <a:spcPts val="770"/>
              </a:spcBef>
              <a:buClr>
                <a:srgbClr val="4EE1FF"/>
              </a:buClr>
              <a:buFont typeface="Arial"/>
              <a:buChar char="—"/>
            </a:pPr>
            <a:r>
              <a:rPr sz="1400" b="0" i="0">
                <a:solidFill>
                  <a:srgbClr val="F7F6EF"/>
                </a:solidFill>
                <a:latin typeface="Arial"/>
              </a:rPr>
              <a:t>QuizUp's </a:t>
            </a:r>
            <a:r>
              <a:rPr sz="1400" b="0" i="0">
                <a:solidFill>
                  <a:srgbClr val="FFC83D"/>
                </a:solidFill>
                <a:latin typeface="Arial"/>
              </a:rPr>
              <a:t>$3.2M</a:t>
            </a:r>
            <a:r>
              <a:rPr sz="1400" b="0" i="0">
                <a:solidFill>
                  <a:srgbClr val="F7F6EF"/>
                </a:solidFill>
                <a:latin typeface="Arial"/>
              </a:rPr>
              <a:t> fair-value mark is the honest ceiling for a large unmonetised trivia audience. Skillz is the live adjacent case: the money is real, and so is the churn.</a:t>
            </a:r>
          </a:p>
        </p:txBody>
      </p:sp>
      <p:graphicFrame>
        <p:nvGraphicFramePr>
          <p:cNvPr id="8" name="Table 7"/>
          <p:cNvGraphicFramePr>
            <a:graphicFrameLocks noGrp="1"/>
          </p:cNvGraphicFramePr>
          <p:nvPr/>
        </p:nvGraphicFramePr>
        <p:xfrm>
          <a:off x="566928" y="3013964"/>
          <a:ext cx="11057837" cy="2893058"/>
        </p:xfrm>
        <a:graphic>
          <a:graphicData uri="http://schemas.openxmlformats.org/drawingml/2006/table">
            <a:tbl>
              <a:tblPr>
                <a:tableStyleId>{2D5ABB26-0587-4C30-8999-92F81FD0307C}</a:tableStyleId>
              </a:tblPr>
              <a:tblGrid>
                <a:gridCol w="1510784"/>
                <a:gridCol w="3123091"/>
                <a:gridCol w="2796676"/>
                <a:gridCol w="3627286"/>
              </a:tblGrid>
              <a:tr h="375026">
                <a:tc>
                  <a:txBody>
                    <a:bodyPr wrap="square"/>
                    <a:lstStyle/>
                    <a:p>
                      <a:pPr>
                        <a:lnSpc>
                          <a:spcPct val="114000"/>
                        </a:lnSpc>
                      </a:pPr>
                      <a:r>
                        <a:rPr sz="1200" b="1" i="0">
                          <a:solidFill>
                            <a:srgbClr val="D4FF3A"/>
                          </a:solidFill>
                          <a:latin typeface="Arial"/>
                        </a:rPr>
                        <a:t>Product</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Peak</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Capital</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Ending</a:t>
                      </a:r>
                    </a:p>
                  </a:txBody>
                  <a:tcPr marL="64008" marR="64008" marT="41148" marB="41148" anchor="ctr">
                    <a:solidFill>
                      <a:srgbClr val="121821"/>
                    </a:solidFill>
                  </a:tcPr>
                </a:tc>
              </a:tr>
              <a:tr h="629508">
                <a:tc>
                  <a:txBody>
                    <a:bodyPr wrap="square"/>
                    <a:lstStyle/>
                    <a:p>
                      <a:pPr>
                        <a:lnSpc>
                          <a:spcPct val="114000"/>
                        </a:lnSpc>
                      </a:pPr>
                      <a:r>
                        <a:rPr sz="1200" b="1" i="0">
                          <a:solidFill>
                            <a:srgbClr val="F7F6EF"/>
                          </a:solidFill>
                          <a:latin typeface="Arial"/>
                        </a:rPr>
                        <a:t>HQ Trivia</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2.38M concurrent players, 28 Mar 2018</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$12,539,999 sold of $15,000,001 offered</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67,000 installs in Jan 2020; shut 14 Feb 2020, 25 staff</a:t>
                      </a:r>
                    </a:p>
                  </a:txBody>
                  <a:tcPr marL="64008" marR="64008" marT="41148" marB="41148" anchor="ctr">
                    <a:solidFill>
                      <a:srgbClr val="121821"/>
                    </a:solidFill>
                  </a:tcPr>
                </a:tc>
              </a:tr>
              <a:tr h="629508">
                <a:tc>
                  <a:txBody>
                    <a:bodyPr wrap="square"/>
                    <a:lstStyle/>
                    <a:p>
                      <a:pPr>
                        <a:lnSpc>
                          <a:spcPct val="114000"/>
                        </a:lnSpc>
                      </a:pPr>
                      <a:r>
                        <a:rPr sz="1200" b="1" i="0">
                          <a:solidFill>
                            <a:srgbClr val="F7F6EF"/>
                          </a:solidFill>
                          <a:latin typeface="Arial"/>
                        </a:rPr>
                        <a:t>QuizUp</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~20M users claimed 19 May 2014; 1bn+ matches</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~$32.4M equity per SEC Form Ds</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Sold to Glu for $7.5M of cancelled notes, booked at $3.2M</a:t>
                      </a:r>
                    </a:p>
                  </a:txBody>
                  <a:tcPr marL="64008" marR="64008" marT="41148" marB="41148" anchor="ctr">
                    <a:solidFill>
                      <a:srgbClr val="0D131B"/>
                    </a:solidFill>
                  </a:tcPr>
                </a:tc>
              </a:tr>
              <a:tr h="629508">
                <a:tc>
                  <a:txBody>
                    <a:bodyPr wrap="square"/>
                    <a:lstStyle/>
                    <a:p>
                      <a:pPr>
                        <a:lnSpc>
                          <a:spcPct val="114000"/>
                        </a:lnSpc>
                      </a:pPr>
                      <a:r>
                        <a:rPr sz="1200" b="1" i="0">
                          <a:solidFill>
                            <a:srgbClr val="F7F6EF"/>
                          </a:solidFill>
                          <a:latin typeface="Arial"/>
                        </a:rPr>
                        <a:t>Trivia Royale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2.5M downloads in ~3 weeks; 45% D1 iOS</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$9,155,139 + $1,499,913 per SEC Form Ds</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Closed 23 Feb 2021, eight months after launch, 16 staff</a:t>
                      </a:r>
                    </a:p>
                  </a:txBody>
                  <a:tcPr marL="64008" marR="64008" marT="41148" marB="41148" anchor="ctr">
                    <a:solidFill>
                      <a:srgbClr val="121821"/>
                    </a:solidFill>
                  </a:tcPr>
                </a:tc>
              </a:tr>
              <a:tr h="629508">
                <a:tc>
                  <a:txBody>
                    <a:bodyPr wrap="square"/>
                    <a:lstStyle/>
                    <a:p>
                      <a:pPr>
                        <a:lnSpc>
                          <a:spcPct val="114000"/>
                        </a:lnSpc>
                      </a:pPr>
                      <a:r>
                        <a:rPr sz="1200" b="1" i="0">
                          <a:solidFill>
                            <a:srgbClr val="F7F6EF"/>
                          </a:solidFill>
                          <a:latin typeface="Arial"/>
                        </a:rPr>
                        <a:t>Skillz (live, adjacent)</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FY2021: $380.2M revenue, 513,000 paying MAU</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Public (NYSE: SKLZ)</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FY2025: $104.5M revenue, 141,000 paying MAU</a:t>
                      </a:r>
                    </a:p>
                  </a:txBody>
                  <a:tcPr marL="64008" marR="64008" marT="41148" marB="41148" anchor="ctr">
                    <a:solidFill>
                      <a:srgbClr val="0D131B"/>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448056"/>
          </a:xfrm>
        </p:spPr>
        <p:txBody>
          <a:bodyPr wrap="square" lIns="0" rIns="0" tIns="0" bIns="0" anchor="t"/>
          <a:lstStyle/>
          <a:p>
            <a:pPr>
              <a:lnSpc>
                <a:spcPct val="108000"/>
              </a:lnSpc>
            </a:pPr>
            <a:r>
              <a:rPr sz="3000" b="1" i="0">
                <a:solidFill>
                  <a:srgbClr val="F7F6EF"/>
                </a:solidFill>
                <a:latin typeface="Arial"/>
              </a:rPr>
              <a:t>What we do not know, and what would settle each of it.</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LIMITS OF THE EVIDENCE</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18</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FACT//DUEL internal — numbers.md §5 (failed verification and unresolved items)  ·  MAG Interactive — Q3 2025/26 interim report  ·  TechCrunch — Trivia Royale, 2.5M downloads in 3 weeks</a:t>
            </a:r>
          </a:p>
          <a:p>
            <a:pPr>
              <a:lnSpc>
                <a:spcPct val="115000"/>
              </a:lnSpc>
            </a:pPr>
            <a:r>
              <a:rPr sz="800" b="0" i="0">
                <a:solidFill>
                  <a:srgbClr val="A6ADBA"/>
                </a:solidFill>
                <a:latin typeface="Arial"/>
              </a:rPr>
              <a:t>AppTweak — US store conversion benchmarks, CY2025  ·  FACT//DUEL internal — numbers.md §7.1 and §7.3</a:t>
            </a:r>
          </a:p>
          <a:p>
            <a:pPr>
              <a:lnSpc>
                <a:spcPct val="115000"/>
              </a:lnSpc>
            </a:pPr>
            <a:r>
              <a:rPr sz="800" b="0" i="0">
                <a:solidFill>
                  <a:srgbClr val="A6ADBA"/>
                </a:solidFill>
                <a:latin typeface="Arial"/>
              </a:rPr>
              <a:t>FACT//DUEL internal — docs/money/ads/synthesis.json (16 Sep 2026; five research lanes, two adversarial audits)  ·  FACT//DUEL internal — docs/money/ads/lane-adtech.json + audit-1.json</a:t>
            </a:r>
          </a:p>
        </p:txBody>
      </p:sp>
      <p:sp>
        <p:nvSpPr>
          <p:cNvPr id="7" name="TextBox 6"/>
          <p:cNvSpPr txBox="1"/>
          <p:nvPr/>
        </p:nvSpPr>
        <p:spPr>
          <a:xfrm>
            <a:off x="566928" y="1307592"/>
            <a:ext cx="11057839" cy="4599432"/>
          </a:xfrm>
          <a:prstGeom prst="rect">
            <a:avLst/>
          </a:prstGeom>
          <a:noFill/>
        </p:spPr>
        <p:txBody>
          <a:bodyPr wrap="square" lIns="0" rIns="0" tIns="0" bIns="0" anchor="t">
            <a:spAutoFit/>
          </a:bodyPr>
          <a:lstStyle/>
          <a:p>
            <a:pPr marL="306731" indent="-306731">
              <a:lnSpc>
                <a:spcPct val="116000"/>
              </a:lnSpc>
              <a:buClr>
                <a:srgbClr val="4EE1FF"/>
              </a:buClr>
              <a:buFont typeface="Arial"/>
              <a:buChar char="—"/>
            </a:pPr>
            <a:r>
              <a:rPr sz="1800" b="0" i="0">
                <a:solidFill>
                  <a:srgbClr val="F7F6EF"/>
                </a:solidFill>
                <a:latin typeface="Arial"/>
              </a:rPr>
              <a:t>Every number about FACT//DUEL: no DAU, no D1/D7/D30 rate, no session length, no conversion, no CAC, no LTV, no revenue. The instrument shipped; the players did not (§7.1).</a:t>
            </a:r>
          </a:p>
          <a:p>
            <a:pPr marL="306731" indent="-306731">
              <a:lnSpc>
                <a:spcPct val="116000"/>
              </a:lnSpc>
              <a:spcBef>
                <a:spcPts val="990"/>
              </a:spcBef>
              <a:buClr>
                <a:srgbClr val="4EE1FF"/>
              </a:buClr>
              <a:buFont typeface="Arial"/>
              <a:buChar char="—"/>
            </a:pPr>
            <a:r>
              <a:rPr sz="1800" b="0" i="0">
                <a:solidFill>
                  <a:srgbClr val="F7F6EF"/>
                </a:solidFill>
                <a:latin typeface="Arial"/>
              </a:rPr>
              <a:t>Unverified: whether app-store benchmarks transfer to a web product with no install step and no push notifications. They may not.</a:t>
            </a:r>
          </a:p>
          <a:p>
            <a:pPr marL="306731" indent="-306731">
              <a:lnSpc>
                <a:spcPct val="116000"/>
              </a:lnSpc>
              <a:spcBef>
                <a:spcPts val="990"/>
              </a:spcBef>
              <a:buClr>
                <a:srgbClr val="4EE1FF"/>
              </a:buClr>
              <a:buFont typeface="Arial"/>
              <a:buChar char="—"/>
            </a:pPr>
            <a:r>
              <a:rPr sz="1800" b="0" i="0">
                <a:solidFill>
                  <a:srgbClr val="F7F6EF"/>
                </a:solidFill>
                <a:latin typeface="Arial"/>
              </a:rPr>
              <a:t>No trivia CAC or CPI benchmark of any kind is in our evidence base; the circulated genre ARPDAU bands failed verification as citation laundering and are excluded.</a:t>
            </a:r>
          </a:p>
          <a:p>
            <a:pPr marL="306731" indent="-306731">
              <a:lnSpc>
                <a:spcPct val="116000"/>
              </a:lnSpc>
              <a:spcBef>
                <a:spcPts val="990"/>
              </a:spcBef>
              <a:buClr>
                <a:srgbClr val="4EE1FF"/>
              </a:buClr>
              <a:buFont typeface="Arial"/>
              <a:buChar char="—"/>
            </a:pPr>
            <a:r>
              <a:rPr sz="1800" b="0" i="0">
                <a:solidFill>
                  <a:srgbClr val="F7F6EF"/>
                </a:solidFill>
                <a:latin typeface="Arial"/>
              </a:rPr>
              <a:t>Whether consumer trivia monetises at scale at all: our own paid cohort settles it, and the round buys it.</a:t>
            </a:r>
          </a:p>
          <a:p>
            <a:pPr marL="306731" indent="-306731">
              <a:lnSpc>
                <a:spcPct val="116000"/>
              </a:lnSpc>
              <a:spcBef>
                <a:spcPts val="990"/>
              </a:spcBef>
              <a:buClr>
                <a:srgbClr val="4EE1FF"/>
              </a:buClr>
              <a:buFont typeface="Arial"/>
              <a:buChar char="—"/>
            </a:pPr>
            <a:r>
              <a:rPr sz="1800" b="0" i="0">
                <a:solidFill>
                  <a:srgbClr val="F7F6EF"/>
                </a:solidFill>
                <a:latin typeface="Arial"/>
              </a:rPr>
              <a:t>Ad-funded unknowns (16 Sep 2026): web rewarded eCPM by geo (all published figures are in-app); India eCPM (absent from every reachable table); the rewarded watch rate (26% assumed); whether Google confirms in writing that entry-and-prize satisfies its non-transferable-reward clause; H5 Games Ads approval on a new domain ("not guaranteed").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The shipped surfaces, for anyone who would rather play it than read about it.</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PRODUCT</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19</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FACT//DUEL internal — numbers.md — status paragraph, §7.1 and §7.2  ·  FACT//DUEL internal — repository — product code, unaudited</a:t>
            </a:r>
          </a:p>
        </p:txBody>
      </p:sp>
      <p:sp>
        <p:nvSpPr>
          <p:cNvPr id="7" name="TextBox 6"/>
          <p:cNvSpPr txBox="1"/>
          <p:nvPr/>
        </p:nvSpPr>
        <p:spPr>
          <a:xfrm>
            <a:off x="566928" y="1719072"/>
            <a:ext cx="4754880" cy="4187952"/>
          </a:xfrm>
          <a:prstGeom prst="rect">
            <a:avLst/>
          </a:prstGeom>
          <a:noFill/>
        </p:spPr>
        <p:txBody>
          <a:bodyPr wrap="square" lIns="0" rIns="0" tIns="0" bIns="0" anchor="t">
            <a:spAutoFit/>
          </a:bodyPr>
          <a:lstStyle/>
          <a:p>
            <a:pPr marL="255604" indent="-255604">
              <a:lnSpc>
                <a:spcPct val="116000"/>
              </a:lnSpc>
              <a:buClr>
                <a:srgbClr val="4EE1FF"/>
              </a:buClr>
              <a:buFont typeface="Arial"/>
              <a:buChar char="—"/>
            </a:pPr>
            <a:r>
              <a:rPr sz="1500" b="0" i="0">
                <a:solidFill>
                  <a:srgbClr val="F7F6EF"/>
                </a:solidFill>
                <a:latin typeface="Arial"/>
              </a:rPr>
              <a:t>Player record, badges, stamps and the Locker: the long-tail progression surface, all device-local. None of it is a ranked or verified record, none is sent to a server, and reset clears it.</a:t>
            </a:r>
          </a:p>
          <a:p>
            <a:pPr marL="255604" indent="-255604">
              <a:lnSpc>
                <a:spcPct val="116000"/>
              </a:lnSpc>
              <a:spcBef>
                <a:spcPts val="825"/>
              </a:spcBef>
              <a:buClr>
                <a:srgbClr val="4EE1FF"/>
              </a:buClr>
              <a:buFont typeface="Arial"/>
              <a:buChar char="—"/>
            </a:pPr>
            <a:r>
              <a:rPr sz="1500" b="0" i="0">
                <a:solidFill>
                  <a:srgbClr val="F7F6EF"/>
                </a:solidFill>
                <a:latin typeface="Arial"/>
              </a:rPr>
              <a:t>Every effect is generated at runtime — procedural audio with no audio files, 3D loaded lazily. Everything works without WebGL; reduced-motion settings override the effects layer toward less motion.</a:t>
            </a:r>
          </a:p>
          <a:p>
            <a:pPr marL="255604" indent="-255604">
              <a:lnSpc>
                <a:spcPct val="116000"/>
              </a:lnSpc>
              <a:spcBef>
                <a:spcPts val="825"/>
              </a:spcBef>
              <a:buClr>
                <a:srgbClr val="4EE1FF"/>
              </a:buClr>
              <a:buFont typeface="Arial"/>
              <a:buChar char="—"/>
            </a:pPr>
            <a:r>
              <a:rPr sz="1500" b="0" i="0">
                <a:solidFill>
                  <a:srgbClr val="F7F6EF"/>
                </a:solidFill>
                <a:latin typeface="Arial"/>
              </a:rPr>
              <a:t>Play it: https://occult-kranti.github.io/fact-duel/ — no install, no account, no server, no request to us.</a:t>
            </a:r>
          </a:p>
        </p:txBody>
      </p:sp>
      <p:sp>
        <p:nvSpPr>
          <p:cNvPr id="8" name="Rectangle 7"/>
          <p:cNvSpPr/>
          <p:nvPr/>
        </p:nvSpPr>
        <p:spPr>
          <a:xfrm>
            <a:off x="5669280" y="2140157"/>
            <a:ext cx="4325464" cy="3345781"/>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desktop-passport.png"/>
          <p:cNvPicPr>
            <a:picLocks noChangeAspect="1"/>
          </p:cNvPicPr>
          <p:nvPr/>
        </p:nvPicPr>
        <p:blipFill>
          <a:blip r:embed="rId2"/>
          <a:stretch>
            <a:fillRect/>
          </a:stretch>
        </p:blipFill>
        <p:spPr>
          <a:xfrm>
            <a:off x="5769864" y="2240741"/>
            <a:ext cx="4124296" cy="2577685"/>
          </a:xfrm>
          <a:prstGeom prst="rect">
            <a:avLst/>
          </a:prstGeom>
        </p:spPr>
      </p:pic>
      <p:sp>
        <p:nvSpPr>
          <p:cNvPr id="10" name="TextBox 9"/>
          <p:cNvSpPr txBox="1"/>
          <p:nvPr/>
        </p:nvSpPr>
        <p:spPr>
          <a:xfrm>
            <a:off x="5769864" y="4882434"/>
            <a:ext cx="4124296" cy="457200"/>
          </a:xfrm>
          <a:prstGeom prst="rect">
            <a:avLst/>
          </a:prstGeom>
          <a:noFill/>
        </p:spPr>
        <p:txBody>
          <a:bodyPr wrap="square" lIns="0" rIns="0" tIns="0" bIns="0" anchor="t">
            <a:spAutoFit/>
          </a:bodyPr>
          <a:lstStyle/>
          <a:p>
            <a:pPr>
              <a:lnSpc>
                <a:spcPct val="112000"/>
              </a:lnSpc>
            </a:pPr>
            <a:r>
              <a:rPr sz="950" b="0" i="0">
                <a:solidFill>
                  <a:srgbClr val="A6ADBA"/>
                </a:solidFill>
                <a:latin typeface="Arial"/>
              </a:rPr>
              <a:t>The player record: level and XP, Arena Rank, day streak, mastery — all device-local.</a:t>
            </a:r>
          </a:p>
        </p:txBody>
      </p:sp>
      <p:sp>
        <p:nvSpPr>
          <p:cNvPr id="11" name="Rectangle 10"/>
          <p:cNvSpPr/>
          <p:nvPr/>
        </p:nvSpPr>
        <p:spPr>
          <a:xfrm>
            <a:off x="10232488" y="2140157"/>
            <a:ext cx="1392278" cy="3345781"/>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phone-passport.png"/>
          <p:cNvPicPr>
            <a:picLocks noChangeAspect="1"/>
          </p:cNvPicPr>
          <p:nvPr/>
        </p:nvPicPr>
        <p:blipFill>
          <a:blip r:embed="rId3"/>
          <a:stretch>
            <a:fillRect/>
          </a:stretch>
        </p:blipFill>
        <p:spPr>
          <a:xfrm>
            <a:off x="10333072" y="2240741"/>
            <a:ext cx="1191110" cy="2577685"/>
          </a:xfrm>
          <a:prstGeom prst="rect">
            <a:avLst/>
          </a:prstGeom>
        </p:spPr>
      </p:pic>
      <p:sp>
        <p:nvSpPr>
          <p:cNvPr id="13" name="TextBox 12"/>
          <p:cNvSpPr txBox="1"/>
          <p:nvPr/>
        </p:nvSpPr>
        <p:spPr>
          <a:xfrm>
            <a:off x="10333072" y="4882434"/>
            <a:ext cx="1191110" cy="457200"/>
          </a:xfrm>
          <a:prstGeom prst="rect">
            <a:avLst/>
          </a:prstGeom>
          <a:noFill/>
        </p:spPr>
        <p:txBody>
          <a:bodyPr wrap="square" lIns="0" rIns="0" tIns="0" bIns="0" anchor="t">
            <a:spAutoFit/>
          </a:bodyPr>
          <a:lstStyle/>
          <a:p>
            <a:pPr>
              <a:lnSpc>
                <a:spcPct val="112000"/>
              </a:lnSpc>
            </a:pPr>
            <a:r>
              <a:rPr sz="950" b="0" i="0">
                <a:solidFill>
                  <a:srgbClr val="A6ADBA"/>
                </a:solidFill>
                <a:latin typeface="Arial"/>
              </a:rPr>
              <a:t>The record on a phone.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How retention is measured, what is not, and why the rate still needs players.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THE MEASUREMENT LAYER</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20</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FACT//DUEL internal — numbers.md §7.1 and §7.3  ·  FACT//DUEL internal — repository — product code, unaudited</a:t>
            </a:r>
          </a:p>
        </p:txBody>
      </p:sp>
      <p:sp>
        <p:nvSpPr>
          <p:cNvPr id="7" name="TextBox 6"/>
          <p:cNvSpPr txBox="1"/>
          <p:nvPr/>
        </p:nvSpPr>
        <p:spPr>
          <a:xfrm>
            <a:off x="566928" y="1719072"/>
            <a:ext cx="11057839" cy="4187952"/>
          </a:xfrm>
          <a:prstGeom prst="rect">
            <a:avLst/>
          </a:prstGeom>
          <a:noFill/>
        </p:spPr>
        <p:txBody>
          <a:bodyPr wrap="square" lIns="0" rIns="0" tIns="0" bIns="0" anchor="t">
            <a:spAutoFit/>
          </a:bodyPr>
          <a:lstStyle/>
          <a:p>
            <a:pPr marL="306731" indent="-306731">
              <a:lnSpc>
                <a:spcPct val="116000"/>
              </a:lnSpc>
              <a:buClr>
                <a:srgbClr val="4EE1FF"/>
              </a:buClr>
              <a:buFont typeface="Arial"/>
              <a:buChar char="—"/>
            </a:pPr>
            <a:r>
              <a:rPr sz="1800" b="0" i="0">
                <a:solidFill>
                  <a:srgbClr val="F7F6EF"/>
                </a:solidFill>
                <a:latin typeface="Arial"/>
              </a:rPr>
              <a:t>Per device: install day, active days, session count, engaged time and four counters — duel rounds, matches, expedition cards, quests (lib/analytics.mjs, 24 tests).</a:t>
            </a:r>
          </a:p>
          <a:p>
            <a:pPr marL="306731" indent="-306731">
              <a:lnSpc>
                <a:spcPct val="116000"/>
              </a:lnSpc>
              <a:spcBef>
                <a:spcPts val="990"/>
              </a:spcBef>
              <a:buClr>
                <a:srgbClr val="4EE1FF"/>
              </a:buClr>
              <a:buFont typeface="Arial"/>
              <a:buChar char="—"/>
            </a:pPr>
            <a:r>
              <a:rPr sz="1800" b="0" i="0">
                <a:solidFill>
                  <a:srgbClr val="F7F6EF"/>
                </a:solidFill>
                <a:latin typeface="Arial"/>
              </a:rPr>
              <a:t>Per device: D1 / D7 / D30 as true, false, or null while the window is still open. A test asserts an unfinished window can never read as a miss.</a:t>
            </a:r>
          </a:p>
          <a:p>
            <a:pPr marL="306731" indent="-306731">
              <a:lnSpc>
                <a:spcPct val="116000"/>
              </a:lnSpc>
              <a:spcBef>
                <a:spcPts val="990"/>
              </a:spcBef>
              <a:buClr>
                <a:srgbClr val="4EE1FF"/>
              </a:buClr>
              <a:buFont typeface="Arial"/>
              <a:buChar char="—"/>
            </a:pPr>
            <a:r>
              <a:rPr sz="1800" b="0" i="0">
                <a:solidFill>
                  <a:srgbClr val="F7F6EF"/>
                </a:solidFill>
                <a:latin typeface="Arial"/>
              </a:rPr>
              <a:t>One device is a sample of one; no export is shaped like a rate, and the screen says so. No third-party SDK, nothing personal, no network call; the player exports JSON or CSV, or erases, at /analytics.</a:t>
            </a:r>
          </a:p>
          <a:p>
            <a:pPr marL="306731" indent="-306731">
              <a:lnSpc>
                <a:spcPct val="116000"/>
              </a:lnSpc>
              <a:spcBef>
                <a:spcPts val="990"/>
              </a:spcBef>
              <a:buClr>
                <a:srgbClr val="4EE1FF"/>
              </a:buClr>
              <a:buFont typeface="Arial"/>
              <a:buChar char="—"/>
            </a:pPr>
            <a:r>
              <a:rPr sz="1800" b="0" i="0">
                <a:solidFill>
                  <a:srgbClr val="F7F6EF"/>
                </a:solidFill>
                <a:latin typeface="Arial"/>
              </a:rPr>
              <a:t>The cohort rate comes from an opt-in anonymous daily ping (cohort-ping / cohort-report, table cohort_days, 20 tests): aggregate-only, no per-device row, buckets under five devices suppressed.</a:t>
            </a:r>
          </a:p>
          <a:p>
            <a:pPr marL="306731" indent="-306731">
              <a:lnSpc>
                <a:spcPct val="116000"/>
              </a:lnSpc>
              <a:spcBef>
                <a:spcPts val="990"/>
              </a:spcBef>
              <a:buClr>
                <a:srgbClr val="4EE1FF"/>
              </a:buClr>
              <a:buFont typeface="Arial"/>
              <a:buChar char="—"/>
            </a:pPr>
            <a:r>
              <a:rPr sz="1800" b="0" i="0">
                <a:solidFill>
                  <a:srgbClr val="F7F6EF"/>
                </a:solidFill>
                <a:latin typeface="Arial"/>
              </a:rPr>
              <a:t>What none of this gives us today: a retention rate. That needs players. The instrument is what shipped; the cohort is what the round buys.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Appendix H — the whole model on one page. Every figure is (P).</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THE MODEL, YEAR BY YEAR</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21</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GameAnalytics — 2026 Mobile &amp; PC Gaming Benchmarks  ·  AppsFlyer — State of App Monetization 2026  ·  FACT//DUEL internal — numbers.md §4.1-§4.3</a:t>
            </a:r>
          </a:p>
        </p:txBody>
      </p:sp>
      <p:sp>
        <p:nvSpPr>
          <p:cNvPr id="7" name="TextBox 6"/>
          <p:cNvSpPr txBox="1"/>
          <p:nvPr/>
        </p:nvSpPr>
        <p:spPr>
          <a:xfrm>
            <a:off x="566928" y="1719072"/>
            <a:ext cx="11057839" cy="1154938"/>
          </a:xfrm>
          <a:prstGeom prst="rect">
            <a:avLst/>
          </a:prstGeom>
          <a:noFill/>
        </p:spPr>
        <p:txBody>
          <a:bodyPr wrap="square" lIns="0" rIns="0" tIns="0" bIns="0" anchor="t">
            <a:spAutoFit/>
          </a:bodyPr>
          <a:lstStyle/>
          <a:p>
            <a:pPr marL="238571" indent="-238571">
              <a:lnSpc>
                <a:spcPct val="116000"/>
              </a:lnSpc>
              <a:buClr>
                <a:srgbClr val="4EE1FF"/>
              </a:buClr>
              <a:buFont typeface="Arial"/>
              <a:buChar char="—"/>
            </a:pPr>
            <a:r>
              <a:rPr sz="1400" b="0" i="0">
                <a:solidFill>
                  <a:srgbClr val="F7F6EF"/>
                </a:solidFill>
                <a:latin typeface="Arial"/>
              </a:rPr>
              <a:t>Revenue(year) = Installs x [ payer rate x ARPPU ] + Installs x ad revenue per install.</a:t>
            </a:r>
          </a:p>
          <a:p>
            <a:pPr marL="238571" indent="-238571">
              <a:lnSpc>
                <a:spcPct val="116000"/>
              </a:lnSpc>
              <a:spcBef>
                <a:spcPts val="770"/>
              </a:spcBef>
              <a:buClr>
                <a:srgbClr val="4EE1FF"/>
              </a:buClr>
              <a:buFont typeface="Arial"/>
              <a:buChar char="—"/>
            </a:pPr>
            <a:r>
              <a:rPr sz="1400" b="0" i="0">
                <a:solidFill>
                  <a:srgbClr val="F7F6EF"/>
                </a:solidFill>
                <a:latin typeface="Arial"/>
              </a:rPr>
              <a:t>Steady-state MAU = monthly installs + ( monthly installs x D30 / monthly churn ), churn fixed at 20%.</a:t>
            </a:r>
          </a:p>
          <a:p>
            <a:pPr marL="238571" indent="-238571">
              <a:lnSpc>
                <a:spcPct val="116000"/>
              </a:lnSpc>
              <a:spcBef>
                <a:spcPts val="770"/>
              </a:spcBef>
              <a:buClr>
                <a:srgbClr val="4EE1FF"/>
              </a:buClr>
              <a:buFont typeface="Arial"/>
              <a:buChar char="—"/>
            </a:pPr>
            <a:r>
              <a:rPr sz="1400" b="0" i="0">
                <a:solidFill>
                  <a:srgbClr val="F7F6EF"/>
                </a:solidFill>
                <a:latin typeface="Arial"/>
              </a:rPr>
              <a:t>There is nothing to mark (A): zero users and zero months of cohort data, so nothing here is an actual.</a:t>
            </a:r>
          </a:p>
          <a:p>
            <a:pPr marL="238571" indent="-238571">
              <a:lnSpc>
                <a:spcPct val="116000"/>
              </a:lnSpc>
              <a:spcBef>
                <a:spcPts val="770"/>
              </a:spcBef>
              <a:buClr>
                <a:srgbClr val="4EE1FF"/>
              </a:buClr>
              <a:buFont typeface="Arial"/>
              <a:buChar char="—"/>
            </a:pPr>
            <a:r>
              <a:rPr sz="1400" b="0" i="0">
                <a:solidFill>
                  <a:srgbClr val="F7F6EF"/>
                </a:solidFill>
                <a:latin typeface="Arial"/>
              </a:rPr>
              <a:t>Annual installs run about 11x steady-state MAU. Revenue per MAU is throughput, not intensity.</a:t>
            </a:r>
          </a:p>
        </p:txBody>
      </p:sp>
      <p:graphicFrame>
        <p:nvGraphicFramePr>
          <p:cNvPr id="8" name="Table 7"/>
          <p:cNvGraphicFramePr>
            <a:graphicFrameLocks noGrp="1"/>
          </p:cNvGraphicFramePr>
          <p:nvPr/>
        </p:nvGraphicFramePr>
        <p:xfrm>
          <a:off x="566928" y="3111754"/>
          <a:ext cx="11057837" cy="2795260"/>
        </p:xfrm>
        <a:graphic>
          <a:graphicData uri="http://schemas.openxmlformats.org/drawingml/2006/table">
            <a:tbl>
              <a:tblPr>
                <a:tableStyleId>{2D5ABB26-0587-4C30-8999-92F81FD0307C}</a:tableStyleId>
              </a:tblPr>
              <a:tblGrid>
                <a:gridCol w="1598344"/>
                <a:gridCol w="698293"/>
                <a:gridCol w="1202659"/>
                <a:gridCol w="1166010"/>
                <a:gridCol w="1322775"/>
                <a:gridCol w="1873772"/>
                <a:gridCol w="1501988"/>
                <a:gridCol w="1693996"/>
              </a:tblGrid>
              <a:tr h="215020">
                <a:tc>
                  <a:txBody>
                    <a:bodyPr wrap="square"/>
                    <a:lstStyle/>
                    <a:p>
                      <a:pPr>
                        <a:lnSpc>
                          <a:spcPct val="114000"/>
                        </a:lnSpc>
                      </a:pPr>
                      <a:r>
                        <a:rPr sz="900" b="1" i="0">
                          <a:solidFill>
                            <a:srgbClr val="D4FF3A"/>
                          </a:solidFill>
                          <a:latin typeface="Arial"/>
                        </a:rPr>
                        <a:t>Scenario (P)</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Year</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Installs</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 / install</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Revenue</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Monthly installs</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Steady MAU</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Rev / MAU / yr</a:t>
                      </a:r>
                    </a:p>
                  </a:txBody>
                  <a:tcPr marL="64008" marR="64008" marT="41148" marB="41148" anchor="ctr">
                    <a:solidFill>
                      <a:srgbClr val="121821"/>
                    </a:solidFill>
                  </a:tcPr>
                </a:tc>
              </a:tr>
              <a:tr h="215020">
                <a:tc>
                  <a:txBody>
                    <a:bodyPr wrap="square"/>
                    <a:lstStyle/>
                    <a:p>
                      <a:pPr>
                        <a:lnSpc>
                          <a:spcPct val="114000"/>
                        </a:lnSpc>
                      </a:pPr>
                      <a:r>
                        <a:rPr sz="900" b="1" i="0">
                          <a:solidFill>
                            <a:srgbClr val="F7F6EF"/>
                          </a:solidFill>
                          <a:latin typeface="Arial"/>
                        </a:rPr>
                        <a:t>Conservative</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Y1</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25,000</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$0.3688</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$9,220</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2,083</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2,154</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$4.28</a:t>
                      </a:r>
                    </a:p>
                  </a:txBody>
                  <a:tcPr marL="64008" marR="64008" marT="41148" marB="41148" anchor="ctr">
                    <a:solidFill>
                      <a:srgbClr val="121821"/>
                    </a:solidFill>
                  </a:tcPr>
                </a:tc>
              </a:tr>
              <a:tr h="215020">
                <a:tc>
                  <a:txBody>
                    <a:bodyPr wrap="square"/>
                    <a:lstStyle/>
                    <a:p>
                      <a:pPr>
                        <a:lnSpc>
                          <a:spcPct val="114000"/>
                        </a:lnSpc>
                      </a:pPr>
                      <a:r>
                        <a:rPr sz="900" b="1" i="0">
                          <a:solidFill>
                            <a:srgbClr val="F7F6EF"/>
                          </a:solidFill>
                          <a:latin typeface="Arial"/>
                        </a:rPr>
                        <a:t>Conservative</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Y2</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90,000</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$0.3688</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$33,193</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7,500</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7,755</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$4.28</a:t>
                      </a:r>
                    </a:p>
                  </a:txBody>
                  <a:tcPr marL="64008" marR="64008" marT="41148" marB="41148" anchor="ctr">
                    <a:solidFill>
                      <a:srgbClr val="0D131B"/>
                    </a:solidFill>
                  </a:tcPr>
                </a:tc>
              </a:tr>
              <a:tr h="215020">
                <a:tc>
                  <a:txBody>
                    <a:bodyPr wrap="square"/>
                    <a:lstStyle/>
                    <a:p>
                      <a:pPr>
                        <a:lnSpc>
                          <a:spcPct val="114000"/>
                        </a:lnSpc>
                      </a:pPr>
                      <a:r>
                        <a:rPr sz="900" b="1" i="0">
                          <a:solidFill>
                            <a:srgbClr val="F7F6EF"/>
                          </a:solidFill>
                          <a:latin typeface="Arial"/>
                        </a:rPr>
                        <a:t>Conservative</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Y3</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250,000</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$0.3688</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$92,202</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20,833</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21,542</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$4.28</a:t>
                      </a:r>
                    </a:p>
                  </a:txBody>
                  <a:tcPr marL="64008" marR="64008" marT="41148" marB="41148" anchor="ctr">
                    <a:solidFill>
                      <a:srgbClr val="121821"/>
                    </a:solidFill>
                  </a:tcPr>
                </a:tc>
              </a:tr>
              <a:tr h="215020">
                <a:tc>
                  <a:txBody>
                    <a:bodyPr wrap="square"/>
                    <a:lstStyle/>
                    <a:p>
                      <a:pPr>
                        <a:lnSpc>
                          <a:spcPct val="114000"/>
                        </a:lnSpc>
                      </a:pPr>
                      <a:r>
                        <a:rPr sz="900" b="1" i="0">
                          <a:solidFill>
                            <a:srgbClr val="F7F6EF"/>
                          </a:solidFill>
                          <a:latin typeface="Arial"/>
                        </a:rPr>
                        <a:t>Conservative</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3-yr</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365,000</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$134,615</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r>
              <a:tr h="215020">
                <a:tc>
                  <a:txBody>
                    <a:bodyPr wrap="square"/>
                    <a:lstStyle/>
                    <a:p>
                      <a:pPr>
                        <a:lnSpc>
                          <a:spcPct val="114000"/>
                        </a:lnSpc>
                      </a:pPr>
                      <a:r>
                        <a:rPr sz="900" b="1" i="0">
                          <a:solidFill>
                            <a:srgbClr val="F7F6EF"/>
                          </a:solidFill>
                          <a:latin typeface="Arial"/>
                        </a:rPr>
                        <a:t>Base</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Y1</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75,000</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$1.3588</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$101,907</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6,250</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6,619</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$15.40</a:t>
                      </a:r>
                    </a:p>
                  </a:txBody>
                  <a:tcPr marL="64008" marR="64008" marT="41148" marB="41148" anchor="ctr">
                    <a:solidFill>
                      <a:srgbClr val="121821"/>
                    </a:solidFill>
                  </a:tcPr>
                </a:tc>
              </a:tr>
              <a:tr h="215020">
                <a:tc>
                  <a:txBody>
                    <a:bodyPr wrap="square"/>
                    <a:lstStyle/>
                    <a:p>
                      <a:pPr>
                        <a:lnSpc>
                          <a:spcPct val="114000"/>
                        </a:lnSpc>
                      </a:pPr>
                      <a:r>
                        <a:rPr sz="900" b="1" i="0">
                          <a:solidFill>
                            <a:srgbClr val="F7F6EF"/>
                          </a:solidFill>
                          <a:latin typeface="Arial"/>
                        </a:rPr>
                        <a:t>Base</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Y2</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350,000</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$1.3588</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$475,567</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29,167</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30,888</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$15.40</a:t>
                      </a:r>
                    </a:p>
                  </a:txBody>
                  <a:tcPr marL="64008" marR="64008" marT="41148" marB="41148" anchor="ctr">
                    <a:solidFill>
                      <a:srgbClr val="0D131B"/>
                    </a:solidFill>
                  </a:tcPr>
                </a:tc>
              </a:tr>
              <a:tr h="215020">
                <a:tc>
                  <a:txBody>
                    <a:bodyPr wrap="square"/>
                    <a:lstStyle/>
                    <a:p>
                      <a:pPr>
                        <a:lnSpc>
                          <a:spcPct val="114000"/>
                        </a:lnSpc>
                      </a:pPr>
                      <a:r>
                        <a:rPr sz="900" b="1" i="0">
                          <a:solidFill>
                            <a:srgbClr val="F7F6EF"/>
                          </a:solidFill>
                          <a:latin typeface="Arial"/>
                        </a:rPr>
                        <a:t>Base</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Y3</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1,200,000</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$1.3588</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$1,630,517</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100,000</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105,900</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$15.40</a:t>
                      </a:r>
                    </a:p>
                  </a:txBody>
                  <a:tcPr marL="64008" marR="64008" marT="41148" marB="41148" anchor="ctr">
                    <a:solidFill>
                      <a:srgbClr val="121821"/>
                    </a:solidFill>
                  </a:tcPr>
                </a:tc>
              </a:tr>
              <a:tr h="215020">
                <a:tc>
                  <a:txBody>
                    <a:bodyPr wrap="square"/>
                    <a:lstStyle/>
                    <a:p>
                      <a:pPr>
                        <a:lnSpc>
                          <a:spcPct val="114000"/>
                        </a:lnSpc>
                      </a:pPr>
                      <a:r>
                        <a:rPr sz="900" b="1" i="0">
                          <a:solidFill>
                            <a:srgbClr val="F7F6EF"/>
                          </a:solidFill>
                          <a:latin typeface="Arial"/>
                        </a:rPr>
                        <a:t>Base</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3-yr</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1,625,000</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$2,207,992</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r>
              <a:tr h="215020">
                <a:tc>
                  <a:txBody>
                    <a:bodyPr wrap="square"/>
                    <a:lstStyle/>
                    <a:p>
                      <a:pPr>
                        <a:lnSpc>
                          <a:spcPct val="114000"/>
                        </a:lnSpc>
                      </a:pPr>
                      <a:r>
                        <a:rPr sz="900" b="1" i="0">
                          <a:solidFill>
                            <a:srgbClr val="F7F6EF"/>
                          </a:solidFill>
                          <a:latin typeface="Arial"/>
                        </a:rPr>
                        <a:t>Optimistic</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Y1</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200,000</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$1.8902</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$378,039</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16,667</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18,083</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$20.91</a:t>
                      </a:r>
                    </a:p>
                  </a:txBody>
                  <a:tcPr marL="64008" marR="64008" marT="41148" marB="41148" anchor="ctr">
                    <a:solidFill>
                      <a:srgbClr val="121821"/>
                    </a:solidFill>
                  </a:tcPr>
                </a:tc>
              </a:tr>
              <a:tr h="215020">
                <a:tc>
                  <a:txBody>
                    <a:bodyPr wrap="square"/>
                    <a:lstStyle/>
                    <a:p>
                      <a:pPr>
                        <a:lnSpc>
                          <a:spcPct val="114000"/>
                        </a:lnSpc>
                      </a:pPr>
                      <a:r>
                        <a:rPr sz="900" b="1" i="0">
                          <a:solidFill>
                            <a:srgbClr val="F7F6EF"/>
                          </a:solidFill>
                          <a:latin typeface="Arial"/>
                        </a:rPr>
                        <a:t>Optimistic</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Y2</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1,000,000</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$1.8902</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$1,890,196</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83,333</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90,417</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$20.91</a:t>
                      </a:r>
                    </a:p>
                  </a:txBody>
                  <a:tcPr marL="64008" marR="64008" marT="41148" marB="41148" anchor="ctr">
                    <a:solidFill>
                      <a:srgbClr val="0D131B"/>
                    </a:solidFill>
                  </a:tcPr>
                </a:tc>
              </a:tr>
              <a:tr h="215020">
                <a:tc>
                  <a:txBody>
                    <a:bodyPr wrap="square"/>
                    <a:lstStyle/>
                    <a:p>
                      <a:pPr>
                        <a:lnSpc>
                          <a:spcPct val="114000"/>
                        </a:lnSpc>
                      </a:pPr>
                      <a:r>
                        <a:rPr sz="900" b="1" i="0">
                          <a:solidFill>
                            <a:srgbClr val="F7F6EF"/>
                          </a:solidFill>
                          <a:latin typeface="Arial"/>
                        </a:rPr>
                        <a:t>Optimistic</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Y3</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4,000,000</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$1.8902</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$7,560,784</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333,333</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361,667</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$20.91</a:t>
                      </a:r>
                    </a:p>
                  </a:txBody>
                  <a:tcPr marL="64008" marR="64008" marT="41148" marB="41148" anchor="ctr">
                    <a:solidFill>
                      <a:srgbClr val="121821"/>
                    </a:solidFill>
                  </a:tcPr>
                </a:tc>
              </a:tr>
              <a:tr h="215020">
                <a:tc>
                  <a:txBody>
                    <a:bodyPr wrap="square"/>
                    <a:lstStyle/>
                    <a:p>
                      <a:pPr>
                        <a:lnSpc>
                          <a:spcPct val="114000"/>
                        </a:lnSpc>
                      </a:pPr>
                      <a:r>
                        <a:rPr sz="900" b="1" i="0">
                          <a:solidFill>
                            <a:srgbClr val="F7F6EF"/>
                          </a:solidFill>
                          <a:latin typeface="Arial"/>
                        </a:rPr>
                        <a:t>Optimistic</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3-yr</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5,200,000</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$9,829,019</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Appendix I — every input, every assumption, and which of them has no source.</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INPUTS AND ASSUMPTIONS</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22</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GameAnalytics — 2026 Mobile &amp; PC Gaming Benchmarks  ·  AppsFlyer — State of App Monetization 2026  ·  TechCrunch — Trivia Royale, 2.5M downloads in 3 weeks</a:t>
            </a:r>
          </a:p>
          <a:p>
            <a:pPr>
              <a:lnSpc>
                <a:spcPct val="115000"/>
              </a:lnSpc>
            </a:pPr>
            <a:r>
              <a:rPr sz="800" b="0" i="0">
                <a:solidFill>
                  <a:srgbClr val="A6ADBA"/>
                </a:solidFill>
                <a:latin typeface="Arial"/>
              </a:rPr>
              <a:t>SEC — Duolingo FY2025 shareholder letter  ·  MAG Interactive — Q3 2025/26 interim report  ·  FACT//DUEL internal — numbers.md §4.1-§4.3</a:t>
            </a:r>
          </a:p>
        </p:txBody>
      </p:sp>
      <p:sp>
        <p:nvSpPr>
          <p:cNvPr id="7" name="TextBox 6"/>
          <p:cNvSpPr txBox="1"/>
          <p:nvPr/>
        </p:nvSpPr>
        <p:spPr>
          <a:xfrm>
            <a:off x="566928" y="1719072"/>
            <a:ext cx="11057839" cy="1154938"/>
          </a:xfrm>
          <a:prstGeom prst="rect">
            <a:avLst/>
          </a:prstGeom>
          <a:noFill/>
        </p:spPr>
        <p:txBody>
          <a:bodyPr wrap="square" lIns="0" rIns="0" tIns="0" bIns="0" anchor="t">
            <a:spAutoFit/>
          </a:bodyPr>
          <a:lstStyle/>
          <a:p>
            <a:pPr marL="238571" indent="-238571">
              <a:lnSpc>
                <a:spcPct val="116000"/>
              </a:lnSpc>
              <a:buClr>
                <a:srgbClr val="4EE1FF"/>
              </a:buClr>
              <a:buFont typeface="Arial"/>
              <a:buChar char="—"/>
            </a:pPr>
            <a:r>
              <a:rPr sz="1400" b="0" i="0">
                <a:solidFill>
                  <a:srgbClr val="F7F6EF"/>
                </a:solidFill>
                <a:latin typeface="Arial"/>
              </a:rPr>
              <a:t>Two rows in this table are not sourced: monthly churn, and the install volumes. Both are labelled.</a:t>
            </a:r>
          </a:p>
          <a:p>
            <a:pPr marL="238571" indent="-238571">
              <a:lnSpc>
                <a:spcPct val="116000"/>
              </a:lnSpc>
              <a:spcBef>
                <a:spcPts val="770"/>
              </a:spcBef>
              <a:buClr>
                <a:srgbClr val="4EE1FF"/>
              </a:buClr>
              <a:buFont typeface="Arial"/>
              <a:buChar char="—"/>
            </a:pPr>
            <a:r>
              <a:rPr sz="1400" b="0" i="0">
                <a:solidFill>
                  <a:srgbClr val="F7F6EF"/>
                </a:solidFill>
                <a:latin typeface="Arial"/>
              </a:rPr>
              <a:t>The 18.46% payer rate is arithmetic on two published AppsFlyer figures, used only as a ceiling.</a:t>
            </a:r>
          </a:p>
          <a:p>
            <a:pPr marL="238571" indent="-238571">
              <a:lnSpc>
                <a:spcPct val="116000"/>
              </a:lnSpc>
              <a:spcBef>
                <a:spcPts val="770"/>
              </a:spcBef>
              <a:buClr>
                <a:srgbClr val="4EE1FF"/>
              </a:buClr>
              <a:buFont typeface="Arial"/>
              <a:buChar char="—"/>
            </a:pPr>
            <a:r>
              <a:rPr sz="1400" b="0" i="0">
                <a:solidFill>
                  <a:srgbClr val="F7F6EF"/>
                </a:solidFill>
                <a:latin typeface="Arial"/>
              </a:rPr>
              <a:t>Break-even blended cost per install: </a:t>
            </a:r>
            <a:r>
              <a:rPr sz="1400" b="0" i="0">
                <a:solidFill>
                  <a:srgbClr val="FFC83D"/>
                </a:solidFill>
                <a:latin typeface="Arial"/>
              </a:rPr>
              <a:t>$0.37</a:t>
            </a:r>
            <a:r>
              <a:rPr sz="1400" b="0" i="0">
                <a:solidFill>
                  <a:srgbClr val="F7F6EF"/>
                </a:solidFill>
                <a:latin typeface="Arial"/>
              </a:rPr>
              <a:t> / </a:t>
            </a:r>
            <a:r>
              <a:rPr sz="1400" b="0" i="0">
                <a:solidFill>
                  <a:srgbClr val="FFC83D"/>
                </a:solidFill>
                <a:latin typeface="Arial"/>
              </a:rPr>
              <a:t>$1.36</a:t>
            </a:r>
            <a:r>
              <a:rPr sz="1400" b="0" i="0">
                <a:solidFill>
                  <a:srgbClr val="F7F6EF"/>
                </a:solidFill>
                <a:latin typeface="Arial"/>
              </a:rPr>
              <a:t> / </a:t>
            </a:r>
            <a:r>
              <a:rPr sz="1400" b="0" i="0">
                <a:solidFill>
                  <a:srgbClr val="FFC83D"/>
                </a:solidFill>
                <a:latin typeface="Arial"/>
              </a:rPr>
              <a:t>$1.89</a:t>
            </a:r>
            <a:r>
              <a:rPr sz="1400" b="0" i="0">
                <a:solidFill>
                  <a:srgbClr val="F7F6EF"/>
                </a:solidFill>
                <a:latin typeface="Arial"/>
              </a:rPr>
              <a:t> </a:t>
            </a:r>
            <a:r>
              <a:rPr sz="1400" b="1" i="0">
                <a:solidFill>
                  <a:srgbClr val="4EE1FF"/>
                </a:solidFill>
                <a:latin typeface="Arial"/>
              </a:rPr>
              <a:t>(P)</a:t>
            </a:r>
            <a:r>
              <a:rPr sz="1400" b="0" i="0">
                <a:solidFill>
                  <a:srgbClr val="F7F6EF"/>
                </a:solidFill>
                <a:latin typeface="Arial"/>
              </a:rPr>
              <a:t>. Trivia Royale's was under </a:t>
            </a:r>
            <a:r>
              <a:rPr sz="1400" b="0" i="0">
                <a:solidFill>
                  <a:srgbClr val="FFC83D"/>
                </a:solidFill>
                <a:latin typeface="Arial"/>
              </a:rPr>
              <a:t>$0.20.</a:t>
            </a:r>
          </a:p>
          <a:p>
            <a:pPr marL="238571" indent="-238571">
              <a:lnSpc>
                <a:spcPct val="116000"/>
              </a:lnSpc>
              <a:spcBef>
                <a:spcPts val="770"/>
              </a:spcBef>
              <a:buClr>
                <a:srgbClr val="4EE1FF"/>
              </a:buClr>
              <a:buFont typeface="Arial"/>
              <a:buChar char="—"/>
            </a:pPr>
            <a:r>
              <a:rPr sz="1400" b="0" i="0">
                <a:solidFill>
                  <a:srgbClr val="F7F6EF"/>
                </a:solidFill>
                <a:latin typeface="Arial"/>
              </a:rPr>
              <a:t>Base-case revenue per MAU of </a:t>
            </a:r>
            <a:r>
              <a:rPr sz="1400" b="0" i="0">
                <a:solidFill>
                  <a:srgbClr val="FFC83D"/>
                </a:solidFill>
                <a:latin typeface="Arial"/>
              </a:rPr>
              <a:t>$15.40</a:t>
            </a:r>
            <a:r>
              <a:rPr sz="1400" b="0" i="0">
                <a:solidFill>
                  <a:srgbClr val="F7F6EF"/>
                </a:solidFill>
                <a:latin typeface="Arial"/>
              </a:rPr>
              <a:t> exceeds MAG's </a:t>
            </a:r>
            <a:r>
              <a:rPr sz="1400" b="0" i="0">
                <a:solidFill>
                  <a:srgbClr val="FFC83D"/>
                </a:solidFill>
                <a:latin typeface="Arial"/>
              </a:rPr>
              <a:t>$13.07</a:t>
            </a:r>
            <a:r>
              <a:rPr sz="1400" b="0" i="0">
                <a:solidFill>
                  <a:srgbClr val="F7F6EF"/>
                </a:solidFill>
                <a:latin typeface="Arial"/>
              </a:rPr>
              <a:t> and Duolingo's </a:t>
            </a:r>
            <a:r>
              <a:rPr sz="1400" b="0" i="0">
                <a:solidFill>
                  <a:srgbClr val="FFC83D"/>
                </a:solidFill>
                <a:latin typeface="Arial"/>
              </a:rPr>
              <a:t>$7.80.</a:t>
            </a:r>
            <a:r>
              <a:rPr sz="1400" b="0" i="0">
                <a:solidFill>
                  <a:srgbClr val="F7F6EF"/>
                </a:solidFill>
                <a:latin typeface="Arial"/>
              </a:rPr>
              <a:t> A ceiling, not a target.</a:t>
            </a:r>
          </a:p>
        </p:txBody>
      </p:sp>
      <p:graphicFrame>
        <p:nvGraphicFramePr>
          <p:cNvPr id="8" name="Table 7"/>
          <p:cNvGraphicFramePr>
            <a:graphicFrameLocks noGrp="1"/>
          </p:cNvGraphicFramePr>
          <p:nvPr/>
        </p:nvGraphicFramePr>
        <p:xfrm>
          <a:off x="566928" y="3111754"/>
          <a:ext cx="11057837" cy="2795265"/>
        </p:xfrm>
        <a:graphic>
          <a:graphicData uri="http://schemas.openxmlformats.org/drawingml/2006/table">
            <a:tbl>
              <a:tblPr>
                <a:tableStyleId>{2D5ABB26-0587-4C30-8999-92F81FD0307C}</a:tableStyleId>
              </a:tblPr>
              <a:tblGrid>
                <a:gridCol w="2059474"/>
                <a:gridCol w="1240372"/>
                <a:gridCol w="1201707"/>
                <a:gridCol w="1304556"/>
                <a:gridCol w="5251728"/>
              </a:tblGrid>
              <a:tr h="309357">
                <a:tc>
                  <a:txBody>
                    <a:bodyPr wrap="square"/>
                    <a:lstStyle/>
                    <a:p>
                      <a:pPr>
                        <a:lnSpc>
                          <a:spcPct val="114000"/>
                        </a:lnSpc>
                      </a:pPr>
                      <a:r>
                        <a:rPr sz="1200" b="1" i="0">
                          <a:solidFill>
                            <a:srgbClr val="D4FF3A"/>
                          </a:solidFill>
                          <a:latin typeface="Arial"/>
                        </a:rPr>
                        <a:t>Input</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Conservative</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Base</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Optimistic</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Where it comes from</a:t>
                      </a:r>
                    </a:p>
                  </a:txBody>
                  <a:tcPr marL="64008" marR="64008" marT="41148" marB="41148" anchor="ctr">
                    <a:solidFill>
                      <a:srgbClr val="121821"/>
                    </a:solidFill>
                  </a:tcPr>
                </a:tc>
              </a:tr>
              <a:tr h="309357">
                <a:tc>
                  <a:txBody>
                    <a:bodyPr wrap="square"/>
                    <a:lstStyle/>
                    <a:p>
                      <a:pPr>
                        <a:lnSpc>
                          <a:spcPct val="114000"/>
                        </a:lnSpc>
                      </a:pPr>
                      <a:r>
                        <a:rPr sz="1200" b="1" i="0">
                          <a:solidFill>
                            <a:srgbClr val="F7F6EF"/>
                          </a:solidFill>
                          <a:latin typeface="Arial"/>
                        </a:rPr>
                        <a:t>D30 retention</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0.68%</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1.18%</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1.70%</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GameAnalytics CY2025: global median low / NA median / global P75</a:t>
                      </a:r>
                    </a:p>
                  </a:txBody>
                  <a:tcPr marL="64008" marR="64008" marT="41148" marB="41148" anchor="ctr">
                    <a:solidFill>
                      <a:srgbClr val="121821"/>
                    </a:solidFill>
                  </a:tcPr>
                </a:tc>
              </a:tr>
              <a:tr h="309357">
                <a:tc>
                  <a:txBody>
                    <a:bodyPr wrap="square"/>
                    <a:lstStyle/>
                    <a:p>
                      <a:pPr>
                        <a:lnSpc>
                          <a:spcPct val="114000"/>
                        </a:lnSpc>
                      </a:pPr>
                      <a:r>
                        <a:rPr sz="1200" b="1" i="0">
                          <a:solidFill>
                            <a:srgbClr val="F7F6EF"/>
                          </a:solidFill>
                          <a:latin typeface="Arial"/>
                        </a:rPr>
                        <a:t>Install to payer</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5.08%</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11.14%</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18.46%</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AppsFlyer: NA repeat payer / NA one-time payer / derived $1.34 / $7.26</a:t>
                      </a:r>
                    </a:p>
                  </a:txBody>
                  <a:tcPr marL="64008" marR="64008" marT="41148" marB="41148" anchor="ctr">
                    <a:solidFill>
                      <a:srgbClr val="0D131B"/>
                    </a:solidFill>
                  </a:tcPr>
                </a:tc>
              </a:tr>
              <a:tr h="309357">
                <a:tc>
                  <a:txBody>
                    <a:bodyPr wrap="square"/>
                    <a:lstStyle/>
                    <a:p>
                      <a:pPr>
                        <a:lnSpc>
                          <a:spcPct val="114000"/>
                        </a:lnSpc>
                      </a:pPr>
                      <a:r>
                        <a:rPr sz="1200" b="1" i="0">
                          <a:solidFill>
                            <a:srgbClr val="F7F6EF"/>
                          </a:solidFill>
                          <a:latin typeface="Arial"/>
                        </a:rPr>
                        <a:t>ARPPU (D90)</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$7.26</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$7.26</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$7.26</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AppsFlyer casual games D90 ARPPU</a:t>
                      </a:r>
                    </a:p>
                  </a:txBody>
                  <a:tcPr marL="64008" marR="64008" marT="41148" marB="41148" anchor="ctr">
                    <a:solidFill>
                      <a:srgbClr val="121821"/>
                    </a:solidFill>
                  </a:tcPr>
                </a:tc>
              </a:tr>
              <a:tr h="519279">
                <a:tc>
                  <a:txBody>
                    <a:bodyPr wrap="square"/>
                    <a:lstStyle/>
                    <a:p>
                      <a:pPr>
                        <a:lnSpc>
                          <a:spcPct val="114000"/>
                        </a:lnSpc>
                      </a:pPr>
                      <a:r>
                        <a:rPr sz="1200" b="1" i="0">
                          <a:solidFill>
                            <a:srgbClr val="F7F6EF"/>
                          </a:solidFill>
                          <a:latin typeface="Arial"/>
                        </a:rPr>
                        <a:t>Ad revenue per install</a:t>
                      </a:r>
                    </a:p>
                  </a:txBody>
                  <a:tcPr marL="64008" marR="64008" marT="41148" marB="41148" anchor="ctr">
                    <a:solidFill>
                      <a:srgbClr val="0D131B"/>
                    </a:solidFill>
                  </a:tcPr>
                </a:tc>
                <a:tc>
                  <a:txBody>
                    <a:bodyPr wrap="square"/>
                    <a:lstStyle/>
                    <a:p>
                      <a:pPr>
                        <a:lnSpc>
                          <a:spcPct val="114000"/>
                        </a:lnSpc>
                      </a:pPr>
                      <a:r>
                        <a:rPr sz="1200" b="0" i="0">
                          <a:solidFill>
                            <a:srgbClr val="FFC83D"/>
                          </a:solidFill>
                          <a:latin typeface="Arial"/>
                        </a:rPr>
                        <a:t>$0.00</a:t>
                      </a:r>
                    </a:p>
                  </a:txBody>
                  <a:tcPr marL="64008" marR="64008" marT="41148" marB="41148" anchor="ctr">
                    <a:solidFill>
                      <a:srgbClr val="0D131B"/>
                    </a:solidFill>
                  </a:tcPr>
                </a:tc>
                <a:tc>
                  <a:txBody>
                    <a:bodyPr wrap="square"/>
                    <a:lstStyle/>
                    <a:p>
                      <a:pPr>
                        <a:lnSpc>
                          <a:spcPct val="114000"/>
                        </a:lnSpc>
                      </a:pPr>
                      <a:r>
                        <a:rPr sz="1200" b="0" i="0">
                          <a:solidFill>
                            <a:srgbClr val="FFC83D"/>
                          </a:solidFill>
                          <a:latin typeface="Arial"/>
                        </a:rPr>
                        <a:t>$0.55</a:t>
                      </a:r>
                    </a:p>
                  </a:txBody>
                  <a:tcPr marL="64008" marR="64008" marT="41148" marB="41148" anchor="ctr">
                    <a:solidFill>
                      <a:srgbClr val="0D131B"/>
                    </a:solidFill>
                  </a:tcPr>
                </a:tc>
                <a:tc>
                  <a:txBody>
                    <a:bodyPr wrap="square"/>
                    <a:lstStyle/>
                    <a:p>
                      <a:pPr>
                        <a:lnSpc>
                          <a:spcPct val="114000"/>
                        </a:lnSpc>
                      </a:pPr>
                      <a:r>
                        <a:rPr sz="1200" b="0" i="0">
                          <a:solidFill>
                            <a:srgbClr val="FFC83D"/>
                          </a:solidFill>
                          <a:latin typeface="Arial"/>
                        </a:rPr>
                        <a:t>$0.55</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AppsFlyer casual D90 IAA ARPU; $0.00 assumes no mediation stack, which is today's state</a:t>
                      </a:r>
                    </a:p>
                  </a:txBody>
                  <a:tcPr marL="64008" marR="64008" marT="41148" marB="41148" anchor="ctr">
                    <a:solidFill>
                      <a:srgbClr val="0D131B"/>
                    </a:solidFill>
                  </a:tcPr>
                </a:tc>
              </a:tr>
              <a:tr h="519279">
                <a:tc>
                  <a:txBody>
                    <a:bodyPr wrap="square"/>
                    <a:lstStyle/>
                    <a:p>
                      <a:pPr>
                        <a:lnSpc>
                          <a:spcPct val="114000"/>
                        </a:lnSpc>
                      </a:pPr>
                      <a:r>
                        <a:rPr sz="1200" b="1" i="0">
                          <a:solidFill>
                            <a:srgbClr val="F7F6EF"/>
                          </a:solidFill>
                          <a:latin typeface="Arial"/>
                        </a:rPr>
                        <a:t>Monthly churn of retained base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20%</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20%</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20%</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Assumption, unsourced. Held constant so it cannot flatter a scenario</a:t>
                      </a:r>
                    </a:p>
                  </a:txBody>
                  <a:tcPr marL="64008" marR="64008" marT="41148" marB="41148" anchor="ctr">
                    <a:solidFill>
                      <a:srgbClr val="121821"/>
                    </a:solidFill>
                  </a:tcPr>
                </a:tc>
              </a:tr>
              <a:tr h="519279">
                <a:tc>
                  <a:txBody>
                    <a:bodyPr wrap="square"/>
                    <a:lstStyle/>
                    <a:p>
                      <a:pPr>
                        <a:lnSpc>
                          <a:spcPct val="114000"/>
                        </a:lnSpc>
                      </a:pPr>
                      <a:r>
                        <a:rPr sz="1200" b="1" i="0">
                          <a:solidFill>
                            <a:srgbClr val="F7F6EF"/>
                          </a:solidFill>
                          <a:latin typeface="Arial"/>
                        </a:rPr>
                        <a:t>Installs Y1 / Y2 / Y3</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25K / 90K / 250K</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75K / 350K / 1.2M</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200K / 1.0M / 4.0M</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Assumptions. No company data behind them</a:t>
                      </a:r>
                    </a:p>
                  </a:txBody>
                  <a:tcPr marL="64008" marR="64008" marT="41148" marB="41148" anchor="ctr">
                    <a:solidFill>
                      <a:srgbClr val="0D131B"/>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Appendix J — every source cited in this deck, and what kind of evidence it is.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SOURCE REGISTER (1 OF 4)</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23</a:t>
            </a:r>
          </a:p>
        </p:txBody>
      </p:sp>
      <p:sp>
        <p:nvSpPr>
          <p:cNvPr id="6" name="TextBox 5"/>
          <p:cNvSpPr txBox="1"/>
          <p:nvPr/>
        </p:nvSpPr>
        <p:spPr>
          <a:xfrm>
            <a:off x="566928" y="1719072"/>
            <a:ext cx="11057839" cy="618236"/>
          </a:xfrm>
          <a:prstGeom prst="rect">
            <a:avLst/>
          </a:prstGeom>
          <a:noFill/>
        </p:spPr>
        <p:txBody>
          <a:bodyPr wrap="square" lIns="0" rIns="0" tIns="0" bIns="0" anchor="t">
            <a:spAutoFit/>
          </a:bodyPr>
          <a:lstStyle/>
          <a:p>
            <a:pPr marL="170411" indent="-170411">
              <a:lnSpc>
                <a:spcPct val="116000"/>
              </a:lnSpc>
              <a:buClr>
                <a:srgbClr val="4EE1FF"/>
              </a:buClr>
              <a:buFont typeface="Arial"/>
              <a:buChar char="—"/>
            </a:pPr>
            <a:r>
              <a:rPr sz="1000" b="0" i="0">
                <a:solidFill>
                  <a:srgbClr val="F7F6EF"/>
                </a:solidFill>
                <a:latin typeface="Arial"/>
              </a:rPr>
              <a:t>78 distinct sources across 20 slides. Full URLs are in the speaker notes of every slide.</a:t>
            </a:r>
          </a:p>
          <a:p>
            <a:pPr marL="170411" indent="-170411">
              <a:lnSpc>
                <a:spcPct val="116000"/>
              </a:lnSpc>
              <a:spcBef>
                <a:spcPts val="550"/>
              </a:spcBef>
              <a:buClr>
                <a:srgbClr val="4EE1FF"/>
              </a:buClr>
              <a:buFont typeface="Arial"/>
              <a:buChar char="—"/>
            </a:pPr>
            <a:r>
              <a:rPr sz="1000" b="0" i="0">
                <a:solidFill>
                  <a:srgbClr val="F7F6EF"/>
                </a:solidFill>
                <a:latin typeface="Arial"/>
              </a:rPr>
              <a:t>Kind key: audited filing, company disclosure, third-party estimate, analyst estimate, press report.</a:t>
            </a:r>
          </a:p>
          <a:p>
            <a:pPr marL="170411" indent="-170411">
              <a:lnSpc>
                <a:spcPct val="116000"/>
              </a:lnSpc>
              <a:spcBef>
                <a:spcPts val="550"/>
              </a:spcBef>
              <a:buClr>
                <a:srgbClr val="4EE1FF"/>
              </a:buClr>
              <a:buFont typeface="Arial"/>
              <a:buChar char="—"/>
            </a:pPr>
            <a:r>
              <a:rPr sz="1000" b="0" i="0">
                <a:solidFill>
                  <a:srgbClr val="F7F6EF"/>
                </a:solidFill>
                <a:latin typeface="Arial"/>
              </a:rPr>
              <a:t>Nothing in this deck rests on a source that is not on this list, and nothing on this list is ours.</a:t>
            </a:r>
          </a:p>
        </p:txBody>
      </p:sp>
      <p:graphicFrame>
        <p:nvGraphicFramePr>
          <p:cNvPr id="7" name="Table 6"/>
          <p:cNvGraphicFramePr>
            <a:graphicFrameLocks noGrp="1"/>
          </p:cNvGraphicFramePr>
          <p:nvPr/>
        </p:nvGraphicFramePr>
        <p:xfrm>
          <a:off x="566928" y="2575051"/>
          <a:ext cx="11057838" cy="6245352"/>
        </p:xfrm>
        <a:graphic>
          <a:graphicData uri="http://schemas.openxmlformats.org/drawingml/2006/table">
            <a:tbl>
              <a:tblPr>
                <a:tableStyleId>{2D5ABB26-0587-4C30-8999-92F81FD0307C}</a:tableStyleId>
              </a:tblPr>
              <a:tblGrid>
                <a:gridCol w="7644341"/>
                <a:gridCol w="1975734"/>
                <a:gridCol w="1437763"/>
              </a:tblGrid>
              <a:tr h="256032">
                <a:tc>
                  <a:txBody>
                    <a:bodyPr wrap="square"/>
                    <a:lstStyle/>
                    <a:p>
                      <a:pPr>
                        <a:lnSpc>
                          <a:spcPct val="114000"/>
                        </a:lnSpc>
                      </a:pPr>
                      <a:r>
                        <a:rPr sz="1200" b="1" i="0">
                          <a:solidFill>
                            <a:srgbClr val="D4FF3A"/>
                          </a:solidFill>
                          <a:latin typeface="Arial"/>
                        </a:rPr>
                        <a:t>Source</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Kind</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Cited on</a:t>
                      </a:r>
                    </a:p>
                  </a:txBody>
                  <a:tcPr marL="64008" marR="64008" marT="41148" marB="41148" anchor="ctr">
                    <a:solidFill>
                      <a:srgbClr val="121821"/>
                    </a:solidFill>
                  </a:tcPr>
                </a:tc>
              </a:tr>
              <a:tr h="429768">
                <a:tc>
                  <a:txBody>
                    <a:bodyPr wrap="square"/>
                    <a:lstStyle/>
                    <a:p>
                      <a:pPr>
                        <a:lnSpc>
                          <a:spcPct val="114000"/>
                        </a:lnSpc>
                      </a:pPr>
                      <a:r>
                        <a:rPr sz="1200" b="1" i="0">
                          <a:solidFill>
                            <a:srgbClr val="F7F6EF"/>
                          </a:solidFill>
                          <a:latin typeface="Arial"/>
                        </a:rPr>
                        <a:t>FACT//DUEL internal — numbers.md — status paragraph and §5.15</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1, 5, 10</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Y Combinator — A guide to seed fundraising</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1, 12, 13</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Y Combinator — How to design a better pitch deck</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1, 12</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GameAnalytics — 2026 Mobile &amp; PC Gaming Benchmarks</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1, 4, 8, 9, 11, 15</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DocSend — per-section dwell times</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1, 5, 12</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DocSend — what VCs want inside a seed deck</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1, 8</a:t>
                      </a:r>
                    </a:p>
                  </a:txBody>
                  <a:tcPr marL="64008" marR="64008" marT="41148" marB="41148" anchor="ctr">
                    <a:solidFill>
                      <a:srgbClr val="0D131B"/>
                    </a:solidFill>
                  </a:tcPr>
                </a:tc>
              </a:tr>
              <a:tr h="429768">
                <a:tc>
                  <a:txBody>
                    <a:bodyPr wrap="square"/>
                    <a:lstStyle/>
                    <a:p>
                      <a:pPr>
                        <a:lnSpc>
                          <a:spcPct val="114000"/>
                        </a:lnSpc>
                      </a:pPr>
                      <a:r>
                        <a:rPr sz="1200" b="1" i="0">
                          <a:solidFill>
                            <a:srgbClr val="F7F6EF"/>
                          </a:solidFill>
                          <a:latin typeface="Arial"/>
                        </a:rPr>
                        <a:t>FACT//DUEL internal — numbers.md §7.1 and §7.2</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1, 4, 5, 10, 11</a:t>
                      </a:r>
                    </a:p>
                  </a:txBody>
                  <a:tcPr marL="64008" marR="64008" marT="41148" marB="41148" anchor="ctr">
                    <a:solidFill>
                      <a:srgbClr val="121821"/>
                    </a:solidFill>
                  </a:tcPr>
                </a:tc>
              </a:tr>
              <a:tr h="429768">
                <a:tc>
                  <a:txBody>
                    <a:bodyPr wrap="square"/>
                    <a:lstStyle/>
                    <a:p>
                      <a:pPr>
                        <a:lnSpc>
                          <a:spcPct val="114000"/>
                        </a:lnSpc>
                      </a:pPr>
                      <a:r>
                        <a:rPr sz="1200" b="1" i="0">
                          <a:solidFill>
                            <a:srgbClr val="F7F6EF"/>
                          </a:solidFill>
                          <a:latin typeface="Arial"/>
                        </a:rPr>
                        <a:t>FACT//DUEL internal — numbers.md §4.4 and §4.5</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a:t>
                      </a:r>
                    </a:p>
                  </a:txBody>
                  <a:tcPr marL="64008" marR="64008" marT="41148" marB="41148" anchor="ctr">
                    <a:solidFill>
                      <a:srgbClr val="0D131B"/>
                    </a:solidFill>
                  </a:tcPr>
                </a:tc>
              </a:tr>
              <a:tr h="429768">
                <a:tc>
                  <a:txBody>
                    <a:bodyPr wrap="square"/>
                    <a:lstStyle/>
                    <a:p>
                      <a:pPr>
                        <a:lnSpc>
                          <a:spcPct val="114000"/>
                        </a:lnSpc>
                      </a:pPr>
                      <a:r>
                        <a:rPr sz="1200" b="1" i="0">
                          <a:solidFill>
                            <a:srgbClr val="F7F6EF"/>
                          </a:solidFill>
                          <a:latin typeface="Arial"/>
                        </a:rPr>
                        <a:t>FACT//DUEL internal — docs/money/ads/synthesis.json (16 Sep 2026; five research lanes, two adversarial audits)</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1, 4, 5, 11, 13, 18</a:t>
                      </a:r>
                    </a:p>
                  </a:txBody>
                  <a:tcPr marL="64008" marR="64008" marT="41148" marB="41148" anchor="ctr">
                    <a:solidFill>
                      <a:srgbClr val="121821"/>
                    </a:solidFill>
                  </a:tcPr>
                </a:tc>
              </a:tr>
              <a:tr h="429768">
                <a:tc>
                  <a:txBody>
                    <a:bodyPr wrap="square"/>
                    <a:lstStyle/>
                    <a:p>
                      <a:pPr>
                        <a:lnSpc>
                          <a:spcPct val="114000"/>
                        </a:lnSpc>
                      </a:pPr>
                      <a:r>
                        <a:rPr sz="1200" b="1" i="0">
                          <a:solidFill>
                            <a:srgbClr val="F7F6EF"/>
                          </a:solidFill>
                          <a:latin typeface="Arial"/>
                        </a:rPr>
                        <a:t>FACT//DUEL internal — numbers.md §8 (company disclosure — the ad-funded format, 16 Sep 2026)</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1, 4, 9, 11, 13, 15, 18</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Google Play — Trivia Crack listing</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2, 7, 10, 14</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MAG Interactive — Q3 2025/26 interim report</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2, 6, 10, 18</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Apple lookup API — QuizDuel listing (US storefront)</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2, 10</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Apple lookup API — QuizDuel listing</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2, 10</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Google Play — Quizion listing</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2, 10</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Google Play — TRIVIA GO! listing</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2, 10</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TechCrunch — Trivia Royale, 2.5M downloads in 3 weeks</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press report</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3, 11, 17, 18</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TechCrunch — HQ Trivia shuts down</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press report</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3, 17</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TechCrunch — HQ Trivia peak concurrent record</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press report</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3</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SEC 10-K — Glu Mobile FY2016 (QuizUp mark)</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3, 17</a:t>
                      </a:r>
                    </a:p>
                  </a:txBody>
                  <a:tcPr marL="64008" marR="64008" marT="41148" marB="41148" anchor="ctr">
                    <a:solidFill>
                      <a:srgbClr val="0D131B"/>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Appendix J — every source cited in this deck, and what kind of evidence it is.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SOURCE REGISTER (2 OF 4)</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24</a:t>
            </a:r>
          </a:p>
        </p:txBody>
      </p:sp>
      <p:sp>
        <p:nvSpPr>
          <p:cNvPr id="6" name="TextBox 5"/>
          <p:cNvSpPr txBox="1"/>
          <p:nvPr/>
        </p:nvSpPr>
        <p:spPr>
          <a:xfrm>
            <a:off x="566928" y="1719072"/>
            <a:ext cx="11057839" cy="242824"/>
          </a:xfrm>
          <a:prstGeom prst="rect">
            <a:avLst/>
          </a:prstGeom>
          <a:noFill/>
        </p:spPr>
        <p:txBody>
          <a:bodyPr wrap="square" lIns="0" rIns="0" tIns="0" bIns="0" anchor="t">
            <a:spAutoFit/>
          </a:bodyPr>
          <a:lstStyle/>
          <a:p>
            <a:pPr marL="238571" indent="-238571">
              <a:lnSpc>
                <a:spcPct val="116000"/>
              </a:lnSpc>
              <a:buClr>
                <a:srgbClr val="4EE1FF"/>
              </a:buClr>
              <a:buFont typeface="Arial"/>
              <a:buChar char="—"/>
            </a:pPr>
            <a:r>
              <a:rPr sz="1400" b="0" i="0">
                <a:solidFill>
                  <a:srgbClr val="F7F6EF"/>
                </a:solidFill>
                <a:latin typeface="Arial"/>
              </a:rPr>
              <a:t>Continued. Kinds are taken from the fact-check register, not assigned by us.</a:t>
            </a:r>
          </a:p>
        </p:txBody>
      </p:sp>
      <p:graphicFrame>
        <p:nvGraphicFramePr>
          <p:cNvPr id="7" name="Table 6"/>
          <p:cNvGraphicFramePr>
            <a:graphicFrameLocks noGrp="1"/>
          </p:cNvGraphicFramePr>
          <p:nvPr/>
        </p:nvGraphicFramePr>
        <p:xfrm>
          <a:off x="566928" y="2199640"/>
          <a:ext cx="11057837" cy="6940296"/>
        </p:xfrm>
        <a:graphic>
          <a:graphicData uri="http://schemas.openxmlformats.org/drawingml/2006/table">
            <a:tbl>
              <a:tblPr>
                <a:tableStyleId>{2D5ABB26-0587-4C30-8999-92F81FD0307C}</a:tableStyleId>
              </a:tblPr>
              <a:tblGrid>
                <a:gridCol w="8022204"/>
                <a:gridCol w="2050531"/>
                <a:gridCol w="985102"/>
              </a:tblGrid>
              <a:tr h="256032">
                <a:tc>
                  <a:txBody>
                    <a:bodyPr wrap="square"/>
                    <a:lstStyle/>
                    <a:p>
                      <a:pPr>
                        <a:lnSpc>
                          <a:spcPct val="114000"/>
                        </a:lnSpc>
                      </a:pPr>
                      <a:r>
                        <a:rPr sz="1200" b="1" i="0">
                          <a:solidFill>
                            <a:srgbClr val="D4FF3A"/>
                          </a:solidFill>
                          <a:latin typeface="Arial"/>
                        </a:rPr>
                        <a:t>Source</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Kind</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Cited on</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SEC 8-K — Glu Mobile / QuizUp acquisition</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press report</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3, 17</a:t>
                      </a:r>
                    </a:p>
                  </a:txBody>
                  <a:tcPr marL="64008" marR="64008" marT="41148" marB="41148" anchor="ctr">
                    <a:solidFill>
                      <a:srgbClr val="121821"/>
                    </a:solidFill>
                  </a:tcPr>
                </a:tc>
              </a:tr>
              <a:tr h="429768">
                <a:tc>
                  <a:txBody>
                    <a:bodyPr wrap="square"/>
                    <a:lstStyle/>
                    <a:p>
                      <a:pPr>
                        <a:lnSpc>
                          <a:spcPct val="114000"/>
                        </a:lnSpc>
                      </a:pPr>
                      <a:r>
                        <a:rPr sz="1200" b="1" i="0">
                          <a:solidFill>
                            <a:srgbClr val="F7F6EF"/>
                          </a:solidFill>
                          <a:latin typeface="Arial"/>
                        </a:rPr>
                        <a:t>FACT//DUEL internal — numbers.md §3.2, status paragraph and §5.15</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4</a:t>
                      </a:r>
                    </a:p>
                  </a:txBody>
                  <a:tcPr marL="64008" marR="64008" marT="41148" marB="41148" anchor="ctr">
                    <a:solidFill>
                      <a:srgbClr val="0D131B"/>
                    </a:solidFill>
                  </a:tcPr>
                </a:tc>
              </a:tr>
              <a:tr h="429768">
                <a:tc>
                  <a:txBody>
                    <a:bodyPr wrap="square"/>
                    <a:lstStyle/>
                    <a:p>
                      <a:pPr>
                        <a:lnSpc>
                          <a:spcPct val="114000"/>
                        </a:lnSpc>
                      </a:pPr>
                      <a:r>
                        <a:rPr sz="1200" b="1" i="0">
                          <a:solidFill>
                            <a:srgbClr val="F7F6EF"/>
                          </a:solidFill>
                          <a:latin typeface="Arial"/>
                        </a:rPr>
                        <a:t>FACT//DUEL internal — repository — product code, unaudited</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4, 5, 8, 19, 20</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SEC — Duolingo FY2025 shareholder letter</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audited filing</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4, 6, 7</a:t>
                      </a:r>
                    </a:p>
                  </a:txBody>
                  <a:tcPr marL="64008" marR="64008" marT="41148" marB="41148" anchor="ctr">
                    <a:solidFill>
                      <a:srgbClr val="0D131B"/>
                    </a:solidFill>
                  </a:tcPr>
                </a:tc>
              </a:tr>
              <a:tr h="429768">
                <a:tc>
                  <a:txBody>
                    <a:bodyPr wrap="square"/>
                    <a:lstStyle/>
                    <a:p>
                      <a:pPr>
                        <a:lnSpc>
                          <a:spcPct val="114000"/>
                        </a:lnSpc>
                      </a:pPr>
                      <a:r>
                        <a:rPr sz="1200" b="1" i="0">
                          <a:solidFill>
                            <a:srgbClr val="F7F6EF"/>
                          </a:solidFill>
                          <a:latin typeface="Arial"/>
                        </a:rPr>
                        <a:t>FACT//DUEL internal — numbers.md §1.1 and §1.6</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4</a:t>
                      </a:r>
                    </a:p>
                  </a:txBody>
                  <a:tcPr marL="64008" marR="64008" marT="41148" marB="41148" anchor="ctr">
                    <a:solidFill>
                      <a:srgbClr val="121821"/>
                    </a:solidFill>
                  </a:tcPr>
                </a:tc>
              </a:tr>
              <a:tr h="429768">
                <a:tc>
                  <a:txBody>
                    <a:bodyPr wrap="square"/>
                    <a:lstStyle/>
                    <a:p>
                      <a:pPr>
                        <a:lnSpc>
                          <a:spcPct val="114000"/>
                        </a:lnSpc>
                      </a:pPr>
                      <a:r>
                        <a:rPr sz="1200" b="1" i="0">
                          <a:solidFill>
                            <a:srgbClr val="F7F6EF"/>
                          </a:solidFill>
                          <a:latin typeface="Arial"/>
                        </a:rPr>
                        <a:t>FACT//DUEL internal — numbers.md — status paragraph, §4.4 and §7.1-§7.2</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5</a:t>
                      </a:r>
                    </a:p>
                  </a:txBody>
                  <a:tcPr marL="64008" marR="64008" marT="41148" marB="41148" anchor="ctr">
                    <a:solidFill>
                      <a:srgbClr val="0D131B"/>
                    </a:solidFill>
                  </a:tcPr>
                </a:tc>
              </a:tr>
              <a:tr h="429768">
                <a:tc>
                  <a:txBody>
                    <a:bodyPr wrap="square"/>
                    <a:lstStyle/>
                    <a:p>
                      <a:pPr>
                        <a:lnSpc>
                          <a:spcPct val="114000"/>
                        </a:lnSpc>
                      </a:pPr>
                      <a:r>
                        <a:rPr sz="1200" b="1" i="0">
                          <a:solidFill>
                            <a:srgbClr val="F7F6EF"/>
                          </a:solidFill>
                          <a:latin typeface="Arial"/>
                        </a:rPr>
                        <a:t>FACT//DUEL internal — numbers.md §2.3, §4.3 and §4.4</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5, 11</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EMARKETER — second-screen engagement during live sport</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6, 16</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AppTweak — US store conversion benchmarks, CY2025</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7, 18</a:t>
                      </a:r>
                    </a:p>
                  </a:txBody>
                  <a:tcPr marL="64008" marR="64008" marT="41148" marB="41148" anchor="ctr">
                    <a:solidFill>
                      <a:srgbClr val="121821"/>
                    </a:solidFill>
                  </a:tcPr>
                </a:tc>
              </a:tr>
              <a:tr h="429768">
                <a:tc>
                  <a:txBody>
                    <a:bodyPr wrap="square"/>
                    <a:lstStyle/>
                    <a:p>
                      <a:pPr>
                        <a:lnSpc>
                          <a:spcPct val="114000"/>
                        </a:lnSpc>
                      </a:pPr>
                      <a:r>
                        <a:rPr sz="1200" b="1" i="0">
                          <a:solidFill>
                            <a:srgbClr val="F7F6EF"/>
                          </a:solidFill>
                          <a:latin typeface="Arial"/>
                        </a:rPr>
                        <a:t>FACT//DUEL internal — numbers.md §3.5, §5.2 and §5.14</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7, 11</a:t>
                      </a:r>
                    </a:p>
                  </a:txBody>
                  <a:tcPr marL="64008" marR="64008" marT="41148" marB="41148" anchor="ctr">
                    <a:solidFill>
                      <a:srgbClr val="0D131B"/>
                    </a:solidFill>
                  </a:tcPr>
                </a:tc>
              </a:tr>
              <a:tr h="429768">
                <a:tc>
                  <a:txBody>
                    <a:bodyPr wrap="square"/>
                    <a:lstStyle/>
                    <a:p>
                      <a:pPr>
                        <a:lnSpc>
                          <a:spcPct val="114000"/>
                        </a:lnSpc>
                      </a:pPr>
                      <a:r>
                        <a:rPr sz="1200" b="1" i="0">
                          <a:solidFill>
                            <a:srgbClr val="F7F6EF"/>
                          </a:solidFill>
                          <a:latin typeface="Arial"/>
                        </a:rPr>
                        <a:t>FACT//DUEL internal — numbers.md — status paragraph, §4.4 and §7.1</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8</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businessofapps.com</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third-party-benchmark</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9, 11, 15</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storage.mfn.se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9</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support.google.com</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9</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support.google.com</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9</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applixir.com</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9</a:t>
                      </a:r>
                    </a:p>
                  </a:txBody>
                  <a:tcPr marL="64008" marR="64008" marT="41148" marB="41148" anchor="ctr">
                    <a:solidFill>
                      <a:srgbClr val="0D131B"/>
                    </a:solidFill>
                  </a:tcPr>
                </a:tc>
              </a:tr>
              <a:tr h="429768">
                <a:tc>
                  <a:txBody>
                    <a:bodyPr wrap="square"/>
                    <a:lstStyle/>
                    <a:p>
                      <a:pPr>
                        <a:lnSpc>
                          <a:spcPct val="114000"/>
                        </a:lnSpc>
                      </a:pPr>
                      <a:r>
                        <a:rPr sz="1200" b="1" i="0">
                          <a:solidFill>
                            <a:srgbClr val="F7F6EF"/>
                          </a:solidFill>
                          <a:latin typeface="Arial"/>
                        </a:rPr>
                        <a:t>FACT//DUEL internal — docs/money/ads/lane-economy.json + audit-2-economy.json (recomputed table and break-evens)</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9, 15</a:t>
                      </a:r>
                    </a:p>
                  </a:txBody>
                  <a:tcPr marL="64008" marR="64008" marT="41148" marB="41148" anchor="ctr">
                    <a:solidFill>
                      <a:srgbClr val="121821"/>
                    </a:solidFill>
                  </a:tcPr>
                </a:tc>
              </a:tr>
              <a:tr h="429768">
                <a:tc>
                  <a:txBody>
                    <a:bodyPr wrap="square"/>
                    <a:lstStyle/>
                    <a:p>
                      <a:pPr>
                        <a:lnSpc>
                          <a:spcPct val="114000"/>
                        </a:lnSpc>
                      </a:pPr>
                      <a:r>
                        <a:rPr sz="1200" b="1" i="0">
                          <a:solidFill>
                            <a:srgbClr val="F7F6EF"/>
                          </a:solidFill>
                          <a:latin typeface="Arial"/>
                        </a:rPr>
                        <a:t>FACT//DUEL internal — docs/money/ads/lane-adtech.json + audit-1.json</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9, 11, 15, 18</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Sensor Tower — Q2 2025 US iOS trivia revenue (est.)</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10, 14</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Google Play — Kahoot! listing</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10</a:t>
                      </a:r>
                    </a:p>
                  </a:txBody>
                  <a:tcPr marL="64008" marR="64008" marT="41148" marB="41148" anchor="ctr">
                    <a:solidFill>
                      <a:srgbClr val="0D131B"/>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Appendix J — every source cited in this deck, and what kind of evidence it is.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SOURCE REGISTER (3 OF 4)</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25</a:t>
            </a:r>
          </a:p>
        </p:txBody>
      </p:sp>
      <p:sp>
        <p:nvSpPr>
          <p:cNvPr id="6" name="TextBox 5"/>
          <p:cNvSpPr txBox="1"/>
          <p:nvPr/>
        </p:nvSpPr>
        <p:spPr>
          <a:xfrm>
            <a:off x="566928" y="1719072"/>
            <a:ext cx="11057839" cy="242824"/>
          </a:xfrm>
          <a:prstGeom prst="rect">
            <a:avLst/>
          </a:prstGeom>
          <a:noFill/>
        </p:spPr>
        <p:txBody>
          <a:bodyPr wrap="square" lIns="0" rIns="0" tIns="0" bIns="0" anchor="t">
            <a:spAutoFit/>
          </a:bodyPr>
          <a:lstStyle/>
          <a:p>
            <a:pPr marL="238571" indent="-238571">
              <a:lnSpc>
                <a:spcPct val="116000"/>
              </a:lnSpc>
              <a:buClr>
                <a:srgbClr val="4EE1FF"/>
              </a:buClr>
              <a:buFont typeface="Arial"/>
              <a:buChar char="—"/>
            </a:pPr>
            <a:r>
              <a:rPr sz="1400" b="0" i="0">
                <a:solidFill>
                  <a:srgbClr val="F7F6EF"/>
                </a:solidFill>
                <a:latin typeface="Arial"/>
              </a:rPr>
              <a:t>Continued. Kinds are taken from the fact-check register, not assigned by us.</a:t>
            </a:r>
          </a:p>
        </p:txBody>
      </p:sp>
      <p:graphicFrame>
        <p:nvGraphicFramePr>
          <p:cNvPr id="7" name="Table 6"/>
          <p:cNvGraphicFramePr>
            <a:graphicFrameLocks noGrp="1"/>
          </p:cNvGraphicFramePr>
          <p:nvPr/>
        </p:nvGraphicFramePr>
        <p:xfrm>
          <a:off x="566928" y="2199640"/>
          <a:ext cx="11057838" cy="5376672"/>
        </p:xfrm>
        <a:graphic>
          <a:graphicData uri="http://schemas.openxmlformats.org/drawingml/2006/table">
            <a:tbl>
              <a:tblPr>
                <a:tableStyleId>{2D5ABB26-0587-4C30-8999-92F81FD0307C}</a:tableStyleId>
              </a:tblPr>
              <a:tblGrid>
                <a:gridCol w="6480004"/>
                <a:gridCol w="3316260"/>
                <a:gridCol w="1261574"/>
              </a:tblGrid>
              <a:tr h="256032">
                <a:tc>
                  <a:txBody>
                    <a:bodyPr wrap="square"/>
                    <a:lstStyle/>
                    <a:p>
                      <a:pPr>
                        <a:lnSpc>
                          <a:spcPct val="114000"/>
                        </a:lnSpc>
                      </a:pPr>
                      <a:r>
                        <a:rPr sz="1200" b="1" i="0">
                          <a:solidFill>
                            <a:srgbClr val="D4FF3A"/>
                          </a:solidFill>
                          <a:latin typeface="Arial"/>
                        </a:rPr>
                        <a:t>Source</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Kind</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Cited on</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Kahoot! — Q4 2022 quarterly report</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10</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Oslo Børs — Kahoot! delisting notice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10</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PR Newswire — Quizizz $31.5M Series B</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press report</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10</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Apple lookup API — Wayground listing</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10</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SEC 8-K — Skillz FY2025 results</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10, 17</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SEC 8-K — Skillz FY2022 results (FY2021 peak)</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audited filing</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10, 17</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SEC 10-K — Skillz FY2023 (Skillz v. AviaGames)</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press report</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11</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Sporcle — Orange membership pricing</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11</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SEC — Duolingo Q2 FY2026 shareholder letter</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11</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FACT//DUEL internal — numbers.md §4.4b</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11</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yogonet.com</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11</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support.google.com</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policy-text</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11, 15</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support.google.com</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policy-text</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11</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support.google.com</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11</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FACT//DUEL internal — numbers.md §4.4 and §4.5</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12</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Carta — State of Private Markets, Q3 2025</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13</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Crunchbase — US seed funding, 2025</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press report</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13</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FACT//DUEL internal — numbers.md §4.4, §4.5 and §5.8</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13</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FACT//DUEL internal — numbers.md §7.1 and §7.3</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13, 18, 20</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Fact.MR — second-screen sports apps market</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14</a:t>
                      </a:r>
                    </a:p>
                  </a:txBody>
                  <a:tcPr marL="64008" marR="64008" marT="41148" marB="41148" anchor="ctr">
                    <a:solidFill>
                      <a:srgbClr val="0D131B"/>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Appendix J — every source cited in this deck, and what kind of evidence it is.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SOURCE REGISTER (4 OF 4)</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26</a:t>
            </a:r>
          </a:p>
        </p:txBody>
      </p:sp>
      <p:sp>
        <p:nvSpPr>
          <p:cNvPr id="6" name="TextBox 5"/>
          <p:cNvSpPr txBox="1"/>
          <p:nvPr/>
        </p:nvSpPr>
        <p:spPr>
          <a:xfrm>
            <a:off x="566928" y="1719072"/>
            <a:ext cx="11057839" cy="242824"/>
          </a:xfrm>
          <a:prstGeom prst="rect">
            <a:avLst/>
          </a:prstGeom>
          <a:noFill/>
        </p:spPr>
        <p:txBody>
          <a:bodyPr wrap="square" lIns="0" rIns="0" tIns="0" bIns="0" anchor="t">
            <a:spAutoFit/>
          </a:bodyPr>
          <a:lstStyle/>
          <a:p>
            <a:pPr marL="238571" indent="-238571">
              <a:lnSpc>
                <a:spcPct val="116000"/>
              </a:lnSpc>
              <a:buClr>
                <a:srgbClr val="4EE1FF"/>
              </a:buClr>
              <a:buFont typeface="Arial"/>
              <a:buChar char="—"/>
            </a:pPr>
            <a:r>
              <a:rPr sz="1400" b="0" i="0">
                <a:solidFill>
                  <a:srgbClr val="F7F6EF"/>
                </a:solidFill>
                <a:latin typeface="Arial"/>
              </a:rPr>
              <a:t>Continued. Kinds are taken from the fact-check register, not assigned by us.</a:t>
            </a:r>
          </a:p>
        </p:txBody>
      </p:sp>
      <p:graphicFrame>
        <p:nvGraphicFramePr>
          <p:cNvPr id="7" name="Table 6"/>
          <p:cNvGraphicFramePr>
            <a:graphicFrameLocks noGrp="1"/>
          </p:cNvGraphicFramePr>
          <p:nvPr/>
        </p:nvGraphicFramePr>
        <p:xfrm>
          <a:off x="566928" y="2199640"/>
          <a:ext cx="11057838" cy="3707375"/>
        </p:xfrm>
        <a:graphic>
          <a:graphicData uri="http://schemas.openxmlformats.org/drawingml/2006/table">
            <a:tbl>
              <a:tblPr>
                <a:tableStyleId>{2D5ABB26-0587-4C30-8999-92F81FD0307C}</a:tableStyleId>
              </a:tblPr>
              <a:tblGrid>
                <a:gridCol w="7389292"/>
                <a:gridCol w="2675928"/>
                <a:gridCol w="992618"/>
              </a:tblGrid>
              <a:tr h="195125">
                <a:tc>
                  <a:txBody>
                    <a:bodyPr wrap="square"/>
                    <a:lstStyle/>
                    <a:p>
                      <a:pPr>
                        <a:lnSpc>
                          <a:spcPct val="114000"/>
                        </a:lnSpc>
                      </a:pPr>
                      <a:r>
                        <a:rPr sz="750" b="1" i="0">
                          <a:solidFill>
                            <a:srgbClr val="D4FF3A"/>
                          </a:solidFill>
                          <a:latin typeface="Arial"/>
                        </a:rPr>
                        <a:t>Source</a:t>
                      </a:r>
                    </a:p>
                  </a:txBody>
                  <a:tcPr marL="64008" marR="64008" marT="41148" marB="41148" anchor="ctr">
                    <a:solidFill>
                      <a:srgbClr val="121821"/>
                    </a:solidFill>
                  </a:tcPr>
                </a:tc>
                <a:tc>
                  <a:txBody>
                    <a:bodyPr wrap="square"/>
                    <a:lstStyle/>
                    <a:p>
                      <a:pPr>
                        <a:lnSpc>
                          <a:spcPct val="114000"/>
                        </a:lnSpc>
                      </a:pPr>
                      <a:r>
                        <a:rPr sz="750" b="1" i="0">
                          <a:solidFill>
                            <a:srgbClr val="D4FF3A"/>
                          </a:solidFill>
                          <a:latin typeface="Arial"/>
                        </a:rPr>
                        <a:t>Kind</a:t>
                      </a:r>
                    </a:p>
                  </a:txBody>
                  <a:tcPr marL="64008" marR="64008" marT="41148" marB="41148" anchor="ctr">
                    <a:solidFill>
                      <a:srgbClr val="121821"/>
                    </a:solidFill>
                  </a:tcPr>
                </a:tc>
                <a:tc>
                  <a:txBody>
                    <a:bodyPr wrap="square"/>
                    <a:lstStyle/>
                    <a:p>
                      <a:pPr>
                        <a:lnSpc>
                          <a:spcPct val="114000"/>
                        </a:lnSpc>
                      </a:pPr>
                      <a:r>
                        <a:rPr sz="750" b="1" i="0">
                          <a:solidFill>
                            <a:srgbClr val="D4FF3A"/>
                          </a:solidFill>
                          <a:latin typeface="Arial"/>
                        </a:rPr>
                        <a:t>Cited on</a:t>
                      </a:r>
                    </a:p>
                  </a:txBody>
                  <a:tcPr marL="64008" marR="64008" marT="41148" marB="41148" anchor="ctr">
                    <a:solidFill>
                      <a:srgbClr val="121821"/>
                    </a:solidFill>
                  </a:tcPr>
                </a:tc>
              </a:tr>
              <a:tr h="195125">
                <a:tc>
                  <a:txBody>
                    <a:bodyPr wrap="square"/>
                    <a:lstStyle/>
                    <a:p>
                      <a:pPr>
                        <a:lnSpc>
                          <a:spcPct val="114000"/>
                        </a:lnSpc>
                      </a:pPr>
                      <a:r>
                        <a:rPr sz="750" b="1" i="0">
                          <a:solidFill>
                            <a:srgbClr val="F7F6EF"/>
                          </a:solidFill>
                          <a:latin typeface="Arial"/>
                        </a:rPr>
                        <a:t>The Business Research Company — fan engagement</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14</a:t>
                      </a:r>
                    </a:p>
                  </a:txBody>
                  <a:tcPr marL="64008" marR="64008" marT="41148" marB="41148" anchor="ctr">
                    <a:solidFill>
                      <a:srgbClr val="121821"/>
                    </a:solidFill>
                  </a:tcPr>
                </a:tc>
              </a:tr>
              <a:tr h="195125">
                <a:tc>
                  <a:txBody>
                    <a:bodyPr wrap="square"/>
                    <a:lstStyle/>
                    <a:p>
                      <a:pPr>
                        <a:lnSpc>
                          <a:spcPct val="114000"/>
                        </a:lnSpc>
                      </a:pPr>
                      <a:r>
                        <a:rPr sz="750" b="1" i="0">
                          <a:solidFill>
                            <a:srgbClr val="F7F6EF"/>
                          </a:solidFill>
                          <a:latin typeface="Arial"/>
                        </a:rPr>
                        <a:t>market.us — fan engagement market</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14</a:t>
                      </a:r>
                    </a:p>
                  </a:txBody>
                  <a:tcPr marL="64008" marR="64008" marT="41148" marB="41148" anchor="ctr">
                    <a:solidFill>
                      <a:srgbClr val="0D131B"/>
                    </a:solidFill>
                  </a:tcPr>
                </a:tc>
              </a:tr>
              <a:tr h="195125">
                <a:tc>
                  <a:txBody>
                    <a:bodyPr wrap="square"/>
                    <a:lstStyle/>
                    <a:p>
                      <a:pPr>
                        <a:lnSpc>
                          <a:spcPct val="114000"/>
                        </a:lnSpc>
                      </a:pPr>
                      <a:r>
                        <a:rPr sz="750" b="1" i="0">
                          <a:solidFill>
                            <a:srgbClr val="F7F6EF"/>
                          </a:solidFill>
                          <a:latin typeface="Arial"/>
                        </a:rPr>
                        <a:t>MarketsandMarkets — game-based learning</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14</a:t>
                      </a:r>
                    </a:p>
                  </a:txBody>
                  <a:tcPr marL="64008" marR="64008" marT="41148" marB="41148" anchor="ctr">
                    <a:solidFill>
                      <a:srgbClr val="121821"/>
                    </a:solidFill>
                  </a:tcPr>
                </a:tc>
              </a:tr>
              <a:tr h="195125">
                <a:tc>
                  <a:txBody>
                    <a:bodyPr wrap="square"/>
                    <a:lstStyle/>
                    <a:p>
                      <a:pPr>
                        <a:lnSpc>
                          <a:spcPct val="114000"/>
                        </a:lnSpc>
                      </a:pPr>
                      <a:r>
                        <a:rPr sz="750" b="1" i="0">
                          <a:solidFill>
                            <a:srgbClr val="F7F6EF"/>
                          </a:solidFill>
                          <a:latin typeface="Arial"/>
                        </a:rPr>
                        <a:t>IMARC — game-based learning</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14</a:t>
                      </a:r>
                    </a:p>
                  </a:txBody>
                  <a:tcPr marL="64008" marR="64008" marT="41148" marB="41148" anchor="ctr">
                    <a:solidFill>
                      <a:srgbClr val="0D131B"/>
                    </a:solidFill>
                  </a:tcPr>
                </a:tc>
              </a:tr>
              <a:tr h="195125">
                <a:tc>
                  <a:txBody>
                    <a:bodyPr wrap="square"/>
                    <a:lstStyle/>
                    <a:p>
                      <a:pPr>
                        <a:lnSpc>
                          <a:spcPct val="114000"/>
                        </a:lnSpc>
                      </a:pPr>
                      <a:r>
                        <a:rPr sz="750" b="1" i="0">
                          <a:solidFill>
                            <a:srgbClr val="F7F6EF"/>
                          </a:solidFill>
                          <a:latin typeface="Arial"/>
                        </a:rPr>
                        <a:t>Sensor Tower — State of Mobile 2026</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14</a:t>
                      </a:r>
                    </a:p>
                  </a:txBody>
                  <a:tcPr marL="64008" marR="64008" marT="41148" marB="41148" anchor="ctr">
                    <a:solidFill>
                      <a:srgbClr val="121821"/>
                    </a:solidFill>
                  </a:tcPr>
                </a:tc>
              </a:tr>
              <a:tr h="195125">
                <a:tc>
                  <a:txBody>
                    <a:bodyPr wrap="square"/>
                    <a:lstStyle/>
                    <a:p>
                      <a:pPr>
                        <a:lnSpc>
                          <a:spcPct val="114000"/>
                        </a:lnSpc>
                      </a:pPr>
                      <a:r>
                        <a:rPr sz="750" b="1" i="0">
                          <a:solidFill>
                            <a:srgbClr val="F7F6EF"/>
                          </a:solidFill>
                          <a:latin typeface="Arial"/>
                        </a:rPr>
                        <a:t>applixir.com</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15</a:t>
                      </a:r>
                    </a:p>
                  </a:txBody>
                  <a:tcPr marL="64008" marR="64008" marT="41148" marB="41148" anchor="ctr">
                    <a:solidFill>
                      <a:srgbClr val="0D131B"/>
                    </a:solidFill>
                  </a:tcPr>
                </a:tc>
              </a:tr>
              <a:tr h="195125">
                <a:tc>
                  <a:txBody>
                    <a:bodyPr wrap="square"/>
                    <a:lstStyle/>
                    <a:p>
                      <a:pPr>
                        <a:lnSpc>
                          <a:spcPct val="114000"/>
                        </a:lnSpc>
                      </a:pPr>
                      <a:r>
                        <a:rPr sz="750" b="1" i="0">
                          <a:solidFill>
                            <a:srgbClr val="F7F6EF"/>
                          </a:solidFill>
                          <a:latin typeface="Arial"/>
                        </a:rPr>
                        <a:t>FACT//DUEL internal — docs/money/ads/lane-launch.json</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15</a:t>
                      </a:r>
                    </a:p>
                  </a:txBody>
                  <a:tcPr marL="64008" marR="64008" marT="41148" marB="41148" anchor="ctr">
                    <a:solidFill>
                      <a:srgbClr val="121821"/>
                    </a:solidFill>
                  </a:tcPr>
                </a:tc>
              </a:tr>
              <a:tr h="195125">
                <a:tc>
                  <a:txBody>
                    <a:bodyPr wrap="square"/>
                    <a:lstStyle/>
                    <a:p>
                      <a:pPr>
                        <a:lnSpc>
                          <a:spcPct val="114000"/>
                        </a:lnSpc>
                      </a:pPr>
                      <a:r>
                        <a:rPr sz="750" b="1" i="0">
                          <a:solidFill>
                            <a:srgbClr val="F7F6EF"/>
                          </a:solidFill>
                          <a:latin typeface="Arial"/>
                        </a:rPr>
                        <a:t>FSGA / Angus Reid 2026 — participation research</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16</a:t>
                      </a:r>
                    </a:p>
                  </a:txBody>
                  <a:tcPr marL="64008" marR="64008" marT="41148" marB="41148" anchor="ctr">
                    <a:solidFill>
                      <a:srgbClr val="0D131B"/>
                    </a:solidFill>
                  </a:tcPr>
                </a:tc>
              </a:tr>
              <a:tr h="195125">
                <a:tc>
                  <a:txBody>
                    <a:bodyPr wrap="square"/>
                    <a:lstStyle/>
                    <a:p>
                      <a:pPr>
                        <a:lnSpc>
                          <a:spcPct val="114000"/>
                        </a:lnSpc>
                      </a:pPr>
                      <a:r>
                        <a:rPr sz="750" b="1" i="0">
                          <a:solidFill>
                            <a:srgbClr val="F7F6EF"/>
                          </a:solidFill>
                          <a:latin typeface="Arial"/>
                        </a:rPr>
                        <a:t>FSGA 2025 — next-generation engagement research</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16</a:t>
                      </a:r>
                    </a:p>
                  </a:txBody>
                  <a:tcPr marL="64008" marR="64008" marT="41148" marB="41148" anchor="ctr">
                    <a:solidFill>
                      <a:srgbClr val="121821"/>
                    </a:solidFill>
                  </a:tcPr>
                </a:tc>
              </a:tr>
              <a:tr h="195125">
                <a:tc>
                  <a:txBody>
                    <a:bodyPr wrap="square"/>
                    <a:lstStyle/>
                    <a:p>
                      <a:pPr>
                        <a:lnSpc>
                          <a:spcPct val="114000"/>
                        </a:lnSpc>
                      </a:pPr>
                      <a:r>
                        <a:rPr sz="750" b="1" i="0">
                          <a:solidFill>
                            <a:srgbClr val="F7F6EF"/>
                          </a:solidFill>
                          <a:latin typeface="Arial"/>
                        </a:rPr>
                        <a:t>ICC — global cricket market research</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16</a:t>
                      </a:r>
                    </a:p>
                  </a:txBody>
                  <a:tcPr marL="64008" marR="64008" marT="41148" marB="41148" anchor="ctr">
                    <a:solidFill>
                      <a:srgbClr val="0D131B"/>
                    </a:solidFill>
                  </a:tcPr>
                </a:tc>
              </a:tr>
              <a:tr h="195125">
                <a:tc>
                  <a:txBody>
                    <a:bodyPr wrap="square"/>
                    <a:lstStyle/>
                    <a:p>
                      <a:pPr>
                        <a:lnSpc>
                          <a:spcPct val="114000"/>
                        </a:lnSpc>
                      </a:pPr>
                      <a:r>
                        <a:rPr sz="750" b="1" i="0">
                          <a:solidFill>
                            <a:srgbClr val="F7F6EF"/>
                          </a:solidFill>
                          <a:latin typeface="Arial"/>
                        </a:rPr>
                        <a:t>Nielsen — 2025 Global Sports Report</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16</a:t>
                      </a:r>
                    </a:p>
                  </a:txBody>
                  <a:tcPr marL="64008" marR="64008" marT="41148" marB="41148" anchor="ctr">
                    <a:solidFill>
                      <a:srgbClr val="121821"/>
                    </a:solidFill>
                  </a:tcPr>
                </a:tc>
              </a:tr>
              <a:tr h="195125">
                <a:tc>
                  <a:txBody>
                    <a:bodyPr wrap="square"/>
                    <a:lstStyle/>
                    <a:p>
                      <a:pPr>
                        <a:lnSpc>
                          <a:spcPct val="114000"/>
                        </a:lnSpc>
                      </a:pPr>
                      <a:r>
                        <a:rPr sz="750" b="1" i="0">
                          <a:solidFill>
                            <a:srgbClr val="F7F6EF"/>
                          </a:solidFill>
                          <a:latin typeface="Arial"/>
                        </a:rPr>
                        <a:t>Newzoo — Global Games Market 2025</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16</a:t>
                      </a:r>
                    </a:p>
                  </a:txBody>
                  <a:tcPr marL="64008" marR="64008" marT="41148" marB="41148" anchor="ctr">
                    <a:solidFill>
                      <a:srgbClr val="0D131B"/>
                    </a:solidFill>
                  </a:tcPr>
                </a:tc>
              </a:tr>
              <a:tr h="195125">
                <a:tc>
                  <a:txBody>
                    <a:bodyPr wrap="square"/>
                    <a:lstStyle/>
                    <a:p>
                      <a:pPr>
                        <a:lnSpc>
                          <a:spcPct val="114000"/>
                        </a:lnSpc>
                      </a:pPr>
                      <a:r>
                        <a:rPr sz="750" b="1" i="0">
                          <a:solidFill>
                            <a:srgbClr val="F7F6EF"/>
                          </a:solidFill>
                          <a:latin typeface="Arial"/>
                        </a:rPr>
                        <a:t>Paul Graham — How to convince investors</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16</a:t>
                      </a:r>
                    </a:p>
                  </a:txBody>
                  <a:tcPr marL="64008" marR="64008" marT="41148" marB="41148" anchor="ctr">
                    <a:solidFill>
                      <a:srgbClr val="121821"/>
                    </a:solidFill>
                  </a:tcPr>
                </a:tc>
              </a:tr>
              <a:tr h="195125">
                <a:tc>
                  <a:txBody>
                    <a:bodyPr wrap="square"/>
                    <a:lstStyle/>
                    <a:p>
                      <a:pPr>
                        <a:lnSpc>
                          <a:spcPct val="114000"/>
                        </a:lnSpc>
                      </a:pPr>
                      <a:r>
                        <a:rPr sz="750" b="1" i="0">
                          <a:solidFill>
                            <a:srgbClr val="F7F6EF"/>
                          </a:solidFill>
                          <a:latin typeface="Arial"/>
                        </a:rPr>
                        <a:t>a16z — 16 More Startup Metrics</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16</a:t>
                      </a:r>
                    </a:p>
                  </a:txBody>
                  <a:tcPr marL="64008" marR="64008" marT="41148" marB="41148" anchor="ctr">
                    <a:solidFill>
                      <a:srgbClr val="0D131B"/>
                    </a:solidFill>
                  </a:tcPr>
                </a:tc>
              </a:tr>
              <a:tr h="195125">
                <a:tc>
                  <a:txBody>
                    <a:bodyPr wrap="square"/>
                    <a:lstStyle/>
                    <a:p>
                      <a:pPr>
                        <a:lnSpc>
                          <a:spcPct val="114000"/>
                        </a:lnSpc>
                      </a:pPr>
                      <a:r>
                        <a:rPr sz="750" b="1" i="0">
                          <a:solidFill>
                            <a:srgbClr val="F7F6EF"/>
                          </a:solidFill>
                          <a:latin typeface="Arial"/>
                        </a:rPr>
                        <a:t>SEC Form D — HQ Trivia</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press report</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17</a:t>
                      </a:r>
                    </a:p>
                  </a:txBody>
                  <a:tcPr marL="64008" marR="64008" marT="41148" marB="41148" anchor="ctr">
                    <a:solidFill>
                      <a:srgbClr val="121821"/>
                    </a:solidFill>
                  </a:tcPr>
                </a:tc>
              </a:tr>
              <a:tr h="195125">
                <a:tc>
                  <a:txBody>
                    <a:bodyPr wrap="square"/>
                    <a:lstStyle/>
                    <a:p>
                      <a:pPr>
                        <a:lnSpc>
                          <a:spcPct val="114000"/>
                        </a:lnSpc>
                      </a:pPr>
                      <a:r>
                        <a:rPr sz="750" b="1" i="0">
                          <a:solidFill>
                            <a:srgbClr val="F7F6EF"/>
                          </a:solidFill>
                          <a:latin typeface="Arial"/>
                        </a:rPr>
                        <a:t>SEC Form D — Teatime Games (Trivia Royale)</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press report</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17</a:t>
                      </a:r>
                    </a:p>
                  </a:txBody>
                  <a:tcPr marL="64008" marR="64008" marT="41148" marB="41148" anchor="ctr">
                    <a:solidFill>
                      <a:srgbClr val="0D131B"/>
                    </a:solidFill>
                  </a:tcPr>
                </a:tc>
              </a:tr>
              <a:tr h="195125">
                <a:tc>
                  <a:txBody>
                    <a:bodyPr wrap="square"/>
                    <a:lstStyle/>
                    <a:p>
                      <a:pPr>
                        <a:lnSpc>
                          <a:spcPct val="114000"/>
                        </a:lnSpc>
                      </a:pPr>
                      <a:r>
                        <a:rPr sz="750" b="1" i="0">
                          <a:solidFill>
                            <a:srgbClr val="F7F6EF"/>
                          </a:solidFill>
                          <a:latin typeface="Arial"/>
                        </a:rPr>
                        <a:t>FACT//DUEL internal — numbers.md §5 (failed verification and unresolved items)</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18</a:t>
                      </a:r>
                    </a:p>
                  </a:txBody>
                  <a:tcPr marL="64008" marR="64008" marT="41148" marB="41148" anchor="ctr">
                    <a:solidFill>
                      <a:srgbClr val="121821"/>
                    </a:solidFill>
                  </a:tcPr>
                </a:tc>
              </a:tr>
              <a:tr h="195125">
                <a:tc>
                  <a:txBody>
                    <a:bodyPr wrap="square"/>
                    <a:lstStyle/>
                    <a:p>
                      <a:pPr>
                        <a:lnSpc>
                          <a:spcPct val="114000"/>
                        </a:lnSpc>
                      </a:pPr>
                      <a:r>
                        <a:rPr sz="750" b="1" i="0">
                          <a:solidFill>
                            <a:srgbClr val="F7F6EF"/>
                          </a:solidFill>
                          <a:latin typeface="Arial"/>
                        </a:rPr>
                        <a:t>FACT//DUEL internal — numbers.md — status paragraph, §7.1 and §7.2</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internal (company disclosure)</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19</a:t>
                      </a:r>
                    </a:p>
                  </a:txBody>
                  <a:tcPr marL="64008" marR="64008" marT="41148" marB="41148" anchor="ctr">
                    <a:solidFill>
                      <a:srgbClr val="0D131B"/>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