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three zeroes out loud in the first fifteen seconds: no users outside a private playtest, no revenue, no cohort and therefore no retention rate. All three are on the page, so nobody has to go looking for them.</a:t>
            </a:r>
          </a:p>
          <a:p/>
          <a:p>
            <a:r>
              <a:t>The product runs the entire game in a browser with no install and no account since 13 September 2026 (numbers.md §7.2) — a static build served from the repository's own Pages workflow, and it is live once the repository owner has pointed Pages at the gh-pages branch. Confirm the link resolves before the deck is sent, and again the morning of a meeting; do not assume it. A complete bot duel takes about fifteen seconds. The static build carries bot duels in all three modes; two-device friend duels genuinely need a server and are disabled in that build, with an on-screen notice saying so — which is why the headline and the first line both say bot rather than promising a head-to-head match. Slide 5 has the full boundary list. Publishing the link changes nothing about the zeroes: no accounts, no users, no revenue.</a:t>
            </a:r>
          </a:p>
          <a:p/>
          <a:p>
            <a:r>
              <a:t>If they want the ask math before slide 13: 4 engineers x $15,000/month x 18 months = $1,080,000, rounded to a raise of about $1.2M, inside YC's $500k-$1.5M band (numbers.md §4.5). YC's own worked example is five engineers; the four-engineer headcount is ours, and the $15k is YC's undated editorial rule of thumb, very likely understated today — that caveat is on slide 13 and should be volunteered, not defended.</a:t>
            </a:r>
          </a:p>
          <a:p/>
          <a:p>
            <a:r>
              <a:t>A duel is designed as a 3-4 minute unit, set against GameAnalytics' estimated 3.1-3.5 minute median mobile session (CY2025, iOS and Android app-store installs, not web; North America 3.64 minutes — numbers.md §3.2). That is a design target, never a measured FACT//DUEL session length: we have never measured one (§5.15). The claim itself stays in the body of slide 4.</a:t>
            </a:r>
          </a:p>
          <a:p/>
          <a:p>
            <a:r>
              <a:t>Add founder name and contact details before sending; do not add anything else.</a:t>
            </a:r>
          </a:p>
          <a:p/>
          <a:p>
            <a:r>
              <a:t>SOURCES: slide 1's existing seven sources carry forward unchanged, plus one new entry — "FACT//DUEL internal: public/product/investor/numbers.md §4.4 and §4.5 (company disclosure)" — because body lines 3-4 now rest on §4.5 (the ask arithmetic) and §4.4 milestones 2-3 (the cohort target).</a:t>
            </a:r>
          </a:p>
          <a:p/>
          <a:p>
            <a:r>
              <a:t>SOURCES</a:t>
            </a:r>
          </a:p>
          <a:p>
            <a:r>
              <a:t>- FACT//DUEL internal: public/product/investor/numbers.md — status paragraph and §5.15 (company disclosure)</a:t>
            </a:r>
          </a:p>
          <a:p>
            <a:r>
              <a:t>- https://www.ycombinator.com/library/4A-a-guide-to-seed-fundraising</a:t>
            </a:r>
          </a:p>
          <a:p>
            <a:r>
              <a:t>- https://www.ycombinator.com/library/4T-how-to-design-a-better-pitch-deck</a:t>
            </a:r>
          </a:p>
          <a:p>
            <a:r>
              <a:t>- https://www.gameanalytics.com/reports/2026-mobile-pc-gaming-benchmarks</a:t>
            </a:r>
          </a:p>
          <a:p>
            <a:r>
              <a:t>- https://web.archive.org/web/20260622084020/https://www.docsend.com/blog/what-vcs-really-want-to-see-inside-your-seed-deck/</a:t>
            </a:r>
          </a:p>
          <a:p>
            <a:r>
              <a:t>- https://web.archive.org/web/20240302210508/https://www.docsend.com/blog/what-vcs-really-want-to-see-inside-your-seed-deck/</a:t>
            </a:r>
          </a:p>
          <a:p>
            <a:r>
              <a:t>- FACT//DUEL internal: public/product/investor/numbers.md §7.1 and §7.2 (company disclosure)</a:t>
            </a:r>
          </a:p>
          <a:p>
            <a:r>
              <a:t>- FACT//DUEL internal: public/product/investor/numbers.md §4.4 and §4.5 (company disclosure)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Verified 13 Sep 2026. Every figure here is store data or a filed interim report, not an analyst estimate. Both hedges are load-bearing: say "lifetime installs" and "essentially no maintained incumbent" — never the absolute.</a:t>
            </a:r>
          </a:p>
          <a:p/>
          <a:p>
            <a:r>
              <a:t>Volunteer these before you are asked. 267,939,837 is Google Play's own internal lifetime count; the store itself displays only "100M+". It is installs, not users, and lifetime installs are cumulative store installs, not an active base. The widely-quoted "600 million downloads" for Trivia Crack is PR-originated and does not survive checking (numbers.md §5.4) — we deliberately use the smaller, verifiable number.</a:t>
            </a:r>
          </a:p>
          <a:p/>
          <a:p>
            <a:r>
              <a:t>Do not say the category is abandoned or unmaintained. It is not: QuizDuel shipped an iOS build on 10 Sep 2026, Quizion's listing was updated 13 Aug 2026 (10+ downloads), TRIVIA GO! has had no update since 22 May 2025 (10K+ downloads), and Psych!'s Android build landed 26 May 2026 — and the chart on this slide labels Kahoot!, Jeopardy! and Quizion MAINTAINED. The defensible claim is numbers.md §2.2's, word for word: the 1v1 duel format has an installed-base history in the hundreds of millions and essentially no maintained incumbent.</a:t>
            </a:r>
          </a:p>
          <a:p/>
          <a:p>
            <a:r>
              <a:t>"Live and maintained" here means the QuizDuel app is live and shipping builds. It is not a claim about the duel mode itself: nothing in the evidence base establishes whether QuizDuel's duel is live or turn-based, which is why the landscape row on slide 10 says the status is not verified.</a:t>
            </a:r>
          </a:p>
          <a:p/>
          <a:p>
            <a:r>
              <a:t>MAG's DAU and MAU are group-level across its whole portfolio rather than QuizDuel standalone, and they are nine-month averages for Sep 2025 to May 2026. The quarter alone is milder at -12% and -9%, and the slide says both because removing our own milder pair would be removing a disclosure to make the slide look better.</a:t>
            </a:r>
          </a:p>
          <a:p/>
          <a:p>
            <a:r>
              <a:t>Expect the obvious challenge: "maybe the format is dead for a reason." The answer is slide 3, and the honest version is that we agree the reason exists and we have named it.</a:t>
            </a:r>
          </a:p>
          <a:p/>
          <a:p>
            <a:r>
              <a:t>STRUCTURE (apply with this rewrite, do not drop): kind "chart", chart "vacuum", image null, table null, and all six source URLs — Google Play Trivia Crack; MAG Q3 2025/26 interim report; iTunes lookup US; iTunes lookup DE; Google Play Quizion; Google Play TRIVIA GO!.</a:t>
            </a:r>
          </a:p>
          <a:p/>
          <a:p>
            <a:r>
              <a:t>SOURCES</a:t>
            </a:r>
          </a:p>
          <a:p>
            <a:r>
              <a:t>- https://play.google.com/store/apps/details?id=com.etermax.preguntados.lite&amp;hl=en_US&amp;gl=US</a:t>
            </a:r>
          </a:p>
          <a:p>
            <a:r>
              <a:t>- https://storage.mfn.se/8d863483-ccc8-4f02-b0c5-d37d899b23e8/mag-interim-report-eng-2025-26-q3.pdf</a:t>
            </a:r>
          </a:p>
          <a:p>
            <a:r>
              <a:t>- https://itunes.apple.com/lookup?id=1484354626&amp;country=us</a:t>
            </a:r>
          </a:p>
          <a:p>
            <a:r>
              <a:t>- https://itunes.apple.com/lookup?id=1484354626&amp;country=de</a:t>
            </a:r>
          </a:p>
          <a:p>
            <a:r>
              <a:t>- https://play.google.com/store/apps/details?id=com.quizion.app&amp;hl=en_US</a:t>
            </a:r>
          </a:p>
          <a:p>
            <a:r>
              <a:t>- https://play.google.com/store/apps/details?id=live.trivia&amp;hl=en_US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decides whether an investor trusts the rest of the deck.</a:t>
            </a:r>
          </a:p>
          <a:p/>
          <a:p>
            <a:r>
              <a:t>Trivia Royale is the cleanest natural experiment in the category: built by Thor Fridriksson, QuizUp's own founder, so this is not a story about weak operators. About 40% of the under-$500,000 launch budget went to TikTok influencers, and Teatime also reported roughly 30 minutes of average daily use. Launched 17 Jun 2020, closure announced 23 Feb 2021 — eight months — all 16 staff let go: revenue insufficient, and funding talks collapsed. Keep "launch" in front of the budget figure: Teatime itself had raised $9,155,139 plus $1,499,913 per SEC Form Ds, so the sub-$500,000 number is the launch campaign, not the company.</a:t>
            </a:r>
          </a:p>
          <a:p/>
          <a:p>
            <a:r>
              <a:t>Precision if challenged. The download count, the launch budget, the $0.20 and the 45% D1 are all Teatime Games statements to TechCrunch — press reports, not filings, not audited. The $0.20 is blended cost per download including organic and viral, not a paid CPI (numbers.md §3.6). Do not place the 45% D1 against the GameAnalytics medians as a percentile: Trivia Royale's figure is iOS-only and company-reported, while those medians are measured on iOS and Android app-store installs, so the comparison is not like-for-like (§5.14). And it is Trivia Royale's number, never ours — we have no D1 of our own and no cohort to compute one from.</a:t>
            </a:r>
          </a:p>
          <a:p/>
          <a:p>
            <a:r>
              <a:t>HQ Trivia peaked at 2.38M concurrent players on 28 Mar 2018. Its story does not stop in February 2020: the franchise was bought and relaunched on 29 Mar 2020, played its last official game on 17 Nov 2022 and was delisted from both stores on 5 Aug 2023 — say so before an investor who knows the history says it for you. The 67,000 (Jan 2020) and ~2M/month (Feb 2018) figures are sourced to TechCrunch, not Sensor Tower; Sensor Tower attaches to exactly one HQ number, the ~15M all-time installs this slide does not use (§2.3).</a:t>
            </a:r>
          </a:p>
          <a:p/>
          <a:p>
            <a:r>
              <a:t>Glu's $3.2M fair-value mark on QuizUp, against $7.5M of cancelled notes at face value, is the honest ceiling to attach to a large unmonetised trivia audience; the sale closed 19 Dec 2016 and the ~$32.4M of Plain Vanilla equity behind it comes from SEC filings.</a:t>
            </a:r>
          </a:p>
          <a:p/>
          <a:p>
            <a:r>
              <a:t>The takeaway to say out loud: any pitch in this category that leads with "we will go viral" is arguing the case that was already settled and ignoring the case that killed everyone. If asked what we would do differently, do not answer with features — answer with slide 4.</a:t>
            </a:r>
          </a:p>
          <a:p/>
          <a:p>
            <a:r>
              <a:t>SOURCES</a:t>
            </a:r>
          </a:p>
          <a:p>
            <a:r>
              <a:t>- https://techcrunch.com/2020/07/10/how-thor-fridrikssons-trivia-royale-earned-2-5m-downloads-in-3-weeks/</a:t>
            </a:r>
          </a:p>
          <a:p>
            <a:r>
              <a:t>- https://techcrunch.com/2020/02/14/hq-trivia-shuts-down/</a:t>
            </a:r>
          </a:p>
          <a:p>
            <a:r>
              <a:t>- https://techcrunch.com/2018/08/14/hq-trivia-apple-tv/</a:t>
            </a:r>
          </a:p>
          <a:p>
            <a:r>
              <a:t>- https://www.sec.gov/Archives/edgar/data/1366246/000155837017001621/gluu-20161231x10k.htm</a:t>
            </a:r>
          </a:p>
          <a:p>
            <a:r>
              <a:t>- https://www.sec.gov/Archives/edgar/data/1366246/000155837016010604/gluu-20161215x8k.htm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GameAnalytics' 2026 benchmark set — 16,000+ mobile games, nine regions, iOS and Android, calendar year 2025 — estimates the median session at 3.1-3.5 minutes and North America at 3.64 minutes across 4.23 sessions a day (numbers.md §3.2). Slide 1's notes carry the 3.1-3.5 median; the 3.64 North America figure and the app-store-not-web qualifier live only here, so say both out loud if the session benchmark comes up. A duel is designed as a 3-4 minute unit against that estimate — a design target, not a FACT//DUEL measurement. Every one of those benchmarks is measured on app-store installs while we are a browser product with no install step: numbers.md §5.14 calls that the single largest methodological risk in the model, and slide 11 carries it as a named risk. Since 13 September 2026 the app records session count and engaged time per device (lib/analytics.mjs, §7.1), so the absence of our own session length is missing players, not a missing instrument.</a:t>
            </a:r>
          </a:p>
          <a:p/>
          <a:p>
            <a:r>
              <a:t>The full loop, all of it product description read off our own repository and none of it audited: XP and levels, day streaks, daily quests, achievements, a device-local rank, gems, cosmetics (lib/progression.mjs). None of it carries a measured retention benefit. Do not attach one to any mechanic.</a:t>
            </a:r>
          </a:p>
          <a:p/>
          <a:p>
            <a:r>
              <a:t>The Duolingo comparison is bounded: §1.6 is the section that calls that streak/XP/quest loop mechanically identical in shape to ours, and §1.1 is the $1,037.6M ÷ 133.1M MAU anchor. Cosmetics is ours and is deliberately not claimed as part of that anchor.</a:t>
            </a:r>
          </a:p>
          <a:p/>
          <a:p>
            <a:r>
              <a:t>Solo expeditions and a static event calendar are intended to cover the days when nobody wants a live opponent; that claim, and everything that can be checked about it, is on slide 5.</a:t>
            </a:r>
          </a:p>
          <a:p/>
          <a:p>
            <a:r>
              <a:t>§2.3 concludes the comparables died of monetisation and long-tail retention rather than distribution. Sequencing is our response to that, and it is untested: nothing in the evidence base shows that deferring monetisation avoids this category's failure mode. "Zero revenue" is an absence caused by having no users, never a decision to decline revenue — only the sequencing is a choice.</a:t>
            </a:r>
          </a:p>
          <a:p/>
          <a:p>
            <a:r>
              <a:t>Files an investor can open for the product description: lib/progression.mjs, lib/expeditions.mjs, lib/events-data.mjs, app/screens/play/opponent-picker.tsx.</a:t>
            </a:r>
          </a:p>
          <a:p/>
          <a:p>
            <a:r>
              <a:t>SOURCES — REQUIRED ADDITION: because Duolingo is now named on the slide face, this slide's sources array must gain https://www.sec.gov/Archives/edgar/data/1562088/000162828026012246/q4fy25duolingo12-31x25shar.htm and "FACT//DUEL internal: public/product/investor/numbers.md §1.1 and §1.6 (company disclosure)". Without it the on-face Duolingo reference is unsourced.</a:t>
            </a:r>
          </a:p>
          <a:p/>
          <a:p>
            <a:r>
              <a:t>IMAGE: recommend dropping the uncaptioned phone-arena.png. Hale's nine named distractions include "photos with no titles or captions"; the arena shots are already carried with captions in deck.md, and slides 5 and 19 carry the product shots.</a:t>
            </a:r>
          </a:p>
          <a:p/>
          <a:p>
            <a:r>
              <a:t>SOURCES</a:t>
            </a:r>
          </a:p>
          <a:p>
            <a:r>
              <a:t>- https://www.gameanalytics.com/reports/2026-mobile-pc-gaming-benchmarks</a:t>
            </a:r>
          </a:p>
          <a:p>
            <a:r>
              <a:t>- FACT//DUEL internal: public/product/investor/numbers.md §3.2, status paragraph and §5.15 (company disclosure)</a:t>
            </a:r>
          </a:p>
          <a:p>
            <a:r>
              <a:t>- FACT//DUEL internal: repository — product code, unaudited</a:t>
            </a:r>
          </a:p>
          <a:p>
            <a:r>
              <a:t>- FACT//DUEL internal: public/product/investor/numbers.md §7.1 and §7.2 (company disclosure)</a:t>
            </a:r>
          </a:p>
          <a:p>
            <a:r>
              <a:t>- https://www.sec.gov/Archives/edgar/data/1562088/000162828026012246/q4fy25duolingo12-31x25shar.htm</a:t>
            </a:r>
          </a:p>
          <a:p>
            <a:r>
              <a:t>- FACT//DUEL internal: public/product/investor/numbers.md §1.1 and §1.6 (company disclosure)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MERGED SLIDE: old slide 6 (PRODUCT — THE NON-DUEL SURFACE) is folded in here. Its screenshot (desktop-journeys.png) is deleted; its four sources must be appended to this slide's three, because this slide today cites neither §2.3 nor lib/events-data.mjs, which is the only source for the calendar disclosure in body line 3. Entries to append: "numbers.md §7.2 (company disclosure)"; "numbers.md — status paragraph, §2.3, §4.4, §4.5, §7.1 and §7.3 (company disclosure)"; "repository — lib/expeditions.mjs, lib/events.mjs, lib/events-data.mjs, app/screens/expeditions/run.tsx, product code, unaudited".</a:t>
            </a:r>
          </a:p>
          <a:p/>
          <a:p>
            <a:r>
              <a:t>Say the link, hand over a phone, and stop talking. DocSend estimates 59 seconds of dwell on the product section, second only to business model at 64 (third-party estimate, §4.6).</a:t>
            </a:r>
          </a:p>
          <a:p/>
          <a:p>
            <a:r>
              <a:t>What to say while they play. Pick a mode, answer the first question, finish a complete bot duel, see the result screen — that is the walkthrough, and §7.2 puts the whole thing at about fifteen seconds. The static build carries bot duels in all three modes, expeditions, discovery, the vault, the passport, the events calendar and the limited modes (§7.2).</a:t>
            </a:r>
          </a:p>
          <a:p/>
          <a:p>
            <a:r>
              <a:t>Why it is the same game, not a demo of one. The build is `pnpm build:static`: it keeps the real duel engine and replaces only the storage beneath it, and 14 differential tests run each scenario against both the in-memory store and the real D1-backed store, comparing every return value, every thrown error and the rows left behind (§7.2).</a:t>
            </a:r>
          </a:p>
          <a:p/>
          <a:p>
            <a:r>
              <a:t>Check the link the morning of a meeting. .github/workflows/pages.yml publishes the built site to the gh-pages branch and prints that it is live only once the repository's Pages source is set to that branch — liveness depends on a repository setting, so verify rather than assume.</a:t>
            </a:r>
          </a:p>
          <a:p/>
          <a:p>
            <a:r>
              <a:t>Volunteer the boundaries before they are found: two-device friend duels are disabled with an on-screen notice; progression is device-local and there are still no accounts, so a cleared browser clears the profile; /analytics shows the player their own record with JSON and CSV export and erase (§7.1); nobody who opens the link is a user in any sense this deck would count.</a:t>
            </a:r>
          </a:p>
          <a:p/>
          <a:p>
            <a:r>
              <a:t>Between duels, if asked. Solo expeditions are short, untimed six-card routes, and each card carries a risk call — Steady, Bold or Called (lib/expeditions.mjs:115-120, three tiers, not two) — set on the question screen and locked when the answer is submitted (app/screens/expeditions/run.tsx renders the question first, then the stake control). The question is on screen while you choose; nothing is wagered blind. Limited-time modes are derived from the calendar: one opens on a real fixture or announcement and closes when that window closes (lib/events.mjs). The calendar is hand-assembled and static, and the date it was last checked is printed in the app (CALENDAR_ASOF = '2026-09-13' in lib/events-data.mjs, rendered by app/screens/events-screen.tsx) — that is the part an investor can verify without taking our word for it. There is no live feed, no scores service and no partnership with any league, broadcaster or rights holder, and none is claimed anywhere in this deck. We have no content production cost, no curation rate and no vendor quote anywhere in the evidence base, so describe the calendar as unpriced, not as cheap or low-risk.</a:t>
            </a:r>
          </a:p>
          <a:p/>
          <a:p>
            <a:r>
              <a:t>If asked whether any of it helps retention: we do not know. The instrument that would measure one shipped on 13 September 2026; the players it needs have not. No cadence is claimed. §2.3 says the graveyard died of monetisation and long-tail retention; this surface is our untested answer to the second of those.</a:t>
            </a:r>
          </a:p>
          <a:p/>
          <a:p>
            <a:r>
              <a:t>The bank is 54 sample questions today. Growing it is milestone 4: a target and a production rate we have not set yet, and there is no content line in the use of funds (§4.5 funds four engineers and nothing else).</a:t>
            </a:r>
          </a:p>
          <a:p/>
          <a:p>
            <a:r>
              <a:t>Do not assert anything about how the bot is implemented, how progression is stored or how the transport is sized that an investor cannot open the repository and check — after Skillz v. AviaGames this is where an unverifiable claim does the most damage.</a:t>
            </a:r>
          </a:p>
          <a:p/>
          <a:p>
            <a:r>
              <a:t>IMAGE: recommend dropping phone-home.png from this slide. The only sourced argument is Hale's "photos with no titles or captions"; the rest is editorial — a picture of the product is dead weight next to a live link to the product.</a:t>
            </a:r>
          </a:p>
          <a:p/>
          <a:p>
            <a:r>
              <a:t>SOURCES</a:t>
            </a:r>
          </a:p>
          <a:p>
            <a:r>
              <a:t>- FACT//DUEL internal: public/product/investor/numbers.md — status paragraph, §4.4 and §7.1-§7.2 (company disclosure)</a:t>
            </a:r>
          </a:p>
          <a:p>
            <a:r>
              <a:t>- FACT//DUEL internal: repository — product code, unaudited</a:t>
            </a:r>
          </a:p>
          <a:p>
            <a:r>
              <a:t>- https://web.archive.org/web/20260622084020/https://www.docsend.com/blog/what-vcs-really-want-to-see-inside-your-seed-deck/</a:t>
            </a:r>
          </a:p>
          <a:p>
            <a:r>
              <a:t>- FACT//DUEL internal: public/product/investor/numbers.md — status paragraph and §5.15 (company disclosure)</a:t>
            </a:r>
          </a:p>
          <a:p>
            <a:r>
              <a:t>- FACT//DUEL internal: public/product/investor/numbers.md §2.3, §4.3 and §4.4 (company disclosure)</a:t>
            </a:r>
          </a:p>
          <a:p>
            <a:r>
              <a:t>- FACT//DUEL internal: public/product/investor/numbers.md §7.1 and §7.2 (company disclosure)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it in one breath: a forecast 216.8M US second-screen adults times $7.80-$13.07 revenue per active user per year is $1.69bn-$2.83bn, built bottom-up, and every input is somebody else's published figure. This slide gets 29 seconds in DocSend's estimates, so it carries one number and one arithmetic line and nothing else.</a:t>
            </a:r>
          </a:p>
          <a:p/>
          <a:p>
            <a:r>
              <a:t>Three things to volunteer before being asked.</a:t>
            </a:r>
          </a:p>
          <a:p/>
          <a:p>
            <a:r>
              <a:t>One — the population. 216.8M (80.6% of US adults) is EMARKETER's third-party estimate of US second-screen smartphone use for 2026. It is a modelled projection of second-screen behaviour generally, not a headcount and not a live-sport-only population. Do not describe it as measured, and do not give a publication date: §1.2 and §6 carry the year, the source and the kind, and no publication month, so there is nothing to stand behind if a partner asks when it was published. The string "April" appears nowhere in numbers.md.</a:t>
            </a:r>
          </a:p>
          <a:p/>
          <a:p>
            <a:r>
              <a:t>Two — the ARPU band, and mind the unit: it is revenue per active user per year, per MAU, not per adult. Neither end is reported by anybody; both are ours. $7.80 is Duolingo's FY2025 revenue ($1,037.6M, audited SEC 8-K ex-99 shareholder letter) divided by the 133.1M MAU reported at 31 December 2025 — a ratio Duolingo does not publish, and one that divides a full-year flow by a period-end stock. $13.07 is MAG Interactive's $21.563M nine-month net sales divided by 2.2M group MAU ($9.80 per nine months, × 12/9), from an unaudited interim report covering its whole portfolio rather than QuizDuel standalone.</a:t>
            </a:r>
          </a:p>
          <a:p/>
          <a:p>
            <a:r>
              <a:t>Three — TAM-A is an upper bound with no activation, retention or conversion discount applied. Paul Graham's own framing is that investors do not expect you to collect it; the method here is his definition used literally, x customers × $y per year, with no penetration percentage anywhere in TAM or SAM, which is a16z's toothbrush failure case avoided. That method note and the FSGA participation research sit on appendix slide 16, where their figures actually appear.</a:t>
            </a:r>
          </a:p>
          <a:p/>
          <a:p>
            <a:r>
              <a:t>SAM ($704M-$1.18bn) and SOM (0.14%-0.23% of SAM) are on appendix slide 16 with the full table. SOM stays labelled (P) on the chart itself, per §1.5 ("this is a plan, not a forecast") and §4.3 ("Output — all figures (P)"). The headline serves as the chart's conclusion caption.</a:t>
            </a:r>
          </a:p>
          <a:p/>
          <a:p>
            <a:r>
              <a:t>We deliberately exclude Europe, Latin America and every science-audience bloc, which makes the number smaller: say so, it is a credibility asset. One line worth saying: two paid research firms size game-based learning 3.93x apart for the identical year, so no vendor top-down number can discipline this plan.</a:t>
            </a:r>
          </a:p>
          <a:p/>
          <a:p>
            <a:r>
              <a:t>SOURCES</a:t>
            </a:r>
          </a:p>
          <a:p>
            <a:r>
              <a:t>- https://www.emarketer.com/content/second-screen-engagement-during-live-sports</a:t>
            </a:r>
          </a:p>
          <a:p>
            <a:r>
              <a:t>- https://www.sec.gov/Archives/edgar/data/1562088/000162828026012246/q4fy25duolingo12-31x25shar.htm</a:t>
            </a:r>
          </a:p>
          <a:p>
            <a:r>
              <a:t>- https://storage.mfn.se/8d863483-ccc8-4f02-b0c5-d37d899b23e8/mag-interim-report-eng-2025-26-q3.pdf</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Least-read slide in the deck at 23 seconds in DocSend's estimates, so it makes one point: the timing argument is behavioural and competitive, not technological. Resist any temptation to invent an AI or platform-shift narrative — we do not have one, and a fabricated one is the fastest way to lose a reader.</a:t>
            </a:r>
          </a:p>
          <a:p/>
          <a:p>
            <a:r>
              <a:t>Caveats in the same breath as the numbers, never after them: AppTweak estimates, US only, calendar year 2025, App Store page-views to installs, read off AppTweak's underlying chart data in our own verification pass rather than taken from the circulating claim. The circulating pair — 8.2% iOS / 20.4% Android against 3.2% / 14.3% casual — is inverted and wrong: AppTweak's own chart puts casual at 34.1% on iOS, an order of magnitude off (§5.2), and §6 marks the row re-confirm before use. Quote both platforms every time, never the iOS half alone, and do not oversell Google Play: 19.8% is at par with games (19.9%), above only the 16.15% all-category average. Do not put the Adjust IPM figures (10.3 vs 8.62) anywhere — entirely unverified, §5.2.</a:t>
            </a:r>
          </a:p>
          <a:p/>
          <a:p>
            <a:r>
              <a:t>If asked why now, the answer is occupancy, not technology: the largest lifetime Android install base in the format — 267,939,837 installs on Google Play's own count, and Apple publishes no count (§5.4) — has left the duel, with the Play listing now built around a FOX TV tie-in. That is stated in full on slide 2, in slide 10's landscape row and on appendix slide 14; never say "largest install base" unqualified, because the cross-platform "&gt;600 million downloads" is PR-originated and unverifiable.</a:t>
            </a:r>
          </a:p>
          <a:p/>
          <a:p>
            <a:r>
              <a:t>Second half of the answer: the same streak/XP/quest subscription loop earns at Duolingo scale — $1,037.6M of total revenue in FY2025 with 12.2M paid subscribers against 133.1M MAU (9.17%). Do not say that proves the loop works for us: §1.6 supports only that Duolingo collects $1,037.6M through a loop of that shape, and §5.14 forbids reading a Duolingo result as proof for a web app. $1,037.6M is total revenue; nothing in the evidence base breaks out subscription revenue. Do not mix in the 30 June 2026 figures, which belong to slide 9.</a:t>
            </a:r>
          </a:p>
          <a:p/>
          <a:p>
            <a:r>
              <a:t>Say "no maintained incumbent in the live 1v1 duel", not "an unattended category": QuizDuel, Quizion and Psych! all ship builds.</a:t>
            </a:r>
          </a:p>
          <a:p/>
          <a:p>
            <a:r>
              <a:t>SOURCES — keep all four on the face: the Google Play Trivia Crack URL (https://play.google.com/store/apps/details?id=com.etermax.preguntados.lite&amp;hl=en_US&amp;gl=US), https://www.apptweak.com/, and "FACT//DUEL internal: numbers.md §2.1, §2.2, §3.5, §5.2 and §5.14 (company disclosure)". The headline still prints the departure claim in the largest type on the slide, so its source cannot come off.</a:t>
            </a:r>
          </a:p>
          <a:p/>
          <a:p>
            <a:r>
              <a:t>SOURCES</a:t>
            </a:r>
          </a:p>
          <a:p>
            <a:r>
              <a:t>- https://play.google.com/store/apps/details?id=com.etermax.preguntados.lite&amp;hl=en_US&amp;gl=US</a:t>
            </a:r>
          </a:p>
          <a:p>
            <a:r>
              <a:t>- https://www.sec.gov/Archives/edgar/data/1562088/000162828026012246/q4fy25duolingo12-31x25shar.htm</a:t>
            </a:r>
          </a:p>
          <a:p>
            <a:r>
              <a:t>- https://www.apptweak.com/</a:t>
            </a:r>
          </a:p>
          <a:p>
            <a:r>
              <a:t>- FACT//DUEL internal: public/product/investor/numbers.md §3.5, §5.2 and §5.14 (company disclosure)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DocSend: VCs spend 80 percent more time evaluating the traction of companies that did not raise successfully. A vague traction slide invites the inspection that kills the round, so state zero and move on. Say the headline out loud, unsoftened, and do not fill the pause. No waitlist presented as users, no playtest presented as a cohort, no pilot presented as revenue, and the measurement layer presented as a capability, never as a result.</a:t>
            </a:r>
          </a:p>
          <a:p/>
          <a:p>
            <a:r>
              <a:t>Precision if asked: zero users outside a private playtest — that is the only play the product has seen, and it produced no cohort and no rate. Zero revenue, no DAU/MAU, no session length, no ARPDAU, no conversion, no CAC, no LTV (numbers.md status paragraph, §5.15, §7.3).</a:t>
            </a:r>
          </a:p>
          <a:p/>
          <a:p>
            <a:r>
              <a:t>What changed on 13 Sep 2026 (§7.1): the app records install day, active days, session count, engaged time and four in-app counters per device, and computes that device's own D1/D7/D30 — returning true, false, or null while a window is still open, so an unfinished window can never read as a miss. There is a player-facing /analytics screen with JSON and CSV export and erase (24 tests on the device module). An opt-in anonymous daily ping (cohort-ping / cohort-report, table cohort_days, 20 tests) makes a cohort rate computable, aggregate-only, with no per-device row and every bucket describing fewer than five devices suppressed. Appendix G (slide 20) documents the whole design for anyone who wants to interrogate it.</a:t>
            </a:r>
          </a:p>
          <a:p/>
          <a:p>
            <a:r>
              <a:t>State the deliberate limitation before anyone finds it: one device can only ever answer yes, no, or not-yet. A rate needs a cohort, the app never computes one from a single device, and the screen says so in its own copy.</a:t>
            </a:r>
          </a:p>
          <a:p/>
          <a:p>
            <a:r>
              <a:t>On the milestones: §4.4's milestone 1 was "ship accounts and server-side progression" because nothing was measurable without them, and measurement arrived without accounts — a de-risking of milestones 1 and 2 from build-then-measure to simply run the cohort, not their completion. Accounts remain unbuilt.</a:t>
            </a:r>
          </a:p>
          <a:p/>
          <a:p>
            <a:r>
              <a:t>GameAnalytics provenance: 16,000+ mobile games, nine regions, titles with ≥1,000 MAU, iOS and Android, calendar year 2025, published 24 Aug 2026; North America ranks third of nine on D7. Every one of those medians is measured on app-store installs while we are a browser product with no install step and no push notifications — §5.14 calls that the single largest methodological risk in the model, §7.3 confirms it stands, and slide 11 carries it as a named risk alongside the consenting-device denominator.</a:t>
            </a:r>
          </a:p>
          <a:p/>
          <a:p>
            <a:r>
              <a:t>CHART: benchmark bars only. There is no FACT//DUEL bar because there is no FACT//DUEL rate. Say that when the chart goes up.</a:t>
            </a:r>
          </a:p>
          <a:p/>
          <a:p>
            <a:r>
              <a:t>Milestones 4-6 are untouched — grow the bank from 54 questions, ship an opponent-integrity answer before monetisation, validate exactly one monetisation route — and slide 13 lists all three as what the money buys; their supporting figures (the Skillz v. AviaGames verdict, Sporcle's $43.99/yr, the 9% MAU-to-paid anchor) are printed on slides 11 and 9, not here.</a:t>
            </a:r>
          </a:p>
          <a:p/>
          <a:p>
            <a:r>
              <a:t>SOURCES</a:t>
            </a:r>
          </a:p>
          <a:p>
            <a:r>
              <a:t>- FACT//DUEL internal: public/product/investor/numbers.md — status paragraph, §4.4 and §7.1 (company disclosure)</a:t>
            </a:r>
          </a:p>
          <a:p>
            <a:r>
              <a:t>- FACT//DUEL internal: repository — product code, unaudited</a:t>
            </a:r>
          </a:p>
          <a:p>
            <a:r>
              <a:t>- https://www.gameanalytics.com/reports/2026-mobile-pc-gaming-benchmarks</a:t>
            </a:r>
          </a:p>
          <a:p>
            <a:r>
              <a:t>- https://web.archive.org/web/20240302210508/https://www.docsend.com/blog/what-vcs-really-want-to-see-inside-your-seed-deck/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with what is NOT built, not with the model. Route A is the founder’s own route, recorded in numbers.md §4.4b on 14 September 2026: paid entry to a time-limited expedition event, one entry per player, a rotating question set so answers cannot be passed around. It is a coherent design — single entry is what makes a leaderboard mean anything, and rotation is the anti-collusion mechanism a fixed bank cannot provide.</a:t>
            </a:r>
          </a:p>
          <a:p/>
          <a:p>
            <a:r>
              <a:t>Volunteer the gap before you are asked, because a reader can check every word of it in the public repository in about two minutes. Today: there is no payment surface anywhere in the tree; the duel coins say on screen "Free simulated coins. No monetary value."; expedition stake tiers stake RUN-SCORE POINTS and never a currency (+2/0, +3/-1, +4/-3, lib/expeditions.mjs), under the expedition betting rule that the bet itself stakes no currency — and note the scope of that rule carefully, because a duel DOES stake coins: 0/10/25/50/100 simulated coins per room, reserved into a stake x 2 escrow (lib/server/room-engine.mjs:37, 181-185), which is the nearest shipped mechanism to the coin half of the ask. It is per-room, never persisted to a wallet, and labelled on screen as having no monetary value; expeditions are replayable by design and there are no accounts, so "one entry per player" is not yet expressible; and a route’s six cards are frozen — a replay reshuffles the OPTIONS, not the questions, out of a 54-question bank.</a:t>
            </a:r>
          </a:p>
          <a:p/>
          <a:p>
            <a:r>
              <a:t>What is already built and would be reused: lib/events.mjs derives up to four limited-time modes a month, deterministically from the month and a hand-checked calendar, so the time-limited and rotating halves have a working mechanism behind them. It rotates duel modes today, pays XP, and takes no money.</a:t>
            </a:r>
          </a:p>
          <a:p/>
          <a:p>
            <a:r>
              <a:t>Route A is therefore gated on milestone 1 (accounts), milestone 4 (a bank past 54) and a wagering-law answer, which is on the risks slide. If you are asked which you would build: Route B first, because it is testable on the cohort this round buys, while Route A needs three other things to land before it can be tested at all.</a:t>
            </a:r>
          </a:p>
          <a:p/>
          <a:p>
            <a:r>
              <a:t>Longest-dwell slide in a seed deck at 64 seconds in DocSend's estimates, so it is the densest page here and the one to rehearse hardest. The argument in one breath: the category does monetise, just not as consumer trivia IAP.</a:t>
            </a:r>
          </a:p>
          <a:p/>
          <a:p>
            <a:r>
              <a:t>Say the chart's caveat out loud before anyone asks, because the chart annualises. The $5.33M bar is the $102.5K weekly peak times 52, and that is the strongest possible form of the number. The weekly figures on the slide are the honest ones: Sensor Tower's Q2 2025 US iOS estimates put Kahoot at a $38.5K/week peak in mid-June falling to $28.2K, Trivia Crack Premium at about $33K, GeoGuessr at $31K falling to $28.7K. Stack the peaks and it is about $102.5K a week; on quarter-end values about $90K. These are modelled estimates of gross consumer spend before Apple's 15-30% commission — not audited and not company-reported revenue — and they are more than a year old. Do not annualise the stacked peak as a run rate. Full figures and both readings of the gap are on appendix slide 14 (§1.6).</a:t>
            </a:r>
          </a:p>
          <a:p/>
          <a:p>
            <a:r>
              <a:t>If challenged on Kahoot as a counter-example: Kahoot collected $146.0M in FY2022 at a 95% gross margin, but through per-presenter B2B and education subscriptions at $19-$79 a month. That is not a consumer habit subscription and must not be presented as one. FY2022 is its last comparable year — it went private on 23 Jan 2024 and has published no audited consolidated group figures since, and the parent-only Norwegian statutory accounts are not group results.</a:t>
            </a:r>
          </a:p>
          <a:p/>
          <a:p>
            <a:r>
              <a:t>On Duolingo, keep the two periods apart: $1,037.6M is FY2025 total revenue; the 12.7M of 140.6M MAU (9.03%) is a 30 June 2026 snapshot (§2.1). The FY2025 pair is 12.2M of 133.1M (9.17%). Neither ratio is filed as a ratio — both are our own arithmetic on separately disclosed subscriber and MAU counts.</a:t>
            </a:r>
          </a:p>
          <a:p/>
          <a:p>
            <a:r>
              <a:t>The cross-check is the point of the slide and it argues against us: at base-case Year-3 MAU of 105,900 (P), a Duolingo-rate subscription at Sporcle's $43.99/yr Orange individual price yields $420,666 (P) while our install-economics model yields $1,630,517 (P) — a 3.88x divergence, which is why §4.3 and §1.5 require the base-case Year-3 band to be presented as $0.4M-$1.6M (P) and not $1.6M. Note the scope: that band is the base case only. Conservative Y3 is $92,202 / $85,570 and optimistic Y3 is $7,560,784 / $1,436,647, both outside it. In the conservative case the two routes land within 8% of each other, which is the reason to trust the conservative case and distrust the base case.</a:t>
            </a:r>
          </a:p>
          <a:p/>
          <a:p>
            <a:r>
              <a:t>Two ceilings to state before being asked: base-case revenue per MAU of $15.40/yr (P) already exceeds both real anchors (MAG $13.07, Duolingo $7.80), and break-even blended cost per install is $1.36 (P) in the base case against Trivia Royale's sourced $0.20 or less — necessary, and demonstrably not sufficient.</a:t>
            </a:r>
          </a:p>
          <a:p/>
          <a:p>
            <a:r>
              <a:t>We have no verified CAC or genre ARPDAU benchmark and we will not quote one. All scenario figures are (P): plans built on third-party benchmarks with zero company data behind them, and the Year-3 install volume and the 20% monthly churn are flagged in §4.2 as chosen assumptions with no source at all.</a:t>
            </a:r>
          </a:p>
          <a:p/>
          <a:p>
            <a:r>
              <a:t>SOURCES</a:t>
            </a:r>
          </a:p>
          <a:p>
            <a:r>
              <a:t>- https://sensortower.com/blog/2025-q2-ios-top-5-trivia%20games-revenue-us-604118ed241bc16eb8b8453a</a:t>
            </a:r>
          </a:p>
          <a:p>
            <a:r>
              <a:t>- https://www.sec.gov/Archives/edgar/data/1562088/000162828026012246/q4fy25duolingo12-31x25shar.htm</a:t>
            </a:r>
          </a:p>
          <a:p>
            <a:r>
              <a:t>- https://www.sec.gov/Archives/edgar/data/1562088/000162828026053603/duol-20260630.htm</a:t>
            </a:r>
          </a:p>
          <a:p>
            <a:r>
              <a:t>- https://www.sec.gov/Archives/edgar/data/1562088/000162828026053299/q2fy26duolingo6-30x26share.htm</a:t>
            </a:r>
          </a:p>
          <a:p>
            <a:r>
              <a:t>- https://kahoot.com/files/2023/02/4Q22_Kahoot_quarterly_report.pdf</a:t>
            </a:r>
          </a:p>
          <a:p>
            <a:r>
              <a:t>- https://www.sporcle.com/memberships/</a:t>
            </a:r>
          </a:p>
          <a:p>
            <a:r>
              <a:t>- https://www.appsflyer.com/resources/reports/app-marketing-monetization-report/</a:t>
            </a:r>
          </a:p>
          <a:p>
            <a:r>
              <a:t>- https://www.gameanalytics.com/reports/2026-mobile-pc-gaming-benchmarks</a:t>
            </a:r>
          </a:p>
          <a:p>
            <a:r>
              <a:t>- FACT//DUEL internal: public/product/investor/numbers.md §4.1-§4.3</a:t>
            </a:r>
          </a:p>
          <a:p>
            <a:r>
              <a:t>- FACT//DUEL internal: public/product/investor/numbers.md §4.4b (company disclosure — the founder’s named monetisation route and what it would take)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Competition gets 34 seconds in DocSend's estimates, so the table has to do the work and the bullets only frame it. The long-tail-loop clause was cut from bullet 4 for length; it is slide 4's claim and is unchanged there.</a:t>
            </a:r>
          </a:p>
          <a:p/>
          <a:p>
            <a:r>
              <a:t>Putting our own row in with zeroes is deliberate: it is the row an investor would otherwise add themselves, and the zeroes are unchanged by the product having become publicly playable on 13 September 2026 (§7.2) — playable is not users. Read the column headings literally: lifetime installs are cumulative store installs, not users and not an active base, and Trivia Crack's 267,939,837 is Google Play's internal count against a store display of "100M+".</a:t>
            </a:r>
          </a:p>
          <a:p/>
          <a:p>
            <a:r>
              <a:t>Caveats: Trivia Crack's weekly figure is a Sensor Tower modelled estimate for the Trivia Crack Premium SKU in Q2 2025, not disclosed revenue and not current; MAG's MAU and net sales are group-level across its whole portfolio and the MAU figure is a nine-month average for Sep 2025 to May 2026, which is why the row is labelled MAG Interactive rather than QuizDuel; nothing in the evidence base establishes whether QuizDuel's duel is live or turn-based, so the cell says the status is not verified; Kahoot has published no audited consolidated group figures since delisting on 23 Jan 2024, so FY2022 is the last comparable full year and the parent-only Norwegian statutory accounts are not group results; Wayground's $44M is a sum across disclosed rounds of which only the $31.5M Series B has a source URL in our evidence base, and the frequently-cited ~$300M valuation appears in no primary source and is deliberately absent.</a:t>
            </a:r>
          </a:p>
          <a:p/>
          <a:p>
            <a:r>
              <a:t>Both large-base rows that say "No" never ran a 1v1 duel at all, which is why the first bullet says the one that ran it has left it rather than that they all walked away.</a:t>
            </a:r>
          </a:p>
          <a:p/>
          <a:p>
            <a:r>
              <a:t>Skillz is the adjacent warning and it cuts both ways: revenue fell from $380.2M to $104.5M and paying MAU from 513,000 to 141,000 while monthly ARPPU held at about $62, and the company posted net losses of $187.9M in FY2021 and $70.4M in FY2025 — per-payer monetisation is not the same thing as a profitable business, and Skillz is a real-money cash-tournament product, which a free knowledge duel is not.</a:t>
            </a:r>
          </a:p>
          <a:p/>
          <a:p>
            <a:r>
              <a:t>STRUCTURE: kind "table", the six-row landscape table and all sixteen sources carry forward unchanged.</a:t>
            </a:r>
          </a:p>
          <a:p/>
          <a:p>
            <a:r>
              <a:t>SOURCES</a:t>
            </a:r>
          </a:p>
          <a:p>
            <a:r>
              <a:t>- https://play.google.com/store/apps/details?id=com.etermax.preguntados.lite&amp;hl=en_US&amp;gl=US</a:t>
            </a:r>
          </a:p>
          <a:p>
            <a:r>
              <a:t>- https://sensortower.com/blog/2025-q2-ios-top-5-trivia%20games-revenue-us-604118ed241bc16eb8b8453a</a:t>
            </a:r>
          </a:p>
          <a:p>
            <a:r>
              <a:t>- https://storage.mfn.se/8d863483-ccc8-4f02-b0c5-d37d899b23e8/mag-interim-report-eng-2025-26-q3.pdf</a:t>
            </a:r>
          </a:p>
          <a:p>
            <a:r>
              <a:t>- https://itunes.apple.com/lookup?id=1484354626&amp;country=us</a:t>
            </a:r>
          </a:p>
          <a:p>
            <a:r>
              <a:t>- https://itunes.apple.com/lookup?id=1484354626&amp;country=de</a:t>
            </a:r>
          </a:p>
          <a:p>
            <a:r>
              <a:t>- https://play.google.com/store/apps/details?id=no.mobitroll.kahoot.android&amp;hl=en_US&amp;gl=US</a:t>
            </a:r>
          </a:p>
          <a:p>
            <a:r>
              <a:t>- https://kahoot.com/files/2023/02/4Q22_Kahoot_quarterly_report.pdf</a:t>
            </a:r>
          </a:p>
          <a:p>
            <a:r>
              <a:t>- https://newsweb.oslobors.no/message/608893</a:t>
            </a:r>
          </a:p>
          <a:p>
            <a:r>
              <a:t>- https://www.prnewswire.com/news-releases/quizizz-gains-momentum-raises-31-5-million-to-motivate-every-student-301322655.html</a:t>
            </a:r>
          </a:p>
          <a:p>
            <a:r>
              <a:t>- https://itunes.apple.com/lookup?id=1160249042&amp;country=us</a:t>
            </a:r>
          </a:p>
          <a:p>
            <a:r>
              <a:t>- https://play.google.com/store/apps/details?id=com.quizion.app&amp;hl=en_US</a:t>
            </a:r>
          </a:p>
          <a:p>
            <a:r>
              <a:t>- https://play.google.com/store/apps/details?id=live.trivia&amp;hl=en_US</a:t>
            </a:r>
          </a:p>
          <a:p>
            <a:r>
              <a:t>- https://www.sec.gov/Archives/edgar/data/1801661/000180166126000019/q425skillzex991-earningsre.htm</a:t>
            </a:r>
          </a:p>
          <a:p>
            <a:r>
              <a:t>- https://www.sec.gov/Archives/edgar/data/1801661/000180166123000003/ex991_fy22q4-8xkxearningsr.htm</a:t>
            </a:r>
          </a:p>
          <a:p>
            <a:r>
              <a:t>- FACT//DUEL internal: public/product/investor/numbers.md — status paragraph and §5.15 (company disclosure)</a:t>
            </a:r>
          </a:p>
          <a:p>
            <a:r>
              <a:t>- FACT//DUEL internal: public/product/investor/numbers.md §7.1 and §7.2 (company disclosure)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plan marker and the conditional mood on this line are load-bearing. Every other bullet on this slide is a fact that is true today, so an unmarked present-tense "Route A stakes real money" reads, to anyone landing here out of order, as a description of a shipped real-money wagering product. There is no payment surface anywhere in the tree and no accounts of any kind.</a:t>
            </a:r>
          </a:p>
          <a:p/>
          <a:p>
            <a:r>
              <a:t>Eight risks now, not seven. Route A on the business-model slide takes real money on the outcome of a knowledge question, and in many jurisdictions that is regulated as skill gaming or gambling rather than as a game sale. We have no answer and we say so rather than discovering it in diligence.</a:t>
            </a:r>
          </a:p>
          <a:p/>
          <a:p>
            <a:r>
              <a:t>The landscape slide already notes that Skillz runs real-money cash tournaments and has never been profitable. That is the nearest comparable to Route A and it is not an encouraging one — which is a reason to name the risk here, not to leave it off.</a:t>
            </a:r>
          </a:p>
          <a:p/>
          <a:p>
            <a:r>
              <a:t>Do not let this slide shrink to fit a line budget. Cutting a risk to make a page look tidier is the one edit this deck is not allowed to make.</a:t>
            </a:r>
          </a:p>
          <a:p/>
          <a:p>
            <a:r>
              <a:t>Each risk has a named response rather than a reassurance.</a:t>
            </a:r>
          </a:p>
          <a:p/>
          <a:p>
            <a:r>
              <a:t>Long-tail retention: at a median D30 of 0.68-0.79% a game's MAU is almost entirely the current month's new installs — in our own base case the retained resident base is 5,900 of 105,900 MAU (P), 5.6% — so retention is not a metric in this category, it is the business, and that is why the entire raise is pointed at it. The 0.68-0.79% band is GameAnalytics' global all-genre median, not trivia-specific; the model's base case uses the North American 1.18%. Trivia Royale's 45% D1 is a company statement to TechCrunch, not audited, and its closure was announced on 23 Feb 2021 (§2.3).</a:t>
            </a:r>
          </a:p>
          <a:p/>
          <a:p>
            <a:r>
              <a:t>Opponent integrity: the $42.9M award was a jury verdict for willful infringement of a Skillz platform patent, not damages awarded for running bots — the bots named 'Cucumbers' and 'Guides' were trial evidence — and it is a verdict rather than a collected settlement. Our answer is milestone 5 in §4.4: an opponent-integrity answer ships before monetisation. Do not describe bot internals an investor cannot verify in the repository.</a:t>
            </a:r>
          </a:p>
          <a:p/>
          <a:p>
            <a:r>
              <a:t>Benchmark transfer is the largest methodological risk in the whole model and is stated rather than buried: we have no verified benchmark for web-first game retention, web-first acquisition cost or web-first payer conversion; §7.3 confirms §5.14 stands unchanged; and the cohort the round buys is what replaces the assumption with data — our own instrument is now the route to a web-first number rather than a request for one. Note the scope: it is every benchmark in §3. Duolingo's 9.03% MAU-to-paid and Sporcle's $43.99/yr web price are not store-measured.</a:t>
            </a:r>
          </a:p>
          <a:p/>
          <a:p>
            <a:r>
              <a:t>Measurement selection is a risk we raise against ourselves: the cohort report is built on an opt-in anonymous daily ping (§7.1), so its denominator is devices that consented, and the honest presentation of the first cohort number names the consent rate next to the retention rate. Do not offer a correction factor — we have no evidence base for one. Say the countervailing design choices in the same breath: aggregate-only reporting, no per-device row, and suppression of any bucket describing fewer than five devices; appendix G (slide 20) documents them.</a:t>
            </a:r>
          </a:p>
          <a:p/>
          <a:p>
            <a:r>
              <a:t>Content depth: there is no separate content budget in §4.5, which funds four engineers and nothing else, and §4.4 milestone 4 still requires us to set a target and a production rate.</a:t>
            </a:r>
          </a:p>
          <a:p/>
          <a:p>
            <a:r>
              <a:t>If an investor adds a risk we have not listed, that is a good outcome — write it down and answer it in the follow-up, not on the spot.</a:t>
            </a:r>
          </a:p>
          <a:p/>
          <a:p>
            <a:r>
              <a:t>SOURCES</a:t>
            </a:r>
          </a:p>
          <a:p>
            <a:r>
              <a:t>- https://techcrunch.com/2020/07/10/how-thor-fridrikssons-trivia-royale-earned-2-5m-downloads-in-3-weeks/</a:t>
            </a:r>
          </a:p>
          <a:p>
            <a:r>
              <a:t>- https://www.gameanalytics.com/reports/2026-mobile-pc-gaming-benchmarks</a:t>
            </a:r>
          </a:p>
          <a:p>
            <a:r>
              <a:t>- https://www.sec.gov/Archives/edgar/data/1801661/000180166124000100/sklz-20231231.htm</a:t>
            </a:r>
          </a:p>
          <a:p>
            <a:r>
              <a:t>- https://www.sporcle.com/memberships/</a:t>
            </a:r>
          </a:p>
          <a:p>
            <a:r>
              <a:t>- https://www.sec.gov/Archives/edgar/data/1562088/000162828026053299/q2fy26duolingo6-30x26share.htm</a:t>
            </a:r>
          </a:p>
          <a:p>
            <a:r>
              <a:t>- FACT//DUEL internal: public/product/investor/numbers.md §2.3, §4.3 and §4.4 (company disclosure)</a:t>
            </a:r>
          </a:p>
          <a:p>
            <a:r>
              <a:t>- FACT//DUEL internal: public/product/investor/numbers.md §3.5, §5.2 and §5.14 (company disclosure)</a:t>
            </a:r>
          </a:p>
          <a:p>
            <a:r>
              <a:t>- FACT//DUEL internal: public/product/investor/numbers.md §7.1 and §7.2 (company disclosure)</a:t>
            </a:r>
          </a:p>
          <a:p>
            <a:r>
              <a:t>- FACT//DUEL internal: public/product/investor/numbers.md §4.4b (company disclosure)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intentionally unfinished and must not be filled in by anyone but the founder. YC's own framing is that investors invest in teams, not slides, and one of the 17 DON'Ts in its seed fundraising guide is "Be dishonest in any way" — this deck's whole credibility strategy is that every claim survives checking, so no advisor, hire, partner or customer appears anywhere in it until one is real and has agreed in writing.</a:t>
            </a:r>
          </a:p>
          <a:p/>
          <a:p>
            <a:r>
              <a:t>The role list is derived from the funded milestones rather than from an org chart: milestone 1 is the account and analytics layer, which is why backend leads the list — accounts and server-side progression remain unbuilt even though the measurement layer shipped without them.</a:t>
            </a:r>
          </a:p>
          <a:p/>
          <a:p>
            <a:r>
              <a:t>Content and question production is named because §4.4 requires it, but it is not funded by the ask arithmetic, which covers four engineers and nothing else — do not present it as a costed hire.</a:t>
            </a:r>
          </a:p>
          <a:p/>
          <a:p>
            <a:r>
              <a:t>The four-engineer, 18-month shape is a plan built on YC's undated $15k-per-engineer-per-month rule of thumb, which slide 13 flags as very likely understated today.</a:t>
            </a:r>
          </a:p>
          <a:p/>
          <a:p>
            <a:r>
              <a:t>DocSend estimates 38 seconds on the team section (third-party estimate, §4.6); a blank placeholder sent to an investor spends all 38 of them badly, so the deck is not sendable until this page is real.</a:t>
            </a:r>
          </a:p>
          <a:p/>
          <a:p>
            <a:r>
              <a:t>SOURCES</a:t>
            </a:r>
          </a:p>
          <a:p>
            <a:r>
              <a:t>- FACT//DUEL internal: public/product/investor/numbers.md §4.4 and §4.5</a:t>
            </a:r>
          </a:p>
          <a:p>
            <a:r>
              <a:t>- https://www.ycombinator.com/library/4A-a-guide-to-seed-fundraising</a:t>
            </a:r>
          </a:p>
          <a:p>
            <a:r>
              <a:t>- https://www.ycombinator.com/library/4T-how-to-design-a-better-pitch-deck</a:t>
            </a:r>
          </a:p>
          <a:p>
            <a:r>
              <a:t>- https://web.archive.org/web/20260622084020/https://www.docsend.com/blog/what-vcs-really-want-to-see-inside-your-seed-deck/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ask uses YC's structure — N months x team x cost = $X, with dilution against a published median — and the arithmetic is shown so it can be checked in the 32 seconds this slide gets.</a:t>
            </a:r>
          </a:p>
          <a:p/>
          <a:p>
            <a:r>
              <a:t>Quote YC's dilution sentence in full, because the second half is what makes 6.98% unremarkable rather than exceptional: "as little as 10%... is wonderful, but most rounds will require up to 20% dilution and you should try to avoid more than 25%." It came off the slide face for length, so it has to be in the founder's mouth.</a:t>
            </a:r>
          </a:p>
          <a:p/>
          <a:p>
            <a:r>
              <a:t>Caveats to volunteer rather than defend. YC's $15,000 per engineer per month and its $500k-$1.5M band are undated editorial rules of thumb, not measured or inflation-indexed 2026 figures, and are very likely understated today; we use the structure and expect to substitute a current, defensible cost base once the team on slide 12 is real. Both the $1,080,000 and the ~$1.2M are therefore marked (P).</a:t>
            </a:r>
          </a:p>
          <a:p/>
          <a:p>
            <a:r>
              <a:t>Carta's $16.0M is the Q3 2025 median seed pre-money, up 14% YoY, in a quarter with about 17% down rounds; the 6.98% is what a $1.2M round would cost at that median — an illustration rather than a price, and an optimistic one, because Crunchbase reports that more than half of 2025 US seed dollars went into rounds of $10M or larger, so that median is set by rounds an order of magnitude bigger than this ask. We do not quote Carta's Q4 2025 all-time-high post-money: our evidence base contains no primary Carta Q4 2025 source, the figure is all-sector with no consumer split, and Carta's own Q1 2026 note says early-stage primary valuations softened (§5.8).</a:t>
            </a:r>
          </a:p>
          <a:p/>
          <a:p>
            <a:r>
              <a:t>On the question bank: state 54 as the baseline and say plainly that the target and production rate are still to be set (§4.4 milestone 4), rather than promising "a larger bank".</a:t>
            </a:r>
          </a:p>
          <a:p/>
          <a:p>
            <a:r>
              <a:t>The one change since the last version of this deck is a de-risking rather than a result: the measurement layer no longer has to be built with this money, because it shipped on 13 September 2026 (§7.1), so the round buys the cohort rather than the instrument. Say it in one sentence and do not inflate it — there is still no cohort, no rate and no revenue, and §7.3 is explicit that every figure in §4 remains a plan.</a:t>
            </a:r>
          </a:p>
          <a:p/>
          <a:p>
            <a:r>
              <a:t>Base-case Year-1 revenue of $101,907 (P) is immaterial to runway and should be described that way — the raise buys 18 months to produce the retention data we do not have, which is the entire thesis of the round. No detailed financial model belongs in this conversation: ours is appendix slide 15, where it can be interrogated rather than performed.</a:t>
            </a:r>
          </a:p>
          <a:p/>
          <a:p>
            <a:r>
              <a:t>SOURCES</a:t>
            </a:r>
          </a:p>
          <a:p>
            <a:r>
              <a:t>- https://www.ycombinator.com/library/4A-a-guide-to-seed-fundraising</a:t>
            </a:r>
          </a:p>
          <a:p>
            <a:r>
              <a:t>- https://carta.com/data/state-of-private-markets-q3-2025/</a:t>
            </a:r>
          </a:p>
          <a:p>
            <a:r>
              <a:t>- https://news.crunchbase.com/venture/average-seed-funding-amounts-deals-grew-2025/</a:t>
            </a:r>
          </a:p>
          <a:p>
            <a:r>
              <a:t>- FACT//DUEL internal: public/product/investor/numbers.md §4.4, §4.5 and §5.8</a:t>
            </a:r>
          </a:p>
          <a:p>
            <a:r>
              <a:t>- FACT//DUEL internal: public/product/investor/numbers.md §7.1 and §7.3 (company disclosure)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 top-down poles are $3.0bn for second-screen sports apps and $8.09bn for fan engagement; ~$102.5K in peak weeks is ~$5.33M/yr if sustained, which is the form the chart plots. The thesis reading's supporting fact — 267,939,837 lifetime Trivia Crack installs with duels abandoned — is on slide 2 and slide 10; the risk reading's — HQ, QuizUp and Trivia Royale all died with audiences — is slide 3 and appendix D.</a:t>
            </a:r>
          </a:p>
          <a:p/>
          <a:p>
            <a:r>
              <a:t>Present both readings and let the investor pick; a deck that only presents the thesis reading of a 1,000x gap has not understood it.</a:t>
            </a:r>
          </a:p>
          <a:p/>
          <a:p>
            <a:r>
              <a:t>The vendor disagreement is itself evidence: IMARC sizes game-based learning at $24.5bn for the same year MarketsandMarkets sizes it at $6.23bn, a 3.93x spread, and market.us sizes fan engagement at 2.00x The Business Research Company's figure. When two paid research firms differ by four times on the same market in the same year, neither number can discipline a business plan, which is the empirical case for the bottom-up construction on slide 6.</a:t>
            </a:r>
          </a:p>
          <a:p/>
          <a:p>
            <a:r>
              <a:t>Our own TAM-A of $1.69-2.83bn sits below the top-down range, because we count only US second-screen adults at observed per-user revenue while the vendors count sponsorship, ticketing, merchandising and B2B platform spend we will never touch.</a:t>
            </a:r>
          </a:p>
          <a:p/>
          <a:p>
            <a:r>
              <a:t>All Sensor Tower figures are modelled estimates of gross consumer spend, before Apple's 15-30% cut.</a:t>
            </a:r>
          </a:p>
          <a:p/>
          <a:p>
            <a:r>
              <a:t>STRUCTURE: kind "appendix", chart "the-gap", all eight sources carry forward.</a:t>
            </a:r>
          </a:p>
          <a:p/>
          <a:p>
            <a:r>
              <a:t>SOURCES</a:t>
            </a:r>
          </a:p>
          <a:p>
            <a:r>
              <a:t>- https://www.factmr.com/report/second-screen-sports-apps-market</a:t>
            </a:r>
          </a:p>
          <a:p>
            <a:r>
              <a:t>- https://www.thebusinessresearchcompany.com/report/fan-engagement-global-market-report</a:t>
            </a:r>
          </a:p>
          <a:p>
            <a:r>
              <a:t>- https://market.us/report/fan-engagement-market/</a:t>
            </a:r>
          </a:p>
          <a:p>
            <a:r>
              <a:t>- https://www.marketsandmarkets.com/Market-Reports/game-based-learning-market-169115901.html</a:t>
            </a:r>
          </a:p>
          <a:p>
            <a:r>
              <a:t>- https://www.imarcgroup.com/game-based-learning-market</a:t>
            </a:r>
          </a:p>
          <a:p>
            <a:r>
              <a:t>- https://sensortower.com/blog/2025-q2-ios-top-5-trivia%20games-revenue-us-604118ed241bc16eb8b8453a</a:t>
            </a:r>
          </a:p>
          <a:p>
            <a:r>
              <a:t>- https://play.google.com/store/apps/details?id=com.etermax.preguntados.lite&amp;hl=en_US&amp;gl=US</a:t>
            </a:r>
          </a:p>
          <a:p>
            <a:r>
              <a:t>- https://www.sensortower.com/blog/state-of-mobile-2026</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exists only because someone asked for it. a16z lists detailed three-to-five-year projections among the things not to include, wants 12-18 month milestones instead, and its anchoring rule cannot even be satisfied here because we have no historical data to anchor to — which is itself the most honest sentence on the page.</a:t>
            </a:r>
          </a:p>
          <a:p/>
          <a:p>
            <a:r>
              <a:t>Inputs, all third-party: D30 retention of 0.68% / 1.18% / 1.70% (global median low, North American median, global P75 from GameAnalytics); install-to-payer of 5.08% / 11.14% / 18.46% (AppsFlyer NA repeat payer, NA one-time payer, and a derived $1.34/$7.26 ratio used only as an optimistic ceiling and labelled derived); ARPPU held at AppsFlyer's casual D90 $7.26 in all three; ad revenue per install $0.00 in the conservative case because we are a web app with no mediation stack today. Monthly churn of the retained base is fixed at 20% across all scenarios — an unsourced modelling assumption, held constant so it cannot flatter any scenario.</a:t>
            </a:r>
          </a:p>
          <a:p/>
          <a:p>
            <a:r>
              <a:t>Three stress tests all point the same way: the conservative case is genuinely conservative, and the base case is not. Base-case revenue per MAU of $15.40 exceeds both real anchors (MAG $13.07, Duolingo $7.80), so any scenario that out-monetises Duolingo per active user is a ceiling and not a target. Per-MAU revenue also looks high partly because high churn makes annual installs about 11x steady-state MAU — throughput, not intensity.</a:t>
            </a:r>
          </a:p>
          <a:p/>
          <a:p>
            <a:r>
              <a:t>STRUCTURE: kind "appendix", chart "scenarios", the three-row scenario table and all seven sources carry forward.</a:t>
            </a:r>
          </a:p>
          <a:p/>
          <a:p>
            <a:r>
              <a:t>SOURCES</a:t>
            </a:r>
          </a:p>
          <a:p>
            <a:r>
              <a:t>- https://www.gameanalytics.com/reports/2026-mobile-pc-gaming-benchmarks</a:t>
            </a:r>
          </a:p>
          <a:p>
            <a:r>
              <a:t>- https://www.appsflyer.com/resources/reports/app-marketing-monetization-report/</a:t>
            </a:r>
          </a:p>
          <a:p>
            <a:r>
              <a:t>- https://www.sec.gov/Archives/edgar/data/1562088/000162828026053299/q2fy26duolingo6-30x26share.htm</a:t>
            </a:r>
          </a:p>
          <a:p>
            <a:r>
              <a:t>- https://www.sporcle.com/memberships/</a:t>
            </a:r>
          </a:p>
          <a:p>
            <a:r>
              <a:t>- https://techcrunch.com/2020/07/10/how-thor-fridrikssons-trivia-royale-earned-2-5m-downloads-in-3-weeks/</a:t>
            </a:r>
          </a:p>
          <a:p>
            <a:r>
              <a:t>- https://a16z.com/the-insiders-guide-to-data-rooms-what-to-know-before-you-raise/</a:t>
            </a:r>
          </a:p>
          <a:p>
            <a:r>
              <a:t>- FACT//DUEL internal: public/product/investor/numbers.md §4.1-§4.3</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seed-stage SOM that is a fraction of one percent is what honest arithmetic produces; TAM-B adds the 1bn+ global cricket bloc and is in this deck only as an upper bound with its own refutation attached.</a:t>
            </a:r>
          </a:p>
          <a:p/>
          <a:p>
            <a:r>
              <a:t>Two flaws to disclose before anyone finds them. First, a nesting inconsistency: TAM-A is US-only at 216.8M while SAM includes Canada at 90.3M (82.8M US plus about 7.5M Canadian), so roughly 7.5M people sit in SAM but not TAM-A. It is immaterial and it is flagged rather than smoothed over. Second, TAM-B's population and ARPU are mismatched by construction.</a:t>
            </a:r>
          </a:p>
          <a:p/>
          <a:p>
            <a:r>
              <a:t>Why SAM is genuinely addressable rather than merely large, both from FSGA 2026: 66% of 13-20-year-old season-long fantasy players update lineups daily, with an average starting age of 14 and a $100 median annual spend, and 51% of participants do both fantasy and betting, up from 49%. That is a daily-habit, already-spending, competitively-motivated audience — the behavioural profile a 1v1 duel is built for. This is also where Paul Graham's method note belongs: x customers × $y per year, used literally, with a16z's toothbrush failure case avoided.</a:t>
            </a:r>
          </a:p>
          <a:p/>
          <a:p>
            <a:r>
              <a:t>Nielsen's "51% of people globally are fans of football" is deliberately not converted to a headcount because we have no verified population denominator for it; we use only its 62M US soccer fans and the ICC's 1bn+ cricket figure. Aggregator fan-base numbers circulating for other sports failed verification and are excluded.</a:t>
            </a:r>
          </a:p>
          <a:p/>
          <a:p>
            <a:r>
              <a:t>STRUCTURE: kind "appendix", the four-row TAM/SAM/SOM table and all eight sources carry forward. SOM stays labelled (P) in the table.</a:t>
            </a:r>
          </a:p>
          <a:p/>
          <a:p>
            <a:r>
              <a:t>SOURCES</a:t>
            </a:r>
          </a:p>
          <a:p>
            <a:r>
              <a:t>- https://www.emarketer.com/content/second-screen-engagement-during-live-sports</a:t>
            </a:r>
          </a:p>
          <a:p>
            <a:r>
              <a:t>- https://members.thefsga.org/news/Details/new-fsga-research-details-growing-role-of-ai-prediction-markets-in-fantasy-sports-and-sports-betting-341850</a:t>
            </a:r>
          </a:p>
          <a:p>
            <a:r>
              <a:t>- https://members.thefsga.org/news/Details/new-fsga-research-highlights-industry-stability-and-next-generation-growth-in-fantasy-sports-and-sports-betting-305937</a:t>
            </a:r>
          </a:p>
          <a:p>
            <a:r>
              <a:t>- https://www.icc-cricket.com/media-releases/first-global-market-research-project-unveils-more-than-one-billion-cricket-fans</a:t>
            </a:r>
          </a:p>
          <a:p>
            <a:r>
              <a:t>- https://www.nielsen.com/news-center/2025/the-future-of-sport-nielsens-2025-report-reveals-growth-drivers/</a:t>
            </a:r>
          </a:p>
          <a:p>
            <a:r>
              <a:t>- https://newzoo.com/articles/global-games-market-2025</a:t>
            </a:r>
          </a:p>
          <a:p>
            <a:r>
              <a:t>- https://paulgraham.com/convince.html</a:t>
            </a:r>
          </a:p>
          <a:p>
            <a:r>
              <a:t>- https://a16z.com/16-more-startup-metrics/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Precision notes that matter if challenged. QuizUp's "20 million users" is a company statement from 19 May 2014 describing a six-month registration milestone, not a measured peak — we quote it as claimed, attributed and dated; the sale to Glu closed 19 Dec 2016.</a:t>
            </a:r>
          </a:p>
          <a:p/>
          <a:p>
            <a:r>
              <a:t>HQ Trivia's decline figure compares 67,000 installs in January 2020 against roughly 2 million a month in February 2018 — 3.35%, sourced to TechCrunch rather than Sensor Tower (§2.3 attaches Sensor Tower only to the ~15M all-time installs figure this deck does not use). Its peak was 2.38M concurrent players on 28 Mar 2018. It relaunched on 29 Mar 2020, played its last game on 17 Nov 2022 and was delisted from stores on 5 Aug 2023.</a:t>
            </a:r>
          </a:p>
          <a:p/>
          <a:p>
            <a:r>
              <a:t>Trivia Royale's 45% D1 and sub-$500,000 launch budget are company statements to TechCrunch, not audited, and the sub-$0.20 per download is blended including organic and viral rather than a paid CPI. Teatime had itself raised $9,155,139 plus $1,499,913 per SEC Form Ds, so the sub-$500,000 figure is the launch campaign, not the company. Teatime also reported roughly 30 minutes of average daily use, and closure followed collapsed funding talks.</a:t>
            </a:r>
          </a:p>
          <a:p/>
          <a:p>
            <a:r>
              <a:t>Skillz's monthly ARPPU was $61.75 in FY2021 (derived) and $61.70 in FY2025 (stated) — essentially flat while the paying base fell 73%, which is the cleanest available evidence that competitive-play users monetise well and churn hard.</a:t>
            </a:r>
          </a:p>
          <a:p/>
          <a:p>
            <a:r>
              <a:t>STRUCTURE: kind "appendix", the four-row graveyard table and all eight sources carry forward.</a:t>
            </a:r>
          </a:p>
          <a:p/>
          <a:p>
            <a:r>
              <a:t>SOURCES</a:t>
            </a:r>
          </a:p>
          <a:p>
            <a:r>
              <a:t>- https://techcrunch.com/2020/02/14/hq-trivia-shuts-down/</a:t>
            </a:r>
          </a:p>
          <a:p>
            <a:r>
              <a:t>- https://www.sec.gov/Archives/edgar/data/1734125/000173412518000001/xslFormDX01/primary_doc.xml</a:t>
            </a:r>
          </a:p>
          <a:p>
            <a:r>
              <a:t>- https://www.sec.gov/Archives/edgar/data/1366246/000155837017001621/gluu-20161231x10k.htm</a:t>
            </a:r>
          </a:p>
          <a:p>
            <a:r>
              <a:t>- https://www.sec.gov/Archives/edgar/data/1366246/000155837016010604/gluu-20161215x8k.htm</a:t>
            </a:r>
          </a:p>
          <a:p>
            <a:r>
              <a:t>- https://techcrunch.com/2020/07/10/how-thor-fridrikssons-trivia-royale-earned-2-5m-downloads-in-3-weeks/</a:t>
            </a:r>
          </a:p>
          <a:p>
            <a:r>
              <a:t>- https://www.sec.gov/Archives/edgar/data/1717682/000171768218000001/primary_doc.xml</a:t>
            </a:r>
          </a:p>
          <a:p>
            <a:r>
              <a:t>- https://www.sec.gov/Archives/edgar/data/1801661/000180166123000003/ex991_fy22q4-8xkxearningsr.htm</a:t>
            </a:r>
          </a:p>
          <a:p>
            <a:r>
              <a:t>- https://www.sec.gov/Archives/edgar/data/1801661/000180166126000019/q425skillzex991-earningsre.htm</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is a credibility instrument, not an apology.</a:t>
            </a:r>
          </a:p>
          <a:p/>
          <a:p>
            <a:r>
              <a:t>Specific exclusions an investor may expect to see and will not: no genre ARPDAU band (traced to one consultant's blog, relabelled as a benchmark by a secondary source; the only company-reported figure in our base is MAG Interactive's 9.0 US cents group ARPDAU for the nine months to May 2026); no Trivia Crack "600 million downloads" or "150 million active users" (PR-originated, and the second describes etermax company-wide); no ~$300M Wayground valuation (no primary source); no Sensor Tower puzzle-genre revenue figures (gated report, secondary summary, and the framing is wrong twice over); no IPM figures for trivia (gated, unverified); and no aggregator global fan-base counts, one of which is contradicted by the sport's own governing body.</a:t>
            </a:r>
          </a:p>
          <a:p/>
          <a:p>
            <a:r>
              <a:t>On store conversion we corrected a claim in our own favour's opposite direction and kept the correction — the circulating 8.2% iOS / 20.4% Android pair is inverted, and slide 7 prints the corrected figures with their re-confirm flag.</a:t>
            </a:r>
          </a:p>
          <a:p/>
          <a:p>
            <a:r>
              <a:t>Note that §5.14 is scoped to what we hold: GameAnalytics, Liftoff and AppsFlyer web-first data are gated, so a benchmark may exist behind a paywall — we have simply not verified one, and we say it that way rather than claiming none exists.</a:t>
            </a:r>
          </a:p>
          <a:p/>
          <a:p>
            <a:r>
              <a:t>The single largest methodological risk is benchmark transfer to web, and the only thing that resolves it is our own instrumented cohort — which is what the raise funds.</a:t>
            </a:r>
          </a:p>
          <a:p/>
          <a:p>
            <a:r>
              <a:t>STRUCTURE: kind "appendix", all five sources carry forward.</a:t>
            </a:r>
          </a:p>
          <a:p/>
          <a:p>
            <a:r>
              <a:t>SOURCES</a:t>
            </a:r>
          </a:p>
          <a:p>
            <a:r>
              <a:t>- FACT//DUEL internal: public/product/investor/numbers.md §5 (failed verification and unresolved items)</a:t>
            </a:r>
          </a:p>
          <a:p>
            <a:r>
              <a:t>- https://storage.mfn.se/8d863483-ccc8-4f02-b0c5-d37d899b23e8/mag-interim-report-eng-2025-26-q3.pdf</a:t>
            </a:r>
          </a:p>
          <a:p>
            <a:r>
              <a:t>- https://techcrunch.com/2020/07/10/how-thor-fridrikssons-trivia-royale-earned-2-5m-downloads-in-3-weeks/</a:t>
            </a:r>
          </a:p>
          <a:p>
            <a:r>
              <a:t>- https://www.apptweak.com/</a:t>
            </a:r>
          </a:p>
          <a:p>
            <a:r>
              <a:t>- FACT//DUEL internal: public/product/investor/numbers.md §7.1 and §7.3 (company disclosure)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the link rather than describing the product a third time; since 13 September 2026 it costs nothing to hand over, because the build is public, runs entirely in the browser and needs no install, no account and no server (§7.2).</a:t>
            </a:r>
          </a:p>
          <a:p/>
          <a:p>
            <a:r>
              <a:t>The full shipped inventory in the static build (§7.2): bot duels in all three modes, expeditions, discovery, the vault, the passport, the events calendar and the limited modes.</a:t>
            </a:r>
          </a:p>
          <a:p/>
          <a:p>
            <a:r>
              <a:t>Mechanic detail moved here from the old non-duel-surface slide. Solo expeditions are short, untimed six-card routes; each card carries a risk call with three tiers — Steady, Bold, Called (lib/expeditions.mjs:115-120) — set on the question screen and locked when the answer is submitted (app/screens/expeditions/run.tsx renders the question first, then the stake control), so nothing is wagered blind. Limited-time modes are derived from the calendar: one opens on a real fixture or announcement and closes when that window closes (lib/events.mjs). The calendar is hand-assembled and static, and the date it was last checked is printed in the app (CALENDAR_ASOF = '2026-09-13', lib/events-data.mjs, rendered by app/screens/events-screen.tsx). Nothing in the evidence base attaches a retention result to any of it.</a:t>
            </a:r>
          </a:p>
          <a:p/>
          <a:p>
            <a:r>
              <a:t>Be exact about what it is and is not: no accounts and no server-side progression, the bank is 54 sample questions, two-device friend duels are disabled in that build with an on-screen notice, it produces no retention data on its own, and nobody who opens it is a user in any sense this deck would count. There is no live feed, no scores service and no rights deal with any league, broadcaster or rights holder.</a:t>
            </a:r>
          </a:p>
          <a:p/>
          <a:p>
            <a:r>
              <a:t>The link is served from the repository's own Pages workflow and is live once the repository owner has pointed Pages at the gh-pages branch, so check it the morning of a meeting rather than assuming. Appendix G covers what the app does measure and what it deliberately does not.</a:t>
            </a:r>
          </a:p>
          <a:p/>
          <a:p>
            <a:r>
              <a:t>If asked about engineering rigour, the repository's own release record is the place to point — it lists the automated regression suites, the TypeScript and production-build gates, and, just as importantly, the checks that were not performed, including physical-device play, assistive-technology evaluation and any WAN or capacity testing. Quote specific counts from that record only if you have re-read it that day.</a:t>
            </a:r>
          </a:p>
          <a:p/>
          <a:p>
            <a:r>
              <a:t>STRUCTURE: kind "appendix", image desktop-passport.png and both sources carry forward.</a:t>
            </a:r>
          </a:p>
          <a:p/>
          <a:p>
            <a:r>
              <a:t>SOURCES</a:t>
            </a:r>
          </a:p>
          <a:p>
            <a:r>
              <a:t>- FACT//DUEL internal: public/product/investor/numbers.md — status paragraph, §7.1 and §7.2 (company disclosure)</a:t>
            </a:r>
          </a:p>
          <a:p>
            <a:r>
              <a:t>- FACT//DUEL internal: repository — product code, unaudited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exists so that the claim on slide 8 can be interrogated rather than believed. It is numbers.md §7.1 in slide form and it should be read as a design, not as a result.</a:t>
            </a:r>
          </a:p>
          <a:p/>
          <a:p>
            <a:r>
              <a:t>The device-local half is a pure module with no storage, no network call and no third-party SDK, which is why the privacy properties are checkable by reading one file rather than by trusting a vendor: it records install day, the days the device was active, session count under a stated inactivity threshold that the app names on screen, engaged time counted only while the app is on screen, and four in-app counters, then answers whether this device came back on day 1, 7 or 30. Both of those conventions are chosen rather than standard and the app names them on screen; say so before someone asks how a session is defined.</a:t>
            </a:r>
          </a:p>
          <a:p/>
          <a:p>
            <a:r>
              <a:t>The null return is the part worth dwelling on with a numerate investor — a window that has not finished reads as null rather than as a miss, which is the single easiest way to flatter or wreck an early retention number, and a test asserts it.</a:t>
            </a:r>
          </a:p>
          <a:p/>
          <a:p>
            <a:r>
              <a:t>The cohort half is the only part that can ever produce a rate, it is opt-in, the identifier is anonymous, the report can return no per-device row by construction, and any bucket describing fewer than five devices is suppressed rather than rounded — which is also a real limit on how early the first number can be published, and it is deliberate. The corresponding weakness is on slide 11 as a named risk: an opt-in denominator is consenting devices, not all devices, and the first published cohort figure has to carry its consent rate next to it.</a:t>
            </a:r>
          </a:p>
          <a:p/>
          <a:p>
            <a:r>
              <a:t>Twenty-four tests cover the device module and twenty the cohort endpoints; quote those two counts only, because they are the two that §7.1 records.</a:t>
            </a:r>
          </a:p>
          <a:p/>
          <a:p>
            <a:r>
              <a:t>Finally, the honest close: none of this is traction and none of it is a number. §7.3 is explicit that there are still no users, no revenue, no cohort, no CAC, no LTV and no ARPDAU, and that every figure in §4 remains a plan.</a:t>
            </a:r>
          </a:p>
          <a:p/>
          <a:p>
            <a:r>
              <a:t>STRUCTURE: kind "appendix", both sources carry forward.</a:t>
            </a:r>
          </a:p>
          <a:p/>
          <a:p>
            <a:r>
              <a:t>SOURCES</a:t>
            </a:r>
          </a:p>
          <a:p>
            <a:r>
              <a:t>- FACT//DUEL internal: public/product/investor/numbers.md §7.1 and §7.3 (company disclosure)</a:t>
            </a:r>
          </a:p>
          <a:p>
            <a:r>
              <a:t>- FACT//DUEL internal: repository — product code, unaudited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§4.3 of numbers.md reproduced in full, so that anyone who wants to check the arithmetic can do it on the page instead of asking for a spreadsheet. Two things to say before they are asked. First, the only thing that changes between scenarios is three inputs — D30 retention, install-to-payer rate and install volume; the model itself is identical, ARPPU is held at AppsFlyer's casual D90 $7.26 in all three, and monthly churn of the retained base is held at 20% everywhere so it cannot flatter one case. Second, the install volumes are chosen assumptions with no company data behind them, which is why appendix I lists them as assumptions rather than inputs. Revenue per MAU rises across scenarios only because higher churn makes annual installs about 11x steady-state MAU — that is throughput, not better monetisation, and it is the reason the subscription cross-check on slide 10 exists.</a:t>
            </a:r>
          </a:p>
          <a:p/>
          <a:p>
            <a:r>
              <a:t>SOURCES</a:t>
            </a:r>
          </a:p>
          <a:p>
            <a:r>
              <a:t>- https://www.gameanalytics.com/reports/2026-mobile-pc-gaming-benchmarks</a:t>
            </a:r>
          </a:p>
          <a:p>
            <a:r>
              <a:t>- https://www.appsflyer.com/resources/reports/app-marketing-monetization-report/</a:t>
            </a:r>
          </a:p>
          <a:p>
            <a:r>
              <a:t>- FACT//DUEL internal: public/product/investor/numbers.md §4.1-§4.3</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point of showing the inputs separately from the outputs is that an investor can replace any one of them and re-run the model without our help. Even the optimistic case assumes only median casual per-install monetisation — AppsFlyer's own $1.34 IAP plus $0.55 ad revenue — so all of the optimism sits in install volume and none of it in monetisation quality. The derived 18.46% payer rate is arithmetic on two published figures that may rest on different samples and windows, and it sits well above the 11.14% North American 30-day figure, which is why it is used only as a ceiling and labelled derived. The conservative case carries $0.00 of ad revenue because we are a web app with no mediation stack today. On break-even cost per install: Trivia Royale's sourced blended figure of under $0.20 is inside all three of ours, and that company still died with 2.5M downloads and 45% D1, so clearing break-even is necessary and demonstrably not sufficient.</a:t>
            </a:r>
          </a:p>
          <a:p/>
          <a:p>
            <a:r>
              <a:t>SOURCES</a:t>
            </a:r>
          </a:p>
          <a:p>
            <a:r>
              <a:t>- https://www.gameanalytics.com/reports/2026-mobile-pc-gaming-benchmarks</a:t>
            </a:r>
          </a:p>
          <a:p>
            <a:r>
              <a:t>- https://www.appsflyer.com/resources/reports/app-marketing-monetization-report/</a:t>
            </a:r>
          </a:p>
          <a:p>
            <a:r>
              <a:t>- https://techcrunch.com/2020/07/10/how-thor-fridrikssons-trivia-royale-earned-2-5m-downloads-in-3-weeks/</a:t>
            </a:r>
          </a:p>
          <a:p>
            <a:r>
              <a:t>- https://www.sec.gov/Archives/edgar/data/1562088/000162828026012246/q4fy25duolingo12-31x25shar.htm</a:t>
            </a:r>
          </a:p>
          <a:p>
            <a:r>
              <a:t>- https://storage.mfn.se/8d863483-ccc8-4f02-b0c5-d37d899b23e8/mag-interim-report-eng-2025-26-q3.pdf</a:t>
            </a:r>
          </a:p>
          <a:p>
            <a:r>
              <a:t>- FACT//DUEL internal: public/product/investor/numbers.md §4.1-§4.3</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this page alongside appendix E. The kinds matter more than the count: an audited filing and a vendor's modelled estimate are not the same evidence, and the deck says which is which every time it uses one. Where a figure is a modelled estimate — every Sensor Tower number, every GameAnalytics and AppsFlyer benchmark, the AppTweak conversion figures — it is labelled as an estimate on the slide that carries it. Full URLs for this page:</a:t>
            </a:r>
          </a:p>
          <a:p/>
          <a:p>
            <a:r>
              <a:t>- FACT//DUEL internal — numbers.md — status paragraph and §5.15</a:t>
            </a:r>
          </a:p>
          <a:p>
            <a:r>
              <a:t>  FACT//DUEL internal: public/product/investor/numbers.md — status paragraph and §5.15 (company disclosure)</a:t>
            </a:r>
          </a:p>
          <a:p>
            <a:r>
              <a:t>- Y Combinator — A guide to seed fundraising</a:t>
            </a:r>
          </a:p>
          <a:p>
            <a:r>
              <a:t>  https://www.ycombinator.com/library/4A-a-guide-to-seed-fundraising</a:t>
            </a:r>
          </a:p>
          <a:p>
            <a:r>
              <a:t>- Y Combinator — How to design a better pitch deck</a:t>
            </a:r>
          </a:p>
          <a:p>
            <a:r>
              <a:t>  https://www.ycombinator.com/library/4T-how-to-design-a-better-pitch-deck</a:t>
            </a:r>
          </a:p>
          <a:p>
            <a:r>
              <a:t>- GameAnalytics — 2026 Mobile &amp; PC Gaming Benchmarks</a:t>
            </a:r>
          </a:p>
          <a:p>
            <a:r>
              <a:t>  https://www.gameanalytics.com/reports/2026-mobile-pc-gaming-benchmarks</a:t>
            </a:r>
          </a:p>
          <a:p>
            <a:r>
              <a:t>- DocSend — per-section dwell times</a:t>
            </a:r>
          </a:p>
          <a:p>
            <a:r>
              <a:t>  https://web.archive.org/web/20260622084020/https://www.docsend.com/blog/what-vcs-really-want-to-see-inside-your-seed-deck/</a:t>
            </a:r>
          </a:p>
          <a:p>
            <a:r>
              <a:t>- DocSend — what VCs want inside a seed deck</a:t>
            </a:r>
          </a:p>
          <a:p>
            <a:r>
              <a:t>  https://web.archive.org/web/20240302210508/https://www.docsend.com/blog/what-vcs-really-want-to-see-inside-your-seed-deck/</a:t>
            </a:r>
          </a:p>
          <a:p>
            <a:r>
              <a:t>- FACT//DUEL internal — numbers.md §7.1 and §7.2</a:t>
            </a:r>
          </a:p>
          <a:p>
            <a:r>
              <a:t>  FACT//DUEL internal: public/product/investor/numbers.md §7.1 and §7.2 (company disclosure)</a:t>
            </a:r>
          </a:p>
          <a:p>
            <a:r>
              <a:t>- FACT//DUEL internal — numbers.md §4.4 and §4.5</a:t>
            </a:r>
          </a:p>
          <a:p>
            <a:r>
              <a:t>  FACT//DUEL internal: public/product/investor/numbers.md §4.4 and §4.5 (company disclosure)</a:t>
            </a:r>
          </a:p>
          <a:p>
            <a:r>
              <a:t>- Google Play — Trivia Crack listing</a:t>
            </a:r>
          </a:p>
          <a:p>
            <a:r>
              <a:t>  https://play.google.com/store/apps/details?id=com.etermax.preguntados.lite&amp;hl=en_US&amp;gl=US</a:t>
            </a:r>
          </a:p>
          <a:p>
            <a:r>
              <a:t>- MAG Interactive — Q3 2025/26 interim report</a:t>
            </a:r>
          </a:p>
          <a:p>
            <a:r>
              <a:t>  https://storage.mfn.se/8d863483-ccc8-4f02-b0c5-d37d899b23e8/mag-interim-report-eng-2025-26-q3.pdf</a:t>
            </a:r>
          </a:p>
          <a:p>
            <a:r>
              <a:t>- Apple lookup API — QuizDuel listing (US storefront)</a:t>
            </a:r>
          </a:p>
          <a:p>
            <a:r>
              <a:t>  https://itunes.apple.com/lookup?id=1484354626&amp;country=us</a:t>
            </a:r>
          </a:p>
          <a:p>
            <a:r>
              <a:t>- Apple lookup API — QuizDuel listing</a:t>
            </a:r>
          </a:p>
          <a:p>
            <a:r>
              <a:t>  https://itunes.apple.com/lookup?id=1484354626&amp;country=de</a:t>
            </a:r>
          </a:p>
          <a:p>
            <a:r>
              <a:t>- Google Play — Quizion listing</a:t>
            </a:r>
          </a:p>
          <a:p>
            <a:r>
              <a:t>  https://play.google.com/store/apps/details?id=com.quizion.app&amp;hl=en_US</a:t>
            </a:r>
          </a:p>
          <a:p>
            <a:r>
              <a:t>- Google Play — TRIVIA GO! listing</a:t>
            </a:r>
          </a:p>
          <a:p>
            <a:r>
              <a:t>  https://play.google.com/store/apps/details?id=live.trivia&amp;hl=en_US</a:t>
            </a:r>
          </a:p>
          <a:p>
            <a:r>
              <a:t>- TechCrunch — Trivia Royale, 2.5M downloads in 3 weeks</a:t>
            </a:r>
          </a:p>
          <a:p>
            <a:r>
              <a:t>  https://techcrunch.com/2020/07/10/how-thor-fridrikssons-trivia-royale-earned-2-5m-downloads-in-3-weeks/</a:t>
            </a:r>
          </a:p>
          <a:p>
            <a:r>
              <a:t>- TechCrunch — HQ Trivia shuts down</a:t>
            </a:r>
          </a:p>
          <a:p>
            <a:r>
              <a:t>  https://techcrunch.com/2020/02/14/hq-trivia-shuts-down/</a:t>
            </a:r>
          </a:p>
          <a:p>
            <a:r>
              <a:t>- TechCrunch — HQ Trivia peak concurrent record</a:t>
            </a:r>
          </a:p>
          <a:p>
            <a:r>
              <a:t>  https://techcrunch.com/2018/08/14/hq-trivia-apple-tv/</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register, continued. Full URLs for this page:</a:t>
            </a:r>
          </a:p>
          <a:p/>
          <a:p>
            <a:r>
              <a:t>- SEC 10-K — Glu Mobile FY2016 (QuizUp mark)</a:t>
            </a:r>
          </a:p>
          <a:p>
            <a:r>
              <a:t>  https://www.sec.gov/Archives/edgar/data/1366246/000155837017001621/gluu-20161231x10k.htm</a:t>
            </a:r>
          </a:p>
          <a:p>
            <a:r>
              <a:t>- SEC 8-K — Glu Mobile / QuizUp acquisition</a:t>
            </a:r>
          </a:p>
          <a:p>
            <a:r>
              <a:t>  https://www.sec.gov/Archives/edgar/data/1366246/000155837016010604/gluu-20161215x8k.htm</a:t>
            </a:r>
          </a:p>
          <a:p>
            <a:r>
              <a:t>- FACT//DUEL internal — numbers.md §3.2, status paragraph and §5.15</a:t>
            </a:r>
          </a:p>
          <a:p>
            <a:r>
              <a:t>  FACT//DUEL internal: public/product/investor/numbers.md §3.2, status paragraph and §5.15 (company disclosure)</a:t>
            </a:r>
          </a:p>
          <a:p>
            <a:r>
              <a:t>- FACT//DUEL internal — repository — product code, unaudited</a:t>
            </a:r>
          </a:p>
          <a:p>
            <a:r>
              <a:t>  FACT//DUEL internal: repository — product code, unaudited</a:t>
            </a:r>
          </a:p>
          <a:p>
            <a:r>
              <a:t>- SEC — Duolingo FY2025 shareholder letter</a:t>
            </a:r>
          </a:p>
          <a:p>
            <a:r>
              <a:t>  https://www.sec.gov/Archives/edgar/data/1562088/000162828026012246/q4fy25duolingo12-31x25shar.htm</a:t>
            </a:r>
          </a:p>
          <a:p>
            <a:r>
              <a:t>- FACT//DUEL internal — numbers.md §1.1 and §1.6</a:t>
            </a:r>
          </a:p>
          <a:p>
            <a:r>
              <a:t>  FACT//DUEL internal: public/product/investor/numbers.md §1.1 and §1.6 (company disclosure)</a:t>
            </a:r>
          </a:p>
          <a:p>
            <a:r>
              <a:t>- FACT//DUEL internal — numbers.md — status paragraph, §4.4 and §7.1-§7.2</a:t>
            </a:r>
          </a:p>
          <a:p>
            <a:r>
              <a:t>  FACT//DUEL internal: public/product/investor/numbers.md — status paragraph, §4.4 and §7.1-§7.2 (company disclosure)</a:t>
            </a:r>
          </a:p>
          <a:p>
            <a:r>
              <a:t>- FACT//DUEL internal — numbers.md §2.3, §4.3 and §4.4</a:t>
            </a:r>
          </a:p>
          <a:p>
            <a:r>
              <a:t>  FACT//DUEL internal: public/product/investor/numbers.md §2.3, §4.3 and §4.4 (company disclosure)</a:t>
            </a:r>
          </a:p>
          <a:p>
            <a:r>
              <a:t>- EMARKETER — second-screen engagement during live sport</a:t>
            </a:r>
          </a:p>
          <a:p>
            <a:r>
              <a:t>  https://www.emarketer.com/content/second-screen-engagement-during-live-sports</a:t>
            </a:r>
          </a:p>
          <a:p>
            <a:r>
              <a:t>- AppTweak — US store conversion benchmarks, CY2025</a:t>
            </a:r>
          </a:p>
          <a:p>
            <a:r>
              <a:t>  https://www.apptweak.com/</a:t>
            </a:r>
          </a:p>
          <a:p>
            <a:r>
              <a:t>- FACT//DUEL internal — numbers.md §3.5, §5.2 and §5.14</a:t>
            </a:r>
          </a:p>
          <a:p>
            <a:r>
              <a:t>  FACT//DUEL internal: public/product/investor/numbers.md §3.5, §5.2 and §5.14 (company disclosure)</a:t>
            </a:r>
          </a:p>
          <a:p>
            <a:r>
              <a:t>- FACT//DUEL internal — numbers.md — status paragraph, §4.4 and §7.1</a:t>
            </a:r>
          </a:p>
          <a:p>
            <a:r>
              <a:t>  FACT//DUEL internal: public/product/investor/numbers.md — status paragraph, §4.4 and §7.1 (company disclosure)</a:t>
            </a:r>
          </a:p>
          <a:p>
            <a:r>
              <a:t>- Sensor Tower — Q2 2025 US iOS trivia revenue (est.)</a:t>
            </a:r>
          </a:p>
          <a:p>
            <a:r>
              <a:t>  https://sensortower.com/blog/2025-q2-ios-top-5-trivia%20games-revenue-us-604118ed241bc16eb8b8453a</a:t>
            </a:r>
          </a:p>
          <a:p>
            <a:r>
              <a:t>- SEC — Duolingo Q2 FY2026 10-Q (user counts at 30 Jun 2026)</a:t>
            </a:r>
          </a:p>
          <a:p>
            <a:r>
              <a:t>  https://www.sec.gov/Archives/edgar/data/1562088/000162828026053603/duol-20260630.htm</a:t>
            </a:r>
          </a:p>
          <a:p>
            <a:r>
              <a:t>- SEC — Duolingo Q2 FY2026 shareholder letter</a:t>
            </a:r>
          </a:p>
          <a:p>
            <a:r>
              <a:t>  https://www.sec.gov/Archives/edgar/data/1562088/000162828026053299/q2fy26duolingo6-30x26share.htm</a:t>
            </a:r>
          </a:p>
          <a:p>
            <a:r>
              <a:t>- Kahoot! — Q4 2022 quarterly report</a:t>
            </a:r>
          </a:p>
          <a:p>
            <a:r>
              <a:t>  https://kahoot.com/files/2023/02/4Q22_Kahoot_quarterly_report.pdf</a:t>
            </a:r>
          </a:p>
          <a:p>
            <a:r>
              <a:t>- Sporcle — Orange membership pricing</a:t>
            </a:r>
          </a:p>
          <a:p>
            <a:r>
              <a:t>  https://www.sporcle.com/memberships/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register, continued. Full URLs for this page:</a:t>
            </a:r>
          </a:p>
          <a:p/>
          <a:p>
            <a:r>
              <a:t>- AppsFlyer — State of App Monetization 2026</a:t>
            </a:r>
          </a:p>
          <a:p>
            <a:r>
              <a:t>  https://www.appsflyer.com/resources/reports/app-marketing-monetization-report/</a:t>
            </a:r>
          </a:p>
          <a:p>
            <a:r>
              <a:t>- FACT//DUEL internal — numbers.md §4.1-§4.3</a:t>
            </a:r>
          </a:p>
          <a:p>
            <a:r>
              <a:t>  FACT//DUEL internal: public/product/investor/numbers.md §4.1-§4.3</a:t>
            </a:r>
          </a:p>
          <a:p>
            <a:r>
              <a:t>- FACT//DUEL internal — numbers.md §4.4b (company disclosure — the founder’s named monetisation route and what it would take)</a:t>
            </a:r>
          </a:p>
          <a:p>
            <a:r>
              <a:t>  FACT//DUEL internal: public/product/investor/numbers.md §4.4b (company disclosure — the founder’s named monetisation route and what it would take)</a:t>
            </a:r>
          </a:p>
          <a:p>
            <a:r>
              <a:t>- Google Play — Kahoot! listing</a:t>
            </a:r>
          </a:p>
          <a:p>
            <a:r>
              <a:t>  https://play.google.com/store/apps/details?id=no.mobitroll.kahoot.android&amp;hl=en_US&amp;gl=US</a:t>
            </a:r>
          </a:p>
          <a:p>
            <a:r>
              <a:t>- Oslo Børs — Kahoot! delisting notice</a:t>
            </a:r>
          </a:p>
          <a:p>
            <a:r>
              <a:t>  https://newsweb.oslobors.no/message/608893</a:t>
            </a:r>
          </a:p>
          <a:p>
            <a:r>
              <a:t>- PR Newswire — Quizizz $31.5M Series B</a:t>
            </a:r>
          </a:p>
          <a:p>
            <a:r>
              <a:t>  https://www.prnewswire.com/news-releases/quizizz-gains-momentum-raises-31-5-million-to-motivate-every-student-301322655.html</a:t>
            </a:r>
          </a:p>
          <a:p>
            <a:r>
              <a:t>- Apple lookup API — Wayground listing</a:t>
            </a:r>
          </a:p>
          <a:p>
            <a:r>
              <a:t>  https://itunes.apple.com/lookup?id=1160249042&amp;country=us</a:t>
            </a:r>
          </a:p>
          <a:p>
            <a:r>
              <a:t>- SEC 8-K — Skillz FY2025 results</a:t>
            </a:r>
          </a:p>
          <a:p>
            <a:r>
              <a:t>  https://www.sec.gov/Archives/edgar/data/1801661/000180166126000019/q425skillzex991-earningsre.htm</a:t>
            </a:r>
          </a:p>
          <a:p>
            <a:r>
              <a:t>- SEC 8-K — Skillz FY2022 results (FY2021 peak)</a:t>
            </a:r>
          </a:p>
          <a:p>
            <a:r>
              <a:t>  https://www.sec.gov/Archives/edgar/data/1801661/000180166123000003/ex991_fy22q4-8xkxearningsr.htm</a:t>
            </a:r>
          </a:p>
          <a:p>
            <a:r>
              <a:t>- SEC 10-K — Skillz FY2023 (Skillz v. AviaGames)</a:t>
            </a:r>
          </a:p>
          <a:p>
            <a:r>
              <a:t>  https://www.sec.gov/Archives/edgar/data/1801661/000180166124000100/sklz-20231231.htm</a:t>
            </a:r>
          </a:p>
          <a:p>
            <a:r>
              <a:t>- FACT//DUEL internal — numbers.md §4.4b</a:t>
            </a:r>
          </a:p>
          <a:p>
            <a:r>
              <a:t>  FACT//DUEL internal: public/product/investor/numbers.md §4.4b (company disclosure)</a:t>
            </a:r>
          </a:p>
          <a:p>
            <a:r>
              <a:t>- FACT//DUEL internal — numbers.md §4.4 and §4.5</a:t>
            </a:r>
          </a:p>
          <a:p>
            <a:r>
              <a:t>  FACT//DUEL internal: public/product/investor/numbers.md §4.4 and §4.5</a:t>
            </a:r>
          </a:p>
          <a:p>
            <a:r>
              <a:t>- Carta — State of Private Markets, Q3 2025</a:t>
            </a:r>
          </a:p>
          <a:p>
            <a:r>
              <a:t>  https://carta.com/data/state-of-private-markets-q3-2025/</a:t>
            </a:r>
          </a:p>
          <a:p>
            <a:r>
              <a:t>- Crunchbase — US seed funding, 2025</a:t>
            </a:r>
          </a:p>
          <a:p>
            <a:r>
              <a:t>  https://news.crunchbase.com/venture/average-seed-funding-amounts-deals-grew-2025/</a:t>
            </a:r>
          </a:p>
          <a:p>
            <a:r>
              <a:t>- FACT//DUEL internal — numbers.md §4.4, §4.5 and §5.8</a:t>
            </a:r>
          </a:p>
          <a:p>
            <a:r>
              <a:t>  FACT//DUEL internal: public/product/investor/numbers.md §4.4, §4.5 and §5.8</a:t>
            </a:r>
          </a:p>
          <a:p>
            <a:r>
              <a:t>- FACT//DUEL internal — numbers.md §7.1 and §7.3</a:t>
            </a:r>
          </a:p>
          <a:p>
            <a:r>
              <a:t>  FACT//DUEL internal: public/product/investor/numbers.md §7.1 and §7.3 (company disclosure)</a:t>
            </a:r>
          </a:p>
          <a:p>
            <a:r>
              <a:t>- Fact.MR — second-screen sports apps market</a:t>
            </a:r>
          </a:p>
          <a:p>
            <a:r>
              <a:t>  https://www.factmr.com/report/second-screen-sports-apps-market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register, continued. Full URLs for this page:</a:t>
            </a:r>
          </a:p>
          <a:p/>
          <a:p>
            <a:r>
              <a:t>- The Business Research Company — fan engagement</a:t>
            </a:r>
          </a:p>
          <a:p>
            <a:r>
              <a:t>  https://www.thebusinessresearchcompany.com/report/fan-engagement-global-market-report</a:t>
            </a:r>
          </a:p>
          <a:p>
            <a:r>
              <a:t>- market.us — fan engagement market</a:t>
            </a:r>
          </a:p>
          <a:p>
            <a:r>
              <a:t>  https://market.us/report/fan-engagement-market/</a:t>
            </a:r>
          </a:p>
          <a:p>
            <a:r>
              <a:t>- MarketsandMarkets — game-based learning</a:t>
            </a:r>
          </a:p>
          <a:p>
            <a:r>
              <a:t>  https://www.marketsandmarkets.com/Market-Reports/game-based-learning-market-169115901.html</a:t>
            </a:r>
          </a:p>
          <a:p>
            <a:r>
              <a:t>- IMARC — game-based learning</a:t>
            </a:r>
          </a:p>
          <a:p>
            <a:r>
              <a:t>  https://www.imarcgroup.com/game-based-learning-market</a:t>
            </a:r>
          </a:p>
          <a:p>
            <a:r>
              <a:t>- Sensor Tower — State of Mobile 2026</a:t>
            </a:r>
          </a:p>
          <a:p>
            <a:r>
              <a:t>  https://www.sensortower.com/blog/state-of-mobile-2026</a:t>
            </a:r>
          </a:p>
          <a:p>
            <a:r>
              <a:t>- a16z — The Insider's Guide to Data Rooms</a:t>
            </a:r>
          </a:p>
          <a:p>
            <a:r>
              <a:t>  https://a16z.com/the-insiders-guide-to-data-rooms-what-to-know-before-you-raise/</a:t>
            </a:r>
          </a:p>
          <a:p>
            <a:r>
              <a:t>- FSGA / Angus Reid 2026 — participation research</a:t>
            </a:r>
          </a:p>
          <a:p>
            <a:r>
              <a:t>  https://members.thefsga.org/news/Details/new-fsga-research-details-growing-role-of-ai-prediction-markets-in-fantasy-sports-and-sports-betting-341850</a:t>
            </a:r>
          </a:p>
          <a:p>
            <a:r>
              <a:t>- FSGA 2025 — next-generation engagement research</a:t>
            </a:r>
          </a:p>
          <a:p>
            <a:r>
              <a:t>  https://members.thefsga.org/news/Details/new-fsga-research-highlights-industry-stability-and-next-generation-growth-in-fantasy-sports-and-sports-betting-305937</a:t>
            </a:r>
          </a:p>
          <a:p>
            <a:r>
              <a:t>- ICC — global cricket market research</a:t>
            </a:r>
          </a:p>
          <a:p>
            <a:r>
              <a:t>  https://www.icc-cricket.com/media-releases/first-global-market-research-project-unveils-more-than-one-billion-cricket-fans</a:t>
            </a:r>
          </a:p>
          <a:p>
            <a:r>
              <a:t>- Nielsen — 2025 Global Sports Report</a:t>
            </a:r>
          </a:p>
          <a:p>
            <a:r>
              <a:t>  https://www.nielsen.com/news-center/2025/the-future-of-sport-nielsens-2025-report-reveals-growth-drivers/</a:t>
            </a:r>
          </a:p>
          <a:p>
            <a:r>
              <a:t>- Newzoo — Global Games Market 2025</a:t>
            </a:r>
          </a:p>
          <a:p>
            <a:r>
              <a:t>  https://newzoo.com/articles/global-games-market-2025</a:t>
            </a:r>
          </a:p>
          <a:p>
            <a:r>
              <a:t>- Paul Graham — How to convince investors</a:t>
            </a:r>
          </a:p>
          <a:p>
            <a:r>
              <a:t>  https://paulgraham.com/convince.html</a:t>
            </a:r>
          </a:p>
          <a:p>
            <a:r>
              <a:t>- a16z — 16 More Startup Metrics</a:t>
            </a:r>
          </a:p>
          <a:p>
            <a:r>
              <a:t>  https://a16z.com/16-more-startup-metrics/</a:t>
            </a:r>
          </a:p>
          <a:p>
            <a:r>
              <a:t>- SEC Form D — HQ Trivia</a:t>
            </a:r>
          </a:p>
          <a:p>
            <a:r>
              <a:t>  https://www.sec.gov/Archives/edgar/data/1734125/000173412518000001/xslFormDX01/primary_doc.xml</a:t>
            </a:r>
          </a:p>
          <a:p>
            <a:r>
              <a:t>- SEC Form D — Teatime Games (Trivia Royale)</a:t>
            </a:r>
          </a:p>
          <a:p>
            <a:r>
              <a:t>  https://www.sec.gov/Archives/edgar/data/1717682/000171768218000001/primary_doc.xml</a:t>
            </a:r>
          </a:p>
          <a:p>
            <a:r>
              <a:t>- FACT//DUEL internal — numbers.md §5 (failed verification and unresolved items)</a:t>
            </a:r>
          </a:p>
          <a:p>
            <a:r>
              <a:t>  FACT//DUEL internal: public/product/investor/numbers.md §5 (failed verification and unresolved items)</a:t>
            </a:r>
          </a:p>
          <a:p>
            <a:r>
              <a:t>- FACT//DUEL internal — numbers.md — status paragraph, §7.1 and §7.2</a:t>
            </a:r>
          </a:p>
          <a:p>
            <a:r>
              <a:t>  FACT//DUEL internal: public/product/investor/numbers.md — status paragraph, §7.1 and §7.2 (company disclosure)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E14"/>
        </a:solidFill>
        <a:effectLst/>
      </p:bgPr>
    </p:bg>
    <p:spTree>
      <p:nvGrpSpPr>
        <p:cNvPr id="1" name=""/>
        <p:cNvGrpSpPr/>
        <p:nvPr/>
      </p:nvGrpSpPr>
      <p:grpSpPr/>
      <p:sp>
        <p:nvSpPr>
          <p:cNvPr id="2" name="Title 1"/>
          <p:cNvSpPr>
            <a:spLocks noGrp="1"/>
          </p:cNvSpPr>
          <p:nvPr>
            <p:ph type="title"/>
          </p:nvPr>
        </p:nvSpPr>
        <p:spPr>
          <a:xfrm>
            <a:off x="566928" y="1335024"/>
            <a:ext cx="11057839" cy="1856231"/>
          </a:xfrm>
        </p:spPr>
        <p:txBody>
          <a:bodyPr wrap="square" lIns="0" rIns="0" tIns="0" bIns="0"/>
          <a:lstStyle/>
          <a:p>
            <a:pPr>
              <a:lnSpc>
                <a:spcPct val="100000"/>
              </a:lnSpc>
            </a:pPr>
            <a:r>
              <a:rPr sz="6200" b="1" i="0" spc="50">
                <a:solidFill>
                  <a:srgbClr val="F7F6EF"/>
                </a:solidFill>
                <a:latin typeface="Arial"/>
              </a:rPr>
              <a:t>FACT</a:t>
            </a:r>
            <a:r>
              <a:rPr sz="6200" b="1" i="0" spc="50">
                <a:solidFill>
                  <a:srgbClr val="D4FF3A"/>
                </a:solidFill>
                <a:latin typeface="Arial"/>
              </a:rPr>
              <a:t>//</a:t>
            </a:r>
            <a:r>
              <a:rPr sz="6200" b="1" i="0" spc="50">
                <a:solidFill>
                  <a:srgbClr val="F7F6EF"/>
                </a:solidFill>
                <a:latin typeface="Arial"/>
              </a:rPr>
              <a:t>DUEL</a:t>
            </a:r>
          </a:p>
          <a:p>
            <a:pPr>
              <a:lnSpc>
                <a:spcPct val="108000"/>
              </a:lnSpc>
              <a:spcBef>
                <a:spcPts val="1400"/>
              </a:spcBef>
            </a:pPr>
            <a:r>
              <a:rPr sz="2600" b="1" i="0">
                <a:solidFill>
                  <a:srgbClr val="D4FF3A"/>
                </a:solidFill>
                <a:latin typeface="Arial"/>
              </a:rPr>
              <a:t>A 1v1 sports-and-science trivia duel, playable against a bot in a browser..</a:t>
            </a:r>
          </a:p>
        </p:txBody>
      </p:sp>
      <p:sp>
        <p:nvSpPr>
          <p:cNvPr id="3" name="TextBox 2"/>
          <p:cNvSpPr txBox="1"/>
          <p:nvPr/>
        </p:nvSpPr>
        <p:spPr>
          <a:xfrm>
            <a:off x="566928" y="969264"/>
            <a:ext cx="11057839" cy="274320"/>
          </a:xfrm>
          <a:prstGeom prst="rect">
            <a:avLst/>
          </a:prstGeom>
          <a:noFill/>
        </p:spPr>
        <p:txBody>
          <a:bodyPr wrap="square" lIns="0" rIns="0" tIns="0" bIns="0" anchor="t">
            <a:spAutoFit/>
          </a:bodyPr>
          <a:lstStyle/>
          <a:p>
            <a:r>
              <a:rPr sz="1100" b="1" i="0" spc="180">
                <a:solidFill>
                  <a:srgbClr val="D4FF3A"/>
                </a:solidFill>
                <a:latin typeface="Arial"/>
              </a:rPr>
              <a:t>SEED ROUND — SEPTEMBER 2026</a:t>
            </a:r>
          </a:p>
        </p:txBody>
      </p:sp>
      <p:sp>
        <p:nvSpPr>
          <p:cNvPr id="4" name="TextBox 3"/>
          <p:cNvSpPr txBox="1"/>
          <p:nvPr/>
        </p:nvSpPr>
        <p:spPr>
          <a:xfrm>
            <a:off x="566928" y="3319272"/>
            <a:ext cx="9594799" cy="281432"/>
          </a:xfrm>
          <a:prstGeom prst="rect">
            <a:avLst/>
          </a:prstGeom>
          <a:noFill/>
        </p:spPr>
        <p:txBody>
          <a:bodyPr wrap="square" lIns="0" rIns="0" tIns="0" bIns="0" anchor="t">
            <a:spAutoFit/>
          </a:bodyPr>
          <a:lstStyle/>
          <a:p>
            <a:pPr>
              <a:lnSpc>
                <a:spcPct val="120000"/>
              </a:lnSpc>
            </a:pPr>
            <a:r>
              <a:rPr sz="1600" b="0" i="0">
                <a:solidFill>
                  <a:srgbClr val="A6ADBA"/>
                </a:solidFill>
                <a:latin typeface="Arial"/>
              </a:rPr>
              <a:t>A 1v1 sports-and-science trivia duel: habit loop first, retention proof next, business last.</a:t>
            </a:r>
          </a:p>
        </p:txBody>
      </p:sp>
      <p:sp>
        <p:nvSpPr>
          <p:cNvPr id="5" name="TextBox 4"/>
          <p:cNvSpPr txBox="1"/>
          <p:nvPr/>
        </p:nvSpPr>
        <p:spPr>
          <a:xfrm>
            <a:off x="566928" y="3865880"/>
            <a:ext cx="9960559" cy="1273048"/>
          </a:xfrm>
          <a:prstGeom prst="rect">
            <a:avLst/>
          </a:prstGeom>
          <a:noFill/>
        </p:spPr>
        <p:txBody>
          <a:bodyPr wrap="square" lIns="0" rIns="0" tIns="0" bIns="0" anchor="t">
            <a:spAutoFit/>
          </a:bodyPr>
          <a:lstStyle/>
          <a:p>
            <a:pPr marL="255604" indent="-255604">
              <a:lnSpc>
                <a:spcPct val="116000"/>
              </a:lnSpc>
              <a:buClr>
                <a:srgbClr val="D4FF3A"/>
              </a:buClr>
              <a:buFont typeface="Arial"/>
              <a:buChar char="—"/>
            </a:pPr>
            <a:r>
              <a:rPr sz="1500" b="0" i="0">
                <a:solidFill>
                  <a:srgbClr val="F7F6EF"/>
                </a:solidFill>
                <a:latin typeface="Arial"/>
              </a:rPr>
              <a:t>Play a full bot duel on a phone or laptop: https://occult-kranti.github.io/fact-duel/ — no install, no account, no server.</a:t>
            </a:r>
          </a:p>
          <a:p>
            <a:pPr marL="255604" indent="-255604">
              <a:lnSpc>
                <a:spcPct val="116000"/>
              </a:lnSpc>
              <a:spcBef>
                <a:spcPts val="825"/>
              </a:spcBef>
              <a:buClr>
                <a:srgbClr val="D4FF3A"/>
              </a:buClr>
              <a:buFont typeface="Arial"/>
              <a:buChar char="—"/>
            </a:pPr>
            <a:r>
              <a:rPr sz="1500" b="0" i="0">
                <a:solidFill>
                  <a:srgbClr val="F7F6EF"/>
                </a:solidFill>
                <a:latin typeface="Arial"/>
              </a:rPr>
              <a:t>Zero users outside a private playtest. Zero revenue. 54 sample questions.</a:t>
            </a:r>
          </a:p>
          <a:p>
            <a:pPr marL="255604" indent="-255604">
              <a:lnSpc>
                <a:spcPct val="116000"/>
              </a:lnSpc>
              <a:spcBef>
                <a:spcPts val="825"/>
              </a:spcBef>
              <a:buClr>
                <a:srgbClr val="D4FF3A"/>
              </a:buClr>
              <a:buFont typeface="Arial"/>
              <a:buChar char="—"/>
            </a:pPr>
            <a:r>
              <a:rPr sz="1500" b="0" i="0">
                <a:solidFill>
                  <a:srgbClr val="F7F6EF"/>
                </a:solidFill>
                <a:latin typeface="Arial"/>
              </a:rPr>
              <a:t>Raising about </a:t>
            </a:r>
            <a:r>
              <a:rPr sz="1500" b="0" i="0">
                <a:solidFill>
                  <a:srgbClr val="FFC83D"/>
                </a:solidFill>
                <a:latin typeface="Arial"/>
              </a:rPr>
              <a:t>$1.2M</a:t>
            </a:r>
            <a:r>
              <a:rPr sz="1500" b="0" i="0">
                <a:solidFill>
                  <a:srgbClr val="F7F6EF"/>
                </a:solidFill>
                <a:latin typeface="Arial"/>
              </a:rPr>
              <a:t> </a:t>
            </a:r>
            <a:r>
              <a:rPr sz="1500" b="1" i="0">
                <a:solidFill>
                  <a:srgbClr val="4EE1FF"/>
                </a:solidFill>
                <a:latin typeface="Arial"/>
              </a:rPr>
              <a:t>(P)</a:t>
            </a:r>
            <a:r>
              <a:rPr sz="1500" b="0" i="0">
                <a:solidFill>
                  <a:srgbClr val="F7F6EF"/>
                </a:solidFill>
                <a:latin typeface="Arial"/>
              </a:rPr>
              <a:t> for 18 months to buy the retention data this deck does not have.</a:t>
            </a:r>
          </a:p>
          <a:p>
            <a:pPr marL="255604" indent="-255604">
              <a:lnSpc>
                <a:spcPct val="116000"/>
              </a:lnSpc>
              <a:spcBef>
                <a:spcPts val="825"/>
              </a:spcBef>
              <a:buClr>
                <a:srgbClr val="D4FF3A"/>
              </a:buClr>
              <a:buFont typeface="Arial"/>
              <a:buChar char="—"/>
            </a:pPr>
            <a:r>
              <a:rPr sz="1500" b="0" i="0">
                <a:solidFill>
                  <a:srgbClr val="F7F6EF"/>
                </a:solidFill>
                <a:latin typeface="Arial"/>
              </a:rPr>
              <a:t>What that buys: a published D1/D7/D30 cohort of 1,000+ players (numbers.md §4.4).</a:t>
            </a:r>
          </a:p>
        </p:txBody>
      </p:sp>
      <p:sp>
        <p:nvSpPr>
          <p:cNvPr id="6" name="Rectangle 5"/>
          <p:cNvSpPr/>
          <p:nvPr/>
        </p:nvSpPr>
        <p:spPr>
          <a:xfrm>
            <a:off x="566928" y="6035040"/>
            <a:ext cx="11057839" cy="11887"/>
          </a:xfrm>
          <a:prstGeom prst="rect">
            <a:avLst/>
          </a:prstGeom>
          <a:solidFill>
            <a:srgbClr val="D4F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6144768"/>
            <a:ext cx="9869119" cy="548640"/>
          </a:xfrm>
          <a:prstGeom prst="rect">
            <a:avLst/>
          </a:prstGeom>
          <a:noFill/>
        </p:spPr>
        <p:txBody>
          <a:bodyPr wrap="square" lIns="0" rIns="0" tIns="0" bIns="0" anchor="t">
            <a:spAutoFit/>
          </a:bodyPr>
          <a:lstStyle/>
          <a:p>
            <a:pPr>
              <a:lnSpc>
                <a:spcPct val="120000"/>
              </a:lnSpc>
            </a:pPr>
            <a:r>
              <a:rPr sz="800" b="0" i="0">
                <a:solidFill>
                  <a:srgbClr val="A6ADBA"/>
                </a:solidFill>
                <a:latin typeface="Arial"/>
              </a:rPr>
              <a:t>Confidential. For the named recipient only. Every number carries its source. Figures marked (P) are a plan, not a forecast. FACT//DUEL has no users outside a private playtest and no revenue.</a:t>
            </a:r>
          </a:p>
        </p:txBody>
      </p:sp>
      <p:sp>
        <p:nvSpPr>
          <p:cNvPr id="8" name="TextBox 7"/>
          <p:cNvSpPr txBox="1"/>
          <p:nvPr/>
        </p:nvSpPr>
        <p:spPr>
          <a:xfrm>
            <a:off x="10664647" y="6144768"/>
            <a:ext cx="960120" cy="274320"/>
          </a:xfrm>
          <a:prstGeom prst="rect">
            <a:avLst/>
          </a:prstGeom>
          <a:noFill/>
        </p:spPr>
        <p:txBody>
          <a:bodyPr wrap="square" lIns="0" rIns="0" tIns="0" bIns="0" anchor="t">
            <a:spAutoFit/>
          </a:bodyPr>
          <a:lstStyle/>
          <a:p>
            <a:pPr algn="r"/>
            <a:r>
              <a:rPr sz="950" b="1" i="0" spc="60">
                <a:solidFill>
                  <a:srgbClr val="A6ADBA"/>
                </a:solidFill>
                <a:latin typeface="Arial"/>
              </a:rPr>
              <a:t>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E14"/>
        </a:solidFill>
        <a:effectLst/>
      </p:bgPr>
    </p:bg>
    <p:spTree>
      <p:nvGrpSpPr>
        <p:cNvPr id="1" name=""/>
        <p:cNvGrpSpPr/>
        <p:nvPr/>
      </p:nvGrpSpPr>
      <p:grpSpPr/>
      <p:sp>
        <p:nvSpPr>
          <p:cNvPr id="2" name="Title 1"/>
          <p:cNvSpPr>
            <a:spLocks noGrp="1"/>
          </p:cNvSpPr>
          <p:nvPr>
            <p:ph type="title"/>
          </p:nvPr>
        </p:nvSpPr>
        <p:spPr>
          <a:xfrm>
            <a:off x="566928" y="658368"/>
            <a:ext cx="11057839" cy="1682496"/>
          </a:xfrm>
        </p:spPr>
        <p:txBody>
          <a:bodyPr wrap="square" lIns="0" rIns="0" tIns="0" bIns="0" anchor="t"/>
          <a:lstStyle/>
          <a:p>
            <a:pPr>
              <a:lnSpc>
                <a:spcPct val="108000"/>
              </a:lnSpc>
            </a:pPr>
            <a:r>
              <a:rPr sz="4000" b="1" i="0">
                <a:solidFill>
                  <a:srgbClr val="F7F6EF"/>
                </a:solidFill>
                <a:latin typeface="Arial"/>
              </a:rPr>
              <a:t>The 1v1 duel: hundreds of millions of lifetime installs, essentially no maintained incumbent.</a:t>
            </a:r>
          </a:p>
        </p:txBody>
      </p:sp>
      <p:sp>
        <p:nvSpPr>
          <p:cNvPr id="3" name="TextBox 2"/>
          <p:cNvSpPr txBox="1"/>
          <p:nvPr/>
        </p:nvSpPr>
        <p:spPr>
          <a:xfrm>
            <a:off x="566928" y="365760"/>
            <a:ext cx="11057839" cy="219456"/>
          </a:xfrm>
          <a:prstGeom prst="rect">
            <a:avLst/>
          </a:prstGeom>
          <a:noFill/>
        </p:spPr>
        <p:txBody>
          <a:bodyPr wrap="square" lIns="0" rIns="0" tIns="0" bIns="0" anchor="t">
            <a:spAutoFit/>
          </a:bodyPr>
          <a:lstStyle/>
          <a:p>
            <a:r>
              <a:rPr sz="1100" b="1" i="0" spc="160">
                <a:solidFill>
                  <a:srgbClr val="D4FF3A"/>
                </a:solidFill>
                <a:latin typeface="Arial"/>
              </a:rPr>
              <a:t>THE VACUUM</a:t>
            </a:r>
          </a:p>
        </p:txBody>
      </p:sp>
      <p:sp>
        <p:nvSpPr>
          <p:cNvPr id="4" name="Rectangle 3"/>
          <p:cNvSpPr/>
          <p:nvPr/>
        </p:nvSpPr>
        <p:spPr>
          <a:xfrm>
            <a:off x="566928" y="6035040"/>
            <a:ext cx="11057839" cy="11887"/>
          </a:xfrm>
          <a:prstGeom prst="rect">
            <a:avLst/>
          </a:prstGeom>
          <a:solidFill>
            <a:srgbClr val="D4F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664647" y="6144768"/>
            <a:ext cx="960120" cy="274320"/>
          </a:xfrm>
          <a:prstGeom prst="rect">
            <a:avLst/>
          </a:prstGeom>
          <a:noFill/>
        </p:spPr>
        <p:txBody>
          <a:bodyPr wrap="square" lIns="0" rIns="0" tIns="0" bIns="0" anchor="t">
            <a:spAutoFit/>
          </a:bodyPr>
          <a:lstStyle/>
          <a:p>
            <a:pPr algn="r"/>
            <a:r>
              <a:rPr sz="950" b="1" i="0" spc="60">
                <a:solidFill>
                  <a:srgbClr val="A6ADBA"/>
                </a:solidFill>
                <a:latin typeface="Arial"/>
              </a:rPr>
              <a:t>2</a:t>
            </a:r>
          </a:p>
        </p:txBody>
      </p:sp>
      <p:sp>
        <p:nvSpPr>
          <p:cNvPr id="6" name="TextBox 5"/>
          <p:cNvSpPr txBox="1"/>
          <p:nvPr/>
        </p:nvSpPr>
        <p:spPr>
          <a:xfrm>
            <a:off x="566928" y="6144768"/>
            <a:ext cx="9869119" cy="548640"/>
          </a:xfrm>
          <a:prstGeom prst="rect">
            <a:avLst/>
          </a:prstGeom>
          <a:noFill/>
        </p:spPr>
        <p:txBody>
          <a:bodyPr wrap="square" lIns="0" rIns="0" tIns="0" bIns="0" anchor="t">
            <a:spAutoFit/>
          </a:bodyPr>
          <a:lstStyle/>
          <a:p>
            <a:pPr>
              <a:lnSpc>
                <a:spcPct val="115000"/>
              </a:lnSpc>
            </a:pPr>
            <a:r>
              <a:rPr sz="800" b="0" i="0">
                <a:solidFill>
                  <a:srgbClr val="A6ADBA"/>
                </a:solidFill>
                <a:latin typeface="Arial"/>
              </a:rPr>
              <a:t>Sources: Google Play — Trivia Crack listing  ·  MAG Interactive — Q3 2025/26 interim report  ·  Apple lookup API — QuizDuel listing (US storefront)  ·  Apple lookup API — QuizDuel listing</a:t>
            </a:r>
          </a:p>
          <a:p>
            <a:pPr>
              <a:lnSpc>
                <a:spcPct val="115000"/>
              </a:lnSpc>
            </a:pPr>
            <a:r>
              <a:rPr sz="800" b="0" i="0">
                <a:solidFill>
                  <a:srgbClr val="A6ADBA"/>
                </a:solidFill>
                <a:latin typeface="Arial"/>
              </a:rPr>
              <a:t>Google Play — Quizion listing  ·  Google Play — TRIVIA GO! listing</a:t>
            </a:r>
          </a:p>
        </p:txBody>
      </p:sp>
      <p:sp>
        <p:nvSpPr>
          <p:cNvPr id="7" name="TextBox 6"/>
          <p:cNvSpPr txBox="1"/>
          <p:nvPr/>
        </p:nvSpPr>
        <p:spPr>
          <a:xfrm>
            <a:off x="566928" y="2542032"/>
            <a:ext cx="5114239" cy="3364991"/>
          </a:xfrm>
          <a:prstGeom prst="rect">
            <a:avLst/>
          </a:prstGeom>
          <a:noFill/>
        </p:spPr>
        <p:txBody>
          <a:bodyPr wrap="square" lIns="0" rIns="0" tIns="0" bIns="0" anchor="t">
            <a:spAutoFit/>
          </a:bodyPr>
          <a:lstStyle/>
          <a:p>
            <a:pPr marL="281154" indent="-281154">
              <a:lnSpc>
                <a:spcPct val="116000"/>
              </a:lnSpc>
              <a:buClr>
                <a:srgbClr val="D4FF3A"/>
              </a:buClr>
              <a:buFont typeface="Arial"/>
              <a:buChar char="—"/>
            </a:pPr>
            <a:r>
              <a:rPr sz="1650" b="0" i="0">
                <a:solidFill>
                  <a:srgbClr val="F7F6EF"/>
                </a:solidFill>
                <a:latin typeface="Arial"/>
              </a:rPr>
              <a:t>Trivia Crack: 267,939,837 lifetime Android installs — Google Play's internal count, displayed publicly as 100M+. Installs, not users.</a:t>
            </a:r>
          </a:p>
          <a:p>
            <a:pPr marL="281154" indent="-281154">
              <a:lnSpc>
                <a:spcPct val="116000"/>
              </a:lnSpc>
              <a:spcBef>
                <a:spcPts val="907"/>
              </a:spcBef>
              <a:buClr>
                <a:srgbClr val="D4FF3A"/>
              </a:buClr>
              <a:buFont typeface="Arial"/>
              <a:buChar char="—"/>
            </a:pPr>
            <a:r>
              <a:rPr sz="1650" b="0" i="0">
                <a:solidFill>
                  <a:srgbClr val="F7F6EF"/>
                </a:solidFill>
                <a:latin typeface="Arial"/>
              </a:rPr>
              <a:t>Its Play listing is now retitled around a FOX TV tie-in.</a:t>
            </a:r>
          </a:p>
          <a:p>
            <a:pPr marL="281154" indent="-281154">
              <a:lnSpc>
                <a:spcPct val="116000"/>
              </a:lnSpc>
              <a:spcBef>
                <a:spcPts val="907"/>
              </a:spcBef>
              <a:buClr>
                <a:srgbClr val="D4FF3A"/>
              </a:buClr>
              <a:buFont typeface="Arial"/>
              <a:buChar char="—"/>
            </a:pPr>
            <a:r>
              <a:rPr sz="1650" b="0" i="0">
                <a:solidFill>
                  <a:srgbClr val="F7F6EF"/>
                </a:solidFill>
                <a:latin typeface="Arial"/>
              </a:rPr>
              <a:t>QuizDuel is live and maintained — iOS build 10 Sep 2026 — and tiny on US iOS: 3.51 stars from 78 ratings.</a:t>
            </a:r>
          </a:p>
          <a:p>
            <a:pPr marL="281154" indent="-281154">
              <a:lnSpc>
                <a:spcPct val="116000"/>
              </a:lnSpc>
              <a:spcBef>
                <a:spcPts val="907"/>
              </a:spcBef>
              <a:buClr>
                <a:srgbClr val="D4FF3A"/>
              </a:buClr>
              <a:buFont typeface="Arial"/>
              <a:buChar char="—"/>
            </a:pPr>
            <a:r>
              <a:rPr sz="1650" b="0" i="0">
                <a:solidFill>
                  <a:srgbClr val="F7F6EF"/>
                </a:solidFill>
                <a:latin typeface="Arial"/>
              </a:rPr>
              <a:t>Owner MAG Interactive: group DAU -14% and MAU -13% YoY, nine-month average to May 2026; Q3 alone -12% and -9%.</a:t>
            </a:r>
          </a:p>
        </p:txBody>
      </p:sp>
      <p:pic>
        <p:nvPicPr>
          <p:cNvPr id="8" name="Picture 7" descr="vacuum.png"/>
          <p:cNvPicPr>
            <a:picLocks noChangeAspect="1"/>
          </p:cNvPicPr>
          <p:nvPr/>
        </p:nvPicPr>
        <p:blipFill>
          <a:blip r:embed="rId2"/>
          <a:stretch>
            <a:fillRect/>
          </a:stretch>
        </p:blipFill>
        <p:spPr>
          <a:xfrm>
            <a:off x="6001207" y="2666074"/>
            <a:ext cx="5623560" cy="3116906"/>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E14"/>
        </a:solidFill>
        <a:effectLst/>
      </p:bgPr>
    </p:bg>
    <p:spTree>
      <p:nvGrpSpPr>
        <p:cNvPr id="1" name=""/>
        <p:cNvGrpSpPr/>
        <p:nvPr/>
      </p:nvGrpSpPr>
      <p:grpSpPr/>
      <p:sp>
        <p:nvSpPr>
          <p:cNvPr id="2" name="Title 1"/>
          <p:cNvSpPr>
            <a:spLocks noGrp="1"/>
          </p:cNvSpPr>
          <p:nvPr>
            <p:ph type="title"/>
          </p:nvPr>
        </p:nvSpPr>
        <p:spPr>
          <a:xfrm>
            <a:off x="566928" y="658368"/>
            <a:ext cx="11057839" cy="1133856"/>
          </a:xfrm>
        </p:spPr>
        <p:txBody>
          <a:bodyPr wrap="square" lIns="0" rIns="0" tIns="0" bIns="0" anchor="t"/>
          <a:lstStyle/>
          <a:p>
            <a:pPr>
              <a:lnSpc>
                <a:spcPct val="108000"/>
              </a:lnSpc>
            </a:pPr>
            <a:r>
              <a:rPr sz="4000" b="1" i="0">
                <a:solidFill>
                  <a:srgbClr val="F7F6EF"/>
                </a:solidFill>
                <a:latin typeface="Arial"/>
              </a:rPr>
              <a:t>All three died of monetisation and long-tail retention, not distribution.</a:t>
            </a:r>
          </a:p>
        </p:txBody>
      </p:sp>
      <p:sp>
        <p:nvSpPr>
          <p:cNvPr id="3" name="TextBox 2"/>
          <p:cNvSpPr txBox="1"/>
          <p:nvPr/>
        </p:nvSpPr>
        <p:spPr>
          <a:xfrm>
            <a:off x="566928" y="365760"/>
            <a:ext cx="11057839" cy="219456"/>
          </a:xfrm>
          <a:prstGeom prst="rect">
            <a:avLst/>
          </a:prstGeom>
          <a:noFill/>
        </p:spPr>
        <p:txBody>
          <a:bodyPr wrap="square" lIns="0" rIns="0" tIns="0" bIns="0" anchor="t">
            <a:spAutoFit/>
          </a:bodyPr>
          <a:lstStyle/>
          <a:p>
            <a:r>
              <a:rPr sz="1100" b="1" i="0" spc="160">
                <a:solidFill>
                  <a:srgbClr val="D4FF3A"/>
                </a:solidFill>
                <a:latin typeface="Arial"/>
              </a:rPr>
              <a:t>THE GRAVEYARD</a:t>
            </a:r>
          </a:p>
        </p:txBody>
      </p:sp>
      <p:sp>
        <p:nvSpPr>
          <p:cNvPr id="4" name="Rectangle 3"/>
          <p:cNvSpPr/>
          <p:nvPr/>
        </p:nvSpPr>
        <p:spPr>
          <a:xfrm>
            <a:off x="566928" y="6035040"/>
            <a:ext cx="11057839" cy="11887"/>
          </a:xfrm>
          <a:prstGeom prst="rect">
            <a:avLst/>
          </a:prstGeom>
          <a:solidFill>
            <a:srgbClr val="D4F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664647" y="6144768"/>
            <a:ext cx="960120" cy="274320"/>
          </a:xfrm>
          <a:prstGeom prst="rect">
            <a:avLst/>
          </a:prstGeom>
          <a:noFill/>
        </p:spPr>
        <p:txBody>
          <a:bodyPr wrap="square" lIns="0" rIns="0" tIns="0" bIns="0" anchor="t">
            <a:spAutoFit/>
          </a:bodyPr>
          <a:lstStyle/>
          <a:p>
            <a:pPr algn="r"/>
            <a:r>
              <a:rPr sz="950" b="1" i="0" spc="60">
                <a:solidFill>
                  <a:srgbClr val="A6ADBA"/>
                </a:solidFill>
                <a:latin typeface="Arial"/>
              </a:rPr>
              <a:t>3</a:t>
            </a:r>
          </a:p>
        </p:txBody>
      </p:sp>
      <p:sp>
        <p:nvSpPr>
          <p:cNvPr id="6" name="TextBox 5"/>
          <p:cNvSpPr txBox="1"/>
          <p:nvPr/>
        </p:nvSpPr>
        <p:spPr>
          <a:xfrm>
            <a:off x="566928" y="6144768"/>
            <a:ext cx="9869119" cy="548640"/>
          </a:xfrm>
          <a:prstGeom prst="rect">
            <a:avLst/>
          </a:prstGeom>
          <a:noFill/>
        </p:spPr>
        <p:txBody>
          <a:bodyPr wrap="square" lIns="0" rIns="0" tIns="0" bIns="0" anchor="t">
            <a:spAutoFit/>
          </a:bodyPr>
          <a:lstStyle/>
          <a:p>
            <a:pPr>
              <a:lnSpc>
                <a:spcPct val="115000"/>
              </a:lnSpc>
            </a:pPr>
            <a:r>
              <a:rPr sz="800" b="0" i="0">
                <a:solidFill>
                  <a:srgbClr val="A6ADBA"/>
                </a:solidFill>
                <a:latin typeface="Arial"/>
              </a:rPr>
              <a:t>Sources: TechCrunch — Trivia Royale, 2.5M downloads in 3 weeks  ·  TechCrunch — HQ Trivia shuts down  ·  TechCrunch — HQ Trivia peak concurrent record  ·  SEC 10-K — Glu Mobile FY2016 (QuizUp mark)</a:t>
            </a:r>
          </a:p>
          <a:p>
            <a:pPr>
              <a:lnSpc>
                <a:spcPct val="115000"/>
              </a:lnSpc>
            </a:pPr>
            <a:r>
              <a:rPr sz="800" b="0" i="0">
                <a:solidFill>
                  <a:srgbClr val="A6ADBA"/>
                </a:solidFill>
                <a:latin typeface="Arial"/>
              </a:rPr>
              <a:t>SEC 8-K — Glu Mobile / QuizUp acquisition</a:t>
            </a:r>
          </a:p>
        </p:txBody>
      </p:sp>
      <p:sp>
        <p:nvSpPr>
          <p:cNvPr id="7" name="TextBox 6"/>
          <p:cNvSpPr txBox="1"/>
          <p:nvPr/>
        </p:nvSpPr>
        <p:spPr>
          <a:xfrm>
            <a:off x="566928" y="1993392"/>
            <a:ext cx="5114239" cy="3913631"/>
          </a:xfrm>
          <a:prstGeom prst="rect">
            <a:avLst/>
          </a:prstGeom>
          <a:noFill/>
        </p:spPr>
        <p:txBody>
          <a:bodyPr wrap="square" lIns="0" rIns="0" tIns="0" bIns="0" anchor="t">
            <a:spAutoFit/>
          </a:bodyPr>
          <a:lstStyle/>
          <a:p>
            <a:pPr marL="281154" indent="-281154">
              <a:lnSpc>
                <a:spcPct val="116000"/>
              </a:lnSpc>
              <a:buClr>
                <a:srgbClr val="D4FF3A"/>
              </a:buClr>
              <a:buFont typeface="Arial"/>
              <a:buChar char="—"/>
            </a:pPr>
            <a:r>
              <a:rPr sz="1650" b="0" i="0">
                <a:solidFill>
                  <a:srgbClr val="F7F6EF"/>
                </a:solidFill>
                <a:latin typeface="Arial"/>
              </a:rPr>
              <a:t>Trivia Royale: 2.5M downloads in ~3 weeks on a launch budget under </a:t>
            </a:r>
            <a:r>
              <a:rPr sz="1650" b="0" i="0">
                <a:solidFill>
                  <a:srgbClr val="FFC83D"/>
                </a:solidFill>
                <a:latin typeface="Arial"/>
              </a:rPr>
              <a:t>$500,000</a:t>
            </a:r>
            <a:r>
              <a:rPr sz="1650" b="0" i="0">
                <a:solidFill>
                  <a:srgbClr val="F7F6EF"/>
                </a:solidFill>
                <a:latin typeface="Arial"/>
              </a:rPr>
              <a:t> — a blended </a:t>
            </a:r>
            <a:r>
              <a:rPr sz="1650" b="0" i="0">
                <a:solidFill>
                  <a:srgbClr val="FFC83D"/>
                </a:solidFill>
                <a:latin typeface="Arial"/>
              </a:rPr>
              <a:t>$0.20</a:t>
            </a:r>
            <a:r>
              <a:rPr sz="1650" b="0" i="0">
                <a:solidFill>
                  <a:srgbClr val="F7F6EF"/>
                </a:solidFill>
                <a:latin typeface="Arial"/>
              </a:rPr>
              <a:t> or less per download.</a:t>
            </a:r>
          </a:p>
          <a:p>
            <a:pPr marL="281154" indent="-281154">
              <a:lnSpc>
                <a:spcPct val="116000"/>
              </a:lnSpc>
              <a:spcBef>
                <a:spcPts val="907"/>
              </a:spcBef>
              <a:buClr>
                <a:srgbClr val="D4FF3A"/>
              </a:buClr>
              <a:buFont typeface="Arial"/>
              <a:buChar char="—"/>
            </a:pPr>
            <a:r>
              <a:rPr sz="1650" b="0" i="0">
                <a:solidFill>
                  <a:srgbClr val="F7F6EF"/>
                </a:solidFill>
                <a:latin typeface="Arial"/>
              </a:rPr>
              <a:t>45% day-one iOS retention. Dead in eight months — revenue insufficient.</a:t>
            </a:r>
          </a:p>
          <a:p>
            <a:pPr marL="281154" indent="-281154">
              <a:lnSpc>
                <a:spcPct val="116000"/>
              </a:lnSpc>
              <a:spcBef>
                <a:spcPts val="907"/>
              </a:spcBef>
              <a:buClr>
                <a:srgbClr val="D4FF3A"/>
              </a:buClr>
              <a:buFont typeface="Arial"/>
              <a:buChar char="—"/>
            </a:pPr>
            <a:r>
              <a:rPr sz="1650" b="0" i="0">
                <a:solidFill>
                  <a:srgbClr val="F7F6EF"/>
                </a:solidFill>
                <a:latin typeface="Arial"/>
              </a:rPr>
              <a:t>Every Trivia Royale figure above: Teatime statements to TechCrunch, unaudited. </a:t>
            </a:r>
            <a:r>
              <a:rPr sz="1650" b="0" i="0">
                <a:solidFill>
                  <a:srgbClr val="FFC83D"/>
                </a:solidFill>
                <a:latin typeface="Arial"/>
              </a:rPr>
              <a:t>$0.20</a:t>
            </a:r>
            <a:r>
              <a:rPr sz="1650" b="0" i="0">
                <a:solidFill>
                  <a:srgbClr val="F7F6EF"/>
                </a:solidFill>
                <a:latin typeface="Arial"/>
              </a:rPr>
              <a:t> blended — organic and viral included, not paid CPI.</a:t>
            </a:r>
          </a:p>
          <a:p>
            <a:pPr marL="281154" indent="-281154">
              <a:lnSpc>
                <a:spcPct val="116000"/>
              </a:lnSpc>
              <a:spcBef>
                <a:spcPts val="907"/>
              </a:spcBef>
              <a:buClr>
                <a:srgbClr val="D4FF3A"/>
              </a:buClr>
              <a:buFont typeface="Arial"/>
              <a:buChar char="—"/>
            </a:pPr>
            <a:r>
              <a:rPr sz="1650" b="0" i="0">
                <a:solidFill>
                  <a:srgbClr val="F7F6EF"/>
                </a:solidFill>
                <a:latin typeface="Arial"/>
              </a:rPr>
              <a:t>HQ Trivia: monthly installs fell from ~2M/month at peak (Feb 2018) to 67,000 (Jan 2020) — 3.35%, per TechCrunch.</a:t>
            </a:r>
          </a:p>
          <a:p>
            <a:pPr marL="281154" indent="-281154">
              <a:lnSpc>
                <a:spcPct val="116000"/>
              </a:lnSpc>
              <a:spcBef>
                <a:spcPts val="907"/>
              </a:spcBef>
              <a:buClr>
                <a:srgbClr val="D4FF3A"/>
              </a:buClr>
              <a:buFont typeface="Arial"/>
              <a:buChar char="—"/>
            </a:pPr>
            <a:r>
              <a:rPr sz="1650" b="0" i="0">
                <a:solidFill>
                  <a:srgbClr val="F7F6EF"/>
                </a:solidFill>
                <a:latin typeface="Arial"/>
              </a:rPr>
              <a:t>QuizUp: ~</a:t>
            </a:r>
            <a:r>
              <a:rPr sz="1650" b="0" i="0">
                <a:solidFill>
                  <a:srgbClr val="FFC83D"/>
                </a:solidFill>
                <a:latin typeface="Arial"/>
              </a:rPr>
              <a:t>$32.4M</a:t>
            </a:r>
            <a:r>
              <a:rPr sz="1650" b="0" i="0">
                <a:solidFill>
                  <a:srgbClr val="F7F6EF"/>
                </a:solidFill>
                <a:latin typeface="Arial"/>
              </a:rPr>
              <a:t> equity raised; sold to Glu for cancellation of </a:t>
            </a:r>
            <a:r>
              <a:rPr sz="1650" b="0" i="0">
                <a:solidFill>
                  <a:srgbClr val="FFC83D"/>
                </a:solidFill>
                <a:latin typeface="Arial"/>
              </a:rPr>
              <a:t>$7.5M</a:t>
            </a:r>
            <a:r>
              <a:rPr sz="1650" b="0" i="0">
                <a:solidFill>
                  <a:srgbClr val="F7F6EF"/>
                </a:solidFill>
                <a:latin typeface="Arial"/>
              </a:rPr>
              <a:t> face-value notes — </a:t>
            </a:r>
            <a:r>
              <a:rPr sz="1650" b="0" i="0">
                <a:solidFill>
                  <a:srgbClr val="FFC83D"/>
                </a:solidFill>
                <a:latin typeface="Arial"/>
              </a:rPr>
              <a:t>$3.2M</a:t>
            </a:r>
            <a:r>
              <a:rPr sz="1650" b="0" i="0">
                <a:solidFill>
                  <a:srgbClr val="F7F6EF"/>
                </a:solidFill>
                <a:latin typeface="Arial"/>
              </a:rPr>
              <a:t> fair value, zero goodwill.</a:t>
            </a:r>
          </a:p>
        </p:txBody>
      </p:sp>
      <p:pic>
        <p:nvPicPr>
          <p:cNvPr id="8" name="Picture 7" descr="graveyard.png"/>
          <p:cNvPicPr>
            <a:picLocks noChangeAspect="1"/>
          </p:cNvPicPr>
          <p:nvPr/>
        </p:nvPicPr>
        <p:blipFill>
          <a:blip r:embed="rId2"/>
          <a:stretch>
            <a:fillRect/>
          </a:stretch>
        </p:blipFill>
        <p:spPr>
          <a:xfrm>
            <a:off x="6001207" y="2306255"/>
            <a:ext cx="5623560" cy="3287904"/>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E14"/>
        </a:solidFill>
        <a:effectLst/>
      </p:bgPr>
    </p:bg>
    <p:spTree>
      <p:nvGrpSpPr>
        <p:cNvPr id="1" name=""/>
        <p:cNvGrpSpPr/>
        <p:nvPr/>
      </p:nvGrpSpPr>
      <p:grpSpPr/>
      <p:sp>
        <p:nvSpPr>
          <p:cNvPr id="2" name="Title 1"/>
          <p:cNvSpPr>
            <a:spLocks noGrp="1"/>
          </p:cNvSpPr>
          <p:nvPr>
            <p:ph type="title"/>
          </p:nvPr>
        </p:nvSpPr>
        <p:spPr>
          <a:xfrm>
            <a:off x="566928" y="658368"/>
            <a:ext cx="11057839" cy="1133856"/>
          </a:xfrm>
        </p:spPr>
        <p:txBody>
          <a:bodyPr wrap="square" lIns="0" rIns="0" tIns="0" bIns="0" anchor="t"/>
          <a:lstStyle/>
          <a:p>
            <a:pPr>
              <a:lnSpc>
                <a:spcPct val="108000"/>
              </a:lnSpc>
            </a:pPr>
            <a:r>
              <a:rPr sz="4000" b="1" i="0">
                <a:solidFill>
                  <a:srgbClr val="F7F6EF"/>
                </a:solidFill>
                <a:latin typeface="Arial"/>
              </a:rPr>
              <a:t>The bet is sequencing: build the habit loop, prove retention, then monetise.</a:t>
            </a:r>
          </a:p>
        </p:txBody>
      </p:sp>
      <p:sp>
        <p:nvSpPr>
          <p:cNvPr id="3" name="TextBox 2"/>
          <p:cNvSpPr txBox="1"/>
          <p:nvPr/>
        </p:nvSpPr>
        <p:spPr>
          <a:xfrm>
            <a:off x="566928" y="365760"/>
            <a:ext cx="11057839" cy="219456"/>
          </a:xfrm>
          <a:prstGeom prst="rect">
            <a:avLst/>
          </a:prstGeom>
          <a:noFill/>
        </p:spPr>
        <p:txBody>
          <a:bodyPr wrap="square" lIns="0" rIns="0" tIns="0" bIns="0" anchor="t">
            <a:spAutoFit/>
          </a:bodyPr>
          <a:lstStyle/>
          <a:p>
            <a:r>
              <a:rPr sz="1100" b="1" i="0" spc="160">
                <a:solidFill>
                  <a:srgbClr val="D4FF3A"/>
                </a:solidFill>
                <a:latin typeface="Arial"/>
              </a:rPr>
              <a:t>THE SOLUTION</a:t>
            </a:r>
          </a:p>
        </p:txBody>
      </p:sp>
      <p:sp>
        <p:nvSpPr>
          <p:cNvPr id="4" name="Rectangle 3"/>
          <p:cNvSpPr/>
          <p:nvPr/>
        </p:nvSpPr>
        <p:spPr>
          <a:xfrm>
            <a:off x="566928" y="6035040"/>
            <a:ext cx="11057839" cy="11887"/>
          </a:xfrm>
          <a:prstGeom prst="rect">
            <a:avLst/>
          </a:prstGeom>
          <a:solidFill>
            <a:srgbClr val="D4F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664647" y="6144768"/>
            <a:ext cx="960120" cy="274320"/>
          </a:xfrm>
          <a:prstGeom prst="rect">
            <a:avLst/>
          </a:prstGeom>
          <a:noFill/>
        </p:spPr>
        <p:txBody>
          <a:bodyPr wrap="square" lIns="0" rIns="0" tIns="0" bIns="0" anchor="t">
            <a:spAutoFit/>
          </a:bodyPr>
          <a:lstStyle/>
          <a:p>
            <a:pPr algn="r"/>
            <a:r>
              <a:rPr sz="950" b="1" i="0" spc="60">
                <a:solidFill>
                  <a:srgbClr val="A6ADBA"/>
                </a:solidFill>
                <a:latin typeface="Arial"/>
              </a:rPr>
              <a:t>4</a:t>
            </a:r>
          </a:p>
        </p:txBody>
      </p:sp>
      <p:sp>
        <p:nvSpPr>
          <p:cNvPr id="6" name="TextBox 5"/>
          <p:cNvSpPr txBox="1"/>
          <p:nvPr/>
        </p:nvSpPr>
        <p:spPr>
          <a:xfrm>
            <a:off x="566928" y="6144768"/>
            <a:ext cx="9869119" cy="548640"/>
          </a:xfrm>
          <a:prstGeom prst="rect">
            <a:avLst/>
          </a:prstGeom>
          <a:noFill/>
        </p:spPr>
        <p:txBody>
          <a:bodyPr wrap="square" lIns="0" rIns="0" tIns="0" bIns="0" anchor="t">
            <a:spAutoFit/>
          </a:bodyPr>
          <a:lstStyle/>
          <a:p>
            <a:pPr>
              <a:lnSpc>
                <a:spcPct val="115000"/>
              </a:lnSpc>
            </a:pPr>
            <a:r>
              <a:rPr sz="800" b="0" i="0">
                <a:solidFill>
                  <a:srgbClr val="A6ADBA"/>
                </a:solidFill>
                <a:latin typeface="Arial"/>
              </a:rPr>
              <a:t>Sources: GameAnalytics — 2026 Mobile &amp; PC Gaming Benchmarks  ·  FACT//DUEL internal — numbers.md §3.2, status paragraph and §5.15  ·  FACT//DUEL internal — repository — product code, unaudited</a:t>
            </a:r>
          </a:p>
          <a:p>
            <a:pPr>
              <a:lnSpc>
                <a:spcPct val="115000"/>
              </a:lnSpc>
            </a:pPr>
            <a:r>
              <a:rPr sz="800" b="0" i="0">
                <a:solidFill>
                  <a:srgbClr val="A6ADBA"/>
                </a:solidFill>
                <a:latin typeface="Arial"/>
              </a:rPr>
              <a:t>FACT//DUEL internal — numbers.md §7.1 and §7.2  ·  SEC — Duolingo FY2025 shareholder letter  ·  FACT//DUEL internal — numbers.md §1.1 and §1.6</a:t>
            </a:r>
          </a:p>
        </p:txBody>
      </p:sp>
      <p:sp>
        <p:nvSpPr>
          <p:cNvPr id="7" name="TextBox 6"/>
          <p:cNvSpPr txBox="1"/>
          <p:nvPr/>
        </p:nvSpPr>
        <p:spPr>
          <a:xfrm>
            <a:off x="566928" y="1993392"/>
            <a:ext cx="11057839" cy="3913631"/>
          </a:xfrm>
          <a:prstGeom prst="rect">
            <a:avLst/>
          </a:prstGeom>
          <a:noFill/>
        </p:spPr>
        <p:txBody>
          <a:bodyPr wrap="square" lIns="0" rIns="0" tIns="0" bIns="0" anchor="t">
            <a:spAutoFit/>
          </a:bodyPr>
          <a:lstStyle/>
          <a:p>
            <a:pPr marL="306731" indent="-306731">
              <a:lnSpc>
                <a:spcPct val="116000"/>
              </a:lnSpc>
              <a:buClr>
                <a:srgbClr val="D4FF3A"/>
              </a:buClr>
              <a:buFont typeface="Arial"/>
              <a:buChar char="—"/>
            </a:pPr>
            <a:r>
              <a:rPr sz="1800" b="0" i="0">
                <a:solidFill>
                  <a:srgbClr val="F7F6EF"/>
                </a:solidFill>
                <a:latin typeface="Arial"/>
              </a:rPr>
              <a:t>Retention is the gate. Monetisation is downstream of a number we do not have.</a:t>
            </a:r>
          </a:p>
          <a:p>
            <a:pPr marL="306731" indent="-306731">
              <a:lnSpc>
                <a:spcPct val="116000"/>
              </a:lnSpc>
              <a:spcBef>
                <a:spcPts val="990"/>
              </a:spcBef>
              <a:buClr>
                <a:srgbClr val="D4FF3A"/>
              </a:buClr>
              <a:buFont typeface="Arial"/>
              <a:buChar char="—"/>
            </a:pPr>
            <a:r>
              <a:rPr sz="1800" b="0" i="0">
                <a:solidFill>
                  <a:srgbClr val="F7F6EF"/>
                </a:solidFill>
                <a:latin typeface="Arial"/>
              </a:rPr>
              <a:t>Around the duel, product description rather than audited fact: XP, streaks, quests, cosmetics — copying the streak/XP/quest shape Duolingo monetises (§1.1, §1.6).</a:t>
            </a:r>
          </a:p>
          <a:p>
            <a:pPr marL="306731" indent="-306731">
              <a:lnSpc>
                <a:spcPct val="116000"/>
              </a:lnSpc>
              <a:spcBef>
                <a:spcPts val="990"/>
              </a:spcBef>
              <a:buClr>
                <a:srgbClr val="D4FF3A"/>
              </a:buClr>
              <a:buFont typeface="Arial"/>
              <a:buChar char="—"/>
            </a:pPr>
            <a:r>
              <a:rPr sz="1800" b="0" i="0">
                <a:solidFill>
                  <a:srgbClr val="F7F6EF"/>
                </a:solidFill>
                <a:latin typeface="Arial"/>
              </a:rPr>
              <a:t>We have measured no session length and no retention benefit, for the duel or any mechanic around it (numbers.md §5.15, §7.1).</a:t>
            </a:r>
          </a:p>
          <a:p>
            <a:pPr marL="306731" indent="-306731">
              <a:lnSpc>
                <a:spcPct val="116000"/>
              </a:lnSpc>
              <a:spcBef>
                <a:spcPts val="990"/>
              </a:spcBef>
              <a:buClr>
                <a:srgbClr val="D4FF3A"/>
              </a:buClr>
              <a:buFont typeface="Arial"/>
              <a:buChar char="—"/>
            </a:pPr>
            <a:r>
              <a:rPr sz="1800" b="0" i="0">
                <a:solidFill>
                  <a:srgbClr val="F7F6EF"/>
                </a:solidFill>
                <a:latin typeface="Arial"/>
              </a:rPr>
              <a:t>Zero revenue today (status paragraph, §5.15). Monetisation is sequenced last by choice; nothing in our evidence base proves that choice works.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E14"/>
        </a:solidFill>
        <a:effectLst/>
      </p:bgPr>
    </p:bg>
    <p:spTree>
      <p:nvGrpSpPr>
        <p:cNvPr id="1" name=""/>
        <p:cNvGrpSpPr/>
        <p:nvPr/>
      </p:nvGrpSpPr>
      <p:grpSpPr/>
      <p:sp>
        <p:nvSpPr>
          <p:cNvPr id="2" name="Title 1"/>
          <p:cNvSpPr>
            <a:spLocks noGrp="1"/>
          </p:cNvSpPr>
          <p:nvPr>
            <p:ph type="title"/>
          </p:nvPr>
        </p:nvSpPr>
        <p:spPr>
          <a:xfrm>
            <a:off x="566928" y="658368"/>
            <a:ext cx="11057839" cy="1133856"/>
          </a:xfrm>
        </p:spPr>
        <p:txBody>
          <a:bodyPr wrap="square" lIns="0" rIns="0" tIns="0" bIns="0" anchor="t"/>
          <a:lstStyle/>
          <a:p>
            <a:pPr>
              <a:lnSpc>
                <a:spcPct val="108000"/>
              </a:lnSpc>
            </a:pPr>
            <a:r>
              <a:rPr sz="4000" b="1" i="0">
                <a:solidFill>
                  <a:srgbClr val="F7F6EF"/>
                </a:solidFill>
                <a:latin typeface="Arial"/>
              </a:rPr>
              <a:t>Play a complete duel in a browser, on a phone — about fifteen seconds.</a:t>
            </a:r>
          </a:p>
        </p:txBody>
      </p:sp>
      <p:sp>
        <p:nvSpPr>
          <p:cNvPr id="3" name="TextBox 2"/>
          <p:cNvSpPr txBox="1"/>
          <p:nvPr/>
        </p:nvSpPr>
        <p:spPr>
          <a:xfrm>
            <a:off x="566928" y="365760"/>
            <a:ext cx="11057839" cy="219456"/>
          </a:xfrm>
          <a:prstGeom prst="rect">
            <a:avLst/>
          </a:prstGeom>
          <a:noFill/>
        </p:spPr>
        <p:txBody>
          <a:bodyPr wrap="square" lIns="0" rIns="0" tIns="0" bIns="0" anchor="t">
            <a:spAutoFit/>
          </a:bodyPr>
          <a:lstStyle/>
          <a:p>
            <a:r>
              <a:rPr sz="1100" b="1" i="0" spc="160">
                <a:solidFill>
                  <a:srgbClr val="D4FF3A"/>
                </a:solidFill>
                <a:latin typeface="Arial"/>
              </a:rPr>
              <a:t>PRODUCT — DO NOT TAKE OUR WORD FOR IT</a:t>
            </a:r>
          </a:p>
        </p:txBody>
      </p:sp>
      <p:sp>
        <p:nvSpPr>
          <p:cNvPr id="4" name="Rectangle 3"/>
          <p:cNvSpPr/>
          <p:nvPr/>
        </p:nvSpPr>
        <p:spPr>
          <a:xfrm>
            <a:off x="566928" y="6035040"/>
            <a:ext cx="11057839" cy="11887"/>
          </a:xfrm>
          <a:prstGeom prst="rect">
            <a:avLst/>
          </a:prstGeom>
          <a:solidFill>
            <a:srgbClr val="D4F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664647" y="6144768"/>
            <a:ext cx="960120" cy="274320"/>
          </a:xfrm>
          <a:prstGeom prst="rect">
            <a:avLst/>
          </a:prstGeom>
          <a:noFill/>
        </p:spPr>
        <p:txBody>
          <a:bodyPr wrap="square" lIns="0" rIns="0" tIns="0" bIns="0" anchor="t">
            <a:spAutoFit/>
          </a:bodyPr>
          <a:lstStyle/>
          <a:p>
            <a:pPr algn="r"/>
            <a:r>
              <a:rPr sz="950" b="1" i="0" spc="60">
                <a:solidFill>
                  <a:srgbClr val="A6ADBA"/>
                </a:solidFill>
                <a:latin typeface="Arial"/>
              </a:rPr>
              <a:t>5</a:t>
            </a:r>
          </a:p>
        </p:txBody>
      </p:sp>
      <p:sp>
        <p:nvSpPr>
          <p:cNvPr id="6" name="TextBox 5"/>
          <p:cNvSpPr txBox="1"/>
          <p:nvPr/>
        </p:nvSpPr>
        <p:spPr>
          <a:xfrm>
            <a:off x="566928" y="6144768"/>
            <a:ext cx="9869119" cy="548640"/>
          </a:xfrm>
          <a:prstGeom prst="rect">
            <a:avLst/>
          </a:prstGeom>
          <a:noFill/>
        </p:spPr>
        <p:txBody>
          <a:bodyPr wrap="square" lIns="0" rIns="0" tIns="0" bIns="0" anchor="t">
            <a:spAutoFit/>
          </a:bodyPr>
          <a:lstStyle/>
          <a:p>
            <a:pPr>
              <a:lnSpc>
                <a:spcPct val="115000"/>
              </a:lnSpc>
            </a:pPr>
            <a:r>
              <a:rPr sz="800" b="0" i="0">
                <a:solidFill>
                  <a:srgbClr val="A6ADBA"/>
                </a:solidFill>
                <a:latin typeface="Arial"/>
              </a:rPr>
              <a:t>Sources: FACT//DUEL internal — numbers.md — status paragraph, §4.4 and §7.1-§7.2  ·  FACT//DUEL internal — repository — product code, unaudited  ·  DocSend — per-section dwell times</a:t>
            </a:r>
          </a:p>
          <a:p>
            <a:pPr>
              <a:lnSpc>
                <a:spcPct val="115000"/>
              </a:lnSpc>
            </a:pPr>
            <a:r>
              <a:rPr sz="800" b="0" i="0">
                <a:solidFill>
                  <a:srgbClr val="A6ADBA"/>
                </a:solidFill>
                <a:latin typeface="Arial"/>
              </a:rPr>
              <a:t>FACT//DUEL internal — numbers.md — status paragraph and §5.15  ·  FACT//DUEL internal — numbers.md §2.3, §4.3 and §4.4  ·  FACT//DUEL internal — numbers.md §7.1 and §7.2</a:t>
            </a:r>
          </a:p>
        </p:txBody>
      </p:sp>
      <p:sp>
        <p:nvSpPr>
          <p:cNvPr id="7" name="TextBox 6"/>
          <p:cNvSpPr txBox="1"/>
          <p:nvPr/>
        </p:nvSpPr>
        <p:spPr>
          <a:xfrm>
            <a:off x="566928" y="1993392"/>
            <a:ext cx="4754880" cy="3913631"/>
          </a:xfrm>
          <a:prstGeom prst="rect">
            <a:avLst/>
          </a:prstGeom>
          <a:noFill/>
        </p:spPr>
        <p:txBody>
          <a:bodyPr wrap="square" lIns="0" rIns="0" tIns="0" bIns="0" anchor="t">
            <a:spAutoFit/>
          </a:bodyPr>
          <a:lstStyle/>
          <a:p>
            <a:pPr marL="255604" indent="-255604">
              <a:lnSpc>
                <a:spcPct val="116000"/>
              </a:lnSpc>
              <a:buClr>
                <a:srgbClr val="D4FF3A"/>
              </a:buClr>
              <a:buFont typeface="Arial"/>
              <a:buChar char="—"/>
            </a:pPr>
            <a:r>
              <a:rPr sz="1500" b="0" i="0">
                <a:solidFill>
                  <a:srgbClr val="F7F6EF"/>
                </a:solidFill>
                <a:latin typeface="Arial"/>
              </a:rPr>
              <a:t>Open https://occult-kranti.github.io/fact-duel/ on a phone: the static build runs the entire game in a browser, keeping the real duel engine.</a:t>
            </a:r>
          </a:p>
          <a:p>
            <a:pPr marL="255604" indent="-255604">
              <a:lnSpc>
                <a:spcPct val="116000"/>
              </a:lnSpc>
              <a:spcBef>
                <a:spcPts val="825"/>
              </a:spcBef>
              <a:buClr>
                <a:srgbClr val="D4FF3A"/>
              </a:buClr>
              <a:buFont typeface="Arial"/>
              <a:buChar char="—"/>
            </a:pPr>
            <a:r>
              <a:rPr sz="1500" b="0" i="0">
                <a:solidFill>
                  <a:srgbClr val="F7F6EF"/>
                </a:solidFill>
                <a:latin typeface="Arial"/>
              </a:rPr>
              <a:t>Two-device friend duels need a server and are disabled in that build, with an on-screen notice.</a:t>
            </a:r>
          </a:p>
          <a:p>
            <a:pPr marL="255604" indent="-255604">
              <a:lnSpc>
                <a:spcPct val="116000"/>
              </a:lnSpc>
              <a:spcBef>
                <a:spcPts val="825"/>
              </a:spcBef>
              <a:buClr>
                <a:srgbClr val="D4FF3A"/>
              </a:buClr>
              <a:buFont typeface="Arial"/>
              <a:buChar char="—"/>
            </a:pPr>
            <a:r>
              <a:rPr sz="1500" b="0" i="0">
                <a:solidFill>
                  <a:srgbClr val="F7F6EF"/>
                </a:solidFill>
                <a:latin typeface="Arial"/>
              </a:rPr>
              <a:t>Between duels: solo expedition routes and a hand-checked static event calendar — no live feed, no scores API, no rights deal.</a:t>
            </a:r>
          </a:p>
          <a:p>
            <a:pPr marL="255604" indent="-255604">
              <a:lnSpc>
                <a:spcPct val="116000"/>
              </a:lnSpc>
              <a:spcBef>
                <a:spcPts val="825"/>
              </a:spcBef>
              <a:buClr>
                <a:srgbClr val="D4FF3A"/>
              </a:buClr>
              <a:buFont typeface="Arial"/>
              <a:buChar char="—"/>
            </a:pPr>
            <a:r>
              <a:rPr sz="1500" b="0" i="0">
                <a:solidFill>
                  <a:srgbClr val="F7F6EF"/>
                </a:solidFill>
                <a:latin typeface="Arial"/>
              </a:rPr>
              <a:t>The practice opponent carries a BOT badge (app/screens/play/opponent-picker.tsx); a full integrity answer is milestone 5 (§4.4), before monetisation.</a:t>
            </a:r>
          </a:p>
          <a:p>
            <a:pPr marL="255604" indent="-255604">
              <a:lnSpc>
                <a:spcPct val="116000"/>
              </a:lnSpc>
              <a:spcBef>
                <a:spcPts val="825"/>
              </a:spcBef>
              <a:buClr>
                <a:srgbClr val="D4FF3A"/>
              </a:buClr>
              <a:buFont typeface="Arial"/>
              <a:buChar char="—"/>
            </a:pPr>
            <a:r>
              <a:rPr sz="1500" b="0" i="0">
                <a:solidFill>
                  <a:srgbClr val="F7F6EF"/>
                </a:solidFill>
                <a:latin typeface="Arial"/>
              </a:rPr>
              <a:t>Playable is not traction: no users outside a private playtest, no revenue, 54 sample questions, no retention effect measured (§7.1).</a:t>
            </a:r>
          </a:p>
        </p:txBody>
      </p:sp>
      <p:sp>
        <p:nvSpPr>
          <p:cNvPr id="8" name="Rectangle 7"/>
          <p:cNvSpPr/>
          <p:nvPr/>
        </p:nvSpPr>
        <p:spPr>
          <a:xfrm>
            <a:off x="5669280" y="2277317"/>
            <a:ext cx="4325464" cy="3345781"/>
          </a:xfrm>
          <a:prstGeom prst="rect">
            <a:avLst/>
          </a:prstGeom>
          <a:solidFill>
            <a:srgbClr val="1218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desktop-home.png"/>
          <p:cNvPicPr>
            <a:picLocks noChangeAspect="1"/>
          </p:cNvPicPr>
          <p:nvPr/>
        </p:nvPicPr>
        <p:blipFill>
          <a:blip r:embed="rId2"/>
          <a:stretch>
            <a:fillRect/>
          </a:stretch>
        </p:blipFill>
        <p:spPr>
          <a:xfrm>
            <a:off x="5769864" y="2377901"/>
            <a:ext cx="4124296" cy="2577685"/>
          </a:xfrm>
          <a:prstGeom prst="rect">
            <a:avLst/>
          </a:prstGeom>
        </p:spPr>
      </p:pic>
      <p:sp>
        <p:nvSpPr>
          <p:cNvPr id="10" name="TextBox 9"/>
          <p:cNvSpPr txBox="1"/>
          <p:nvPr/>
        </p:nvSpPr>
        <p:spPr>
          <a:xfrm>
            <a:off x="5769864" y="5019594"/>
            <a:ext cx="4124296" cy="457200"/>
          </a:xfrm>
          <a:prstGeom prst="rect">
            <a:avLst/>
          </a:prstGeom>
          <a:noFill/>
        </p:spPr>
        <p:txBody>
          <a:bodyPr wrap="square" lIns="0" rIns="0" tIns="0" bIns="0" anchor="t">
            <a:spAutoFit/>
          </a:bodyPr>
          <a:lstStyle/>
          <a:p>
            <a:pPr>
              <a:lnSpc>
                <a:spcPct val="112000"/>
              </a:lnSpc>
            </a:pPr>
            <a:r>
              <a:rPr sz="950" b="0" i="0">
                <a:solidFill>
                  <a:srgbClr val="A6ADBA"/>
                </a:solidFill>
                <a:latin typeface="Arial"/>
              </a:rPr>
              <a:t>Home: level and XP, day streak, gems, Arena Rank, the day's quests, one-tap duel.</a:t>
            </a:r>
          </a:p>
        </p:txBody>
      </p:sp>
      <p:sp>
        <p:nvSpPr>
          <p:cNvPr id="11" name="Rectangle 10"/>
          <p:cNvSpPr/>
          <p:nvPr/>
        </p:nvSpPr>
        <p:spPr>
          <a:xfrm>
            <a:off x="10232488" y="2277317"/>
            <a:ext cx="1392278" cy="3345781"/>
          </a:xfrm>
          <a:prstGeom prst="rect">
            <a:avLst/>
          </a:prstGeom>
          <a:solidFill>
            <a:srgbClr val="1218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phone-home.png"/>
          <p:cNvPicPr>
            <a:picLocks noChangeAspect="1"/>
          </p:cNvPicPr>
          <p:nvPr/>
        </p:nvPicPr>
        <p:blipFill>
          <a:blip r:embed="rId3"/>
          <a:stretch>
            <a:fillRect/>
          </a:stretch>
        </p:blipFill>
        <p:spPr>
          <a:xfrm>
            <a:off x="10333072" y="2377901"/>
            <a:ext cx="1191110" cy="2577685"/>
          </a:xfrm>
          <a:prstGeom prst="rect">
            <a:avLst/>
          </a:prstGeom>
        </p:spPr>
      </p:pic>
      <p:sp>
        <p:nvSpPr>
          <p:cNvPr id="13" name="TextBox 12"/>
          <p:cNvSpPr txBox="1"/>
          <p:nvPr/>
        </p:nvSpPr>
        <p:spPr>
          <a:xfrm>
            <a:off x="10333072" y="5019594"/>
            <a:ext cx="1191110" cy="457200"/>
          </a:xfrm>
          <a:prstGeom prst="rect">
            <a:avLst/>
          </a:prstGeom>
          <a:noFill/>
        </p:spPr>
        <p:txBody>
          <a:bodyPr wrap="square" lIns="0" rIns="0" tIns="0" bIns="0" anchor="t">
            <a:spAutoFit/>
          </a:bodyPr>
          <a:lstStyle/>
          <a:p>
            <a:pPr>
              <a:lnSpc>
                <a:spcPct val="112000"/>
              </a:lnSpc>
            </a:pPr>
            <a:r>
              <a:rPr sz="950" b="0" i="0">
                <a:solidFill>
                  <a:srgbClr val="A6ADBA"/>
                </a:solidFill>
                <a:latin typeface="Arial"/>
              </a:rPr>
              <a:t>Home on a phone.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E14"/>
        </a:solidFill>
        <a:effectLst/>
      </p:bgPr>
    </p:bg>
    <p:spTree>
      <p:nvGrpSpPr>
        <p:cNvPr id="1" name=""/>
        <p:cNvGrpSpPr/>
        <p:nvPr/>
      </p:nvGrpSpPr>
      <p:grpSpPr/>
      <p:sp>
        <p:nvSpPr>
          <p:cNvPr id="2" name="Title 1"/>
          <p:cNvSpPr>
            <a:spLocks noGrp="1"/>
          </p:cNvSpPr>
          <p:nvPr>
            <p:ph type="title"/>
          </p:nvPr>
        </p:nvSpPr>
        <p:spPr>
          <a:xfrm>
            <a:off x="566928" y="658368"/>
            <a:ext cx="11057839" cy="1133856"/>
          </a:xfrm>
        </p:spPr>
        <p:txBody>
          <a:bodyPr wrap="square" lIns="0" rIns="0" tIns="0" bIns="0" anchor="t"/>
          <a:lstStyle/>
          <a:p>
            <a:pPr>
              <a:lnSpc>
                <a:spcPct val="108000"/>
              </a:lnSpc>
            </a:pPr>
            <a:r>
              <a:rPr sz="4000" b="1" i="0">
                <a:solidFill>
                  <a:srgbClr val="F7F6EF"/>
                </a:solidFill>
                <a:latin typeface="Arial"/>
              </a:rPr>
              <a:t>TAM-A is $1.69bn–$2.83bn, built bottom-up from one population forecast and two filings.</a:t>
            </a:r>
          </a:p>
        </p:txBody>
      </p:sp>
      <p:sp>
        <p:nvSpPr>
          <p:cNvPr id="3" name="TextBox 2"/>
          <p:cNvSpPr txBox="1"/>
          <p:nvPr/>
        </p:nvSpPr>
        <p:spPr>
          <a:xfrm>
            <a:off x="566928" y="365760"/>
            <a:ext cx="11057839" cy="219456"/>
          </a:xfrm>
          <a:prstGeom prst="rect">
            <a:avLst/>
          </a:prstGeom>
          <a:noFill/>
        </p:spPr>
        <p:txBody>
          <a:bodyPr wrap="square" lIns="0" rIns="0" tIns="0" bIns="0" anchor="t">
            <a:spAutoFit/>
          </a:bodyPr>
          <a:lstStyle/>
          <a:p>
            <a:r>
              <a:rPr sz="1100" b="1" i="0" spc="160">
                <a:solidFill>
                  <a:srgbClr val="D4FF3A"/>
                </a:solidFill>
                <a:latin typeface="Arial"/>
              </a:rPr>
              <a:t>MARKET</a:t>
            </a:r>
          </a:p>
        </p:txBody>
      </p:sp>
      <p:sp>
        <p:nvSpPr>
          <p:cNvPr id="4" name="Rectangle 3"/>
          <p:cNvSpPr/>
          <p:nvPr/>
        </p:nvSpPr>
        <p:spPr>
          <a:xfrm>
            <a:off x="566928" y="6035040"/>
            <a:ext cx="11057839" cy="11887"/>
          </a:xfrm>
          <a:prstGeom prst="rect">
            <a:avLst/>
          </a:prstGeom>
          <a:solidFill>
            <a:srgbClr val="D4F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664647" y="6144768"/>
            <a:ext cx="960120" cy="274320"/>
          </a:xfrm>
          <a:prstGeom prst="rect">
            <a:avLst/>
          </a:prstGeom>
          <a:noFill/>
        </p:spPr>
        <p:txBody>
          <a:bodyPr wrap="square" lIns="0" rIns="0" tIns="0" bIns="0" anchor="t">
            <a:spAutoFit/>
          </a:bodyPr>
          <a:lstStyle/>
          <a:p>
            <a:pPr algn="r"/>
            <a:r>
              <a:rPr sz="950" b="1" i="0" spc="60">
                <a:solidFill>
                  <a:srgbClr val="A6ADBA"/>
                </a:solidFill>
                <a:latin typeface="Arial"/>
              </a:rPr>
              <a:t>6</a:t>
            </a:r>
          </a:p>
        </p:txBody>
      </p:sp>
      <p:sp>
        <p:nvSpPr>
          <p:cNvPr id="6" name="TextBox 5"/>
          <p:cNvSpPr txBox="1"/>
          <p:nvPr/>
        </p:nvSpPr>
        <p:spPr>
          <a:xfrm>
            <a:off x="566928" y="6144768"/>
            <a:ext cx="9869119" cy="548640"/>
          </a:xfrm>
          <a:prstGeom prst="rect">
            <a:avLst/>
          </a:prstGeom>
          <a:noFill/>
        </p:spPr>
        <p:txBody>
          <a:bodyPr wrap="square" lIns="0" rIns="0" tIns="0" bIns="0" anchor="t">
            <a:spAutoFit/>
          </a:bodyPr>
          <a:lstStyle/>
          <a:p>
            <a:pPr>
              <a:lnSpc>
                <a:spcPct val="115000"/>
              </a:lnSpc>
            </a:pPr>
            <a:r>
              <a:rPr sz="800" b="0" i="0">
                <a:solidFill>
                  <a:srgbClr val="A6ADBA"/>
                </a:solidFill>
                <a:latin typeface="Arial"/>
              </a:rPr>
              <a:t>Sources: EMARKETER — second-screen engagement during live sport  ·  SEC — Duolingo FY2025 shareholder letter  ·  MAG Interactive — Q3 2025/26 interim report</a:t>
            </a:r>
          </a:p>
        </p:txBody>
      </p:sp>
      <p:sp>
        <p:nvSpPr>
          <p:cNvPr id="7" name="TextBox 6"/>
          <p:cNvSpPr txBox="1"/>
          <p:nvPr/>
        </p:nvSpPr>
        <p:spPr>
          <a:xfrm>
            <a:off x="566928" y="1993392"/>
            <a:ext cx="5114239" cy="3913631"/>
          </a:xfrm>
          <a:prstGeom prst="rect">
            <a:avLst/>
          </a:prstGeom>
          <a:noFill/>
        </p:spPr>
        <p:txBody>
          <a:bodyPr wrap="square" lIns="0" rIns="0" tIns="0" bIns="0" anchor="t">
            <a:spAutoFit/>
          </a:bodyPr>
          <a:lstStyle/>
          <a:p>
            <a:pPr marL="281154" indent="-281154">
              <a:lnSpc>
                <a:spcPct val="116000"/>
              </a:lnSpc>
              <a:buClr>
                <a:srgbClr val="D4FF3A"/>
              </a:buClr>
              <a:buFont typeface="Arial"/>
              <a:buChar char="—"/>
            </a:pPr>
            <a:r>
              <a:rPr sz="1650" b="0" i="0">
                <a:solidFill>
                  <a:srgbClr val="F7F6EF"/>
                </a:solidFill>
                <a:latin typeface="Arial"/>
              </a:rPr>
              <a:t>EMARKETER's 2026 forecast of 216.8M US second-screen adults × </a:t>
            </a:r>
            <a:r>
              <a:rPr sz="1650" b="0" i="0">
                <a:solidFill>
                  <a:srgbClr val="FFC83D"/>
                </a:solidFill>
                <a:latin typeface="Arial"/>
              </a:rPr>
              <a:t>$7.80</a:t>
            </a:r>
            <a:r>
              <a:rPr sz="1650" b="0" i="0">
                <a:solidFill>
                  <a:srgbClr val="F7F6EF"/>
                </a:solidFill>
                <a:latin typeface="Arial"/>
              </a:rPr>
              <a:t>–</a:t>
            </a:r>
            <a:r>
              <a:rPr sz="1650" b="0" i="0">
                <a:solidFill>
                  <a:srgbClr val="FFC83D"/>
                </a:solidFill>
                <a:latin typeface="Arial"/>
              </a:rPr>
              <a:t>$13.07</a:t>
            </a:r>
            <a:r>
              <a:rPr sz="1650" b="0" i="0">
                <a:solidFill>
                  <a:srgbClr val="F7F6EF"/>
                </a:solidFill>
                <a:latin typeface="Arial"/>
              </a:rPr>
              <a:t> revenue per active user per year = </a:t>
            </a:r>
            <a:r>
              <a:rPr sz="1650" b="0" i="0">
                <a:solidFill>
                  <a:srgbClr val="FFC83D"/>
                </a:solidFill>
                <a:latin typeface="Arial"/>
              </a:rPr>
              <a:t>$1.69bn</a:t>
            </a:r>
            <a:r>
              <a:rPr sz="1650" b="0" i="0">
                <a:solidFill>
                  <a:srgbClr val="F7F6EF"/>
                </a:solidFill>
                <a:latin typeface="Arial"/>
              </a:rPr>
              <a:t>–</a:t>
            </a:r>
            <a:r>
              <a:rPr sz="1650" b="0" i="0">
                <a:solidFill>
                  <a:srgbClr val="FFC83D"/>
                </a:solidFill>
                <a:latin typeface="Arial"/>
              </a:rPr>
              <a:t>$2.83bn</a:t>
            </a:r>
            <a:r>
              <a:rPr sz="1650" b="0" i="0">
                <a:solidFill>
                  <a:srgbClr val="F7F6EF"/>
                </a:solidFill>
                <a:latin typeface="Arial"/>
              </a:rPr>
              <a:t>.</a:t>
            </a:r>
          </a:p>
          <a:p>
            <a:pPr marL="281154" indent="-281154">
              <a:lnSpc>
                <a:spcPct val="116000"/>
              </a:lnSpc>
              <a:spcBef>
                <a:spcPts val="907"/>
              </a:spcBef>
              <a:buClr>
                <a:srgbClr val="D4FF3A"/>
              </a:buClr>
              <a:buFont typeface="Arial"/>
              <a:buChar char="—"/>
            </a:pPr>
            <a:r>
              <a:rPr sz="1650" b="0" i="0">
                <a:solidFill>
                  <a:srgbClr val="F7F6EF"/>
                </a:solidFill>
                <a:latin typeface="Arial"/>
              </a:rPr>
              <a:t>ARPU low </a:t>
            </a:r>
            <a:r>
              <a:rPr sz="1650" b="0" i="0">
                <a:solidFill>
                  <a:srgbClr val="FFC83D"/>
                </a:solidFill>
                <a:latin typeface="Arial"/>
              </a:rPr>
              <a:t>$7.80,</a:t>
            </a:r>
            <a:r>
              <a:rPr sz="1650" b="0" i="0">
                <a:solidFill>
                  <a:srgbClr val="F7F6EF"/>
                </a:solidFill>
                <a:latin typeface="Arial"/>
              </a:rPr>
              <a:t> our arithmetic, not a published ratio: Duolingo FY2025 revenue ÷ 133.1M MAU at 31 Dec 2025.</a:t>
            </a:r>
          </a:p>
          <a:p>
            <a:pPr marL="281154" indent="-281154">
              <a:lnSpc>
                <a:spcPct val="116000"/>
              </a:lnSpc>
              <a:spcBef>
                <a:spcPts val="907"/>
              </a:spcBef>
              <a:buClr>
                <a:srgbClr val="D4FF3A"/>
              </a:buClr>
              <a:buFont typeface="Arial"/>
              <a:buChar char="—"/>
            </a:pPr>
            <a:r>
              <a:rPr sz="1650" b="0" i="0">
                <a:solidFill>
                  <a:srgbClr val="F7F6EF"/>
                </a:solidFill>
                <a:latin typeface="Arial"/>
              </a:rPr>
              <a:t>ARPU high </a:t>
            </a:r>
            <a:r>
              <a:rPr sz="1650" b="0" i="0">
                <a:solidFill>
                  <a:srgbClr val="FFC83D"/>
                </a:solidFill>
                <a:latin typeface="Arial"/>
              </a:rPr>
              <a:t>$13.07,</a:t>
            </a:r>
            <a:r>
              <a:rPr sz="1650" b="0" i="0">
                <a:solidFill>
                  <a:srgbClr val="F7F6EF"/>
                </a:solidFill>
                <a:latin typeface="Arial"/>
              </a:rPr>
              <a:t> also ours: MAG Interactive nine-month group net sales ÷ group MAU, annualised; unaudited interim, portfolio-wide, not QuizDuel standalone.</a:t>
            </a:r>
          </a:p>
          <a:p>
            <a:pPr marL="281154" indent="-281154">
              <a:lnSpc>
                <a:spcPct val="116000"/>
              </a:lnSpc>
              <a:spcBef>
                <a:spcPts val="907"/>
              </a:spcBef>
              <a:buClr>
                <a:srgbClr val="D4FF3A"/>
              </a:buClr>
              <a:buFont typeface="Arial"/>
              <a:buChar char="—"/>
            </a:pPr>
            <a:r>
              <a:rPr sz="1650" b="0" i="0">
                <a:solidFill>
                  <a:srgbClr val="F7F6EF"/>
                </a:solidFill>
                <a:latin typeface="Arial"/>
              </a:rPr>
              <a:t>Upper bound only: no activation, retention or conversion discount is applied.</a:t>
            </a:r>
          </a:p>
        </p:txBody>
      </p:sp>
      <p:pic>
        <p:nvPicPr>
          <p:cNvPr id="8" name="Picture 7" descr="tam-sam-som.png"/>
          <p:cNvPicPr>
            <a:picLocks noChangeAspect="1"/>
          </p:cNvPicPr>
          <p:nvPr/>
        </p:nvPicPr>
        <p:blipFill>
          <a:blip r:embed="rId2"/>
          <a:stretch>
            <a:fillRect/>
          </a:stretch>
        </p:blipFill>
        <p:spPr>
          <a:xfrm>
            <a:off x="6001207" y="2241140"/>
            <a:ext cx="5623560" cy="3418134"/>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E14"/>
        </a:solidFill>
        <a:effectLst/>
      </p:bgPr>
    </p:bg>
    <p:spTree>
      <p:nvGrpSpPr>
        <p:cNvPr id="1" name=""/>
        <p:cNvGrpSpPr/>
        <p:nvPr/>
      </p:nvGrpSpPr>
      <p:grpSpPr/>
      <p:sp>
        <p:nvSpPr>
          <p:cNvPr id="2" name="Title 1"/>
          <p:cNvSpPr>
            <a:spLocks noGrp="1"/>
          </p:cNvSpPr>
          <p:nvPr>
            <p:ph type="title"/>
          </p:nvPr>
        </p:nvSpPr>
        <p:spPr>
          <a:xfrm>
            <a:off x="566928" y="658368"/>
            <a:ext cx="11057839" cy="1133856"/>
          </a:xfrm>
        </p:spPr>
        <p:txBody>
          <a:bodyPr wrap="square" lIns="0" rIns="0" tIns="0" bIns="0" anchor="t"/>
          <a:lstStyle/>
          <a:p>
            <a:pPr>
              <a:lnSpc>
                <a:spcPct val="108000"/>
              </a:lnSpc>
            </a:pPr>
            <a:r>
              <a:rPr sz="4000" b="1" i="0">
                <a:solidFill>
                  <a:srgbClr val="F7F6EF"/>
                </a:solidFill>
                <a:latin typeface="Arial"/>
              </a:rPr>
              <a:t>Why now is who left the duel, not what technology arrived.</a:t>
            </a:r>
          </a:p>
        </p:txBody>
      </p:sp>
      <p:sp>
        <p:nvSpPr>
          <p:cNvPr id="3" name="TextBox 2"/>
          <p:cNvSpPr txBox="1"/>
          <p:nvPr/>
        </p:nvSpPr>
        <p:spPr>
          <a:xfrm>
            <a:off x="566928" y="365760"/>
            <a:ext cx="11057839" cy="219456"/>
          </a:xfrm>
          <a:prstGeom prst="rect">
            <a:avLst/>
          </a:prstGeom>
          <a:noFill/>
        </p:spPr>
        <p:txBody>
          <a:bodyPr wrap="square" lIns="0" rIns="0" tIns="0" bIns="0" anchor="t">
            <a:spAutoFit/>
          </a:bodyPr>
          <a:lstStyle/>
          <a:p>
            <a:r>
              <a:rPr sz="1100" b="1" i="0" spc="160">
                <a:solidFill>
                  <a:srgbClr val="D4FF3A"/>
                </a:solidFill>
                <a:latin typeface="Arial"/>
              </a:rPr>
              <a:t>WHY NOW</a:t>
            </a:r>
          </a:p>
        </p:txBody>
      </p:sp>
      <p:sp>
        <p:nvSpPr>
          <p:cNvPr id="4" name="Rectangle 3"/>
          <p:cNvSpPr/>
          <p:nvPr/>
        </p:nvSpPr>
        <p:spPr>
          <a:xfrm>
            <a:off x="566928" y="6035040"/>
            <a:ext cx="11057839" cy="11887"/>
          </a:xfrm>
          <a:prstGeom prst="rect">
            <a:avLst/>
          </a:prstGeom>
          <a:solidFill>
            <a:srgbClr val="D4F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664647" y="6144768"/>
            <a:ext cx="960120" cy="274320"/>
          </a:xfrm>
          <a:prstGeom prst="rect">
            <a:avLst/>
          </a:prstGeom>
          <a:noFill/>
        </p:spPr>
        <p:txBody>
          <a:bodyPr wrap="square" lIns="0" rIns="0" tIns="0" bIns="0" anchor="t">
            <a:spAutoFit/>
          </a:bodyPr>
          <a:lstStyle/>
          <a:p>
            <a:pPr algn="r"/>
            <a:r>
              <a:rPr sz="950" b="1" i="0" spc="60">
                <a:solidFill>
                  <a:srgbClr val="A6ADBA"/>
                </a:solidFill>
                <a:latin typeface="Arial"/>
              </a:rPr>
              <a:t>7</a:t>
            </a:r>
          </a:p>
        </p:txBody>
      </p:sp>
      <p:sp>
        <p:nvSpPr>
          <p:cNvPr id="6" name="TextBox 5"/>
          <p:cNvSpPr txBox="1"/>
          <p:nvPr/>
        </p:nvSpPr>
        <p:spPr>
          <a:xfrm>
            <a:off x="566928" y="6144768"/>
            <a:ext cx="9869119" cy="548640"/>
          </a:xfrm>
          <a:prstGeom prst="rect">
            <a:avLst/>
          </a:prstGeom>
          <a:noFill/>
        </p:spPr>
        <p:txBody>
          <a:bodyPr wrap="square" lIns="0" rIns="0" tIns="0" bIns="0" anchor="t">
            <a:spAutoFit/>
          </a:bodyPr>
          <a:lstStyle/>
          <a:p>
            <a:pPr>
              <a:lnSpc>
                <a:spcPct val="115000"/>
              </a:lnSpc>
            </a:pPr>
            <a:r>
              <a:rPr sz="800" b="0" i="0">
                <a:solidFill>
                  <a:srgbClr val="A6ADBA"/>
                </a:solidFill>
                <a:latin typeface="Arial"/>
              </a:rPr>
              <a:t>Sources: Google Play — Trivia Crack listing  ·  SEC — Duolingo FY2025 shareholder letter  ·  AppTweak — US store conversion benchmarks, CY2025  ·  FACT//DUEL internal — numbers.md §3.5, §5.2 and §5.14</a:t>
            </a:r>
          </a:p>
        </p:txBody>
      </p:sp>
      <p:sp>
        <p:nvSpPr>
          <p:cNvPr id="7" name="TextBox 6"/>
          <p:cNvSpPr txBox="1"/>
          <p:nvPr/>
        </p:nvSpPr>
        <p:spPr>
          <a:xfrm>
            <a:off x="566928" y="1993392"/>
            <a:ext cx="11057839" cy="3913631"/>
          </a:xfrm>
          <a:prstGeom prst="rect">
            <a:avLst/>
          </a:prstGeom>
          <a:noFill/>
        </p:spPr>
        <p:txBody>
          <a:bodyPr wrap="square" lIns="0" rIns="0" tIns="0" bIns="0" anchor="t">
            <a:spAutoFit/>
          </a:bodyPr>
          <a:lstStyle/>
          <a:p>
            <a:pPr marL="306731" indent="-306731">
              <a:lnSpc>
                <a:spcPct val="116000"/>
              </a:lnSpc>
              <a:buClr>
                <a:srgbClr val="D4FF3A"/>
              </a:buClr>
              <a:buFont typeface="Arial"/>
              <a:buChar char="—"/>
            </a:pPr>
            <a:r>
              <a:rPr sz="1800" b="0" i="0">
                <a:solidFill>
                  <a:srgbClr val="F7F6EF"/>
                </a:solidFill>
                <a:latin typeface="Arial"/>
              </a:rPr>
              <a:t>AppTweak estimates trivia converts worst of ~38 iOS categories: 5.2% page-view-to-install against an 8.56% all-category average (US, CY2025).</a:t>
            </a:r>
          </a:p>
          <a:p>
            <a:pPr marL="306731" indent="-306731">
              <a:lnSpc>
                <a:spcPct val="116000"/>
              </a:lnSpc>
              <a:spcBef>
                <a:spcPts val="990"/>
              </a:spcBef>
              <a:buClr>
                <a:srgbClr val="D4FF3A"/>
              </a:buClr>
              <a:buFont typeface="Arial"/>
              <a:buChar char="—"/>
            </a:pPr>
            <a:r>
              <a:rPr sz="1800" b="0" i="0">
                <a:solidFill>
                  <a:srgbClr val="F7F6EF"/>
                </a:solidFill>
                <a:latin typeface="Arial"/>
              </a:rPr>
              <a:t>Google Play is roughly at par: trivia 19.8% against a 16.15% all-category average, and 19.9% for games.</a:t>
            </a:r>
          </a:p>
          <a:p>
            <a:pPr marL="306731" indent="-306731">
              <a:lnSpc>
                <a:spcPct val="116000"/>
              </a:lnSpc>
              <a:spcBef>
                <a:spcPts val="990"/>
              </a:spcBef>
              <a:buClr>
                <a:srgbClr val="D4FF3A"/>
              </a:buClr>
              <a:buFont typeface="Arial"/>
              <a:buChar char="—"/>
            </a:pPr>
            <a:r>
              <a:rPr sz="1800" b="0" i="0">
                <a:solidFill>
                  <a:srgbClr val="F7F6EF"/>
                </a:solidFill>
                <a:latin typeface="Arial"/>
              </a:rPr>
              <a:t>Both are vendor-measured estimates we read from AppTweak's chart data in our own verification pass; flagged for re-confirmation (§5.2).</a:t>
            </a:r>
          </a:p>
          <a:p>
            <a:pPr marL="306731" indent="-306731">
              <a:lnSpc>
                <a:spcPct val="116000"/>
              </a:lnSpc>
              <a:spcBef>
                <a:spcPts val="990"/>
              </a:spcBef>
              <a:buClr>
                <a:srgbClr val="D4FF3A"/>
              </a:buClr>
              <a:buFont typeface="Arial"/>
              <a:buChar char="—"/>
            </a:pPr>
            <a:r>
              <a:rPr sz="1800" b="0" i="0">
                <a:solidFill>
                  <a:srgbClr val="F7F6EF"/>
                </a:solidFill>
                <a:latin typeface="Arial"/>
              </a:rPr>
              <a:t>A web app never runs the iOS page — an argument, not a measured advantage.</a:t>
            </a:r>
          </a:p>
          <a:p>
            <a:pPr marL="306731" indent="-306731">
              <a:lnSpc>
                <a:spcPct val="116000"/>
              </a:lnSpc>
              <a:spcBef>
                <a:spcPts val="990"/>
              </a:spcBef>
              <a:buClr>
                <a:srgbClr val="D4FF3A"/>
              </a:buClr>
              <a:buFont typeface="Arial"/>
              <a:buChar char="—"/>
            </a:pPr>
            <a:r>
              <a:rPr sz="1800" b="0" i="0">
                <a:solidFill>
                  <a:srgbClr val="F7F6EF"/>
                </a:solidFill>
                <a:latin typeface="Arial"/>
              </a:rPr>
              <a:t>We have no verified web-first conversion benchmark of any kind (§5.14); our own instrumented cohort is what settles 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E14"/>
        </a:solidFill>
        <a:effectLst/>
      </p:bgPr>
    </p:bg>
    <p:spTree>
      <p:nvGrpSpPr>
        <p:cNvPr id="1" name=""/>
        <p:cNvGrpSpPr/>
        <p:nvPr/>
      </p:nvGrpSpPr>
      <p:grpSpPr/>
      <p:sp>
        <p:nvSpPr>
          <p:cNvPr id="2" name="Title 1"/>
          <p:cNvSpPr>
            <a:spLocks noGrp="1"/>
          </p:cNvSpPr>
          <p:nvPr>
            <p:ph type="title"/>
          </p:nvPr>
        </p:nvSpPr>
        <p:spPr>
          <a:xfrm>
            <a:off x="566928" y="658368"/>
            <a:ext cx="11057839" cy="1133856"/>
          </a:xfrm>
        </p:spPr>
        <p:txBody>
          <a:bodyPr wrap="square" lIns="0" rIns="0" tIns="0" bIns="0" anchor="t"/>
          <a:lstStyle/>
          <a:p>
            <a:pPr>
              <a:lnSpc>
                <a:spcPct val="108000"/>
              </a:lnSpc>
            </a:pPr>
            <a:r>
              <a:rPr sz="4000" b="1" i="0">
                <a:solidFill>
                  <a:srgbClr val="F7F6EF"/>
                </a:solidFill>
                <a:latin typeface="Arial"/>
              </a:rPr>
              <a:t>Zero users outside a private playtest. Zero revenue. No cohort. The instrument shipped.</a:t>
            </a:r>
          </a:p>
        </p:txBody>
      </p:sp>
      <p:sp>
        <p:nvSpPr>
          <p:cNvPr id="3" name="TextBox 2"/>
          <p:cNvSpPr txBox="1"/>
          <p:nvPr/>
        </p:nvSpPr>
        <p:spPr>
          <a:xfrm>
            <a:off x="566928" y="365760"/>
            <a:ext cx="11057839" cy="219456"/>
          </a:xfrm>
          <a:prstGeom prst="rect">
            <a:avLst/>
          </a:prstGeom>
          <a:noFill/>
        </p:spPr>
        <p:txBody>
          <a:bodyPr wrap="square" lIns="0" rIns="0" tIns="0" bIns="0" anchor="t">
            <a:spAutoFit/>
          </a:bodyPr>
          <a:lstStyle/>
          <a:p>
            <a:r>
              <a:rPr sz="1100" b="1" i="0" spc="160">
                <a:solidFill>
                  <a:srgbClr val="D4FF3A"/>
                </a:solidFill>
                <a:latin typeface="Arial"/>
              </a:rPr>
              <a:t>TRACTION — STATED PLAINLY</a:t>
            </a:r>
          </a:p>
        </p:txBody>
      </p:sp>
      <p:sp>
        <p:nvSpPr>
          <p:cNvPr id="4" name="Rectangle 3"/>
          <p:cNvSpPr/>
          <p:nvPr/>
        </p:nvSpPr>
        <p:spPr>
          <a:xfrm>
            <a:off x="566928" y="6035040"/>
            <a:ext cx="11057839" cy="11887"/>
          </a:xfrm>
          <a:prstGeom prst="rect">
            <a:avLst/>
          </a:prstGeom>
          <a:solidFill>
            <a:srgbClr val="D4F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664647" y="6144768"/>
            <a:ext cx="960120" cy="274320"/>
          </a:xfrm>
          <a:prstGeom prst="rect">
            <a:avLst/>
          </a:prstGeom>
          <a:noFill/>
        </p:spPr>
        <p:txBody>
          <a:bodyPr wrap="square" lIns="0" rIns="0" tIns="0" bIns="0" anchor="t">
            <a:spAutoFit/>
          </a:bodyPr>
          <a:lstStyle/>
          <a:p>
            <a:pPr algn="r"/>
            <a:r>
              <a:rPr sz="950" b="1" i="0" spc="60">
                <a:solidFill>
                  <a:srgbClr val="A6ADBA"/>
                </a:solidFill>
                <a:latin typeface="Arial"/>
              </a:rPr>
              <a:t>8</a:t>
            </a:r>
          </a:p>
        </p:txBody>
      </p:sp>
      <p:sp>
        <p:nvSpPr>
          <p:cNvPr id="6" name="TextBox 5"/>
          <p:cNvSpPr txBox="1"/>
          <p:nvPr/>
        </p:nvSpPr>
        <p:spPr>
          <a:xfrm>
            <a:off x="566928" y="6144768"/>
            <a:ext cx="9869119" cy="548640"/>
          </a:xfrm>
          <a:prstGeom prst="rect">
            <a:avLst/>
          </a:prstGeom>
          <a:noFill/>
        </p:spPr>
        <p:txBody>
          <a:bodyPr wrap="square" lIns="0" rIns="0" tIns="0" bIns="0" anchor="t">
            <a:spAutoFit/>
          </a:bodyPr>
          <a:lstStyle/>
          <a:p>
            <a:pPr>
              <a:lnSpc>
                <a:spcPct val="115000"/>
              </a:lnSpc>
            </a:pPr>
            <a:r>
              <a:rPr sz="800" b="0" i="0">
                <a:solidFill>
                  <a:srgbClr val="A6ADBA"/>
                </a:solidFill>
                <a:latin typeface="Arial"/>
              </a:rPr>
              <a:t>Sources: FACT//DUEL internal — numbers.md — status paragraph, §4.4 and §7.1  ·  FACT//DUEL internal — repository — product code, unaudited  ·  GameAnalytics — 2026 Mobile &amp; PC Gaming Benchmarks</a:t>
            </a:r>
          </a:p>
          <a:p>
            <a:pPr>
              <a:lnSpc>
                <a:spcPct val="115000"/>
              </a:lnSpc>
            </a:pPr>
            <a:r>
              <a:rPr sz="800" b="0" i="0">
                <a:solidFill>
                  <a:srgbClr val="A6ADBA"/>
                </a:solidFill>
                <a:latin typeface="Arial"/>
              </a:rPr>
              <a:t>DocSend — what VCs want inside a seed deck</a:t>
            </a:r>
          </a:p>
        </p:txBody>
      </p:sp>
      <p:sp>
        <p:nvSpPr>
          <p:cNvPr id="7" name="TextBox 6"/>
          <p:cNvSpPr txBox="1"/>
          <p:nvPr/>
        </p:nvSpPr>
        <p:spPr>
          <a:xfrm>
            <a:off x="566928" y="1993392"/>
            <a:ext cx="5114239" cy="3913631"/>
          </a:xfrm>
          <a:prstGeom prst="rect">
            <a:avLst/>
          </a:prstGeom>
          <a:noFill/>
        </p:spPr>
        <p:txBody>
          <a:bodyPr wrap="square" lIns="0" rIns="0" tIns="0" bIns="0" anchor="t">
            <a:spAutoFit/>
          </a:bodyPr>
          <a:lstStyle/>
          <a:p>
            <a:pPr marL="255604" indent="-255604">
              <a:lnSpc>
                <a:spcPct val="116000"/>
              </a:lnSpc>
              <a:buClr>
                <a:srgbClr val="D4FF3A"/>
              </a:buClr>
              <a:buFont typeface="Arial"/>
              <a:buChar char="—"/>
            </a:pPr>
            <a:r>
              <a:rPr sz="1500" b="0" i="0">
                <a:solidFill>
                  <a:srgbClr val="F7F6EF"/>
                </a:solidFill>
                <a:latin typeface="Arial"/>
              </a:rPr>
              <a:t>Shipped 13 Sep 2026, tested: per-device D1/D7/D30 returns a boolean, never a rate (numbers.md §7.1; Appendix G).</a:t>
            </a:r>
          </a:p>
          <a:p>
            <a:pPr marL="255604" indent="-255604">
              <a:lnSpc>
                <a:spcPct val="116000"/>
              </a:lnSpc>
              <a:spcBef>
                <a:spcPts val="825"/>
              </a:spcBef>
              <a:buClr>
                <a:srgbClr val="D4FF3A"/>
              </a:buClr>
              <a:buFont typeface="Arial"/>
              <a:buChar char="—"/>
            </a:pPr>
            <a:r>
              <a:rPr sz="1500" b="0" i="0">
                <a:solidFill>
                  <a:srgbClr val="F7F6EF"/>
                </a:solidFill>
                <a:latin typeface="Arial"/>
              </a:rPr>
              <a:t>Also shipped: opt-in anonymous cohort ping, aggregate-only, buckets under five devices suppressed. A rate becomes computable the day there are players.</a:t>
            </a:r>
          </a:p>
          <a:p>
            <a:pPr marL="255604" indent="-255604">
              <a:lnSpc>
                <a:spcPct val="116000"/>
              </a:lnSpc>
              <a:spcBef>
                <a:spcPts val="825"/>
              </a:spcBef>
              <a:buClr>
                <a:srgbClr val="D4FF3A"/>
              </a:buClr>
              <a:buFont typeface="Arial"/>
              <a:buChar char="—"/>
            </a:pPr>
            <a:r>
              <a:rPr sz="1500" b="0" i="0">
                <a:solidFill>
                  <a:srgbClr val="F7F6EF"/>
                </a:solidFill>
                <a:latin typeface="Arial"/>
              </a:rPr>
              <a:t>Milestone 1 was accounts; measurement landed without them. Milestones 1-2 are de-risked, not done — accounts remain unbuilt.</a:t>
            </a:r>
          </a:p>
          <a:p>
            <a:pPr marL="255604" indent="-255604">
              <a:lnSpc>
                <a:spcPct val="116000"/>
              </a:lnSpc>
              <a:spcBef>
                <a:spcPts val="825"/>
              </a:spcBef>
              <a:buClr>
                <a:srgbClr val="D4FF3A"/>
              </a:buClr>
              <a:buFont typeface="Arial"/>
              <a:buChar char="—"/>
            </a:pPr>
            <a:r>
              <a:rPr sz="1500" b="0" i="0">
                <a:solidFill>
                  <a:srgbClr val="F7F6EF"/>
                </a:solidFill>
                <a:latin typeface="Arial"/>
              </a:rPr>
              <a:t>Milestone 2: publish D1/D7/D30 against GameAnalytics NA medians 23.28%/4.97%/1.18% (third-party estimates, 16,000+ mobile games, iOS and Android, CY2025).</a:t>
            </a:r>
          </a:p>
          <a:p>
            <a:pPr marL="255604" indent="-255604">
              <a:lnSpc>
                <a:spcPct val="116000"/>
              </a:lnSpc>
              <a:spcBef>
                <a:spcPts val="825"/>
              </a:spcBef>
              <a:buClr>
                <a:srgbClr val="D4FF3A"/>
              </a:buClr>
              <a:buFont typeface="Arial"/>
              <a:buChar char="—"/>
            </a:pPr>
            <a:r>
              <a:rPr sz="1500" b="0" i="0">
                <a:solidFill>
                  <a:srgbClr val="F7F6EF"/>
                </a:solidFill>
                <a:latin typeface="Arial"/>
              </a:rPr>
              <a:t>Target: beat that 4.97% D7 on a 1,000+ player cohort. Benchmark is app-store installs; web transfer unproven (§5.14).</a:t>
            </a:r>
          </a:p>
        </p:txBody>
      </p:sp>
      <p:pic>
        <p:nvPicPr>
          <p:cNvPr id="8" name="Picture 7" descr="retention-bar.png"/>
          <p:cNvPicPr>
            <a:picLocks noChangeAspect="1"/>
          </p:cNvPicPr>
          <p:nvPr/>
        </p:nvPicPr>
        <p:blipFill>
          <a:blip r:embed="rId2"/>
          <a:stretch>
            <a:fillRect/>
          </a:stretch>
        </p:blipFill>
        <p:spPr>
          <a:xfrm>
            <a:off x="6001207" y="2066911"/>
            <a:ext cx="5623560" cy="3766593"/>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E14"/>
        </a:solidFill>
        <a:effectLst/>
      </p:bgPr>
    </p:bg>
    <p:spTree>
      <p:nvGrpSpPr>
        <p:cNvPr id="1" name=""/>
        <p:cNvGrpSpPr/>
        <p:nvPr/>
      </p:nvGrpSpPr>
      <p:grpSpPr/>
      <p:sp>
        <p:nvSpPr>
          <p:cNvPr id="2" name="Title 1"/>
          <p:cNvSpPr>
            <a:spLocks noGrp="1"/>
          </p:cNvSpPr>
          <p:nvPr>
            <p:ph type="title"/>
          </p:nvPr>
        </p:nvSpPr>
        <p:spPr>
          <a:xfrm>
            <a:off x="566928" y="658368"/>
            <a:ext cx="11057839" cy="1133856"/>
          </a:xfrm>
        </p:spPr>
        <p:txBody>
          <a:bodyPr wrap="square" lIns="0" rIns="0" tIns="0" bIns="0" anchor="t"/>
          <a:lstStyle/>
          <a:p>
            <a:pPr>
              <a:lnSpc>
                <a:spcPct val="108000"/>
              </a:lnSpc>
            </a:pPr>
            <a:r>
              <a:rPr sz="4000" b="1" i="0">
                <a:solidFill>
                  <a:srgbClr val="F7F6EF"/>
                </a:solidFill>
                <a:latin typeface="Arial"/>
              </a:rPr>
              <a:t>Two monetisation routes, both unbuilt: paid event entry, and a habit subscription.</a:t>
            </a:r>
          </a:p>
        </p:txBody>
      </p:sp>
      <p:sp>
        <p:nvSpPr>
          <p:cNvPr id="3" name="TextBox 2"/>
          <p:cNvSpPr txBox="1"/>
          <p:nvPr/>
        </p:nvSpPr>
        <p:spPr>
          <a:xfrm>
            <a:off x="566928" y="365760"/>
            <a:ext cx="11057839" cy="219456"/>
          </a:xfrm>
          <a:prstGeom prst="rect">
            <a:avLst/>
          </a:prstGeom>
          <a:noFill/>
        </p:spPr>
        <p:txBody>
          <a:bodyPr wrap="square" lIns="0" rIns="0" tIns="0" bIns="0" anchor="t">
            <a:spAutoFit/>
          </a:bodyPr>
          <a:lstStyle/>
          <a:p>
            <a:r>
              <a:rPr sz="1100" b="1" i="0" spc="160">
                <a:solidFill>
                  <a:srgbClr val="D4FF3A"/>
                </a:solidFill>
                <a:latin typeface="Arial"/>
              </a:rPr>
              <a:t>BUSINESS MODEL</a:t>
            </a:r>
          </a:p>
        </p:txBody>
      </p:sp>
      <p:sp>
        <p:nvSpPr>
          <p:cNvPr id="4" name="Rectangle 3"/>
          <p:cNvSpPr/>
          <p:nvPr/>
        </p:nvSpPr>
        <p:spPr>
          <a:xfrm>
            <a:off x="566928" y="6035040"/>
            <a:ext cx="11057839" cy="11887"/>
          </a:xfrm>
          <a:prstGeom prst="rect">
            <a:avLst/>
          </a:prstGeom>
          <a:solidFill>
            <a:srgbClr val="D4F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664647" y="6144768"/>
            <a:ext cx="960120" cy="274320"/>
          </a:xfrm>
          <a:prstGeom prst="rect">
            <a:avLst/>
          </a:prstGeom>
          <a:noFill/>
        </p:spPr>
        <p:txBody>
          <a:bodyPr wrap="square" lIns="0" rIns="0" tIns="0" bIns="0" anchor="t">
            <a:spAutoFit/>
          </a:bodyPr>
          <a:lstStyle/>
          <a:p>
            <a:pPr algn="r"/>
            <a:r>
              <a:rPr sz="950" b="1" i="0" spc="60">
                <a:solidFill>
                  <a:srgbClr val="A6ADBA"/>
                </a:solidFill>
                <a:latin typeface="Arial"/>
              </a:rPr>
              <a:t>9</a:t>
            </a:r>
          </a:p>
        </p:txBody>
      </p:sp>
      <p:sp>
        <p:nvSpPr>
          <p:cNvPr id="6" name="TextBox 5"/>
          <p:cNvSpPr txBox="1"/>
          <p:nvPr/>
        </p:nvSpPr>
        <p:spPr>
          <a:xfrm>
            <a:off x="566928" y="6144768"/>
            <a:ext cx="9869119" cy="548640"/>
          </a:xfrm>
          <a:prstGeom prst="rect">
            <a:avLst/>
          </a:prstGeom>
          <a:noFill/>
        </p:spPr>
        <p:txBody>
          <a:bodyPr wrap="square" lIns="0" rIns="0" tIns="0" bIns="0" anchor="t">
            <a:spAutoFit/>
          </a:bodyPr>
          <a:lstStyle/>
          <a:p>
            <a:pPr>
              <a:lnSpc>
                <a:spcPct val="115000"/>
              </a:lnSpc>
            </a:pPr>
            <a:r>
              <a:rPr sz="800" b="0" i="0">
                <a:solidFill>
                  <a:srgbClr val="A6ADBA"/>
                </a:solidFill>
                <a:latin typeface="Arial"/>
              </a:rPr>
              <a:t>Sources: Sensor Tower — Q2 2025 US iOS trivia revenue (est.)  ·  SEC — Duolingo FY2025 shareholder letter  ·  SEC — Duolingo Q2 FY2026 10-Q (user counts at 30 Jun 2026)</a:t>
            </a:r>
          </a:p>
          <a:p>
            <a:pPr>
              <a:lnSpc>
                <a:spcPct val="115000"/>
              </a:lnSpc>
            </a:pPr>
            <a:r>
              <a:rPr sz="800" b="0" i="0">
                <a:solidFill>
                  <a:srgbClr val="A6ADBA"/>
                </a:solidFill>
                <a:latin typeface="Arial"/>
              </a:rPr>
              <a:t>SEC — Duolingo Q2 FY2026 shareholder letter  ·  Kahoot! — Q4 2022 quarterly report  ·  Sporcle — Orange membership pricing  ·  AppsFlyer — State of App Monetization 2026</a:t>
            </a:r>
          </a:p>
          <a:p>
            <a:pPr>
              <a:lnSpc>
                <a:spcPct val="115000"/>
              </a:lnSpc>
            </a:pPr>
            <a:r>
              <a:rPr sz="800" b="0" i="0">
                <a:solidFill>
                  <a:srgbClr val="A6ADBA"/>
                </a:solidFill>
                <a:latin typeface="Arial"/>
              </a:rPr>
              <a:t>GameAnalytics — 2026 Mobile &amp; PC Gaming Benchmarks  ·  FACT//DUEL internal — numbers.md §4.1-§4.3  ·  +1 more in the speaker notes and the source register</a:t>
            </a:r>
          </a:p>
        </p:txBody>
      </p:sp>
      <p:sp>
        <p:nvSpPr>
          <p:cNvPr id="7" name="TextBox 6"/>
          <p:cNvSpPr txBox="1"/>
          <p:nvPr/>
        </p:nvSpPr>
        <p:spPr>
          <a:xfrm>
            <a:off x="566928" y="1993392"/>
            <a:ext cx="5114239" cy="3913631"/>
          </a:xfrm>
          <a:prstGeom prst="rect">
            <a:avLst/>
          </a:prstGeom>
          <a:noFill/>
        </p:spPr>
        <p:txBody>
          <a:bodyPr wrap="square" lIns="0" rIns="0" tIns="0" bIns="0" anchor="t">
            <a:spAutoFit/>
          </a:bodyPr>
          <a:lstStyle/>
          <a:p>
            <a:pPr marL="238571" indent="-238571">
              <a:lnSpc>
                <a:spcPct val="116000"/>
              </a:lnSpc>
              <a:buClr>
                <a:srgbClr val="D4FF3A"/>
              </a:buClr>
              <a:buFont typeface="Arial"/>
              <a:buChar char="—"/>
            </a:pPr>
            <a:r>
              <a:rPr sz="1400" b="0" i="0">
                <a:solidFill>
                  <a:srgbClr val="F7F6EF"/>
                </a:solidFill>
                <a:latin typeface="Arial"/>
              </a:rPr>
              <a:t>Route A </a:t>
            </a:r>
            <a:r>
              <a:rPr sz="1400" b="1" i="0">
                <a:solidFill>
                  <a:srgbClr val="4EE1FF"/>
                </a:solidFill>
                <a:latin typeface="Arial"/>
              </a:rPr>
              <a:t>(P)</a:t>
            </a:r>
            <a:r>
              <a:rPr sz="1400" b="0" i="0">
                <a:solidFill>
                  <a:srgbClr val="F7F6EF"/>
                </a:solidFill>
                <a:latin typeface="Arial"/>
              </a:rPr>
              <a:t> — paid entry to a time-limited expedition event: one entry per player, rotating question set.</a:t>
            </a:r>
          </a:p>
          <a:p>
            <a:pPr marL="238571" indent="-238571">
              <a:lnSpc>
                <a:spcPct val="116000"/>
              </a:lnSpc>
              <a:spcBef>
                <a:spcPts val="770"/>
              </a:spcBef>
              <a:buClr>
                <a:srgbClr val="D4FF3A"/>
              </a:buClr>
              <a:buFont typeface="Arial"/>
              <a:buChar char="—"/>
            </a:pPr>
            <a:r>
              <a:rPr sz="1400" b="0" i="0">
                <a:solidFill>
                  <a:srgbClr val="F7F6EF"/>
                </a:solidFill>
                <a:latin typeface="Arial"/>
              </a:rPr>
              <a:t>Nothing of Route A exists: no payment surface, no accounts, expeditions free and replayable. Duels stake simulated coins only.</a:t>
            </a:r>
          </a:p>
          <a:p>
            <a:pPr marL="238571" indent="-238571">
              <a:lnSpc>
                <a:spcPct val="116000"/>
              </a:lnSpc>
              <a:spcBef>
                <a:spcPts val="770"/>
              </a:spcBef>
              <a:buClr>
                <a:srgbClr val="D4FF3A"/>
              </a:buClr>
              <a:buFont typeface="Arial"/>
              <a:buChar char="—"/>
            </a:pPr>
            <a:r>
              <a:rPr sz="1400" b="0" i="0">
                <a:solidFill>
                  <a:srgbClr val="F7F6EF"/>
                </a:solidFill>
                <a:latin typeface="Arial"/>
              </a:rPr>
              <a:t>Route B </a:t>
            </a:r>
            <a:r>
              <a:rPr sz="1400" b="1" i="0">
                <a:solidFill>
                  <a:srgbClr val="4EE1FF"/>
                </a:solidFill>
                <a:latin typeface="Arial"/>
              </a:rPr>
              <a:t>(P)</a:t>
            </a:r>
            <a:r>
              <a:rPr sz="1400" b="0" i="0">
                <a:solidFill>
                  <a:srgbClr val="F7F6EF"/>
                </a:solidFill>
                <a:latin typeface="Arial"/>
              </a:rPr>
              <a:t> — habit subscription. Duolingo: </a:t>
            </a:r>
            <a:r>
              <a:rPr sz="1400" b="0" i="0">
                <a:solidFill>
                  <a:srgbClr val="FFC83D"/>
                </a:solidFill>
                <a:latin typeface="Arial"/>
              </a:rPr>
              <a:t>$1,037.6M</a:t>
            </a:r>
            <a:r>
              <a:rPr sz="1400" b="0" i="0">
                <a:solidFill>
                  <a:srgbClr val="F7F6EF"/>
                </a:solidFill>
                <a:latin typeface="Arial"/>
              </a:rPr>
              <a:t> FY2025 on a streak loop; 12.7M of 140.6M MAU paid, 9.03%.</a:t>
            </a:r>
          </a:p>
          <a:p>
            <a:pPr marL="238571" indent="-238571">
              <a:lnSpc>
                <a:spcPct val="116000"/>
              </a:lnSpc>
              <a:spcBef>
                <a:spcPts val="770"/>
              </a:spcBef>
              <a:buClr>
                <a:srgbClr val="D4FF3A"/>
              </a:buClr>
              <a:buFont typeface="Arial"/>
              <a:buChar char="—"/>
            </a:pPr>
            <a:r>
              <a:rPr sz="1400" b="0" i="0">
                <a:solidFill>
                  <a:srgbClr val="F7F6EF"/>
                </a:solidFill>
                <a:latin typeface="Arial"/>
              </a:rPr>
              <a:t>Cross-check at base-case Year-3 scale: 105,900 MAU x 9.03% x </a:t>
            </a:r>
            <a:r>
              <a:rPr sz="1400" b="0" i="0">
                <a:solidFill>
                  <a:srgbClr val="FFC83D"/>
                </a:solidFill>
                <a:latin typeface="Arial"/>
              </a:rPr>
              <a:t>$43.99</a:t>
            </a:r>
            <a:r>
              <a:rPr sz="1400" b="0" i="0">
                <a:solidFill>
                  <a:srgbClr val="F7F6EF"/>
                </a:solidFill>
                <a:latin typeface="Arial"/>
              </a:rPr>
              <a:t>/yr = </a:t>
            </a:r>
            <a:r>
              <a:rPr sz="1400" b="0" i="0">
                <a:solidFill>
                  <a:srgbClr val="FFC83D"/>
                </a:solidFill>
                <a:latin typeface="Arial"/>
              </a:rPr>
              <a:t>$420,666</a:t>
            </a:r>
            <a:r>
              <a:rPr sz="1400" b="0" i="0">
                <a:solidFill>
                  <a:srgbClr val="F7F6EF"/>
                </a:solidFill>
                <a:latin typeface="Arial"/>
              </a:rPr>
              <a:t> </a:t>
            </a:r>
            <a:r>
              <a:rPr sz="1400" b="1" i="0">
                <a:solidFill>
                  <a:srgbClr val="4EE1FF"/>
                </a:solidFill>
                <a:latin typeface="Arial"/>
              </a:rPr>
              <a:t>(P)</a:t>
            </a:r>
            <a:r>
              <a:rPr sz="1400" b="0" i="0">
                <a:solidFill>
                  <a:srgbClr val="F7F6EF"/>
                </a:solidFill>
                <a:latin typeface="Arial"/>
              </a:rPr>
              <a:t>, versus </a:t>
            </a:r>
            <a:r>
              <a:rPr sz="1400" b="0" i="0">
                <a:solidFill>
                  <a:srgbClr val="FFC83D"/>
                </a:solidFill>
                <a:latin typeface="Arial"/>
              </a:rPr>
              <a:t>$1,630,517</a:t>
            </a:r>
            <a:r>
              <a:rPr sz="1400" b="0" i="0">
                <a:solidFill>
                  <a:srgbClr val="F7F6EF"/>
                </a:solidFill>
                <a:latin typeface="Arial"/>
              </a:rPr>
              <a:t> </a:t>
            </a:r>
            <a:r>
              <a:rPr sz="1400" b="1" i="0">
                <a:solidFill>
                  <a:srgbClr val="4EE1FF"/>
                </a:solidFill>
                <a:latin typeface="Arial"/>
              </a:rPr>
              <a:t>(P)</a:t>
            </a:r>
            <a:r>
              <a:rPr sz="1400" b="0" i="0">
                <a:solidFill>
                  <a:srgbClr val="F7F6EF"/>
                </a:solidFill>
                <a:latin typeface="Arial"/>
              </a:rPr>
              <a:t> from install economics.</a:t>
            </a:r>
          </a:p>
          <a:p>
            <a:pPr marL="238571" indent="-238571">
              <a:lnSpc>
                <a:spcPct val="116000"/>
              </a:lnSpc>
              <a:spcBef>
                <a:spcPts val="770"/>
              </a:spcBef>
              <a:buClr>
                <a:srgbClr val="D4FF3A"/>
              </a:buClr>
              <a:buFont typeface="Arial"/>
              <a:buChar char="—"/>
            </a:pPr>
            <a:r>
              <a:rPr sz="1400" b="0" i="0">
                <a:solidFill>
                  <a:srgbClr val="F7F6EF"/>
                </a:solidFill>
                <a:latin typeface="Arial"/>
              </a:rPr>
              <a:t>Diverging 3.88x, Year-3 revenue is a band — </a:t>
            </a:r>
            <a:r>
              <a:rPr sz="1400" b="0" i="0">
                <a:solidFill>
                  <a:srgbClr val="FFC83D"/>
                </a:solidFill>
                <a:latin typeface="Arial"/>
              </a:rPr>
              <a:t>$0.4M</a:t>
            </a:r>
            <a:r>
              <a:rPr sz="1400" b="0" i="0">
                <a:solidFill>
                  <a:srgbClr val="F7F6EF"/>
                </a:solidFill>
                <a:latin typeface="Arial"/>
              </a:rPr>
              <a:t>-</a:t>
            </a:r>
            <a:r>
              <a:rPr sz="1400" b="0" i="0">
                <a:solidFill>
                  <a:srgbClr val="FFC83D"/>
                </a:solidFill>
                <a:latin typeface="Arial"/>
              </a:rPr>
              <a:t>$1.6M</a:t>
            </a:r>
            <a:r>
              <a:rPr sz="1400" b="0" i="0">
                <a:solidFill>
                  <a:srgbClr val="F7F6EF"/>
                </a:solidFill>
                <a:latin typeface="Arial"/>
              </a:rPr>
              <a:t> </a:t>
            </a:r>
            <a:r>
              <a:rPr sz="1400" b="1" i="0">
                <a:solidFill>
                  <a:srgbClr val="4EE1FF"/>
                </a:solidFill>
                <a:latin typeface="Arial"/>
              </a:rPr>
              <a:t>(P)</a:t>
            </a:r>
            <a:r>
              <a:rPr sz="1400" b="0" i="0">
                <a:solidFill>
                  <a:srgbClr val="F7F6EF"/>
                </a:solidFill>
                <a:latin typeface="Arial"/>
              </a:rPr>
              <a:t>, not </a:t>
            </a:r>
            <a:r>
              <a:rPr sz="1400" b="0" i="0">
                <a:solidFill>
                  <a:srgbClr val="FFC83D"/>
                </a:solidFill>
                <a:latin typeface="Arial"/>
              </a:rPr>
              <a:t>$1.6M</a:t>
            </a:r>
            <a:r>
              <a:rPr sz="1400" b="0" i="0">
                <a:solidFill>
                  <a:srgbClr val="F7F6EF"/>
                </a:solidFill>
                <a:latin typeface="Arial"/>
              </a:rPr>
              <a:t>. Today: zero users, zero revenue.</a:t>
            </a:r>
          </a:p>
          <a:p>
            <a:pPr marL="238571" indent="-238571">
              <a:lnSpc>
                <a:spcPct val="116000"/>
              </a:lnSpc>
              <a:spcBef>
                <a:spcPts val="770"/>
              </a:spcBef>
              <a:buClr>
                <a:srgbClr val="D4FF3A"/>
              </a:buClr>
              <a:buFont typeface="Arial"/>
              <a:buChar char="—"/>
            </a:pPr>
            <a:r>
              <a:rPr sz="1400" b="0" i="0">
                <a:solidFill>
                  <a:srgbClr val="F7F6EF"/>
                </a:solidFill>
                <a:latin typeface="Arial"/>
              </a:rPr>
              <a:t>Trivia IAP, US iOS top three: ~</a:t>
            </a:r>
            <a:r>
              <a:rPr sz="1400" b="0" i="0">
                <a:solidFill>
                  <a:srgbClr val="FFC83D"/>
                </a:solidFill>
                <a:latin typeface="Arial"/>
              </a:rPr>
              <a:t>$102.5K</a:t>
            </a:r>
            <a:r>
              <a:rPr sz="1400" b="0" i="0">
                <a:solidFill>
                  <a:srgbClr val="F7F6EF"/>
                </a:solidFill>
                <a:latin typeface="Arial"/>
              </a:rPr>
              <a:t>/week peak (Sensor Tower est., before Apple's 15-30% cut). </a:t>
            </a:r>
            <a:r>
              <a:rPr sz="1400" b="0" i="0">
                <a:solidFill>
                  <a:srgbClr val="FFC83D"/>
                </a:solidFill>
                <a:latin typeface="Arial"/>
              </a:rPr>
              <a:t>$43.99</a:t>
            </a:r>
            <a:r>
              <a:rPr sz="1400" b="0" i="0">
                <a:solidFill>
                  <a:srgbClr val="F7F6EF"/>
                </a:solidFill>
                <a:latin typeface="Arial"/>
              </a:rPr>
              <a:t>/yr: Sporcle Orange.</a:t>
            </a:r>
          </a:p>
        </p:txBody>
      </p:sp>
      <p:pic>
        <p:nvPicPr>
          <p:cNvPr id="8" name="Picture 7" descr="where-money-is.png"/>
          <p:cNvPicPr>
            <a:picLocks noChangeAspect="1"/>
          </p:cNvPicPr>
          <p:nvPr/>
        </p:nvPicPr>
        <p:blipFill>
          <a:blip r:embed="rId2"/>
          <a:stretch>
            <a:fillRect/>
          </a:stretch>
        </p:blipFill>
        <p:spPr>
          <a:xfrm>
            <a:off x="6001207" y="2398531"/>
            <a:ext cx="5623560" cy="3103353"/>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E14"/>
        </a:solidFill>
        <a:effectLst/>
      </p:bgPr>
    </p:bg>
    <p:spTree>
      <p:nvGrpSpPr>
        <p:cNvPr id="1" name=""/>
        <p:cNvGrpSpPr/>
        <p:nvPr/>
      </p:nvGrpSpPr>
      <p:grpSpPr/>
      <p:sp>
        <p:nvSpPr>
          <p:cNvPr id="2" name="Title 1"/>
          <p:cNvSpPr>
            <a:spLocks noGrp="1"/>
          </p:cNvSpPr>
          <p:nvPr>
            <p:ph type="title"/>
          </p:nvPr>
        </p:nvSpPr>
        <p:spPr>
          <a:xfrm>
            <a:off x="566928" y="658368"/>
            <a:ext cx="11057839" cy="1133856"/>
          </a:xfrm>
        </p:spPr>
        <p:txBody>
          <a:bodyPr wrap="square" lIns="0" rIns="0" tIns="0" bIns="0" anchor="t"/>
          <a:lstStyle/>
          <a:p>
            <a:pPr>
              <a:lnSpc>
                <a:spcPct val="108000"/>
              </a:lnSpc>
            </a:pPr>
            <a:r>
              <a:rPr sz="4000" b="1" i="0">
                <a:solidFill>
                  <a:srgbClr val="F7F6EF"/>
                </a:solidFill>
                <a:latin typeface="Arial"/>
              </a:rPr>
              <a:t>In the live 1v1 duel, nobody holds both scale and maintenance.</a:t>
            </a:r>
          </a:p>
        </p:txBody>
      </p:sp>
      <p:sp>
        <p:nvSpPr>
          <p:cNvPr id="3" name="TextBox 2"/>
          <p:cNvSpPr txBox="1"/>
          <p:nvPr/>
        </p:nvSpPr>
        <p:spPr>
          <a:xfrm>
            <a:off x="566928" y="365760"/>
            <a:ext cx="11057839" cy="219456"/>
          </a:xfrm>
          <a:prstGeom prst="rect">
            <a:avLst/>
          </a:prstGeom>
          <a:noFill/>
        </p:spPr>
        <p:txBody>
          <a:bodyPr wrap="square" lIns="0" rIns="0" tIns="0" bIns="0" anchor="t">
            <a:spAutoFit/>
          </a:bodyPr>
          <a:lstStyle/>
          <a:p>
            <a:r>
              <a:rPr sz="1100" b="1" i="0" spc="160">
                <a:solidFill>
                  <a:srgbClr val="D4FF3A"/>
                </a:solidFill>
                <a:latin typeface="Arial"/>
              </a:rPr>
              <a:t>LANDSCAPE</a:t>
            </a:r>
          </a:p>
        </p:txBody>
      </p:sp>
      <p:sp>
        <p:nvSpPr>
          <p:cNvPr id="4" name="Rectangle 3"/>
          <p:cNvSpPr/>
          <p:nvPr/>
        </p:nvSpPr>
        <p:spPr>
          <a:xfrm>
            <a:off x="566928" y="6035040"/>
            <a:ext cx="11057839" cy="11887"/>
          </a:xfrm>
          <a:prstGeom prst="rect">
            <a:avLst/>
          </a:prstGeom>
          <a:solidFill>
            <a:srgbClr val="D4F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664647" y="6144768"/>
            <a:ext cx="960120" cy="274320"/>
          </a:xfrm>
          <a:prstGeom prst="rect">
            <a:avLst/>
          </a:prstGeom>
          <a:noFill/>
        </p:spPr>
        <p:txBody>
          <a:bodyPr wrap="square" lIns="0" rIns="0" tIns="0" bIns="0" anchor="t">
            <a:spAutoFit/>
          </a:bodyPr>
          <a:lstStyle/>
          <a:p>
            <a:pPr algn="r"/>
            <a:r>
              <a:rPr sz="950" b="1" i="0" spc="60">
                <a:solidFill>
                  <a:srgbClr val="A6ADBA"/>
                </a:solidFill>
                <a:latin typeface="Arial"/>
              </a:rPr>
              <a:t>10</a:t>
            </a:r>
          </a:p>
        </p:txBody>
      </p:sp>
      <p:sp>
        <p:nvSpPr>
          <p:cNvPr id="6" name="TextBox 5"/>
          <p:cNvSpPr txBox="1"/>
          <p:nvPr/>
        </p:nvSpPr>
        <p:spPr>
          <a:xfrm>
            <a:off x="566928" y="6144768"/>
            <a:ext cx="9869119" cy="548640"/>
          </a:xfrm>
          <a:prstGeom prst="rect">
            <a:avLst/>
          </a:prstGeom>
          <a:noFill/>
        </p:spPr>
        <p:txBody>
          <a:bodyPr wrap="square" lIns="0" rIns="0" tIns="0" bIns="0" anchor="t">
            <a:spAutoFit/>
          </a:bodyPr>
          <a:lstStyle/>
          <a:p>
            <a:pPr>
              <a:lnSpc>
                <a:spcPct val="115000"/>
              </a:lnSpc>
            </a:pPr>
            <a:r>
              <a:rPr sz="800" b="0" i="0">
                <a:solidFill>
                  <a:srgbClr val="A6ADBA"/>
                </a:solidFill>
                <a:latin typeface="Arial"/>
              </a:rPr>
              <a:t>Sources: Google Play — Trivia Crack listing  ·  Sensor Tower — Q2 2025 US iOS trivia revenue (est.)  ·  MAG Interactive — Q3 2025/26 interim report  ·  Apple lookup API — QuizDuel listing (US storefront)</a:t>
            </a:r>
          </a:p>
          <a:p>
            <a:pPr>
              <a:lnSpc>
                <a:spcPct val="115000"/>
              </a:lnSpc>
            </a:pPr>
            <a:r>
              <a:rPr sz="800" b="0" i="0">
                <a:solidFill>
                  <a:srgbClr val="A6ADBA"/>
                </a:solidFill>
                <a:latin typeface="Arial"/>
              </a:rPr>
              <a:t>Apple lookup API — QuizDuel listing  ·  Google Play — Kahoot! listing  ·  Kahoot! — Q4 2022 quarterly report  ·  Oslo Børs — Kahoot! delisting notice  ·  PR Newswire — Quizizz $31.5M Series B</a:t>
            </a:r>
          </a:p>
          <a:p>
            <a:pPr>
              <a:lnSpc>
                <a:spcPct val="115000"/>
              </a:lnSpc>
            </a:pPr>
            <a:r>
              <a:rPr sz="800" b="0" i="0">
                <a:solidFill>
                  <a:srgbClr val="A6ADBA"/>
                </a:solidFill>
                <a:latin typeface="Arial"/>
              </a:rPr>
              <a:t>Apple lookup API — Wayground listing  ·  Google Play — Quizion listing  ·  Google Play — TRIVIA GO! listing  ·  SEC 8-K — Skillz FY2025 results  ·  SEC 8-K — Skillz FY2022 results (FY2021 peak)</a:t>
            </a:r>
          </a:p>
        </p:txBody>
      </p:sp>
      <p:sp>
        <p:nvSpPr>
          <p:cNvPr id="7" name="TextBox 6"/>
          <p:cNvSpPr txBox="1"/>
          <p:nvPr/>
        </p:nvSpPr>
        <p:spPr>
          <a:xfrm>
            <a:off x="566928" y="1993392"/>
            <a:ext cx="11057839" cy="1361186"/>
          </a:xfrm>
          <a:prstGeom prst="rect">
            <a:avLst/>
          </a:prstGeom>
          <a:noFill/>
        </p:spPr>
        <p:txBody>
          <a:bodyPr wrap="square" lIns="0" rIns="0" tIns="0" bIns="0" anchor="t">
            <a:spAutoFit/>
          </a:bodyPr>
          <a:lstStyle/>
          <a:p>
            <a:pPr marL="238571" indent="-238571">
              <a:lnSpc>
                <a:spcPct val="116000"/>
              </a:lnSpc>
              <a:buClr>
                <a:srgbClr val="D4FF3A"/>
              </a:buClr>
              <a:buFont typeface="Arial"/>
              <a:buChar char="—"/>
            </a:pPr>
            <a:r>
              <a:rPr sz="1400" b="0" i="0">
                <a:solidFill>
                  <a:srgbClr val="F7F6EF"/>
                </a:solidFill>
                <a:latin typeface="Arial"/>
              </a:rPr>
              <a:t>Of the products that own the installed base, the one that ran the duel has left it; the rest never ran one.</a:t>
            </a:r>
          </a:p>
          <a:p>
            <a:pPr marL="238571" indent="-238571">
              <a:lnSpc>
                <a:spcPct val="116000"/>
              </a:lnSpc>
              <a:spcBef>
                <a:spcPts val="770"/>
              </a:spcBef>
              <a:buClr>
                <a:srgbClr val="D4FF3A"/>
              </a:buClr>
              <a:buFont typeface="Arial"/>
              <a:buChar char="—"/>
            </a:pPr>
            <a:r>
              <a:rPr sz="1400" b="0" i="0">
                <a:solidFill>
                  <a:srgbClr val="F7F6EF"/>
                </a:solidFill>
                <a:latin typeface="Arial"/>
              </a:rPr>
              <a:t>Skillz FY2021 to FY2025: monthly ARPPU </a:t>
            </a:r>
            <a:r>
              <a:rPr sz="1400" b="0" i="0">
                <a:solidFill>
                  <a:srgbClr val="FFC83D"/>
                </a:solidFill>
                <a:latin typeface="Arial"/>
              </a:rPr>
              <a:t>$61.75</a:t>
            </a:r>
            <a:r>
              <a:rPr sz="1400" b="0" i="0">
                <a:solidFill>
                  <a:srgbClr val="F7F6EF"/>
                </a:solidFill>
                <a:latin typeface="Arial"/>
              </a:rPr>
              <a:t> (derived) to </a:t>
            </a:r>
            <a:r>
              <a:rPr sz="1400" b="0" i="0">
                <a:solidFill>
                  <a:srgbClr val="FFC83D"/>
                </a:solidFill>
                <a:latin typeface="Arial"/>
              </a:rPr>
              <a:t>$61.70</a:t>
            </a:r>
            <a:r>
              <a:rPr sz="1400" b="0" i="0">
                <a:solidFill>
                  <a:srgbClr val="F7F6EF"/>
                </a:solidFill>
                <a:latin typeface="Arial"/>
              </a:rPr>
              <a:t> (stated), while paying MAU fell 513,000 to 141,000.</a:t>
            </a:r>
          </a:p>
          <a:p>
            <a:pPr marL="238571" indent="-238571">
              <a:lnSpc>
                <a:spcPct val="116000"/>
              </a:lnSpc>
              <a:spcBef>
                <a:spcPts val="770"/>
              </a:spcBef>
              <a:buClr>
                <a:srgbClr val="D4FF3A"/>
              </a:buClr>
              <a:buFont typeface="Arial"/>
              <a:buChar char="—"/>
            </a:pPr>
            <a:r>
              <a:rPr sz="1400" b="0" i="0">
                <a:solidFill>
                  <a:srgbClr val="F7F6EF"/>
                </a:solidFill>
                <a:latin typeface="Arial"/>
              </a:rPr>
              <a:t>Competitive-play users monetise well per payer and churn hard — in a real-money cash-tournament product, and Skillz has never been profitable.</a:t>
            </a:r>
          </a:p>
          <a:p>
            <a:pPr marL="238571" indent="-238571">
              <a:lnSpc>
                <a:spcPct val="116000"/>
              </a:lnSpc>
              <a:spcBef>
                <a:spcPts val="770"/>
              </a:spcBef>
              <a:buClr>
                <a:srgbClr val="D4FF3A"/>
              </a:buClr>
              <a:buFont typeface="Arial"/>
              <a:buChar char="—"/>
            </a:pPr>
            <a:r>
              <a:rPr sz="1400" b="0" i="0">
                <a:solidFill>
                  <a:srgbClr val="F7F6EF"/>
                </a:solidFill>
                <a:latin typeface="Arial"/>
              </a:rPr>
              <a:t>Our axis is being the maintained 1v1 duel. Untested: the cohort the round buys is what tests it.</a:t>
            </a:r>
          </a:p>
        </p:txBody>
      </p:sp>
      <p:graphicFrame>
        <p:nvGraphicFramePr>
          <p:cNvPr id="8" name="Table 7"/>
          <p:cNvGraphicFramePr>
            <a:graphicFrameLocks noGrp="1"/>
          </p:cNvGraphicFramePr>
          <p:nvPr/>
        </p:nvGraphicFramePr>
        <p:xfrm>
          <a:off x="566928" y="3592322"/>
          <a:ext cx="11057837" cy="2314696"/>
        </p:xfrm>
        <a:graphic>
          <a:graphicData uri="http://schemas.openxmlformats.org/drawingml/2006/table">
            <a:tbl>
              <a:tblPr>
                <a:tableStyleId>{2D5ABB26-0587-4C30-8999-92F81FD0307C}</a:tableStyleId>
              </a:tblPr>
              <a:tblGrid>
                <a:gridCol w="1690589"/>
                <a:gridCol w="2795829"/>
                <a:gridCol w="2549103"/>
                <a:gridCol w="1402042"/>
                <a:gridCol w="2620274"/>
              </a:tblGrid>
              <a:tr h="216784">
                <a:tc>
                  <a:txBody>
                    <a:bodyPr wrap="square"/>
                    <a:lstStyle/>
                    <a:p>
                      <a:pPr>
                        <a:lnSpc>
                          <a:spcPct val="114000"/>
                        </a:lnSpc>
                      </a:pPr>
                      <a:r>
                        <a:rPr sz="900" b="1" i="0">
                          <a:solidFill>
                            <a:srgbClr val="D4FF3A"/>
                          </a:solidFill>
                          <a:latin typeface="Arial"/>
                        </a:rPr>
                        <a:t>Product</a:t>
                      </a:r>
                    </a:p>
                  </a:txBody>
                  <a:tcPr marL="64008" marR="64008" marT="41148" marB="41148" anchor="ctr">
                    <a:solidFill>
                      <a:srgbClr val="121821"/>
                    </a:solidFill>
                  </a:tcPr>
                </a:tc>
                <a:tc>
                  <a:txBody>
                    <a:bodyPr wrap="square"/>
                    <a:lstStyle/>
                    <a:p>
                      <a:pPr>
                        <a:lnSpc>
                          <a:spcPct val="114000"/>
                        </a:lnSpc>
                      </a:pPr>
                      <a:r>
                        <a:rPr sz="900" b="1" i="0">
                          <a:solidFill>
                            <a:srgbClr val="D4FF3A"/>
                          </a:solidFill>
                          <a:latin typeface="Arial"/>
                        </a:rPr>
                        <a:t>Scale (metric as stated)</a:t>
                      </a:r>
                    </a:p>
                  </a:txBody>
                  <a:tcPr marL="64008" marR="64008" marT="41148" marB="41148" anchor="ctr">
                    <a:solidFill>
                      <a:srgbClr val="121821"/>
                    </a:solidFill>
                  </a:tcPr>
                </a:tc>
                <a:tc>
                  <a:txBody>
                    <a:bodyPr wrap="square"/>
                    <a:lstStyle/>
                    <a:p>
                      <a:pPr>
                        <a:lnSpc>
                          <a:spcPct val="114000"/>
                        </a:lnSpc>
                      </a:pPr>
                      <a:r>
                        <a:rPr sz="900" b="1" i="0">
                          <a:solidFill>
                            <a:srgbClr val="D4FF3A"/>
                          </a:solidFill>
                          <a:latin typeface="Arial"/>
                        </a:rPr>
                        <a:t>Money</a:t>
                      </a:r>
                    </a:p>
                  </a:txBody>
                  <a:tcPr marL="64008" marR="64008" marT="41148" marB="41148" anchor="ctr">
                    <a:solidFill>
                      <a:srgbClr val="121821"/>
                    </a:solidFill>
                  </a:tcPr>
                </a:tc>
                <a:tc>
                  <a:txBody>
                    <a:bodyPr wrap="square"/>
                    <a:lstStyle/>
                    <a:p>
                      <a:pPr>
                        <a:lnSpc>
                          <a:spcPct val="114000"/>
                        </a:lnSpc>
                      </a:pPr>
                      <a:r>
                        <a:rPr sz="900" b="1" i="0">
                          <a:solidFill>
                            <a:srgbClr val="D4FF3A"/>
                          </a:solidFill>
                          <a:latin typeface="Arial"/>
                        </a:rPr>
                        <a:t>Live 1v1 duel?</a:t>
                      </a:r>
                    </a:p>
                  </a:txBody>
                  <a:tcPr marL="64008" marR="64008" marT="41148" marB="41148" anchor="ctr">
                    <a:solidFill>
                      <a:srgbClr val="121821"/>
                    </a:solidFill>
                  </a:tcPr>
                </a:tc>
                <a:tc>
                  <a:txBody>
                    <a:bodyPr wrap="square"/>
                    <a:lstStyle/>
                    <a:p>
                      <a:pPr>
                        <a:lnSpc>
                          <a:spcPct val="114000"/>
                        </a:lnSpc>
                      </a:pPr>
                      <a:r>
                        <a:rPr sz="900" b="1" i="0">
                          <a:solidFill>
                            <a:srgbClr val="D4FF3A"/>
                          </a:solidFill>
                          <a:latin typeface="Arial"/>
                        </a:rPr>
                        <a:t>Latest signal</a:t>
                      </a:r>
                    </a:p>
                  </a:txBody>
                  <a:tcPr marL="64008" marR="64008" marT="41148" marB="41148" anchor="ctr">
                    <a:solidFill>
                      <a:srgbClr val="121821"/>
                    </a:solidFill>
                  </a:tcPr>
                </a:tc>
              </a:tr>
              <a:tr h="349652">
                <a:tc>
                  <a:txBody>
                    <a:bodyPr wrap="square"/>
                    <a:lstStyle/>
                    <a:p>
                      <a:pPr>
                        <a:lnSpc>
                          <a:spcPct val="114000"/>
                        </a:lnSpc>
                      </a:pPr>
                      <a:r>
                        <a:rPr sz="900" b="1" i="0">
                          <a:solidFill>
                            <a:srgbClr val="F7F6EF"/>
                          </a:solidFill>
                          <a:latin typeface="Arial"/>
                        </a:rPr>
                        <a:t>Trivia Crack (etermax)</a:t>
                      </a:r>
                    </a:p>
                  </a:txBody>
                  <a:tcPr marL="64008" marR="64008" marT="41148" marB="41148" anchor="ctr">
                    <a:solidFill>
                      <a:srgbClr val="121821"/>
                    </a:solidFill>
                  </a:tcPr>
                </a:tc>
                <a:tc>
                  <a:txBody>
                    <a:bodyPr wrap="square"/>
                    <a:lstStyle/>
                    <a:p>
                      <a:pPr>
                        <a:lnSpc>
                          <a:spcPct val="114000"/>
                        </a:lnSpc>
                      </a:pPr>
                      <a:r>
                        <a:rPr sz="900" b="0" i="0">
                          <a:solidFill>
                            <a:srgbClr val="F7F6EF"/>
                          </a:solidFill>
                          <a:latin typeface="Arial"/>
                        </a:rPr>
                        <a:t>267,939,837 lifetime Android installs (Play internal; store shows 100M+)</a:t>
                      </a:r>
                    </a:p>
                  </a:txBody>
                  <a:tcPr marL="64008" marR="64008" marT="41148" marB="41148" anchor="ctr">
                    <a:solidFill>
                      <a:srgbClr val="121821"/>
                    </a:solidFill>
                  </a:tcPr>
                </a:tc>
                <a:tc>
                  <a:txBody>
                    <a:bodyPr wrap="square"/>
                    <a:lstStyle/>
                    <a:p>
                      <a:pPr>
                        <a:lnSpc>
                          <a:spcPct val="114000"/>
                        </a:lnSpc>
                      </a:pPr>
                      <a:r>
                        <a:rPr sz="900" b="0" i="0">
                          <a:solidFill>
                            <a:srgbClr val="F7F6EF"/>
                          </a:solidFill>
                          <a:latin typeface="Arial"/>
                        </a:rPr>
                        <a:t>~$33K/wk, Trivia Crack Premium, US iOS gross, Q2 2025 (est.)</a:t>
                      </a:r>
                    </a:p>
                  </a:txBody>
                  <a:tcPr marL="64008" marR="64008" marT="41148" marB="41148" anchor="ctr">
                    <a:solidFill>
                      <a:srgbClr val="121821"/>
                    </a:solidFill>
                  </a:tcPr>
                </a:tc>
                <a:tc>
                  <a:txBody>
                    <a:bodyPr wrap="square"/>
                    <a:lstStyle/>
                    <a:p>
                      <a:pPr>
                        <a:lnSpc>
                          <a:spcPct val="114000"/>
                        </a:lnSpc>
                      </a:pPr>
                      <a:r>
                        <a:rPr sz="900" b="0" i="0">
                          <a:solidFill>
                            <a:srgbClr val="F7F6EF"/>
                          </a:solidFill>
                          <a:latin typeface="Arial"/>
                        </a:rPr>
                        <a:t>Pivoted away</a:t>
                      </a:r>
                    </a:p>
                  </a:txBody>
                  <a:tcPr marL="64008" marR="64008" marT="41148" marB="41148" anchor="ctr">
                    <a:solidFill>
                      <a:srgbClr val="121821"/>
                    </a:solidFill>
                  </a:tcPr>
                </a:tc>
                <a:tc>
                  <a:txBody>
                    <a:bodyPr wrap="square"/>
                    <a:lstStyle/>
                    <a:p>
                      <a:pPr>
                        <a:lnSpc>
                          <a:spcPct val="114000"/>
                        </a:lnSpc>
                      </a:pPr>
                      <a:r>
                        <a:rPr sz="900" b="0" i="0">
                          <a:solidFill>
                            <a:srgbClr val="F7F6EF"/>
                          </a:solidFill>
                          <a:latin typeface="Arial"/>
                        </a:rPr>
                        <a:t>Listing retitled around a FOX TV tie-in</a:t>
                      </a:r>
                    </a:p>
                  </a:txBody>
                  <a:tcPr marL="64008" marR="64008" marT="41148" marB="41148" anchor="ctr">
                    <a:solidFill>
                      <a:srgbClr val="121821"/>
                    </a:solidFill>
                  </a:tcPr>
                </a:tc>
              </a:tr>
              <a:tr h="349652">
                <a:tc>
                  <a:txBody>
                    <a:bodyPr wrap="square"/>
                    <a:lstStyle/>
                    <a:p>
                      <a:pPr>
                        <a:lnSpc>
                          <a:spcPct val="114000"/>
                        </a:lnSpc>
                      </a:pPr>
                      <a:r>
                        <a:rPr sz="900" b="1" i="0">
                          <a:solidFill>
                            <a:srgbClr val="F7F6EF"/>
                          </a:solidFill>
                          <a:latin typeface="Arial"/>
                        </a:rPr>
                        <a:t>MAG Interactive (owner of QuizDuel)</a:t>
                      </a:r>
                    </a:p>
                  </a:txBody>
                  <a:tcPr marL="64008" marR="64008" marT="41148" marB="41148" anchor="ctr">
                    <a:solidFill>
                      <a:srgbClr val="0D131B"/>
                    </a:solidFill>
                  </a:tcPr>
                </a:tc>
                <a:tc>
                  <a:txBody>
                    <a:bodyPr wrap="square"/>
                    <a:lstStyle/>
                    <a:p>
                      <a:pPr>
                        <a:lnSpc>
                          <a:spcPct val="114000"/>
                        </a:lnSpc>
                      </a:pPr>
                      <a:r>
                        <a:rPr sz="900" b="0" i="0">
                          <a:solidFill>
                            <a:srgbClr val="F7F6EF"/>
                          </a:solidFill>
                          <a:latin typeface="Arial"/>
                        </a:rPr>
                        <a:t>2.2M group MAU, 9-mo avg to May 2026, -13% YoY</a:t>
                      </a:r>
                    </a:p>
                  </a:txBody>
                  <a:tcPr marL="64008" marR="64008" marT="41148" marB="41148" anchor="ctr">
                    <a:solidFill>
                      <a:srgbClr val="0D131B"/>
                    </a:solidFill>
                  </a:tcPr>
                </a:tc>
                <a:tc>
                  <a:txBody>
                    <a:bodyPr wrap="square"/>
                    <a:lstStyle/>
                    <a:p>
                      <a:pPr>
                        <a:lnSpc>
                          <a:spcPct val="114000"/>
                        </a:lnSpc>
                      </a:pPr>
                      <a:r>
                        <a:rPr sz="900" b="0" i="0">
                          <a:solidFill>
                            <a:srgbClr val="FFC83D"/>
                          </a:solidFill>
                          <a:latin typeface="Arial"/>
                        </a:rPr>
                        <a:t>$21.563M group net sales, 9 months to May 2026</a:t>
                      </a:r>
                    </a:p>
                  </a:txBody>
                  <a:tcPr marL="64008" marR="64008" marT="41148" marB="41148" anchor="ctr">
                    <a:solidFill>
                      <a:srgbClr val="0D131B"/>
                    </a:solidFill>
                  </a:tcPr>
                </a:tc>
                <a:tc>
                  <a:txBody>
                    <a:bodyPr wrap="square"/>
                    <a:lstStyle/>
                    <a:p>
                      <a:pPr>
                        <a:lnSpc>
                          <a:spcPct val="114000"/>
                        </a:lnSpc>
                      </a:pPr>
                      <a:r>
                        <a:rPr sz="900" b="0" i="0">
                          <a:solidFill>
                            <a:srgbClr val="F7F6EF"/>
                          </a:solidFill>
                          <a:latin typeface="Arial"/>
                        </a:rPr>
                        <a:t>Duel — live status not verified</a:t>
                      </a:r>
                    </a:p>
                  </a:txBody>
                  <a:tcPr marL="64008" marR="64008" marT="41148" marB="41148" anchor="ctr">
                    <a:solidFill>
                      <a:srgbClr val="0D131B"/>
                    </a:solidFill>
                  </a:tcPr>
                </a:tc>
                <a:tc>
                  <a:txBody>
                    <a:bodyPr wrap="square"/>
                    <a:lstStyle/>
                    <a:p>
                      <a:pPr>
                        <a:lnSpc>
                          <a:spcPct val="114000"/>
                        </a:lnSpc>
                      </a:pPr>
                      <a:r>
                        <a:rPr sz="900" b="0" i="0">
                          <a:solidFill>
                            <a:srgbClr val="F7F6EF"/>
                          </a:solidFill>
                          <a:latin typeface="Arial"/>
                        </a:rPr>
                        <a:t>iOS build updated 10 Sep 2026; 3.51 stars / 78 US ratings</a:t>
                      </a:r>
                    </a:p>
                  </a:txBody>
                  <a:tcPr marL="64008" marR="64008" marT="41148" marB="41148" anchor="ctr">
                    <a:solidFill>
                      <a:srgbClr val="0D131B"/>
                    </a:solidFill>
                  </a:tcPr>
                </a:tc>
              </a:tr>
              <a:tr h="349652">
                <a:tc>
                  <a:txBody>
                    <a:bodyPr wrap="square"/>
                    <a:lstStyle/>
                    <a:p>
                      <a:pPr>
                        <a:lnSpc>
                          <a:spcPct val="114000"/>
                        </a:lnSpc>
                      </a:pPr>
                      <a:r>
                        <a:rPr sz="900" b="1" i="0">
                          <a:solidFill>
                            <a:srgbClr val="F7F6EF"/>
                          </a:solidFill>
                          <a:latin typeface="Arial"/>
                        </a:rPr>
                        <a:t>Kahoot!</a:t>
                      </a:r>
                    </a:p>
                  </a:txBody>
                  <a:tcPr marL="64008" marR="64008" marT="41148" marB="41148" anchor="ctr">
                    <a:solidFill>
                      <a:srgbClr val="121821"/>
                    </a:solidFill>
                  </a:tcPr>
                </a:tc>
                <a:tc>
                  <a:txBody>
                    <a:bodyPr wrap="square"/>
                    <a:lstStyle/>
                    <a:p>
                      <a:pPr>
                        <a:lnSpc>
                          <a:spcPct val="114000"/>
                        </a:lnSpc>
                      </a:pPr>
                      <a:r>
                        <a:rPr sz="900" b="0" i="0">
                          <a:solidFill>
                            <a:srgbClr val="F7F6EF"/>
                          </a:solidFill>
                          <a:latin typeface="Arial"/>
                        </a:rPr>
                        <a:t>100,263,409 lifetime Android installs</a:t>
                      </a:r>
                    </a:p>
                  </a:txBody>
                  <a:tcPr marL="64008" marR="64008" marT="41148" marB="41148" anchor="ctr">
                    <a:solidFill>
                      <a:srgbClr val="121821"/>
                    </a:solidFill>
                  </a:tcPr>
                </a:tc>
                <a:tc>
                  <a:txBody>
                    <a:bodyPr wrap="square"/>
                    <a:lstStyle/>
                    <a:p>
                      <a:pPr>
                        <a:lnSpc>
                          <a:spcPct val="114000"/>
                        </a:lnSpc>
                      </a:pPr>
                      <a:r>
                        <a:rPr sz="900" b="0" i="0">
                          <a:solidFill>
                            <a:srgbClr val="FFC83D"/>
                          </a:solidFill>
                          <a:latin typeface="Arial"/>
                        </a:rPr>
                        <a:t>$146.0M FY2022, 95% gross margin, B2B/education</a:t>
                      </a:r>
                    </a:p>
                  </a:txBody>
                  <a:tcPr marL="64008" marR="64008" marT="41148" marB="41148" anchor="ctr">
                    <a:solidFill>
                      <a:srgbClr val="121821"/>
                    </a:solidFill>
                  </a:tcPr>
                </a:tc>
                <a:tc>
                  <a:txBody>
                    <a:bodyPr wrap="square"/>
                    <a:lstStyle/>
                    <a:p>
                      <a:pPr>
                        <a:lnSpc>
                          <a:spcPct val="114000"/>
                        </a:lnSpc>
                      </a:pPr>
                      <a:r>
                        <a:rPr sz="900" b="0" i="0">
                          <a:solidFill>
                            <a:srgbClr val="F7F6EF"/>
                          </a:solidFill>
                          <a:latin typeface="Arial"/>
                        </a:rPr>
                        <a:t>No — classroom/B2B</a:t>
                      </a:r>
                    </a:p>
                  </a:txBody>
                  <a:tcPr marL="64008" marR="64008" marT="41148" marB="41148" anchor="ctr">
                    <a:solidFill>
                      <a:srgbClr val="121821"/>
                    </a:solidFill>
                  </a:tcPr>
                </a:tc>
                <a:tc>
                  <a:txBody>
                    <a:bodyPr wrap="square"/>
                    <a:lstStyle/>
                    <a:p>
                      <a:pPr>
                        <a:lnSpc>
                          <a:spcPct val="114000"/>
                        </a:lnSpc>
                      </a:pPr>
                      <a:r>
                        <a:rPr sz="900" b="0" i="0">
                          <a:solidFill>
                            <a:srgbClr val="F7F6EF"/>
                          </a:solidFill>
                          <a:latin typeface="Arial"/>
                        </a:rPr>
                        <a:t>Private since 23 Jan 2024; Play build 3 Sep 2026</a:t>
                      </a:r>
                    </a:p>
                  </a:txBody>
                  <a:tcPr marL="64008" marR="64008" marT="41148" marB="41148" anchor="ctr">
                    <a:solidFill>
                      <a:srgbClr val="121821"/>
                    </a:solidFill>
                  </a:tcPr>
                </a:tc>
              </a:tr>
              <a:tr h="349652">
                <a:tc>
                  <a:txBody>
                    <a:bodyPr wrap="square"/>
                    <a:lstStyle/>
                    <a:p>
                      <a:pPr>
                        <a:lnSpc>
                          <a:spcPct val="114000"/>
                        </a:lnSpc>
                      </a:pPr>
                      <a:r>
                        <a:rPr sz="900" b="1" i="0">
                          <a:solidFill>
                            <a:srgbClr val="F7F6EF"/>
                          </a:solidFill>
                          <a:latin typeface="Arial"/>
                        </a:rPr>
                        <a:t>Wayground (ex-Quizizz)</a:t>
                      </a:r>
                    </a:p>
                  </a:txBody>
                  <a:tcPr marL="64008" marR="64008" marT="41148" marB="41148" anchor="ctr">
                    <a:solidFill>
                      <a:srgbClr val="0D131B"/>
                    </a:solidFill>
                  </a:tcPr>
                </a:tc>
                <a:tc>
                  <a:txBody>
                    <a:bodyPr wrap="square"/>
                    <a:lstStyle/>
                    <a:p>
                      <a:pPr>
                        <a:lnSpc>
                          <a:spcPct val="114000"/>
                        </a:lnSpc>
                      </a:pPr>
                      <a:r>
                        <a:rPr sz="900" b="0" i="0">
                          <a:solidFill>
                            <a:srgbClr val="F7F6EF"/>
                          </a:solidFill>
                          <a:latin typeface="Arial"/>
                        </a:rPr>
                        <a:t>10M+ Android installs</a:t>
                      </a:r>
                    </a:p>
                  </a:txBody>
                  <a:tcPr marL="64008" marR="64008" marT="41148" marB="41148" anchor="ctr">
                    <a:solidFill>
                      <a:srgbClr val="0D131B"/>
                    </a:solidFill>
                  </a:tcPr>
                </a:tc>
                <a:tc>
                  <a:txBody>
                    <a:bodyPr wrap="square"/>
                    <a:lstStyle/>
                    <a:p>
                      <a:pPr>
                        <a:lnSpc>
                          <a:spcPct val="114000"/>
                        </a:lnSpc>
                      </a:pPr>
                      <a:r>
                        <a:rPr sz="900" b="0" i="0">
                          <a:solidFill>
                            <a:srgbClr val="FFC83D"/>
                          </a:solidFill>
                          <a:latin typeface="Arial"/>
                        </a:rPr>
                        <a:t>$31.5M Series B; ~$44M across disclosed rounds, no valuation</a:t>
                      </a:r>
                    </a:p>
                  </a:txBody>
                  <a:tcPr marL="64008" marR="64008" marT="41148" marB="41148" anchor="ctr">
                    <a:solidFill>
                      <a:srgbClr val="0D131B"/>
                    </a:solidFill>
                  </a:tcPr>
                </a:tc>
                <a:tc>
                  <a:txBody>
                    <a:bodyPr wrap="square"/>
                    <a:lstStyle/>
                    <a:p>
                      <a:pPr>
                        <a:lnSpc>
                          <a:spcPct val="114000"/>
                        </a:lnSpc>
                      </a:pPr>
                      <a:r>
                        <a:rPr sz="900" b="0" i="0">
                          <a:solidFill>
                            <a:srgbClr val="F7F6EF"/>
                          </a:solidFill>
                          <a:latin typeface="Arial"/>
                        </a:rPr>
                        <a:t>No</a:t>
                      </a:r>
                    </a:p>
                  </a:txBody>
                  <a:tcPr marL="64008" marR="64008" marT="41148" marB="41148" anchor="ctr">
                    <a:solidFill>
                      <a:srgbClr val="0D131B"/>
                    </a:solidFill>
                  </a:tcPr>
                </a:tc>
                <a:tc>
                  <a:txBody>
                    <a:bodyPr wrap="square"/>
                    <a:lstStyle/>
                    <a:p>
                      <a:pPr>
                        <a:lnSpc>
                          <a:spcPct val="114000"/>
                        </a:lnSpc>
                      </a:pPr>
                      <a:r>
                        <a:rPr sz="900" b="0" i="0">
                          <a:solidFill>
                            <a:srgbClr val="F7F6EF"/>
                          </a:solidFill>
                          <a:latin typeface="Arial"/>
                        </a:rPr>
                        <a:t>iOS app last updated 14 Nov 2025</a:t>
                      </a:r>
                    </a:p>
                  </a:txBody>
                  <a:tcPr marL="64008" marR="64008" marT="41148" marB="41148" anchor="ctr">
                    <a:solidFill>
                      <a:srgbClr val="0D131B"/>
                    </a:solidFill>
                  </a:tcPr>
                </a:tc>
              </a:tr>
              <a:tr h="349652">
                <a:tc>
                  <a:txBody>
                    <a:bodyPr wrap="square"/>
                    <a:lstStyle/>
                    <a:p>
                      <a:pPr>
                        <a:lnSpc>
                          <a:spcPct val="114000"/>
                        </a:lnSpc>
                      </a:pPr>
                      <a:r>
                        <a:rPr sz="900" b="1" i="0">
                          <a:solidFill>
                            <a:srgbClr val="F7F6EF"/>
                          </a:solidFill>
                          <a:latin typeface="Arial"/>
                        </a:rPr>
                        <a:t>Quizion / TRIVIA GO!</a:t>
                      </a:r>
                    </a:p>
                  </a:txBody>
                  <a:tcPr marL="64008" marR="64008" marT="41148" marB="41148" anchor="ctr">
                    <a:solidFill>
                      <a:srgbClr val="121821"/>
                    </a:solidFill>
                  </a:tcPr>
                </a:tc>
                <a:tc>
                  <a:txBody>
                    <a:bodyPr wrap="square"/>
                    <a:lstStyle/>
                    <a:p>
                      <a:pPr>
                        <a:lnSpc>
                          <a:spcPct val="114000"/>
                        </a:lnSpc>
                      </a:pPr>
                      <a:r>
                        <a:rPr sz="900" b="0" i="0">
                          <a:solidFill>
                            <a:srgbClr val="F7F6EF"/>
                          </a:solidFill>
                          <a:latin typeface="Arial"/>
                        </a:rPr>
                        <a:t>10+ / 10K+ Android downloads</a:t>
                      </a:r>
                    </a:p>
                  </a:txBody>
                  <a:tcPr marL="64008" marR="64008" marT="41148" marB="41148" anchor="ctr">
                    <a:solidFill>
                      <a:srgbClr val="121821"/>
                    </a:solidFill>
                  </a:tcPr>
                </a:tc>
                <a:tc>
                  <a:txBody>
                    <a:bodyPr wrap="square"/>
                    <a:lstStyle/>
                    <a:p>
                      <a:pPr>
                        <a:lnSpc>
                          <a:spcPct val="114000"/>
                        </a:lnSpc>
                      </a:pPr>
                      <a:r>
                        <a:rPr sz="900" b="0" i="0">
                          <a:solidFill>
                            <a:srgbClr val="F7F6EF"/>
                          </a:solidFill>
                          <a:latin typeface="Arial"/>
                        </a:rPr>
                        <a:t>None disclosed</a:t>
                      </a:r>
                    </a:p>
                  </a:txBody>
                  <a:tcPr marL="64008" marR="64008" marT="41148" marB="41148" anchor="ctr">
                    <a:solidFill>
                      <a:srgbClr val="121821"/>
                    </a:solidFill>
                  </a:tcPr>
                </a:tc>
                <a:tc>
                  <a:txBody>
                    <a:bodyPr wrap="square"/>
                    <a:lstStyle/>
                    <a:p>
                      <a:pPr>
                        <a:lnSpc>
                          <a:spcPct val="114000"/>
                        </a:lnSpc>
                      </a:pPr>
                      <a:r>
                        <a:rPr sz="900" b="0" i="0">
                          <a:solidFill>
                            <a:srgbClr val="F7F6EF"/>
                          </a:solidFill>
                          <a:latin typeface="Arial"/>
                        </a:rPr>
                        <a:t>Yes</a:t>
                      </a:r>
                    </a:p>
                  </a:txBody>
                  <a:tcPr marL="64008" marR="64008" marT="41148" marB="41148" anchor="ctr">
                    <a:solidFill>
                      <a:srgbClr val="121821"/>
                    </a:solidFill>
                  </a:tcPr>
                </a:tc>
                <a:tc>
                  <a:txBody>
                    <a:bodyPr wrap="square"/>
                    <a:lstStyle/>
                    <a:p>
                      <a:pPr>
                        <a:lnSpc>
                          <a:spcPct val="114000"/>
                        </a:lnSpc>
                      </a:pPr>
                      <a:r>
                        <a:rPr sz="900" b="0" i="0">
                          <a:solidFill>
                            <a:srgbClr val="F7F6EF"/>
                          </a:solidFill>
                          <a:latin typeface="Arial"/>
                        </a:rPr>
                        <a:t>Quizion updated 13 Aug 2026; TRIVIA GO! stale since 22 May 2025</a:t>
                      </a:r>
                    </a:p>
                  </a:txBody>
                  <a:tcPr marL="64008" marR="64008" marT="41148" marB="41148" anchor="ctr">
                    <a:solidFill>
                      <a:srgbClr val="121821"/>
                    </a:solidFill>
                  </a:tcPr>
                </a:tc>
              </a:tr>
              <a:tr h="349652">
                <a:tc>
                  <a:txBody>
                    <a:bodyPr wrap="square"/>
                    <a:lstStyle/>
                    <a:p>
                      <a:pPr>
                        <a:lnSpc>
                          <a:spcPct val="114000"/>
                        </a:lnSpc>
                      </a:pPr>
                      <a:r>
                        <a:rPr sz="900" b="1" i="0">
                          <a:solidFill>
                            <a:srgbClr val="F7F6EF"/>
                          </a:solidFill>
                          <a:latin typeface="Arial"/>
                        </a:rPr>
                        <a:t>FACT//DUEL</a:t>
                      </a:r>
                    </a:p>
                  </a:txBody>
                  <a:tcPr marL="64008" marR="64008" marT="41148" marB="41148" anchor="ctr">
                    <a:solidFill>
                      <a:srgbClr val="0D131B"/>
                    </a:solidFill>
                  </a:tcPr>
                </a:tc>
                <a:tc>
                  <a:txBody>
                    <a:bodyPr wrap="square"/>
                    <a:lstStyle/>
                    <a:p>
                      <a:pPr>
                        <a:lnSpc>
                          <a:spcPct val="114000"/>
                        </a:lnSpc>
                      </a:pPr>
                      <a:r>
                        <a:rPr sz="900" b="0" i="0">
                          <a:solidFill>
                            <a:srgbClr val="F7F6EF"/>
                          </a:solidFill>
                          <a:latin typeface="Arial"/>
                        </a:rPr>
                        <a:t>Zero users</a:t>
                      </a:r>
                    </a:p>
                  </a:txBody>
                  <a:tcPr marL="64008" marR="64008" marT="41148" marB="41148" anchor="ctr">
                    <a:solidFill>
                      <a:srgbClr val="0D131B"/>
                    </a:solidFill>
                  </a:tcPr>
                </a:tc>
                <a:tc>
                  <a:txBody>
                    <a:bodyPr wrap="square"/>
                    <a:lstStyle/>
                    <a:p>
                      <a:pPr>
                        <a:lnSpc>
                          <a:spcPct val="114000"/>
                        </a:lnSpc>
                      </a:pPr>
                      <a:r>
                        <a:rPr sz="900" b="0" i="0">
                          <a:solidFill>
                            <a:srgbClr val="F7F6EF"/>
                          </a:solidFill>
                          <a:latin typeface="Arial"/>
                        </a:rPr>
                        <a:t>Zero revenue</a:t>
                      </a:r>
                    </a:p>
                  </a:txBody>
                  <a:tcPr marL="64008" marR="64008" marT="41148" marB="41148" anchor="ctr">
                    <a:solidFill>
                      <a:srgbClr val="0D131B"/>
                    </a:solidFill>
                  </a:tcPr>
                </a:tc>
                <a:tc>
                  <a:txBody>
                    <a:bodyPr wrap="square"/>
                    <a:lstStyle/>
                    <a:p>
                      <a:pPr>
                        <a:lnSpc>
                          <a:spcPct val="114000"/>
                        </a:lnSpc>
                      </a:pPr>
                      <a:r>
                        <a:rPr sz="900" b="0" i="0">
                          <a:solidFill>
                            <a:srgbClr val="F7F6EF"/>
                          </a:solidFill>
                          <a:latin typeface="Arial"/>
                        </a:rPr>
                        <a:t>Yes — bot practice opponent</a:t>
                      </a:r>
                    </a:p>
                  </a:txBody>
                  <a:tcPr marL="64008" marR="64008" marT="41148" marB="41148" anchor="ctr">
                    <a:solidFill>
                      <a:srgbClr val="0D131B"/>
                    </a:solidFill>
                  </a:tcPr>
                </a:tc>
                <a:tc>
                  <a:txBody>
                    <a:bodyPr wrap="square"/>
                    <a:lstStyle/>
                    <a:p>
                      <a:pPr>
                        <a:lnSpc>
                          <a:spcPct val="114000"/>
                        </a:lnSpc>
                      </a:pPr>
                      <a:r>
                        <a:rPr sz="900" b="0" i="0">
                          <a:solidFill>
                            <a:srgbClr val="F7F6EF"/>
                          </a:solidFill>
                          <a:latin typeface="Arial"/>
                        </a:rPr>
                        <a:t>Publicly playable in a browser, 54 sample questions</a:t>
                      </a:r>
                    </a:p>
                  </a:txBody>
                  <a:tcPr marL="64008" marR="64008" marT="41148" marB="41148" anchor="ctr">
                    <a:solidFill>
                      <a:srgbClr val="0D131B"/>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E14"/>
        </a:solidFill>
        <a:effectLst/>
      </p:bgPr>
    </p:bg>
    <p:spTree>
      <p:nvGrpSpPr>
        <p:cNvPr id="1" name=""/>
        <p:cNvGrpSpPr/>
        <p:nvPr/>
      </p:nvGrpSpPr>
      <p:grpSpPr/>
      <p:sp>
        <p:nvSpPr>
          <p:cNvPr id="2" name="Title 1"/>
          <p:cNvSpPr>
            <a:spLocks noGrp="1"/>
          </p:cNvSpPr>
          <p:nvPr>
            <p:ph type="title"/>
          </p:nvPr>
        </p:nvSpPr>
        <p:spPr>
          <a:xfrm>
            <a:off x="566928" y="658368"/>
            <a:ext cx="11057839" cy="1133856"/>
          </a:xfrm>
        </p:spPr>
        <p:txBody>
          <a:bodyPr wrap="square" lIns="0" rIns="0" tIns="0" bIns="0" anchor="t"/>
          <a:lstStyle/>
          <a:p>
            <a:pPr>
              <a:lnSpc>
                <a:spcPct val="108000"/>
              </a:lnSpc>
            </a:pPr>
            <a:r>
              <a:rPr sz="4000" b="1" i="0">
                <a:solidFill>
                  <a:srgbClr val="F7F6EF"/>
                </a:solidFill>
                <a:latin typeface="Arial"/>
              </a:rPr>
              <a:t>The two risks that emptied this category lead the list, and set the milestones.</a:t>
            </a:r>
          </a:p>
        </p:txBody>
      </p:sp>
      <p:sp>
        <p:nvSpPr>
          <p:cNvPr id="3" name="TextBox 2"/>
          <p:cNvSpPr txBox="1"/>
          <p:nvPr/>
        </p:nvSpPr>
        <p:spPr>
          <a:xfrm>
            <a:off x="566928" y="365760"/>
            <a:ext cx="11057839" cy="219456"/>
          </a:xfrm>
          <a:prstGeom prst="rect">
            <a:avLst/>
          </a:prstGeom>
          <a:noFill/>
        </p:spPr>
        <p:txBody>
          <a:bodyPr wrap="square" lIns="0" rIns="0" tIns="0" bIns="0" anchor="t">
            <a:spAutoFit/>
          </a:bodyPr>
          <a:lstStyle/>
          <a:p>
            <a:r>
              <a:rPr sz="1100" b="1" i="0" spc="160">
                <a:solidFill>
                  <a:srgbClr val="D4FF3A"/>
                </a:solidFill>
                <a:latin typeface="Arial"/>
              </a:rPr>
              <a:t>RISKS</a:t>
            </a:r>
          </a:p>
        </p:txBody>
      </p:sp>
      <p:sp>
        <p:nvSpPr>
          <p:cNvPr id="4" name="Rectangle 3"/>
          <p:cNvSpPr/>
          <p:nvPr/>
        </p:nvSpPr>
        <p:spPr>
          <a:xfrm>
            <a:off x="566928" y="6035040"/>
            <a:ext cx="11057839" cy="11887"/>
          </a:xfrm>
          <a:prstGeom prst="rect">
            <a:avLst/>
          </a:prstGeom>
          <a:solidFill>
            <a:srgbClr val="D4F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664647" y="6144768"/>
            <a:ext cx="960120" cy="274320"/>
          </a:xfrm>
          <a:prstGeom prst="rect">
            <a:avLst/>
          </a:prstGeom>
          <a:noFill/>
        </p:spPr>
        <p:txBody>
          <a:bodyPr wrap="square" lIns="0" rIns="0" tIns="0" bIns="0" anchor="t">
            <a:spAutoFit/>
          </a:bodyPr>
          <a:lstStyle/>
          <a:p>
            <a:pPr algn="r"/>
            <a:r>
              <a:rPr sz="950" b="1" i="0" spc="60">
                <a:solidFill>
                  <a:srgbClr val="A6ADBA"/>
                </a:solidFill>
                <a:latin typeface="Arial"/>
              </a:rPr>
              <a:t>11</a:t>
            </a:r>
          </a:p>
        </p:txBody>
      </p:sp>
      <p:sp>
        <p:nvSpPr>
          <p:cNvPr id="6" name="TextBox 5"/>
          <p:cNvSpPr txBox="1"/>
          <p:nvPr/>
        </p:nvSpPr>
        <p:spPr>
          <a:xfrm>
            <a:off x="566928" y="6144768"/>
            <a:ext cx="9869119" cy="548640"/>
          </a:xfrm>
          <a:prstGeom prst="rect">
            <a:avLst/>
          </a:prstGeom>
          <a:noFill/>
        </p:spPr>
        <p:txBody>
          <a:bodyPr wrap="square" lIns="0" rIns="0" tIns="0" bIns="0" anchor="t">
            <a:spAutoFit/>
          </a:bodyPr>
          <a:lstStyle/>
          <a:p>
            <a:pPr>
              <a:lnSpc>
                <a:spcPct val="115000"/>
              </a:lnSpc>
            </a:pPr>
            <a:r>
              <a:rPr sz="800" b="0" i="0">
                <a:solidFill>
                  <a:srgbClr val="A6ADBA"/>
                </a:solidFill>
                <a:latin typeface="Arial"/>
              </a:rPr>
              <a:t>Sources: TechCrunch — Trivia Royale, 2.5M downloads in 3 weeks  ·  GameAnalytics — 2026 Mobile &amp; PC Gaming Benchmarks  ·  SEC 10-K — Skillz FY2023 (Skillz v. AviaGames)</a:t>
            </a:r>
          </a:p>
          <a:p>
            <a:pPr>
              <a:lnSpc>
                <a:spcPct val="115000"/>
              </a:lnSpc>
            </a:pPr>
            <a:r>
              <a:rPr sz="800" b="0" i="0">
                <a:solidFill>
                  <a:srgbClr val="A6ADBA"/>
                </a:solidFill>
                <a:latin typeface="Arial"/>
              </a:rPr>
              <a:t>Sporcle — Orange membership pricing  ·  SEC — Duolingo Q2 FY2026 shareholder letter  ·  FACT//DUEL internal — numbers.md §2.3, §4.3 and §4.4  ·  FACT//DUEL internal — numbers.md §3.5, §5.2 and §5.14</a:t>
            </a:r>
          </a:p>
          <a:p>
            <a:pPr>
              <a:lnSpc>
                <a:spcPct val="115000"/>
              </a:lnSpc>
            </a:pPr>
            <a:r>
              <a:rPr sz="800" b="0" i="0">
                <a:solidFill>
                  <a:srgbClr val="A6ADBA"/>
                </a:solidFill>
                <a:latin typeface="Arial"/>
              </a:rPr>
              <a:t>FACT//DUEL internal — numbers.md §7.1 and §7.2  ·  FACT//DUEL internal — numbers.md §4.4b</a:t>
            </a:r>
          </a:p>
        </p:txBody>
      </p:sp>
      <p:sp>
        <p:nvSpPr>
          <p:cNvPr id="7" name="TextBox 6"/>
          <p:cNvSpPr txBox="1"/>
          <p:nvPr/>
        </p:nvSpPr>
        <p:spPr>
          <a:xfrm>
            <a:off x="566928" y="1993392"/>
            <a:ext cx="11057839" cy="3913631"/>
          </a:xfrm>
          <a:prstGeom prst="rect">
            <a:avLst/>
          </a:prstGeom>
          <a:noFill/>
        </p:spPr>
        <p:txBody>
          <a:bodyPr wrap="square" lIns="0" rIns="0" tIns="0" bIns="0" anchor="t">
            <a:spAutoFit/>
          </a:bodyPr>
          <a:lstStyle/>
          <a:p>
            <a:pPr marL="255604" indent="-255604">
              <a:lnSpc>
                <a:spcPct val="116000"/>
              </a:lnSpc>
              <a:buClr>
                <a:srgbClr val="D4FF3A"/>
              </a:buClr>
              <a:buFont typeface="Arial"/>
              <a:buChar char="—"/>
            </a:pPr>
            <a:r>
              <a:rPr sz="1500" b="0" i="0">
                <a:solidFill>
                  <a:srgbClr val="F7F6EF"/>
                </a:solidFill>
                <a:latin typeface="Arial"/>
              </a:rPr>
              <a:t>Long-tail retention. Trivia Royale reported 45% D1 iOS — company-stated to TechCrunch, not audited — and closed eight months after launch.</a:t>
            </a:r>
          </a:p>
          <a:p>
            <a:pPr marL="255604" indent="-255604">
              <a:lnSpc>
                <a:spcPct val="116000"/>
              </a:lnSpc>
              <a:spcBef>
                <a:spcPts val="825"/>
              </a:spcBef>
              <a:buClr>
                <a:srgbClr val="D4FF3A"/>
              </a:buClr>
              <a:buFont typeface="Arial"/>
              <a:buChar char="—"/>
            </a:pPr>
            <a:r>
              <a:rPr sz="1500" b="0" i="0">
                <a:solidFill>
                  <a:srgbClr val="F7F6EF"/>
                </a:solidFill>
                <a:latin typeface="Arial"/>
              </a:rPr>
              <a:t>Global median D30 across 16,000+ mobile games is 0.68-0.79% (GameAnalytics est., CY2025); the North American median is 1.18%.</a:t>
            </a:r>
          </a:p>
          <a:p>
            <a:pPr marL="255604" indent="-255604">
              <a:lnSpc>
                <a:spcPct val="116000"/>
              </a:lnSpc>
              <a:spcBef>
                <a:spcPts val="825"/>
              </a:spcBef>
              <a:buClr>
                <a:srgbClr val="D4FF3A"/>
              </a:buClr>
              <a:buFont typeface="Arial"/>
              <a:buChar char="—"/>
            </a:pPr>
            <a:r>
              <a:rPr sz="1500" b="0" i="0">
                <a:solidFill>
                  <a:srgbClr val="F7F6EF"/>
                </a:solidFill>
                <a:latin typeface="Arial"/>
              </a:rPr>
              <a:t>Opponent integrity. Skillz won a </a:t>
            </a:r>
            <a:r>
              <a:rPr sz="1500" b="0" i="0">
                <a:solidFill>
                  <a:srgbClr val="FFC83D"/>
                </a:solidFill>
                <a:latin typeface="Arial"/>
              </a:rPr>
              <a:t>$42.9M</a:t>
            </a:r>
            <a:r>
              <a:rPr sz="1500" b="0" i="0">
                <a:solidFill>
                  <a:srgbClr val="F7F6EF"/>
                </a:solidFill>
                <a:latin typeface="Arial"/>
              </a:rPr>
              <a:t> jury verdict against AviaGames for willful patent infringement (9 Feb 2024); trial evidence showed bots run against paying humans.</a:t>
            </a:r>
          </a:p>
          <a:p>
            <a:pPr marL="255604" indent="-255604">
              <a:lnSpc>
                <a:spcPct val="116000"/>
              </a:lnSpc>
              <a:spcBef>
                <a:spcPts val="825"/>
              </a:spcBef>
              <a:buClr>
                <a:srgbClr val="D4FF3A"/>
              </a:buClr>
              <a:buFont typeface="Arial"/>
              <a:buChar char="—"/>
            </a:pPr>
            <a:r>
              <a:rPr sz="1500" b="0" i="0">
                <a:solidFill>
                  <a:srgbClr val="F7F6EF"/>
                </a:solidFill>
                <a:latin typeface="Arial"/>
              </a:rPr>
              <a:t>Benchmark transfer. Every retention, session and per-install benchmark in our model is measured on app-store installs, not web (§5.14, §7.3).</a:t>
            </a:r>
          </a:p>
          <a:p>
            <a:pPr marL="255604" indent="-255604">
              <a:lnSpc>
                <a:spcPct val="116000"/>
              </a:lnSpc>
              <a:spcBef>
                <a:spcPts val="825"/>
              </a:spcBef>
              <a:buClr>
                <a:srgbClr val="D4FF3A"/>
              </a:buClr>
              <a:buFont typeface="Arial"/>
              <a:buChar char="—"/>
            </a:pPr>
            <a:r>
              <a:rPr sz="1500" b="0" i="0">
                <a:solidFill>
                  <a:srgbClr val="F7F6EF"/>
                </a:solidFill>
                <a:latin typeface="Arial"/>
              </a:rPr>
              <a:t>Measurement selection. The cohort rate counts only devices that opt into the anonymous ping — consenting devices, not all. We will publish it as exactly that.</a:t>
            </a:r>
          </a:p>
          <a:p>
            <a:pPr marL="255604" indent="-255604">
              <a:lnSpc>
                <a:spcPct val="116000"/>
              </a:lnSpc>
              <a:spcBef>
                <a:spcPts val="825"/>
              </a:spcBef>
              <a:buClr>
                <a:srgbClr val="D4FF3A"/>
              </a:buClr>
              <a:buFont typeface="Arial"/>
              <a:buChar char="—"/>
            </a:pPr>
            <a:r>
              <a:rPr sz="1500" b="0" i="0">
                <a:solidFill>
                  <a:srgbClr val="F7F6EF"/>
                </a:solidFill>
                <a:latin typeface="Arial"/>
              </a:rPr>
              <a:t>Content depth. 54 sample questions is a demo bank; the ask funds four engineers and no content line (§4.4).</a:t>
            </a:r>
          </a:p>
          <a:p>
            <a:pPr marL="255604" indent="-255604">
              <a:lnSpc>
                <a:spcPct val="116000"/>
              </a:lnSpc>
              <a:spcBef>
                <a:spcPts val="825"/>
              </a:spcBef>
              <a:buClr>
                <a:srgbClr val="D4FF3A"/>
              </a:buClr>
              <a:buFont typeface="Arial"/>
              <a:buChar char="—"/>
            </a:pPr>
            <a:r>
              <a:rPr sz="1500" b="0" i="0">
                <a:solidFill>
                  <a:srgbClr val="F7F6EF"/>
                </a:solidFill>
                <a:latin typeface="Arial"/>
              </a:rPr>
              <a:t>Model honesty. Our base case </a:t>
            </a:r>
            <a:r>
              <a:rPr sz="1500" b="1" i="0">
                <a:solidFill>
                  <a:srgbClr val="4EE1FF"/>
                </a:solidFill>
                <a:latin typeface="Arial"/>
              </a:rPr>
              <a:t>(P)</a:t>
            </a:r>
            <a:r>
              <a:rPr sz="1500" b="0" i="0">
                <a:solidFill>
                  <a:srgbClr val="F7F6EF"/>
                </a:solidFill>
                <a:latin typeface="Arial"/>
              </a:rPr>
              <a:t> out-monetises a 9.03%-conversion subscription at </a:t>
            </a:r>
            <a:r>
              <a:rPr sz="1500" b="0" i="0">
                <a:solidFill>
                  <a:srgbClr val="FFC83D"/>
                </a:solidFill>
                <a:latin typeface="Arial"/>
              </a:rPr>
              <a:t>$43.99</a:t>
            </a:r>
            <a:r>
              <a:rPr sz="1500" b="0" i="0">
                <a:solidFill>
                  <a:srgbClr val="F7F6EF"/>
                </a:solidFill>
                <a:latin typeface="Arial"/>
              </a:rPr>
              <a:t>/yr by 3.88x. We flag it, not hide it.</a:t>
            </a:r>
          </a:p>
          <a:p>
            <a:pPr marL="255604" indent="-255604">
              <a:lnSpc>
                <a:spcPct val="116000"/>
              </a:lnSpc>
              <a:spcBef>
                <a:spcPts val="825"/>
              </a:spcBef>
              <a:buClr>
                <a:srgbClr val="D4FF3A"/>
              </a:buClr>
              <a:buFont typeface="Arial"/>
              <a:buChar char="—"/>
            </a:pPr>
            <a:r>
              <a:rPr sz="1500" b="0" i="0">
                <a:solidFill>
                  <a:srgbClr val="F7F6EF"/>
                </a:solidFill>
                <a:latin typeface="Arial"/>
              </a:rPr>
              <a:t>Wagering law. Route A </a:t>
            </a:r>
            <a:r>
              <a:rPr sz="1500" b="1" i="0">
                <a:solidFill>
                  <a:srgbClr val="4EE1FF"/>
                </a:solidFill>
                <a:latin typeface="Arial"/>
              </a:rPr>
              <a:t>(P)</a:t>
            </a:r>
            <a:r>
              <a:rPr sz="1500" b="0" i="0">
                <a:solidFill>
                  <a:srgbClr val="F7F6EF"/>
                </a:solidFill>
                <a:latin typeface="Arial"/>
              </a:rPr>
              <a:t> would stake real money on a knowledge outcome: skill gaming or gambling in many jurisdictions. Nothing takes money today.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E14"/>
        </a:solidFill>
        <a:effectLst/>
      </p:bgPr>
    </p:bg>
    <p:spTree>
      <p:nvGrpSpPr>
        <p:cNvPr id="1" name=""/>
        <p:cNvGrpSpPr/>
        <p:nvPr/>
      </p:nvGrpSpPr>
      <p:grpSpPr/>
      <p:sp>
        <p:nvSpPr>
          <p:cNvPr id="2" name="Title 1"/>
          <p:cNvSpPr>
            <a:spLocks noGrp="1"/>
          </p:cNvSpPr>
          <p:nvPr>
            <p:ph type="title"/>
          </p:nvPr>
        </p:nvSpPr>
        <p:spPr>
          <a:xfrm>
            <a:off x="566928" y="658368"/>
            <a:ext cx="11057839" cy="585216"/>
          </a:xfrm>
        </p:spPr>
        <p:txBody>
          <a:bodyPr wrap="square" lIns="0" rIns="0" tIns="0" bIns="0" anchor="t"/>
          <a:lstStyle/>
          <a:p>
            <a:pPr>
              <a:lnSpc>
                <a:spcPct val="108000"/>
              </a:lnSpc>
            </a:pPr>
            <a:r>
              <a:rPr sz="4000" b="1" i="0">
                <a:solidFill>
                  <a:srgbClr val="F7F6EF"/>
                </a:solidFill>
                <a:latin typeface="Arial"/>
              </a:rPr>
              <a:t>TO BE COMPLETED BY THE FOUNDER</a:t>
            </a:r>
          </a:p>
        </p:txBody>
      </p:sp>
      <p:sp>
        <p:nvSpPr>
          <p:cNvPr id="3" name="TextBox 2"/>
          <p:cNvSpPr txBox="1"/>
          <p:nvPr/>
        </p:nvSpPr>
        <p:spPr>
          <a:xfrm>
            <a:off x="566928" y="365760"/>
            <a:ext cx="11057839" cy="219456"/>
          </a:xfrm>
          <a:prstGeom prst="rect">
            <a:avLst/>
          </a:prstGeom>
          <a:noFill/>
        </p:spPr>
        <p:txBody>
          <a:bodyPr wrap="square" lIns="0" rIns="0" tIns="0" bIns="0" anchor="t">
            <a:spAutoFit/>
          </a:bodyPr>
          <a:lstStyle/>
          <a:p>
            <a:r>
              <a:rPr sz="1100" b="1" i="0" spc="160">
                <a:solidFill>
                  <a:srgbClr val="FF7A2F"/>
                </a:solidFill>
                <a:latin typeface="Arial"/>
              </a:rPr>
              <a:t>TEAM</a:t>
            </a:r>
          </a:p>
        </p:txBody>
      </p:sp>
      <p:sp>
        <p:nvSpPr>
          <p:cNvPr id="4" name="Rectangle 3"/>
          <p:cNvSpPr/>
          <p:nvPr/>
        </p:nvSpPr>
        <p:spPr>
          <a:xfrm>
            <a:off x="566928" y="6035040"/>
            <a:ext cx="11057839" cy="11887"/>
          </a:xfrm>
          <a:prstGeom prst="rect">
            <a:avLst/>
          </a:prstGeom>
          <a:solidFill>
            <a:srgbClr val="FF7A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664647" y="6144768"/>
            <a:ext cx="960120" cy="274320"/>
          </a:xfrm>
          <a:prstGeom prst="rect">
            <a:avLst/>
          </a:prstGeom>
          <a:noFill/>
        </p:spPr>
        <p:txBody>
          <a:bodyPr wrap="square" lIns="0" rIns="0" tIns="0" bIns="0" anchor="t">
            <a:spAutoFit/>
          </a:bodyPr>
          <a:lstStyle/>
          <a:p>
            <a:pPr algn="r"/>
            <a:r>
              <a:rPr sz="950" b="1" i="0" spc="60">
                <a:solidFill>
                  <a:srgbClr val="A6ADBA"/>
                </a:solidFill>
                <a:latin typeface="Arial"/>
              </a:rPr>
              <a:t>12</a:t>
            </a:r>
          </a:p>
        </p:txBody>
      </p:sp>
      <p:sp>
        <p:nvSpPr>
          <p:cNvPr id="6" name="TextBox 5"/>
          <p:cNvSpPr txBox="1"/>
          <p:nvPr/>
        </p:nvSpPr>
        <p:spPr>
          <a:xfrm>
            <a:off x="566928" y="6144768"/>
            <a:ext cx="9869119" cy="548640"/>
          </a:xfrm>
          <a:prstGeom prst="rect">
            <a:avLst/>
          </a:prstGeom>
          <a:noFill/>
        </p:spPr>
        <p:txBody>
          <a:bodyPr wrap="square" lIns="0" rIns="0" tIns="0" bIns="0" anchor="t">
            <a:spAutoFit/>
          </a:bodyPr>
          <a:lstStyle/>
          <a:p>
            <a:pPr>
              <a:lnSpc>
                <a:spcPct val="115000"/>
              </a:lnSpc>
            </a:pPr>
            <a:r>
              <a:rPr sz="800" b="0" i="0">
                <a:solidFill>
                  <a:srgbClr val="A6ADBA"/>
                </a:solidFill>
                <a:latin typeface="Arial"/>
              </a:rPr>
              <a:t>Sources: FACT//DUEL internal — numbers.md §4.4 and §4.5  ·  Y Combinator — A guide to seed fundraising  ·  Y Combinator — How to design a better pitch deck  ·  DocSend — per-section dwell times</a:t>
            </a:r>
          </a:p>
        </p:txBody>
      </p:sp>
      <p:sp>
        <p:nvSpPr>
          <p:cNvPr id="7" name="TextBox 6"/>
          <p:cNvSpPr txBox="1"/>
          <p:nvPr/>
        </p:nvSpPr>
        <p:spPr>
          <a:xfrm>
            <a:off x="566928" y="1444752"/>
            <a:ext cx="11057839" cy="4462272"/>
          </a:xfrm>
          <a:prstGeom prst="rect">
            <a:avLst/>
          </a:prstGeom>
          <a:noFill/>
        </p:spPr>
        <p:txBody>
          <a:bodyPr wrap="square" lIns="0" rIns="0" tIns="0" bIns="0" anchor="t">
            <a:spAutoFit/>
          </a:bodyPr>
          <a:lstStyle/>
          <a:p>
            <a:pPr marL="306731" indent="-306731">
              <a:lnSpc>
                <a:spcPct val="116000"/>
              </a:lnSpc>
              <a:buClr>
                <a:srgbClr val="FF7A2F"/>
              </a:buClr>
              <a:buFont typeface="Arial"/>
              <a:buChar char="—"/>
            </a:pPr>
            <a:r>
              <a:rPr sz="1800" b="0" i="0">
                <a:solidFill>
                  <a:srgbClr val="F7F6EF"/>
                </a:solidFill>
                <a:latin typeface="Arial"/>
              </a:rPr>
              <a:t>TO BE COMPLETED BY THE FOUNDER. No team member, hire, advisor, partner or customer is claimed in this deck.</a:t>
            </a:r>
          </a:p>
          <a:p>
            <a:pPr marL="306731" indent="-306731">
              <a:lnSpc>
                <a:spcPct val="116000"/>
              </a:lnSpc>
              <a:spcBef>
                <a:spcPts val="990"/>
              </a:spcBef>
              <a:buClr>
                <a:srgbClr val="FF7A2F"/>
              </a:buClr>
              <a:buFont typeface="Arial"/>
              <a:buChar char="—"/>
            </a:pPr>
            <a:r>
              <a:rPr sz="1800" b="0" i="0">
                <a:solidFill>
                  <a:srgbClr val="F7F6EF"/>
                </a:solidFill>
                <a:latin typeface="Arial"/>
              </a:rPr>
              <a:t>The plan </a:t>
            </a:r>
            <a:r>
              <a:rPr sz="1800" b="1" i="0">
                <a:solidFill>
                  <a:srgbClr val="4EE1FF"/>
                </a:solidFill>
                <a:latin typeface="Arial"/>
              </a:rPr>
              <a:t>(P)</a:t>
            </a:r>
            <a:r>
              <a:rPr sz="1800" b="0" i="0">
                <a:solidFill>
                  <a:srgbClr val="F7F6EF"/>
                </a:solidFill>
                <a:latin typeface="Arial"/>
              </a:rPr>
              <a:t> budgets four engineers at YC's </a:t>
            </a:r>
            <a:r>
              <a:rPr sz="1800" b="0" i="0">
                <a:solidFill>
                  <a:srgbClr val="FFC83D"/>
                </a:solidFill>
                <a:latin typeface="Arial"/>
              </a:rPr>
              <a:t>$15,000</a:t>
            </a:r>
            <a:r>
              <a:rPr sz="1800" b="0" i="0">
                <a:solidFill>
                  <a:srgbClr val="F7F6EF"/>
                </a:solidFill>
                <a:latin typeface="Arial"/>
              </a:rPr>
              <a:t>/engineer/month over 18 months = </a:t>
            </a:r>
            <a:r>
              <a:rPr sz="1800" b="0" i="0">
                <a:solidFill>
                  <a:srgbClr val="FFC83D"/>
                </a:solidFill>
                <a:latin typeface="Arial"/>
              </a:rPr>
              <a:t>$1,080,000</a:t>
            </a:r>
            <a:r>
              <a:rPr sz="1800" b="0" i="0">
                <a:solidFill>
                  <a:srgbClr val="F7F6EF"/>
                </a:solidFill>
                <a:latin typeface="Arial"/>
              </a:rPr>
              <a:t> — a rule of thumb, not a measured 2026 cost base (§4.5).</a:t>
            </a:r>
          </a:p>
          <a:p>
            <a:pPr marL="306731" indent="-306731">
              <a:lnSpc>
                <a:spcPct val="116000"/>
              </a:lnSpc>
              <a:spcBef>
                <a:spcPts val="990"/>
              </a:spcBef>
              <a:buClr>
                <a:srgbClr val="FF7A2F"/>
              </a:buClr>
              <a:buFont typeface="Arial"/>
              <a:buChar char="—"/>
            </a:pPr>
            <a:r>
              <a:rPr sz="1800" b="0" i="0">
                <a:solidFill>
                  <a:srgbClr val="F7F6EF"/>
                </a:solidFill>
                <a:latin typeface="Arial"/>
              </a:rPr>
              <a:t>Roles the milestones require: backend for accounts, server-side progression and the cohort service; client and game engineering for the duel and progression surfaces.</a:t>
            </a:r>
          </a:p>
          <a:p>
            <a:pPr marL="306731" indent="-306731">
              <a:lnSpc>
                <a:spcPct val="116000"/>
              </a:lnSpc>
              <a:spcBef>
                <a:spcPts val="990"/>
              </a:spcBef>
              <a:buClr>
                <a:srgbClr val="FF7A2F"/>
              </a:buClr>
              <a:buFont typeface="Arial"/>
              <a:buChar char="—"/>
            </a:pPr>
            <a:r>
              <a:rPr sz="1800" b="0" i="0">
                <a:solidFill>
                  <a:srgbClr val="F7F6EF"/>
                </a:solidFill>
                <a:latin typeface="Arial"/>
              </a:rPr>
              <a:t>Content and question production is an unbudgeted role beyond the four-engineer line (§4.4, milestone 4).</a:t>
            </a:r>
          </a:p>
          <a:p>
            <a:pPr marL="306731" indent="-306731">
              <a:lnSpc>
                <a:spcPct val="116000"/>
              </a:lnSpc>
              <a:spcBef>
                <a:spcPts val="990"/>
              </a:spcBef>
              <a:buClr>
                <a:srgbClr val="FF7A2F"/>
              </a:buClr>
              <a:buFont typeface="Arial"/>
              <a:buChar char="—"/>
            </a:pPr>
            <a:r>
              <a:rPr sz="1800" b="0" i="0">
                <a:solidFill>
                  <a:srgbClr val="F7F6EF"/>
                </a:solidFill>
                <a:latin typeface="Arial"/>
              </a:rPr>
              <a:t>This slide must name those four, with agreement in writing, before the deck is sent. Founder background — TO BE COMPLETED.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E14"/>
        </a:solidFill>
        <a:effectLst/>
      </p:bgPr>
    </p:bg>
    <p:spTree>
      <p:nvGrpSpPr>
        <p:cNvPr id="1" name=""/>
        <p:cNvGrpSpPr/>
        <p:nvPr/>
      </p:nvGrpSpPr>
      <p:grpSpPr/>
      <p:sp>
        <p:nvSpPr>
          <p:cNvPr id="2" name="Title 1"/>
          <p:cNvSpPr>
            <a:spLocks noGrp="1"/>
          </p:cNvSpPr>
          <p:nvPr>
            <p:ph type="title"/>
          </p:nvPr>
        </p:nvSpPr>
        <p:spPr>
          <a:xfrm>
            <a:off x="566928" y="658368"/>
            <a:ext cx="11057839" cy="1133856"/>
          </a:xfrm>
        </p:spPr>
        <p:txBody>
          <a:bodyPr wrap="square" lIns="0" rIns="0" tIns="0" bIns="0" anchor="t"/>
          <a:lstStyle/>
          <a:p>
            <a:pPr>
              <a:lnSpc>
                <a:spcPct val="108000"/>
              </a:lnSpc>
            </a:pPr>
            <a:r>
              <a:rPr sz="4000" b="1" i="0">
                <a:solidFill>
                  <a:srgbClr val="F7F6EF"/>
                </a:solidFill>
                <a:latin typeface="Arial"/>
              </a:rPr>
              <a:t>About $1.2M for 18 months, to buy the one number this deck lacks.</a:t>
            </a:r>
          </a:p>
        </p:txBody>
      </p:sp>
      <p:sp>
        <p:nvSpPr>
          <p:cNvPr id="3" name="TextBox 2"/>
          <p:cNvSpPr txBox="1"/>
          <p:nvPr/>
        </p:nvSpPr>
        <p:spPr>
          <a:xfrm>
            <a:off x="566928" y="365760"/>
            <a:ext cx="11057839" cy="219456"/>
          </a:xfrm>
          <a:prstGeom prst="rect">
            <a:avLst/>
          </a:prstGeom>
          <a:noFill/>
        </p:spPr>
        <p:txBody>
          <a:bodyPr wrap="square" lIns="0" rIns="0" tIns="0" bIns="0" anchor="t">
            <a:spAutoFit/>
          </a:bodyPr>
          <a:lstStyle/>
          <a:p>
            <a:r>
              <a:rPr sz="1100" b="1" i="0" spc="160">
                <a:solidFill>
                  <a:srgbClr val="D4FF3A"/>
                </a:solidFill>
                <a:latin typeface="Arial"/>
              </a:rPr>
              <a:t>THE ASK</a:t>
            </a:r>
          </a:p>
        </p:txBody>
      </p:sp>
      <p:sp>
        <p:nvSpPr>
          <p:cNvPr id="4" name="Rectangle 3"/>
          <p:cNvSpPr/>
          <p:nvPr/>
        </p:nvSpPr>
        <p:spPr>
          <a:xfrm>
            <a:off x="566928" y="6035040"/>
            <a:ext cx="11057839" cy="11887"/>
          </a:xfrm>
          <a:prstGeom prst="rect">
            <a:avLst/>
          </a:prstGeom>
          <a:solidFill>
            <a:srgbClr val="D4F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664647" y="6144768"/>
            <a:ext cx="960120" cy="274320"/>
          </a:xfrm>
          <a:prstGeom prst="rect">
            <a:avLst/>
          </a:prstGeom>
          <a:noFill/>
        </p:spPr>
        <p:txBody>
          <a:bodyPr wrap="square" lIns="0" rIns="0" tIns="0" bIns="0" anchor="t">
            <a:spAutoFit/>
          </a:bodyPr>
          <a:lstStyle/>
          <a:p>
            <a:pPr algn="r"/>
            <a:r>
              <a:rPr sz="950" b="1" i="0" spc="60">
                <a:solidFill>
                  <a:srgbClr val="A6ADBA"/>
                </a:solidFill>
                <a:latin typeface="Arial"/>
              </a:rPr>
              <a:t>13</a:t>
            </a:r>
          </a:p>
        </p:txBody>
      </p:sp>
      <p:sp>
        <p:nvSpPr>
          <p:cNvPr id="6" name="TextBox 5"/>
          <p:cNvSpPr txBox="1"/>
          <p:nvPr/>
        </p:nvSpPr>
        <p:spPr>
          <a:xfrm>
            <a:off x="566928" y="6144768"/>
            <a:ext cx="9869119" cy="548640"/>
          </a:xfrm>
          <a:prstGeom prst="rect">
            <a:avLst/>
          </a:prstGeom>
          <a:noFill/>
        </p:spPr>
        <p:txBody>
          <a:bodyPr wrap="square" lIns="0" rIns="0" tIns="0" bIns="0" anchor="t">
            <a:spAutoFit/>
          </a:bodyPr>
          <a:lstStyle/>
          <a:p>
            <a:pPr>
              <a:lnSpc>
                <a:spcPct val="115000"/>
              </a:lnSpc>
            </a:pPr>
            <a:r>
              <a:rPr sz="800" b="0" i="0">
                <a:solidFill>
                  <a:srgbClr val="A6ADBA"/>
                </a:solidFill>
                <a:latin typeface="Arial"/>
              </a:rPr>
              <a:t>Sources: Y Combinator — A guide to seed fundraising  ·  Carta — State of Private Markets, Q3 2025  ·  Crunchbase — US seed funding, 2025  ·  FACT//DUEL internal — numbers.md §4.4, §4.5 and §5.8</a:t>
            </a:r>
          </a:p>
          <a:p>
            <a:pPr>
              <a:lnSpc>
                <a:spcPct val="115000"/>
              </a:lnSpc>
            </a:pPr>
            <a:r>
              <a:rPr sz="800" b="0" i="0">
                <a:solidFill>
                  <a:srgbClr val="A6ADBA"/>
                </a:solidFill>
                <a:latin typeface="Arial"/>
              </a:rPr>
              <a:t>FACT//DUEL internal — numbers.md §7.1 and §7.3</a:t>
            </a:r>
          </a:p>
        </p:txBody>
      </p:sp>
      <p:sp>
        <p:nvSpPr>
          <p:cNvPr id="7" name="Rectangle 6"/>
          <p:cNvSpPr/>
          <p:nvPr/>
        </p:nvSpPr>
        <p:spPr>
          <a:xfrm>
            <a:off x="566928" y="1993392"/>
            <a:ext cx="3539642" cy="1115568"/>
          </a:xfrm>
          <a:prstGeom prst="rect">
            <a:avLst/>
          </a:prstGeom>
          <a:solidFill>
            <a:srgbClr val="1218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93392"/>
            <a:ext cx="41148" cy="1115568"/>
          </a:xfrm>
          <a:prstGeom prst="rect">
            <a:avLst/>
          </a:prstGeom>
          <a:solidFill>
            <a:srgbClr val="D4F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86384" y="2139696"/>
            <a:ext cx="3155594" cy="457200"/>
          </a:xfrm>
          <a:prstGeom prst="rect">
            <a:avLst/>
          </a:prstGeom>
          <a:noFill/>
        </p:spPr>
        <p:txBody>
          <a:bodyPr wrap="square" lIns="0" rIns="0" tIns="0" bIns="0" anchor="t">
            <a:spAutoFit/>
          </a:bodyPr>
          <a:lstStyle/>
          <a:p>
            <a:r>
              <a:rPr sz="2700" b="1" i="0">
                <a:solidFill>
                  <a:srgbClr val="FFC83D"/>
                </a:solidFill>
                <a:latin typeface="Arial"/>
              </a:rPr>
              <a:t>$1,080,000</a:t>
            </a:r>
          </a:p>
        </p:txBody>
      </p:sp>
      <p:sp>
        <p:nvSpPr>
          <p:cNvPr id="10" name="TextBox 9"/>
          <p:cNvSpPr txBox="1"/>
          <p:nvPr/>
        </p:nvSpPr>
        <p:spPr>
          <a:xfrm>
            <a:off x="786384" y="2596896"/>
            <a:ext cx="3155594" cy="438912"/>
          </a:xfrm>
          <a:prstGeom prst="rect">
            <a:avLst/>
          </a:prstGeom>
          <a:noFill/>
        </p:spPr>
        <p:txBody>
          <a:bodyPr wrap="square" lIns="0" rIns="0" tIns="0" bIns="0" anchor="t">
            <a:spAutoFit/>
          </a:bodyPr>
          <a:lstStyle/>
          <a:p>
            <a:pPr>
              <a:lnSpc>
                <a:spcPct val="114000"/>
              </a:lnSpc>
            </a:pPr>
            <a:r>
              <a:rPr sz="950" b="0" i="0">
                <a:solidFill>
                  <a:srgbClr val="A6ADBA"/>
                </a:solidFill>
                <a:latin typeface="Arial"/>
              </a:rPr>
              <a:t>4 engineers x $15,000/month x 18 months (YC's own arithmetic)</a:t>
            </a:r>
          </a:p>
        </p:txBody>
      </p:sp>
      <p:sp>
        <p:nvSpPr>
          <p:cNvPr id="11" name="Rectangle 10"/>
          <p:cNvSpPr/>
          <p:nvPr/>
        </p:nvSpPr>
        <p:spPr>
          <a:xfrm>
            <a:off x="4326026" y="1993392"/>
            <a:ext cx="3539642" cy="1115568"/>
          </a:xfrm>
          <a:prstGeom prst="rect">
            <a:avLst/>
          </a:prstGeom>
          <a:solidFill>
            <a:srgbClr val="1218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326026" y="1993392"/>
            <a:ext cx="41148" cy="1115568"/>
          </a:xfrm>
          <a:prstGeom prst="rect">
            <a:avLst/>
          </a:prstGeom>
          <a:solidFill>
            <a:srgbClr val="D4F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545482" y="2139696"/>
            <a:ext cx="3155594" cy="457200"/>
          </a:xfrm>
          <a:prstGeom prst="rect">
            <a:avLst/>
          </a:prstGeom>
          <a:noFill/>
        </p:spPr>
        <p:txBody>
          <a:bodyPr wrap="square" lIns="0" rIns="0" tIns="0" bIns="0" anchor="t">
            <a:spAutoFit/>
          </a:bodyPr>
          <a:lstStyle/>
          <a:p>
            <a:r>
              <a:rPr sz="2700" b="1" i="0">
                <a:solidFill>
                  <a:srgbClr val="FFC83D"/>
                </a:solidFill>
                <a:latin typeface="Arial"/>
              </a:rPr>
              <a:t>6.98%</a:t>
            </a:r>
          </a:p>
        </p:txBody>
      </p:sp>
      <p:sp>
        <p:nvSpPr>
          <p:cNvPr id="14" name="TextBox 13"/>
          <p:cNvSpPr txBox="1"/>
          <p:nvPr/>
        </p:nvSpPr>
        <p:spPr>
          <a:xfrm>
            <a:off x="4545482" y="2596896"/>
            <a:ext cx="3155594" cy="438912"/>
          </a:xfrm>
          <a:prstGeom prst="rect">
            <a:avLst/>
          </a:prstGeom>
          <a:noFill/>
        </p:spPr>
        <p:txBody>
          <a:bodyPr wrap="square" lIns="0" rIns="0" tIns="0" bIns="0" anchor="t">
            <a:spAutoFit/>
          </a:bodyPr>
          <a:lstStyle/>
          <a:p>
            <a:pPr>
              <a:lnSpc>
                <a:spcPct val="114000"/>
              </a:lnSpc>
            </a:pPr>
            <a:r>
              <a:rPr sz="950" b="0" i="0">
                <a:solidFill>
                  <a:srgbClr val="A6ADBA"/>
                </a:solidFill>
                <a:latin typeface="Arial"/>
              </a:rPr>
              <a:t>dilution: $1.2M into a $17.2M post-money (Carta Q3 2025 median)</a:t>
            </a:r>
          </a:p>
        </p:txBody>
      </p:sp>
      <p:sp>
        <p:nvSpPr>
          <p:cNvPr id="15" name="Rectangle 14"/>
          <p:cNvSpPr/>
          <p:nvPr/>
        </p:nvSpPr>
        <p:spPr>
          <a:xfrm>
            <a:off x="8085124" y="1993392"/>
            <a:ext cx="3539642" cy="1115568"/>
          </a:xfrm>
          <a:prstGeom prst="rect">
            <a:avLst/>
          </a:prstGeom>
          <a:solidFill>
            <a:srgbClr val="1218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8085124" y="1993392"/>
            <a:ext cx="41148" cy="1115568"/>
          </a:xfrm>
          <a:prstGeom prst="rect">
            <a:avLst/>
          </a:prstGeom>
          <a:solidFill>
            <a:srgbClr val="D4F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304580" y="2139696"/>
            <a:ext cx="3155594" cy="457200"/>
          </a:xfrm>
          <a:prstGeom prst="rect">
            <a:avLst/>
          </a:prstGeom>
          <a:noFill/>
        </p:spPr>
        <p:txBody>
          <a:bodyPr wrap="square" lIns="0" rIns="0" tIns="0" bIns="0" anchor="t">
            <a:spAutoFit/>
          </a:bodyPr>
          <a:lstStyle/>
          <a:p>
            <a:r>
              <a:rPr sz="2700" b="1" i="0">
                <a:solidFill>
                  <a:srgbClr val="FFC83D"/>
                </a:solidFill>
                <a:latin typeface="Arial"/>
              </a:rPr>
              <a:t>5.00%</a:t>
            </a:r>
          </a:p>
        </p:txBody>
      </p:sp>
      <p:sp>
        <p:nvSpPr>
          <p:cNvPr id="18" name="TextBox 17"/>
          <p:cNvSpPr txBox="1"/>
          <p:nvPr/>
        </p:nvSpPr>
        <p:spPr>
          <a:xfrm>
            <a:off x="8304580" y="2596896"/>
            <a:ext cx="3155594" cy="438912"/>
          </a:xfrm>
          <a:prstGeom prst="rect">
            <a:avLst/>
          </a:prstGeom>
          <a:noFill/>
        </p:spPr>
        <p:txBody>
          <a:bodyPr wrap="square" lIns="0" rIns="0" tIns="0" bIns="0" anchor="t">
            <a:spAutoFit/>
          </a:bodyPr>
          <a:lstStyle/>
          <a:p>
            <a:pPr>
              <a:lnSpc>
                <a:spcPct val="114000"/>
              </a:lnSpc>
            </a:pPr>
            <a:r>
              <a:rPr sz="950" b="0" i="0">
                <a:solidFill>
                  <a:srgbClr val="A6ADBA"/>
                </a:solidFill>
                <a:latin typeface="Arial"/>
              </a:rPr>
              <a:t>dilution: $1.2M into a $24.0M post-money (Carta Q4 2025 high)</a:t>
            </a:r>
          </a:p>
        </p:txBody>
      </p:sp>
      <p:sp>
        <p:nvSpPr>
          <p:cNvPr id="19" name="TextBox 18"/>
          <p:cNvSpPr txBox="1"/>
          <p:nvPr/>
        </p:nvSpPr>
        <p:spPr>
          <a:xfrm>
            <a:off x="566928" y="3383280"/>
            <a:ext cx="11057839" cy="2523744"/>
          </a:xfrm>
          <a:prstGeom prst="rect">
            <a:avLst/>
          </a:prstGeom>
          <a:noFill/>
        </p:spPr>
        <p:txBody>
          <a:bodyPr wrap="square" lIns="0" rIns="0" tIns="0" bIns="0" anchor="t">
            <a:spAutoFit/>
          </a:bodyPr>
          <a:lstStyle/>
          <a:p>
            <a:pPr marL="264121" indent="-264121">
              <a:lnSpc>
                <a:spcPct val="116000"/>
              </a:lnSpc>
              <a:buClr>
                <a:srgbClr val="D4FF3A"/>
              </a:buClr>
              <a:buFont typeface="Arial"/>
              <a:buChar char="—"/>
            </a:pPr>
            <a:r>
              <a:rPr sz="1550" b="0" i="0">
                <a:solidFill>
                  <a:srgbClr val="F7F6EF"/>
                </a:solidFill>
                <a:latin typeface="Arial"/>
              </a:rPr>
              <a:t>4 engineers x </a:t>
            </a:r>
            <a:r>
              <a:rPr sz="1550" b="0" i="0">
                <a:solidFill>
                  <a:srgbClr val="FFC83D"/>
                </a:solidFill>
                <a:latin typeface="Arial"/>
              </a:rPr>
              <a:t>$15,000</a:t>
            </a:r>
            <a:r>
              <a:rPr sz="1550" b="0" i="0">
                <a:solidFill>
                  <a:srgbClr val="F7F6EF"/>
                </a:solidFill>
                <a:latin typeface="Arial"/>
              </a:rPr>
              <a:t>/month x 18 months = </a:t>
            </a:r>
            <a:r>
              <a:rPr sz="1550" b="0" i="0">
                <a:solidFill>
                  <a:srgbClr val="FFC83D"/>
                </a:solidFill>
                <a:latin typeface="Arial"/>
              </a:rPr>
              <a:t>$1,080,000</a:t>
            </a:r>
            <a:r>
              <a:rPr sz="1550" b="0" i="0">
                <a:solidFill>
                  <a:srgbClr val="F7F6EF"/>
                </a:solidFill>
                <a:latin typeface="Arial"/>
              </a:rPr>
              <a:t> </a:t>
            </a:r>
            <a:r>
              <a:rPr sz="1550" b="1" i="0">
                <a:solidFill>
                  <a:srgbClr val="4EE1FF"/>
                </a:solidFill>
                <a:latin typeface="Arial"/>
              </a:rPr>
              <a:t>(P)</a:t>
            </a:r>
            <a:r>
              <a:rPr sz="1550" b="0" i="0">
                <a:solidFill>
                  <a:srgbClr val="F7F6EF"/>
                </a:solidFill>
                <a:latin typeface="Arial"/>
              </a:rPr>
              <a:t>. Raising about </a:t>
            </a:r>
            <a:r>
              <a:rPr sz="1550" b="0" i="0">
                <a:solidFill>
                  <a:srgbClr val="FFC83D"/>
                </a:solidFill>
                <a:latin typeface="Arial"/>
              </a:rPr>
              <a:t>$1.2M</a:t>
            </a:r>
            <a:r>
              <a:rPr sz="1550" b="0" i="0">
                <a:solidFill>
                  <a:srgbClr val="F7F6EF"/>
                </a:solidFill>
                <a:latin typeface="Arial"/>
              </a:rPr>
              <a:t> </a:t>
            </a:r>
            <a:r>
              <a:rPr sz="1550" b="1" i="0">
                <a:solidFill>
                  <a:srgbClr val="4EE1FF"/>
                </a:solidFill>
                <a:latin typeface="Arial"/>
              </a:rPr>
              <a:t>(P)</a:t>
            </a:r>
            <a:r>
              <a:rPr sz="1550" b="0" i="0">
                <a:solidFill>
                  <a:srgbClr val="F7F6EF"/>
                </a:solidFill>
                <a:latin typeface="Arial"/>
              </a:rPr>
              <a:t>, inside YC's </a:t>
            </a:r>
            <a:r>
              <a:rPr sz="1550" b="0" i="0">
                <a:solidFill>
                  <a:srgbClr val="FFC83D"/>
                </a:solidFill>
                <a:latin typeface="Arial"/>
              </a:rPr>
              <a:t>$500k</a:t>
            </a:r>
            <a:r>
              <a:rPr sz="1550" b="0" i="0">
                <a:solidFill>
                  <a:srgbClr val="F7F6EF"/>
                </a:solidFill>
                <a:latin typeface="Arial"/>
              </a:rPr>
              <a:t>-</a:t>
            </a:r>
            <a:r>
              <a:rPr sz="1550" b="0" i="0">
                <a:solidFill>
                  <a:srgbClr val="FFC83D"/>
                </a:solidFill>
                <a:latin typeface="Arial"/>
              </a:rPr>
              <a:t>$1.5M</a:t>
            </a:r>
            <a:r>
              <a:rPr sz="1550" b="0" i="0">
                <a:solidFill>
                  <a:srgbClr val="F7F6EF"/>
                </a:solidFill>
                <a:latin typeface="Arial"/>
              </a:rPr>
              <a:t> band.</a:t>
            </a:r>
          </a:p>
          <a:p>
            <a:pPr marL="264121" indent="-264121">
              <a:lnSpc>
                <a:spcPct val="116000"/>
              </a:lnSpc>
              <a:spcBef>
                <a:spcPts val="852"/>
              </a:spcBef>
              <a:buClr>
                <a:srgbClr val="D4FF3A"/>
              </a:buClr>
              <a:buFont typeface="Arial"/>
              <a:buChar char="—"/>
            </a:pPr>
            <a:r>
              <a:rPr sz="1550" b="0" i="0">
                <a:solidFill>
                  <a:srgbClr val="FFC83D"/>
                </a:solidFill>
                <a:latin typeface="Arial"/>
              </a:rPr>
              <a:t>$15,000</a:t>
            </a:r>
            <a:r>
              <a:rPr sz="1550" b="0" i="0">
                <a:solidFill>
                  <a:srgbClr val="F7F6EF"/>
                </a:solidFill>
                <a:latin typeface="Arial"/>
              </a:rPr>
              <a:t> is YC's own rule of thumb for an all-in engineer month — undated editorial guidance, not a measured 2026 cost base.</a:t>
            </a:r>
          </a:p>
          <a:p>
            <a:pPr marL="264121" indent="-264121">
              <a:lnSpc>
                <a:spcPct val="116000"/>
              </a:lnSpc>
              <a:spcBef>
                <a:spcPts val="852"/>
              </a:spcBef>
              <a:buClr>
                <a:srgbClr val="D4FF3A"/>
              </a:buClr>
              <a:buFont typeface="Arial"/>
              <a:buChar char="—"/>
            </a:pPr>
            <a:r>
              <a:rPr sz="1550" b="0" i="0">
                <a:solidFill>
                  <a:srgbClr val="F7F6EF"/>
                </a:solidFill>
                <a:latin typeface="Arial"/>
              </a:rPr>
              <a:t>Illustrative, not a price: at Carta's Q3 2025 median seed pre-money of </a:t>
            </a:r>
            <a:r>
              <a:rPr sz="1550" b="0" i="0">
                <a:solidFill>
                  <a:srgbClr val="FFC83D"/>
                </a:solidFill>
                <a:latin typeface="Arial"/>
              </a:rPr>
              <a:t>$16.0M</a:t>
            </a:r>
            <a:r>
              <a:rPr sz="1550" b="0" i="0">
                <a:solidFill>
                  <a:srgbClr val="F7F6EF"/>
                </a:solidFill>
                <a:latin typeface="Arial"/>
              </a:rPr>
              <a:t>, </a:t>
            </a:r>
            <a:r>
              <a:rPr sz="1550" b="0" i="0">
                <a:solidFill>
                  <a:srgbClr val="FFC83D"/>
                </a:solidFill>
                <a:latin typeface="Arial"/>
              </a:rPr>
              <a:t>$1.2M</a:t>
            </a:r>
            <a:r>
              <a:rPr sz="1550" b="0" i="0">
                <a:solidFill>
                  <a:srgbClr val="F7F6EF"/>
                </a:solidFill>
                <a:latin typeface="Arial"/>
              </a:rPr>
              <a:t> into </a:t>
            </a:r>
            <a:r>
              <a:rPr sz="1550" b="0" i="0">
                <a:solidFill>
                  <a:srgbClr val="FFC83D"/>
                </a:solidFill>
                <a:latin typeface="Arial"/>
              </a:rPr>
              <a:t>$17.2M</a:t>
            </a:r>
            <a:r>
              <a:rPr sz="1550" b="0" i="0">
                <a:solidFill>
                  <a:srgbClr val="F7F6EF"/>
                </a:solidFill>
                <a:latin typeface="Arial"/>
              </a:rPr>
              <a:t> post is 6.98% dilution </a:t>
            </a:r>
            <a:r>
              <a:rPr sz="1550" b="1" i="0">
                <a:solidFill>
                  <a:srgbClr val="4EE1FF"/>
                </a:solidFill>
                <a:latin typeface="Arial"/>
              </a:rPr>
              <a:t>(P)</a:t>
            </a:r>
            <a:r>
              <a:rPr sz="1550" b="0" i="0">
                <a:solidFill>
                  <a:srgbClr val="F7F6EF"/>
                </a:solidFill>
                <a:latin typeface="Arial"/>
              </a:rPr>
              <a:t>.</a:t>
            </a:r>
          </a:p>
          <a:p>
            <a:pPr marL="264121" indent="-264121">
              <a:lnSpc>
                <a:spcPct val="116000"/>
              </a:lnSpc>
              <a:spcBef>
                <a:spcPts val="852"/>
              </a:spcBef>
              <a:buClr>
                <a:srgbClr val="D4FF3A"/>
              </a:buClr>
              <a:buFont typeface="Arial"/>
              <a:buChar char="—"/>
            </a:pPr>
            <a:r>
              <a:rPr sz="1550" b="0" i="0">
                <a:solidFill>
                  <a:srgbClr val="F7F6EF"/>
                </a:solidFill>
                <a:latin typeface="Arial"/>
              </a:rPr>
              <a:t>It buys: a published D1/D7/D30 cohort of 1,000+ players; growth of the bank from 54 questions, to a target and rate we must still set.</a:t>
            </a:r>
          </a:p>
          <a:p>
            <a:pPr marL="264121" indent="-264121">
              <a:lnSpc>
                <a:spcPct val="116000"/>
              </a:lnSpc>
              <a:spcBef>
                <a:spcPts val="852"/>
              </a:spcBef>
              <a:buClr>
                <a:srgbClr val="D4FF3A"/>
              </a:buClr>
              <a:buFont typeface="Arial"/>
              <a:buChar char="—"/>
            </a:pPr>
            <a:r>
              <a:rPr sz="1550" b="0" i="0">
                <a:solidFill>
                  <a:srgbClr val="F7F6EF"/>
                </a:solidFill>
                <a:latin typeface="Arial"/>
              </a:rPr>
              <a:t>Plus an opponent-integrity answer and one validated monetisation route. The measurement layer already shipped, tested, on 13 Sep 2026 (§7.1). Then we come back with data.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E14"/>
        </a:solidFill>
        <a:effectLst/>
      </p:bgPr>
    </p:bg>
    <p:spTree>
      <p:nvGrpSpPr>
        <p:cNvPr id="1" name=""/>
        <p:cNvGrpSpPr/>
        <p:nvPr/>
      </p:nvGrpSpPr>
      <p:grpSpPr/>
      <p:sp>
        <p:nvSpPr>
          <p:cNvPr id="2" name="Title 1"/>
          <p:cNvSpPr>
            <a:spLocks noGrp="1"/>
          </p:cNvSpPr>
          <p:nvPr>
            <p:ph type="title"/>
          </p:nvPr>
        </p:nvSpPr>
        <p:spPr>
          <a:xfrm>
            <a:off x="566928" y="658368"/>
            <a:ext cx="11057839" cy="859536"/>
          </a:xfrm>
        </p:spPr>
        <p:txBody>
          <a:bodyPr wrap="square" lIns="0" rIns="0" tIns="0" bIns="0" anchor="t"/>
          <a:lstStyle/>
          <a:p>
            <a:pPr>
              <a:lnSpc>
                <a:spcPct val="108000"/>
              </a:lnSpc>
            </a:pPr>
            <a:r>
              <a:rPr sz="3000" b="1" i="0">
                <a:solidFill>
                  <a:srgbClr val="F7F6EF"/>
                </a:solidFill>
                <a:latin typeface="Arial"/>
              </a:rPr>
              <a:t>The ~1,000x gap between the category's claimed size and its observed revenue.</a:t>
            </a:r>
          </a:p>
        </p:txBody>
      </p:sp>
      <p:sp>
        <p:nvSpPr>
          <p:cNvPr id="3" name="TextBox 2"/>
          <p:cNvSpPr txBox="1"/>
          <p:nvPr/>
        </p:nvSpPr>
        <p:spPr>
          <a:xfrm>
            <a:off x="566928" y="365760"/>
            <a:ext cx="11057839" cy="219456"/>
          </a:xfrm>
          <a:prstGeom prst="rect">
            <a:avLst/>
          </a:prstGeom>
          <a:noFill/>
        </p:spPr>
        <p:txBody>
          <a:bodyPr wrap="square" lIns="0" rIns="0" tIns="0" bIns="0" anchor="t">
            <a:spAutoFit/>
          </a:bodyPr>
          <a:lstStyle/>
          <a:p>
            <a:r>
              <a:rPr sz="1100" b="1" i="0" spc="160">
                <a:solidFill>
                  <a:srgbClr val="4EE1FF"/>
                </a:solidFill>
                <a:latin typeface="Arial"/>
              </a:rPr>
              <a:t>APPENDIX — MARKET STRUCTURE</a:t>
            </a:r>
          </a:p>
        </p:txBody>
      </p:sp>
      <p:sp>
        <p:nvSpPr>
          <p:cNvPr id="4" name="Rectangle 3"/>
          <p:cNvSpPr/>
          <p:nvPr/>
        </p:nvSpPr>
        <p:spPr>
          <a:xfrm>
            <a:off x="566928" y="6035040"/>
            <a:ext cx="11057839" cy="11887"/>
          </a:xfrm>
          <a:prstGeom prst="rect">
            <a:avLst/>
          </a:prstGeom>
          <a:solidFill>
            <a:srgbClr val="4EE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664647" y="6144768"/>
            <a:ext cx="960120" cy="274320"/>
          </a:xfrm>
          <a:prstGeom prst="rect">
            <a:avLst/>
          </a:prstGeom>
          <a:noFill/>
        </p:spPr>
        <p:txBody>
          <a:bodyPr wrap="square" lIns="0" rIns="0" tIns="0" bIns="0" anchor="t">
            <a:spAutoFit/>
          </a:bodyPr>
          <a:lstStyle/>
          <a:p>
            <a:pPr algn="r"/>
            <a:r>
              <a:rPr sz="950" b="1" i="0" spc="60">
                <a:solidFill>
                  <a:srgbClr val="A6ADBA"/>
                </a:solidFill>
                <a:latin typeface="Arial"/>
              </a:rPr>
              <a:t>14</a:t>
            </a:r>
          </a:p>
        </p:txBody>
      </p:sp>
      <p:sp>
        <p:nvSpPr>
          <p:cNvPr id="6" name="TextBox 5"/>
          <p:cNvSpPr txBox="1"/>
          <p:nvPr/>
        </p:nvSpPr>
        <p:spPr>
          <a:xfrm>
            <a:off x="566928" y="6144768"/>
            <a:ext cx="9869119" cy="548640"/>
          </a:xfrm>
          <a:prstGeom prst="rect">
            <a:avLst/>
          </a:prstGeom>
          <a:noFill/>
        </p:spPr>
        <p:txBody>
          <a:bodyPr wrap="square" lIns="0" rIns="0" tIns="0" bIns="0" anchor="t">
            <a:spAutoFit/>
          </a:bodyPr>
          <a:lstStyle/>
          <a:p>
            <a:pPr>
              <a:lnSpc>
                <a:spcPct val="115000"/>
              </a:lnSpc>
            </a:pPr>
            <a:r>
              <a:rPr sz="800" b="0" i="0">
                <a:solidFill>
                  <a:srgbClr val="A6ADBA"/>
                </a:solidFill>
                <a:latin typeface="Arial"/>
              </a:rPr>
              <a:t>Sources: Fact.MR — second-screen sports apps market  ·  The Business Research Company — fan engagement  ·  market.us — fan engagement market  ·  MarketsandMarkets — game-based learning</a:t>
            </a:r>
          </a:p>
          <a:p>
            <a:pPr>
              <a:lnSpc>
                <a:spcPct val="115000"/>
              </a:lnSpc>
            </a:pPr>
            <a:r>
              <a:rPr sz="800" b="0" i="0">
                <a:solidFill>
                  <a:srgbClr val="A6ADBA"/>
                </a:solidFill>
                <a:latin typeface="Arial"/>
              </a:rPr>
              <a:t>IMARC — game-based learning  ·  Sensor Tower — Q2 2025 US iOS trivia revenue (est.)  ·  Google Play — Trivia Crack listing  ·  Sensor Tower — State of Mobile 2026</a:t>
            </a:r>
          </a:p>
        </p:txBody>
      </p:sp>
      <p:sp>
        <p:nvSpPr>
          <p:cNvPr id="7" name="TextBox 6"/>
          <p:cNvSpPr txBox="1"/>
          <p:nvPr/>
        </p:nvSpPr>
        <p:spPr>
          <a:xfrm>
            <a:off x="566928" y="1719072"/>
            <a:ext cx="5114239" cy="4187952"/>
          </a:xfrm>
          <a:prstGeom prst="rect">
            <a:avLst/>
          </a:prstGeom>
          <a:noFill/>
        </p:spPr>
        <p:txBody>
          <a:bodyPr wrap="square" lIns="0" rIns="0" tIns="0" bIns="0" anchor="t">
            <a:spAutoFit/>
          </a:bodyPr>
          <a:lstStyle/>
          <a:p>
            <a:pPr marL="281154" indent="-281154">
              <a:lnSpc>
                <a:spcPct val="116000"/>
              </a:lnSpc>
              <a:buClr>
                <a:srgbClr val="4EE1FF"/>
              </a:buClr>
              <a:buFont typeface="Arial"/>
              <a:buChar char="—"/>
            </a:pPr>
            <a:r>
              <a:rPr sz="1650" b="0" i="0">
                <a:solidFill>
                  <a:srgbClr val="F7F6EF"/>
                </a:solidFill>
                <a:latin typeface="Arial"/>
              </a:rPr>
              <a:t>Top-down vendors size the nearest categories at </a:t>
            </a:r>
            <a:r>
              <a:rPr sz="1650" b="0" i="0">
                <a:solidFill>
                  <a:srgbClr val="FFC83D"/>
                </a:solidFill>
                <a:latin typeface="Arial"/>
              </a:rPr>
              <a:t>$3.0bn</a:t>
            </a:r>
            <a:r>
              <a:rPr sz="1650" b="0" i="0">
                <a:solidFill>
                  <a:srgbClr val="F7F6EF"/>
                </a:solidFill>
                <a:latin typeface="Arial"/>
              </a:rPr>
              <a:t>–</a:t>
            </a:r>
            <a:r>
              <a:rPr sz="1650" b="0" i="0">
                <a:solidFill>
                  <a:srgbClr val="FFC83D"/>
                </a:solidFill>
                <a:latin typeface="Arial"/>
              </a:rPr>
              <a:t>$8.09bn</a:t>
            </a:r>
            <a:r>
              <a:rPr sz="1650" b="0" i="0">
                <a:solidFill>
                  <a:srgbClr val="F7F6EF"/>
                </a:solidFill>
                <a:latin typeface="Arial"/>
              </a:rPr>
              <a:t>; Sensor Tower estimates the top three trivia apps at ~</a:t>
            </a:r>
            <a:r>
              <a:rPr sz="1650" b="0" i="0">
                <a:solidFill>
                  <a:srgbClr val="FFC83D"/>
                </a:solidFill>
                <a:latin typeface="Arial"/>
              </a:rPr>
              <a:t>$102.5K</a:t>
            </a:r>
            <a:r>
              <a:rPr sz="1650" b="0" i="0">
                <a:solidFill>
                  <a:srgbClr val="F7F6EF"/>
                </a:solidFill>
                <a:latin typeface="Arial"/>
              </a:rPr>
              <a:t> in their peak Q2 2025 weeks — roughly three orders of magnitude apart.</a:t>
            </a:r>
          </a:p>
          <a:p>
            <a:pPr marL="281154" indent="-281154">
              <a:lnSpc>
                <a:spcPct val="116000"/>
              </a:lnSpc>
              <a:spcBef>
                <a:spcPts val="907"/>
              </a:spcBef>
              <a:buClr>
                <a:srgbClr val="4EE1FF"/>
              </a:buClr>
              <a:buFont typeface="Arial"/>
              <a:buChar char="—"/>
            </a:pPr>
            <a:r>
              <a:rPr sz="1650" b="0" i="0">
                <a:solidFill>
                  <a:srgbClr val="F7F6EF"/>
                </a:solidFill>
                <a:latin typeface="Arial"/>
              </a:rPr>
              <a:t>Thesis reading: the category is structurally under-monetised. Risk reading: trivia audiences do not pay, and this is the ceiling.</a:t>
            </a:r>
          </a:p>
          <a:p>
            <a:pPr marL="281154" indent="-281154">
              <a:lnSpc>
                <a:spcPct val="116000"/>
              </a:lnSpc>
              <a:spcBef>
                <a:spcPts val="907"/>
              </a:spcBef>
              <a:buClr>
                <a:srgbClr val="4EE1FF"/>
              </a:buClr>
              <a:buFont typeface="Arial"/>
              <a:buChar char="—"/>
            </a:pPr>
            <a:r>
              <a:rPr sz="1650" b="0" i="0">
                <a:solidFill>
                  <a:srgbClr val="F7F6EF"/>
                </a:solidFill>
                <a:latin typeface="Arial"/>
              </a:rPr>
              <a:t>Reconciliation is slide 9: the category monetises through habit subscriptions, not consumer trivia IAP.</a:t>
            </a:r>
          </a:p>
        </p:txBody>
      </p:sp>
      <p:pic>
        <p:nvPicPr>
          <p:cNvPr id="8" name="Picture 7" descr="the-gap.png"/>
          <p:cNvPicPr>
            <a:picLocks noChangeAspect="1"/>
          </p:cNvPicPr>
          <p:nvPr/>
        </p:nvPicPr>
        <p:blipFill>
          <a:blip r:embed="rId2"/>
          <a:stretch>
            <a:fillRect/>
          </a:stretch>
        </p:blipFill>
        <p:spPr>
          <a:xfrm>
            <a:off x="6001207" y="2171837"/>
            <a:ext cx="5623560" cy="3282421"/>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0E14"/>
        </a:solidFill>
        <a:effectLst/>
      </p:bgPr>
    </p:bg>
    <p:spTree>
      <p:nvGrpSpPr>
        <p:cNvPr id="1" name=""/>
        <p:cNvGrpSpPr/>
        <p:nvPr/>
      </p:nvGrpSpPr>
      <p:grpSpPr/>
      <p:sp>
        <p:nvSpPr>
          <p:cNvPr id="2" name="Title 1"/>
          <p:cNvSpPr>
            <a:spLocks noGrp="1"/>
          </p:cNvSpPr>
          <p:nvPr>
            <p:ph type="title"/>
          </p:nvPr>
        </p:nvSpPr>
        <p:spPr>
          <a:xfrm>
            <a:off x="566928" y="658368"/>
            <a:ext cx="11057839" cy="859536"/>
          </a:xfrm>
        </p:spPr>
        <p:txBody>
          <a:bodyPr wrap="square" lIns="0" rIns="0" tIns="0" bIns="0" anchor="t"/>
          <a:lstStyle/>
          <a:p>
            <a:pPr>
              <a:lnSpc>
                <a:spcPct val="108000"/>
              </a:lnSpc>
            </a:pPr>
            <a:r>
              <a:rPr sz="3000" b="1" i="0">
                <a:solidFill>
                  <a:srgbClr val="F7F6EF"/>
                </a:solidFill>
                <a:latin typeface="Arial"/>
              </a:rPr>
              <a:t>Three-year scenarios, all figures (P): plans built on third-party benchmarks.</a:t>
            </a:r>
          </a:p>
        </p:txBody>
      </p:sp>
      <p:sp>
        <p:nvSpPr>
          <p:cNvPr id="3" name="TextBox 2"/>
          <p:cNvSpPr txBox="1"/>
          <p:nvPr/>
        </p:nvSpPr>
        <p:spPr>
          <a:xfrm>
            <a:off x="566928" y="365760"/>
            <a:ext cx="11057839" cy="219456"/>
          </a:xfrm>
          <a:prstGeom prst="rect">
            <a:avLst/>
          </a:prstGeom>
          <a:noFill/>
        </p:spPr>
        <p:txBody>
          <a:bodyPr wrap="square" lIns="0" rIns="0" tIns="0" bIns="0" anchor="t">
            <a:spAutoFit/>
          </a:bodyPr>
          <a:lstStyle/>
          <a:p>
            <a:r>
              <a:rPr sz="1100" b="1" i="0" spc="160">
                <a:solidFill>
                  <a:srgbClr val="4EE1FF"/>
                </a:solidFill>
                <a:latin typeface="Arial"/>
              </a:rPr>
              <a:t>APPENDIX — THE MODEL</a:t>
            </a:r>
          </a:p>
        </p:txBody>
      </p:sp>
      <p:sp>
        <p:nvSpPr>
          <p:cNvPr id="4" name="Rectangle 3"/>
          <p:cNvSpPr/>
          <p:nvPr/>
        </p:nvSpPr>
        <p:spPr>
          <a:xfrm>
            <a:off x="566928" y="6035040"/>
            <a:ext cx="11057839" cy="11887"/>
          </a:xfrm>
          <a:prstGeom prst="rect">
            <a:avLst/>
          </a:prstGeom>
          <a:solidFill>
            <a:srgbClr val="4EE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664647" y="6144768"/>
            <a:ext cx="960120" cy="274320"/>
          </a:xfrm>
          <a:prstGeom prst="rect">
            <a:avLst/>
          </a:prstGeom>
          <a:noFill/>
        </p:spPr>
        <p:txBody>
          <a:bodyPr wrap="square" lIns="0" rIns="0" tIns="0" bIns="0" anchor="t">
            <a:spAutoFit/>
          </a:bodyPr>
          <a:lstStyle/>
          <a:p>
            <a:pPr algn="r"/>
            <a:r>
              <a:rPr sz="950" b="1" i="0" spc="60">
                <a:solidFill>
                  <a:srgbClr val="A6ADBA"/>
                </a:solidFill>
                <a:latin typeface="Arial"/>
              </a:rPr>
              <a:t>15</a:t>
            </a:r>
          </a:p>
        </p:txBody>
      </p:sp>
      <p:sp>
        <p:nvSpPr>
          <p:cNvPr id="6" name="TextBox 5"/>
          <p:cNvSpPr txBox="1"/>
          <p:nvPr/>
        </p:nvSpPr>
        <p:spPr>
          <a:xfrm>
            <a:off x="566928" y="6144768"/>
            <a:ext cx="9869119" cy="548640"/>
          </a:xfrm>
          <a:prstGeom prst="rect">
            <a:avLst/>
          </a:prstGeom>
          <a:noFill/>
        </p:spPr>
        <p:txBody>
          <a:bodyPr wrap="square" lIns="0" rIns="0" tIns="0" bIns="0" anchor="t">
            <a:spAutoFit/>
          </a:bodyPr>
          <a:lstStyle/>
          <a:p>
            <a:pPr>
              <a:lnSpc>
                <a:spcPct val="115000"/>
              </a:lnSpc>
            </a:pPr>
            <a:r>
              <a:rPr sz="800" b="0" i="0">
                <a:solidFill>
                  <a:srgbClr val="A6ADBA"/>
                </a:solidFill>
                <a:latin typeface="Arial"/>
              </a:rPr>
              <a:t>Sources: GameAnalytics — 2026 Mobile &amp; PC Gaming Benchmarks  ·  AppsFlyer — State of App Monetization 2026  ·  SEC — Duolingo Q2 FY2026 shareholder letter  ·  Sporcle — Orange membership pricing</a:t>
            </a:r>
          </a:p>
          <a:p>
            <a:pPr>
              <a:lnSpc>
                <a:spcPct val="115000"/>
              </a:lnSpc>
            </a:pPr>
            <a:r>
              <a:rPr sz="800" b="0" i="0">
                <a:solidFill>
                  <a:srgbClr val="A6ADBA"/>
                </a:solidFill>
                <a:latin typeface="Arial"/>
              </a:rPr>
              <a:t>TechCrunch — Trivia Royale, 2.5M downloads in 3 weeks  ·  a16z — The Insider's Guide to Data Rooms  ·  FACT//DUEL internal — numbers.md §4.1-§4.3</a:t>
            </a:r>
          </a:p>
        </p:txBody>
      </p:sp>
      <p:sp>
        <p:nvSpPr>
          <p:cNvPr id="7" name="TextBox 6"/>
          <p:cNvSpPr txBox="1"/>
          <p:nvPr/>
        </p:nvSpPr>
        <p:spPr>
          <a:xfrm>
            <a:off x="566928" y="1719072"/>
            <a:ext cx="11057839" cy="1219580"/>
          </a:xfrm>
          <a:prstGeom prst="rect">
            <a:avLst/>
          </a:prstGeom>
          <a:noFill/>
        </p:spPr>
        <p:txBody>
          <a:bodyPr wrap="square" lIns="0" rIns="0" tIns="0" bIns="0" anchor="t">
            <a:spAutoFit/>
          </a:bodyPr>
          <a:lstStyle/>
          <a:p>
            <a:pPr marL="230028" indent="-230028">
              <a:lnSpc>
                <a:spcPct val="116000"/>
              </a:lnSpc>
              <a:buClr>
                <a:srgbClr val="4EE1FF"/>
              </a:buClr>
              <a:buFont typeface="Arial"/>
              <a:buChar char="—"/>
            </a:pPr>
            <a:r>
              <a:rPr sz="1350" b="0" i="0">
                <a:solidFill>
                  <a:srgbClr val="F7F6EF"/>
                </a:solidFill>
                <a:latin typeface="Arial"/>
              </a:rPr>
              <a:t>One model, three input sets; only D30 retention, payer rate and install volume change. Install volumes are chosen assumptions with no company data behind them.</a:t>
            </a:r>
          </a:p>
          <a:p>
            <a:pPr marL="230028" indent="-230028">
              <a:lnSpc>
                <a:spcPct val="116000"/>
              </a:lnSpc>
              <a:spcBef>
                <a:spcPts val="742"/>
              </a:spcBef>
              <a:buClr>
                <a:srgbClr val="4EE1FF"/>
              </a:buClr>
              <a:buFont typeface="Arial"/>
              <a:buChar char="—"/>
            </a:pPr>
            <a:r>
              <a:rPr sz="1350" b="0" i="0">
                <a:solidFill>
                  <a:srgbClr val="F7F6EF"/>
                </a:solidFill>
                <a:latin typeface="Arial"/>
              </a:rPr>
              <a:t>Even the optimistic case assumes only median casual per-install monetisation; all optimism sits in volume.</a:t>
            </a:r>
          </a:p>
          <a:p>
            <a:pPr marL="230028" indent="-230028">
              <a:lnSpc>
                <a:spcPct val="116000"/>
              </a:lnSpc>
              <a:spcBef>
                <a:spcPts val="742"/>
              </a:spcBef>
              <a:buClr>
                <a:srgbClr val="4EE1FF"/>
              </a:buClr>
              <a:buFont typeface="Arial"/>
              <a:buChar char="—"/>
            </a:pPr>
            <a:r>
              <a:rPr sz="1350" b="0" i="0">
                <a:solidFill>
                  <a:srgbClr val="F7F6EF"/>
                </a:solidFill>
                <a:latin typeface="Arial"/>
              </a:rPr>
              <a:t>Subscription cross-check: conservative agrees within 8%; base diverges 3.88x; optimistic 5.26x. Break-even cost per install </a:t>
            </a:r>
            <a:r>
              <a:rPr sz="1350" b="0" i="0">
                <a:solidFill>
                  <a:srgbClr val="FFC83D"/>
                </a:solidFill>
                <a:latin typeface="Arial"/>
              </a:rPr>
              <a:t>$0.37</a:t>
            </a:r>
            <a:r>
              <a:rPr sz="1350" b="0" i="0">
                <a:solidFill>
                  <a:srgbClr val="F7F6EF"/>
                </a:solidFill>
                <a:latin typeface="Arial"/>
              </a:rPr>
              <a:t> / </a:t>
            </a:r>
            <a:r>
              <a:rPr sz="1350" b="0" i="0">
                <a:solidFill>
                  <a:srgbClr val="FFC83D"/>
                </a:solidFill>
                <a:latin typeface="Arial"/>
              </a:rPr>
              <a:t>$1.36</a:t>
            </a:r>
            <a:r>
              <a:rPr sz="1350" b="0" i="0">
                <a:solidFill>
                  <a:srgbClr val="F7F6EF"/>
                </a:solidFill>
                <a:latin typeface="Arial"/>
              </a:rPr>
              <a:t> / </a:t>
            </a:r>
            <a:r>
              <a:rPr sz="1350" b="0" i="0">
                <a:solidFill>
                  <a:srgbClr val="FFC83D"/>
                </a:solidFill>
                <a:latin typeface="Arial"/>
              </a:rPr>
              <a:t>$1.89</a:t>
            </a:r>
            <a:r>
              <a:rPr sz="1350" b="0" i="0">
                <a:solidFill>
                  <a:srgbClr val="F7F6EF"/>
                </a:solidFill>
                <a:latin typeface="Arial"/>
              </a:rPr>
              <a:t> — Trivia Royale's was under </a:t>
            </a:r>
            <a:r>
              <a:rPr sz="1350" b="0" i="0">
                <a:solidFill>
                  <a:srgbClr val="FFC83D"/>
                </a:solidFill>
                <a:latin typeface="Arial"/>
              </a:rPr>
              <a:t>$0.20,</a:t>
            </a:r>
            <a:r>
              <a:rPr sz="1350" b="0" i="0">
                <a:solidFill>
                  <a:srgbClr val="F7F6EF"/>
                </a:solidFill>
                <a:latin typeface="Arial"/>
              </a:rPr>
              <a:t> and it still died.</a:t>
            </a:r>
          </a:p>
        </p:txBody>
      </p:sp>
      <p:graphicFrame>
        <p:nvGraphicFramePr>
          <p:cNvPr id="8" name="Table 7"/>
          <p:cNvGraphicFramePr>
            <a:graphicFrameLocks noGrp="1"/>
          </p:cNvGraphicFramePr>
          <p:nvPr/>
        </p:nvGraphicFramePr>
        <p:xfrm>
          <a:off x="566928" y="3176397"/>
          <a:ext cx="6238949" cy="2730624"/>
        </p:xfrm>
        <a:graphic>
          <a:graphicData uri="http://schemas.openxmlformats.org/drawingml/2006/table">
            <a:tbl>
              <a:tblPr>
                <a:tableStyleId>{2D5ABB26-0587-4C30-8999-92F81FD0307C}</a:tableStyleId>
              </a:tblPr>
              <a:tblGrid>
                <a:gridCol w="965571"/>
                <a:gridCol w="776233"/>
                <a:gridCol w="824370"/>
                <a:gridCol w="832018"/>
                <a:gridCol w="1008185"/>
                <a:gridCol w="1832572"/>
              </a:tblGrid>
              <a:tr h="682656">
                <a:tc>
                  <a:txBody>
                    <a:bodyPr wrap="square"/>
                    <a:lstStyle/>
                    <a:p>
                      <a:pPr>
                        <a:lnSpc>
                          <a:spcPct val="114000"/>
                        </a:lnSpc>
                      </a:pPr>
                      <a:r>
                        <a:rPr sz="1050" b="1" i="0">
                          <a:solidFill>
                            <a:srgbClr val="D4FF3A"/>
                          </a:solidFill>
                          <a:latin typeface="Arial"/>
                        </a:rPr>
                        <a:t>Scenario (P)</a:t>
                      </a:r>
                    </a:p>
                  </a:txBody>
                  <a:tcPr marL="64008" marR="64008" marT="41148" marB="41148" anchor="ctr">
                    <a:solidFill>
                      <a:srgbClr val="121821"/>
                    </a:solidFill>
                  </a:tcPr>
                </a:tc>
                <a:tc>
                  <a:txBody>
                    <a:bodyPr wrap="square"/>
                    <a:lstStyle/>
                    <a:p>
                      <a:pPr>
                        <a:lnSpc>
                          <a:spcPct val="114000"/>
                        </a:lnSpc>
                      </a:pPr>
                      <a:r>
                        <a:rPr sz="1050" b="1" i="0">
                          <a:solidFill>
                            <a:srgbClr val="D4FF3A"/>
                          </a:solidFill>
                          <a:latin typeface="Arial"/>
                        </a:rPr>
                        <a:t>Y3 installs</a:t>
                      </a:r>
                    </a:p>
                  </a:txBody>
                  <a:tcPr marL="64008" marR="64008" marT="41148" marB="41148" anchor="ctr">
                    <a:solidFill>
                      <a:srgbClr val="121821"/>
                    </a:solidFill>
                  </a:tcPr>
                </a:tc>
                <a:tc>
                  <a:txBody>
                    <a:bodyPr wrap="square"/>
                    <a:lstStyle/>
                    <a:p>
                      <a:pPr>
                        <a:lnSpc>
                          <a:spcPct val="114000"/>
                        </a:lnSpc>
                      </a:pPr>
                      <a:r>
                        <a:rPr sz="1050" b="1" i="0">
                          <a:solidFill>
                            <a:srgbClr val="D4FF3A"/>
                          </a:solidFill>
                          <a:latin typeface="Arial"/>
                        </a:rPr>
                        <a:t>Rev / install</a:t>
                      </a:r>
                    </a:p>
                  </a:txBody>
                  <a:tcPr marL="64008" marR="64008" marT="41148" marB="41148" anchor="ctr">
                    <a:solidFill>
                      <a:srgbClr val="121821"/>
                    </a:solidFill>
                  </a:tcPr>
                </a:tc>
                <a:tc>
                  <a:txBody>
                    <a:bodyPr wrap="square"/>
                    <a:lstStyle/>
                    <a:p>
                      <a:pPr>
                        <a:lnSpc>
                          <a:spcPct val="114000"/>
                        </a:lnSpc>
                      </a:pPr>
                      <a:r>
                        <a:rPr sz="1050" b="1" i="0">
                          <a:solidFill>
                            <a:srgbClr val="D4FF3A"/>
                          </a:solidFill>
                          <a:latin typeface="Arial"/>
                        </a:rPr>
                        <a:t>Y3 revenue</a:t>
                      </a:r>
                    </a:p>
                  </a:txBody>
                  <a:tcPr marL="64008" marR="64008" marT="41148" marB="41148" anchor="ctr">
                    <a:solidFill>
                      <a:srgbClr val="121821"/>
                    </a:solidFill>
                  </a:tcPr>
                </a:tc>
                <a:tc>
                  <a:txBody>
                    <a:bodyPr wrap="square"/>
                    <a:lstStyle/>
                    <a:p>
                      <a:pPr>
                        <a:lnSpc>
                          <a:spcPct val="114000"/>
                        </a:lnSpc>
                      </a:pPr>
                      <a:r>
                        <a:rPr sz="1050" b="1" i="0">
                          <a:solidFill>
                            <a:srgbClr val="D4FF3A"/>
                          </a:solidFill>
                          <a:latin typeface="Arial"/>
                        </a:rPr>
                        <a:t>Y3 steady MAU</a:t>
                      </a:r>
                    </a:p>
                  </a:txBody>
                  <a:tcPr marL="64008" marR="64008" marT="41148" marB="41148" anchor="ctr">
                    <a:solidFill>
                      <a:srgbClr val="121821"/>
                    </a:solidFill>
                  </a:tcPr>
                </a:tc>
                <a:tc>
                  <a:txBody>
                    <a:bodyPr wrap="square"/>
                    <a:lstStyle/>
                    <a:p>
                      <a:pPr>
                        <a:lnSpc>
                          <a:spcPct val="114000"/>
                        </a:lnSpc>
                      </a:pPr>
                      <a:r>
                        <a:rPr sz="1050" b="1" i="0">
                          <a:solidFill>
                            <a:srgbClr val="D4FF3A"/>
                          </a:solidFill>
                          <a:latin typeface="Arial"/>
                        </a:rPr>
                        <a:t>Subscription cross-check</a:t>
                      </a:r>
                    </a:p>
                  </a:txBody>
                  <a:tcPr marL="64008" marR="64008" marT="41148" marB="41148" anchor="ctr">
                    <a:solidFill>
                      <a:srgbClr val="121821"/>
                    </a:solidFill>
                  </a:tcPr>
                </a:tc>
              </a:tr>
              <a:tr h="682656">
                <a:tc>
                  <a:txBody>
                    <a:bodyPr wrap="square"/>
                    <a:lstStyle/>
                    <a:p>
                      <a:pPr>
                        <a:lnSpc>
                          <a:spcPct val="114000"/>
                        </a:lnSpc>
                      </a:pPr>
                      <a:r>
                        <a:rPr sz="1050" b="1" i="0">
                          <a:solidFill>
                            <a:srgbClr val="F7F6EF"/>
                          </a:solidFill>
                          <a:latin typeface="Arial"/>
                        </a:rPr>
                        <a:t>Conservative</a:t>
                      </a:r>
                    </a:p>
                  </a:txBody>
                  <a:tcPr marL="64008" marR="64008" marT="41148" marB="41148" anchor="ctr">
                    <a:solidFill>
                      <a:srgbClr val="121821"/>
                    </a:solidFill>
                  </a:tcPr>
                </a:tc>
                <a:tc>
                  <a:txBody>
                    <a:bodyPr wrap="square"/>
                    <a:lstStyle/>
                    <a:p>
                      <a:pPr>
                        <a:lnSpc>
                          <a:spcPct val="114000"/>
                        </a:lnSpc>
                      </a:pPr>
                      <a:r>
                        <a:rPr sz="1050" b="0" i="0">
                          <a:solidFill>
                            <a:srgbClr val="F7F6EF"/>
                          </a:solidFill>
                          <a:latin typeface="Arial"/>
                        </a:rPr>
                        <a:t>250,000</a:t>
                      </a:r>
                    </a:p>
                  </a:txBody>
                  <a:tcPr marL="64008" marR="64008" marT="41148" marB="41148" anchor="ctr">
                    <a:solidFill>
                      <a:srgbClr val="121821"/>
                    </a:solidFill>
                  </a:tcPr>
                </a:tc>
                <a:tc>
                  <a:txBody>
                    <a:bodyPr wrap="square"/>
                    <a:lstStyle/>
                    <a:p>
                      <a:pPr>
                        <a:lnSpc>
                          <a:spcPct val="114000"/>
                        </a:lnSpc>
                      </a:pPr>
                      <a:r>
                        <a:rPr sz="1050" b="0" i="0">
                          <a:solidFill>
                            <a:srgbClr val="FFC83D"/>
                          </a:solidFill>
                          <a:latin typeface="Arial"/>
                        </a:rPr>
                        <a:t>$0.3688</a:t>
                      </a:r>
                    </a:p>
                  </a:txBody>
                  <a:tcPr marL="64008" marR="64008" marT="41148" marB="41148" anchor="ctr">
                    <a:solidFill>
                      <a:srgbClr val="121821"/>
                    </a:solidFill>
                  </a:tcPr>
                </a:tc>
                <a:tc>
                  <a:txBody>
                    <a:bodyPr wrap="square"/>
                    <a:lstStyle/>
                    <a:p>
                      <a:pPr>
                        <a:lnSpc>
                          <a:spcPct val="114000"/>
                        </a:lnSpc>
                      </a:pPr>
                      <a:r>
                        <a:rPr sz="1050" b="0" i="0">
                          <a:solidFill>
                            <a:srgbClr val="FFC83D"/>
                          </a:solidFill>
                          <a:latin typeface="Arial"/>
                        </a:rPr>
                        <a:t>$92,202</a:t>
                      </a:r>
                    </a:p>
                  </a:txBody>
                  <a:tcPr marL="64008" marR="64008" marT="41148" marB="41148" anchor="ctr">
                    <a:solidFill>
                      <a:srgbClr val="121821"/>
                    </a:solidFill>
                  </a:tcPr>
                </a:tc>
                <a:tc>
                  <a:txBody>
                    <a:bodyPr wrap="square"/>
                    <a:lstStyle/>
                    <a:p>
                      <a:pPr>
                        <a:lnSpc>
                          <a:spcPct val="114000"/>
                        </a:lnSpc>
                      </a:pPr>
                      <a:r>
                        <a:rPr sz="1050" b="0" i="0">
                          <a:solidFill>
                            <a:srgbClr val="F7F6EF"/>
                          </a:solidFill>
                          <a:latin typeface="Arial"/>
                        </a:rPr>
                        <a:t>21,542</a:t>
                      </a:r>
                    </a:p>
                  </a:txBody>
                  <a:tcPr marL="64008" marR="64008" marT="41148" marB="41148" anchor="ctr">
                    <a:solidFill>
                      <a:srgbClr val="121821"/>
                    </a:solidFill>
                  </a:tcPr>
                </a:tc>
                <a:tc>
                  <a:txBody>
                    <a:bodyPr wrap="square"/>
                    <a:lstStyle/>
                    <a:p>
                      <a:pPr>
                        <a:lnSpc>
                          <a:spcPct val="114000"/>
                        </a:lnSpc>
                      </a:pPr>
                      <a:r>
                        <a:rPr sz="1050" b="0" i="0">
                          <a:solidFill>
                            <a:srgbClr val="FFC83D"/>
                          </a:solidFill>
                          <a:latin typeface="Arial"/>
                        </a:rPr>
                        <a:t>$85,570 — agrees within 8%</a:t>
                      </a:r>
                    </a:p>
                  </a:txBody>
                  <a:tcPr marL="64008" marR="64008" marT="41148" marB="41148" anchor="ctr">
                    <a:solidFill>
                      <a:srgbClr val="121821"/>
                    </a:solidFill>
                  </a:tcPr>
                </a:tc>
              </a:tr>
              <a:tr h="682656">
                <a:tc>
                  <a:txBody>
                    <a:bodyPr wrap="square"/>
                    <a:lstStyle/>
                    <a:p>
                      <a:pPr>
                        <a:lnSpc>
                          <a:spcPct val="114000"/>
                        </a:lnSpc>
                      </a:pPr>
                      <a:r>
                        <a:rPr sz="1050" b="1" i="0">
                          <a:solidFill>
                            <a:srgbClr val="F7F6EF"/>
                          </a:solidFill>
                          <a:latin typeface="Arial"/>
                        </a:rPr>
                        <a:t>Base</a:t>
                      </a:r>
                    </a:p>
                  </a:txBody>
                  <a:tcPr marL="64008" marR="64008" marT="41148" marB="41148" anchor="ctr">
                    <a:solidFill>
                      <a:srgbClr val="0D131B"/>
                    </a:solidFill>
                  </a:tcPr>
                </a:tc>
                <a:tc>
                  <a:txBody>
                    <a:bodyPr wrap="square"/>
                    <a:lstStyle/>
                    <a:p>
                      <a:pPr>
                        <a:lnSpc>
                          <a:spcPct val="114000"/>
                        </a:lnSpc>
                      </a:pPr>
                      <a:r>
                        <a:rPr sz="1050" b="0" i="0">
                          <a:solidFill>
                            <a:srgbClr val="F7F6EF"/>
                          </a:solidFill>
                          <a:latin typeface="Arial"/>
                        </a:rPr>
                        <a:t>1,200,000</a:t>
                      </a:r>
                    </a:p>
                  </a:txBody>
                  <a:tcPr marL="64008" marR="64008" marT="41148" marB="41148" anchor="ctr">
                    <a:solidFill>
                      <a:srgbClr val="0D131B"/>
                    </a:solidFill>
                  </a:tcPr>
                </a:tc>
                <a:tc>
                  <a:txBody>
                    <a:bodyPr wrap="square"/>
                    <a:lstStyle/>
                    <a:p>
                      <a:pPr>
                        <a:lnSpc>
                          <a:spcPct val="114000"/>
                        </a:lnSpc>
                      </a:pPr>
                      <a:r>
                        <a:rPr sz="1050" b="0" i="0">
                          <a:solidFill>
                            <a:srgbClr val="FFC83D"/>
                          </a:solidFill>
                          <a:latin typeface="Arial"/>
                        </a:rPr>
                        <a:t>$1.3588</a:t>
                      </a:r>
                    </a:p>
                  </a:txBody>
                  <a:tcPr marL="64008" marR="64008" marT="41148" marB="41148" anchor="ctr">
                    <a:solidFill>
                      <a:srgbClr val="0D131B"/>
                    </a:solidFill>
                  </a:tcPr>
                </a:tc>
                <a:tc>
                  <a:txBody>
                    <a:bodyPr wrap="square"/>
                    <a:lstStyle/>
                    <a:p>
                      <a:pPr>
                        <a:lnSpc>
                          <a:spcPct val="114000"/>
                        </a:lnSpc>
                      </a:pPr>
                      <a:r>
                        <a:rPr sz="1050" b="0" i="0">
                          <a:solidFill>
                            <a:srgbClr val="FFC83D"/>
                          </a:solidFill>
                          <a:latin typeface="Arial"/>
                        </a:rPr>
                        <a:t>$1,630,517</a:t>
                      </a:r>
                    </a:p>
                  </a:txBody>
                  <a:tcPr marL="64008" marR="64008" marT="41148" marB="41148" anchor="ctr">
                    <a:solidFill>
                      <a:srgbClr val="0D131B"/>
                    </a:solidFill>
                  </a:tcPr>
                </a:tc>
                <a:tc>
                  <a:txBody>
                    <a:bodyPr wrap="square"/>
                    <a:lstStyle/>
                    <a:p>
                      <a:pPr>
                        <a:lnSpc>
                          <a:spcPct val="114000"/>
                        </a:lnSpc>
                      </a:pPr>
                      <a:r>
                        <a:rPr sz="1050" b="0" i="0">
                          <a:solidFill>
                            <a:srgbClr val="F7F6EF"/>
                          </a:solidFill>
                          <a:latin typeface="Arial"/>
                        </a:rPr>
                        <a:t>105,900</a:t>
                      </a:r>
                    </a:p>
                  </a:txBody>
                  <a:tcPr marL="64008" marR="64008" marT="41148" marB="41148" anchor="ctr">
                    <a:solidFill>
                      <a:srgbClr val="0D131B"/>
                    </a:solidFill>
                  </a:tcPr>
                </a:tc>
                <a:tc>
                  <a:txBody>
                    <a:bodyPr wrap="square"/>
                    <a:lstStyle/>
                    <a:p>
                      <a:pPr>
                        <a:lnSpc>
                          <a:spcPct val="114000"/>
                        </a:lnSpc>
                      </a:pPr>
                      <a:r>
                        <a:rPr sz="1050" b="0" i="0">
                          <a:solidFill>
                            <a:srgbClr val="FFC83D"/>
                          </a:solidFill>
                          <a:latin typeface="Arial"/>
                        </a:rPr>
                        <a:t>$420,666 — 3.88x divergence</a:t>
                      </a:r>
                    </a:p>
                  </a:txBody>
                  <a:tcPr marL="64008" marR="64008" marT="41148" marB="41148" anchor="ctr">
                    <a:solidFill>
                      <a:srgbClr val="0D131B"/>
                    </a:solidFill>
                  </a:tcPr>
                </a:tc>
              </a:tr>
              <a:tr h="682656">
                <a:tc>
                  <a:txBody>
                    <a:bodyPr wrap="square"/>
                    <a:lstStyle/>
                    <a:p>
                      <a:pPr>
                        <a:lnSpc>
                          <a:spcPct val="114000"/>
                        </a:lnSpc>
                      </a:pPr>
                      <a:r>
                        <a:rPr sz="1050" b="1" i="0">
                          <a:solidFill>
                            <a:srgbClr val="F7F6EF"/>
                          </a:solidFill>
                          <a:latin typeface="Arial"/>
                        </a:rPr>
                        <a:t>Optimistic</a:t>
                      </a:r>
                    </a:p>
                  </a:txBody>
                  <a:tcPr marL="64008" marR="64008" marT="41148" marB="41148" anchor="ctr">
                    <a:solidFill>
                      <a:srgbClr val="121821"/>
                    </a:solidFill>
                  </a:tcPr>
                </a:tc>
                <a:tc>
                  <a:txBody>
                    <a:bodyPr wrap="square"/>
                    <a:lstStyle/>
                    <a:p>
                      <a:pPr>
                        <a:lnSpc>
                          <a:spcPct val="114000"/>
                        </a:lnSpc>
                      </a:pPr>
                      <a:r>
                        <a:rPr sz="1050" b="0" i="0">
                          <a:solidFill>
                            <a:srgbClr val="F7F6EF"/>
                          </a:solidFill>
                          <a:latin typeface="Arial"/>
                        </a:rPr>
                        <a:t>4,000,000</a:t>
                      </a:r>
                    </a:p>
                  </a:txBody>
                  <a:tcPr marL="64008" marR="64008" marT="41148" marB="41148" anchor="ctr">
                    <a:solidFill>
                      <a:srgbClr val="121821"/>
                    </a:solidFill>
                  </a:tcPr>
                </a:tc>
                <a:tc>
                  <a:txBody>
                    <a:bodyPr wrap="square"/>
                    <a:lstStyle/>
                    <a:p>
                      <a:pPr>
                        <a:lnSpc>
                          <a:spcPct val="114000"/>
                        </a:lnSpc>
                      </a:pPr>
                      <a:r>
                        <a:rPr sz="1050" b="0" i="0">
                          <a:solidFill>
                            <a:srgbClr val="FFC83D"/>
                          </a:solidFill>
                          <a:latin typeface="Arial"/>
                        </a:rPr>
                        <a:t>$1.8902</a:t>
                      </a:r>
                    </a:p>
                  </a:txBody>
                  <a:tcPr marL="64008" marR="64008" marT="41148" marB="41148" anchor="ctr">
                    <a:solidFill>
                      <a:srgbClr val="121821"/>
                    </a:solidFill>
                  </a:tcPr>
                </a:tc>
                <a:tc>
                  <a:txBody>
                    <a:bodyPr wrap="square"/>
                    <a:lstStyle/>
                    <a:p>
                      <a:pPr>
                        <a:lnSpc>
                          <a:spcPct val="114000"/>
                        </a:lnSpc>
                      </a:pPr>
                      <a:r>
                        <a:rPr sz="1050" b="0" i="0">
                          <a:solidFill>
                            <a:srgbClr val="FFC83D"/>
                          </a:solidFill>
                          <a:latin typeface="Arial"/>
                        </a:rPr>
                        <a:t>$7,560,784</a:t>
                      </a:r>
                    </a:p>
                  </a:txBody>
                  <a:tcPr marL="64008" marR="64008" marT="41148" marB="41148" anchor="ctr">
                    <a:solidFill>
                      <a:srgbClr val="121821"/>
                    </a:solidFill>
                  </a:tcPr>
                </a:tc>
                <a:tc>
                  <a:txBody>
                    <a:bodyPr wrap="square"/>
                    <a:lstStyle/>
                    <a:p>
                      <a:pPr>
                        <a:lnSpc>
                          <a:spcPct val="114000"/>
                        </a:lnSpc>
                      </a:pPr>
                      <a:r>
                        <a:rPr sz="1050" b="0" i="0">
                          <a:solidFill>
                            <a:srgbClr val="F7F6EF"/>
                          </a:solidFill>
                          <a:latin typeface="Arial"/>
                        </a:rPr>
                        <a:t>361,667</a:t>
                      </a:r>
                    </a:p>
                  </a:txBody>
                  <a:tcPr marL="64008" marR="64008" marT="41148" marB="41148" anchor="ctr">
                    <a:solidFill>
                      <a:srgbClr val="121821"/>
                    </a:solidFill>
                  </a:tcPr>
                </a:tc>
                <a:tc>
                  <a:txBody>
                    <a:bodyPr wrap="square"/>
                    <a:lstStyle/>
                    <a:p>
                      <a:pPr>
                        <a:lnSpc>
                          <a:spcPct val="114000"/>
                        </a:lnSpc>
                      </a:pPr>
                      <a:r>
                        <a:rPr sz="1050" b="0" i="0">
                          <a:solidFill>
                            <a:srgbClr val="FFC83D"/>
                          </a:solidFill>
                          <a:latin typeface="Arial"/>
                        </a:rPr>
                        <a:t>$1,436,647 — 5.26x divergence</a:t>
                      </a:r>
                    </a:p>
                  </a:txBody>
                  <a:tcPr marL="64008" marR="64008" marT="41148" marB="41148" anchor="ctr">
                    <a:solidFill>
                      <a:srgbClr val="121821"/>
                    </a:solidFill>
                  </a:tcPr>
                </a:tc>
              </a:tr>
            </a:tbl>
          </a:graphicData>
        </a:graphic>
      </p:graphicFrame>
      <p:pic>
        <p:nvPicPr>
          <p:cNvPr id="9" name="Picture 8" descr="scenarios.png"/>
          <p:cNvPicPr>
            <a:picLocks noChangeAspect="1"/>
          </p:cNvPicPr>
          <p:nvPr/>
        </p:nvPicPr>
        <p:blipFill>
          <a:blip r:embed="rId2"/>
          <a:stretch>
            <a:fillRect/>
          </a:stretch>
        </p:blipFill>
        <p:spPr>
          <a:xfrm>
            <a:off x="7103951" y="3176397"/>
            <a:ext cx="4515350" cy="2730627"/>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0E14"/>
        </a:solidFill>
        <a:effectLst/>
      </p:bgPr>
    </p:bg>
    <p:spTree>
      <p:nvGrpSpPr>
        <p:cNvPr id="1" name=""/>
        <p:cNvGrpSpPr/>
        <p:nvPr/>
      </p:nvGrpSpPr>
      <p:grpSpPr/>
      <p:sp>
        <p:nvSpPr>
          <p:cNvPr id="2" name="Title 1"/>
          <p:cNvSpPr>
            <a:spLocks noGrp="1"/>
          </p:cNvSpPr>
          <p:nvPr>
            <p:ph type="title"/>
          </p:nvPr>
        </p:nvSpPr>
        <p:spPr>
          <a:xfrm>
            <a:off x="566928" y="658368"/>
            <a:ext cx="11057839" cy="859536"/>
          </a:xfrm>
        </p:spPr>
        <p:txBody>
          <a:bodyPr wrap="square" lIns="0" rIns="0" tIns="0" bIns="0" anchor="t"/>
          <a:lstStyle/>
          <a:p>
            <a:pPr>
              <a:lnSpc>
                <a:spcPct val="108000"/>
              </a:lnSpc>
            </a:pPr>
            <a:r>
              <a:rPr sz="3000" b="1" i="0">
                <a:solidFill>
                  <a:srgbClr val="F7F6EF"/>
                </a:solidFill>
                <a:latin typeface="Arial"/>
              </a:rPr>
              <a:t>TAM, SAM and SOM in full, including the number we left off the slide.</a:t>
            </a:r>
          </a:p>
        </p:txBody>
      </p:sp>
      <p:sp>
        <p:nvSpPr>
          <p:cNvPr id="3" name="TextBox 2"/>
          <p:cNvSpPr txBox="1"/>
          <p:nvPr/>
        </p:nvSpPr>
        <p:spPr>
          <a:xfrm>
            <a:off x="566928" y="365760"/>
            <a:ext cx="11057839" cy="219456"/>
          </a:xfrm>
          <a:prstGeom prst="rect">
            <a:avLst/>
          </a:prstGeom>
          <a:noFill/>
        </p:spPr>
        <p:txBody>
          <a:bodyPr wrap="square" lIns="0" rIns="0" tIns="0" bIns="0" anchor="t">
            <a:spAutoFit/>
          </a:bodyPr>
          <a:lstStyle/>
          <a:p>
            <a:r>
              <a:rPr sz="1100" b="1" i="0" spc="160">
                <a:solidFill>
                  <a:srgbClr val="4EE1FF"/>
                </a:solidFill>
                <a:latin typeface="Arial"/>
              </a:rPr>
              <a:t>APPENDIX — MARKET SIZING</a:t>
            </a:r>
          </a:p>
        </p:txBody>
      </p:sp>
      <p:sp>
        <p:nvSpPr>
          <p:cNvPr id="4" name="Rectangle 3"/>
          <p:cNvSpPr/>
          <p:nvPr/>
        </p:nvSpPr>
        <p:spPr>
          <a:xfrm>
            <a:off x="566928" y="6035040"/>
            <a:ext cx="11057839" cy="11887"/>
          </a:xfrm>
          <a:prstGeom prst="rect">
            <a:avLst/>
          </a:prstGeom>
          <a:solidFill>
            <a:srgbClr val="4EE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664647" y="6144768"/>
            <a:ext cx="960120" cy="274320"/>
          </a:xfrm>
          <a:prstGeom prst="rect">
            <a:avLst/>
          </a:prstGeom>
          <a:noFill/>
        </p:spPr>
        <p:txBody>
          <a:bodyPr wrap="square" lIns="0" rIns="0" tIns="0" bIns="0" anchor="t">
            <a:spAutoFit/>
          </a:bodyPr>
          <a:lstStyle/>
          <a:p>
            <a:pPr algn="r"/>
            <a:r>
              <a:rPr sz="950" b="1" i="0" spc="60">
                <a:solidFill>
                  <a:srgbClr val="A6ADBA"/>
                </a:solidFill>
                <a:latin typeface="Arial"/>
              </a:rPr>
              <a:t>16</a:t>
            </a:r>
          </a:p>
        </p:txBody>
      </p:sp>
      <p:sp>
        <p:nvSpPr>
          <p:cNvPr id="6" name="TextBox 5"/>
          <p:cNvSpPr txBox="1"/>
          <p:nvPr/>
        </p:nvSpPr>
        <p:spPr>
          <a:xfrm>
            <a:off x="566928" y="6144768"/>
            <a:ext cx="9869119" cy="548640"/>
          </a:xfrm>
          <a:prstGeom prst="rect">
            <a:avLst/>
          </a:prstGeom>
          <a:noFill/>
        </p:spPr>
        <p:txBody>
          <a:bodyPr wrap="square" lIns="0" rIns="0" tIns="0" bIns="0" anchor="t">
            <a:spAutoFit/>
          </a:bodyPr>
          <a:lstStyle/>
          <a:p>
            <a:pPr>
              <a:lnSpc>
                <a:spcPct val="115000"/>
              </a:lnSpc>
            </a:pPr>
            <a:r>
              <a:rPr sz="800" b="0" i="0">
                <a:solidFill>
                  <a:srgbClr val="A6ADBA"/>
                </a:solidFill>
                <a:latin typeface="Arial"/>
              </a:rPr>
              <a:t>Sources: EMARKETER — second-screen engagement during live sport  ·  FSGA / Angus Reid 2026 — participation research  ·  FSGA 2025 — next-generation engagement research</a:t>
            </a:r>
          </a:p>
          <a:p>
            <a:pPr>
              <a:lnSpc>
                <a:spcPct val="115000"/>
              </a:lnSpc>
            </a:pPr>
            <a:r>
              <a:rPr sz="800" b="0" i="0">
                <a:solidFill>
                  <a:srgbClr val="A6ADBA"/>
                </a:solidFill>
                <a:latin typeface="Arial"/>
              </a:rPr>
              <a:t>ICC — global cricket market research  ·  Nielsen — 2025 Global Sports Report  ·  Newzoo — Global Games Market 2025  ·  Paul Graham — How to convince investors  ·  a16z — 16 More Startup Metrics</a:t>
            </a:r>
          </a:p>
        </p:txBody>
      </p:sp>
      <p:sp>
        <p:nvSpPr>
          <p:cNvPr id="7" name="TextBox 6"/>
          <p:cNvSpPr txBox="1"/>
          <p:nvPr/>
        </p:nvSpPr>
        <p:spPr>
          <a:xfrm>
            <a:off x="566928" y="1719072"/>
            <a:ext cx="11057839" cy="1057148"/>
          </a:xfrm>
          <a:prstGeom prst="rect">
            <a:avLst/>
          </a:prstGeom>
          <a:noFill/>
        </p:spPr>
        <p:txBody>
          <a:bodyPr wrap="square" lIns="0" rIns="0" tIns="0" bIns="0" anchor="t">
            <a:spAutoFit/>
          </a:bodyPr>
          <a:lstStyle/>
          <a:p>
            <a:pPr marL="238571" indent="-238571">
              <a:lnSpc>
                <a:spcPct val="116000"/>
              </a:lnSpc>
              <a:buClr>
                <a:srgbClr val="4EE1FF"/>
              </a:buClr>
              <a:buFont typeface="Arial"/>
              <a:buChar char="—"/>
            </a:pPr>
            <a:r>
              <a:rPr sz="1400" b="0" i="0">
                <a:solidFill>
                  <a:srgbClr val="F7F6EF"/>
                </a:solidFill>
                <a:latin typeface="Arial"/>
              </a:rPr>
              <a:t>No penetration percentage appears anywhere in TAM or SAM. Every haircut lives in SOM — 0.14%-0.23% of SAM.</a:t>
            </a:r>
          </a:p>
          <a:p>
            <a:pPr marL="238571" indent="-238571">
              <a:lnSpc>
                <a:spcPct val="116000"/>
              </a:lnSpc>
              <a:spcBef>
                <a:spcPts val="770"/>
              </a:spcBef>
              <a:buClr>
                <a:srgbClr val="4EE1FF"/>
              </a:buClr>
              <a:buFont typeface="Arial"/>
              <a:buChar char="—"/>
            </a:pPr>
            <a:r>
              <a:rPr sz="1400" b="0" i="0">
                <a:solidFill>
                  <a:srgbClr val="F7F6EF"/>
                </a:solidFill>
                <a:latin typeface="Arial"/>
              </a:rPr>
              <a:t>TAM-B applies US ARPU to a South Asian population, directional only; Newzoo contradicts it — APAC </a:t>
            </a:r>
            <a:r>
              <a:rPr sz="1400" b="0" i="0">
                <a:solidFill>
                  <a:srgbClr val="FFC83D"/>
                </a:solidFill>
                <a:latin typeface="Arial"/>
              </a:rPr>
              <a:t>$95.0bn</a:t>
            </a:r>
            <a:r>
              <a:rPr sz="1400" b="0" i="0">
                <a:solidFill>
                  <a:srgbClr val="F7F6EF"/>
                </a:solidFill>
                <a:latin typeface="Arial"/>
              </a:rPr>
              <a:t> of 2025 games revenue against North America's </a:t>
            </a:r>
            <a:r>
              <a:rPr sz="1400" b="0" i="0">
                <a:solidFill>
                  <a:srgbClr val="FFC83D"/>
                </a:solidFill>
                <a:latin typeface="Arial"/>
              </a:rPr>
              <a:t>$54.0bn</a:t>
            </a:r>
            <a:r>
              <a:rPr sz="1400" b="0" i="0">
                <a:solidFill>
                  <a:srgbClr val="F7F6EF"/>
                </a:solidFill>
                <a:latin typeface="Arial"/>
              </a:rPr>
              <a:t>.</a:t>
            </a:r>
          </a:p>
          <a:p>
            <a:pPr marL="238571" indent="-238571">
              <a:lnSpc>
                <a:spcPct val="116000"/>
              </a:lnSpc>
              <a:spcBef>
                <a:spcPts val="770"/>
              </a:spcBef>
              <a:buClr>
                <a:srgbClr val="4EE1FF"/>
              </a:buClr>
              <a:buFont typeface="Arial"/>
              <a:buChar char="—"/>
            </a:pPr>
            <a:r>
              <a:rPr sz="1400" b="0" i="0">
                <a:solidFill>
                  <a:srgbClr val="F7F6EF"/>
                </a:solidFill>
                <a:latin typeface="Arial"/>
              </a:rPr>
              <a:t>Excluded on purpose: Europe, Latin America, every science-audience bloc. Followers and visits are not people.</a:t>
            </a:r>
          </a:p>
        </p:txBody>
      </p:sp>
      <p:graphicFrame>
        <p:nvGraphicFramePr>
          <p:cNvPr id="8" name="Table 7"/>
          <p:cNvGraphicFramePr>
            <a:graphicFrameLocks noGrp="1"/>
          </p:cNvGraphicFramePr>
          <p:nvPr/>
        </p:nvGraphicFramePr>
        <p:xfrm>
          <a:off x="566928" y="3013964"/>
          <a:ext cx="11057837" cy="2304285"/>
        </p:xfrm>
        <a:graphic>
          <a:graphicData uri="http://schemas.openxmlformats.org/drawingml/2006/table">
            <a:tbl>
              <a:tblPr>
                <a:tableStyleId>{2D5ABB26-0587-4C30-8999-92F81FD0307C}</a:tableStyleId>
              </a:tblPr>
              <a:tblGrid>
                <a:gridCol w="2217067"/>
                <a:gridCol w="2972645"/>
                <a:gridCol w="1608535"/>
                <a:gridCol w="1810017"/>
                <a:gridCol w="2449573"/>
              </a:tblGrid>
              <a:tr h="460857">
                <a:tc>
                  <a:txBody>
                    <a:bodyPr wrap="square"/>
                    <a:lstStyle/>
                    <a:p>
                      <a:pPr>
                        <a:lnSpc>
                          <a:spcPct val="114000"/>
                        </a:lnSpc>
                      </a:pPr>
                      <a:r>
                        <a:rPr sz="1200" b="1" i="0">
                          <a:solidFill>
                            <a:srgbClr val="D4FF3A"/>
                          </a:solidFill>
                          <a:latin typeface="Arial"/>
                        </a:rPr>
                        <a:t>Layer</a:t>
                      </a:r>
                    </a:p>
                  </a:txBody>
                  <a:tcPr marL="64008" marR="64008" marT="41148" marB="41148" anchor="ctr">
                    <a:solidFill>
                      <a:srgbClr val="121821"/>
                    </a:solidFill>
                  </a:tcPr>
                </a:tc>
                <a:tc>
                  <a:txBody>
                    <a:bodyPr wrap="square"/>
                    <a:lstStyle/>
                    <a:p>
                      <a:pPr>
                        <a:lnSpc>
                          <a:spcPct val="114000"/>
                        </a:lnSpc>
                      </a:pPr>
                      <a:r>
                        <a:rPr sz="1200" b="1" i="0">
                          <a:solidFill>
                            <a:srgbClr val="D4FF3A"/>
                          </a:solidFill>
                          <a:latin typeface="Arial"/>
                        </a:rPr>
                        <a:t>Population</a:t>
                      </a:r>
                    </a:p>
                  </a:txBody>
                  <a:tcPr marL="64008" marR="64008" marT="41148" marB="41148" anchor="ctr">
                    <a:solidFill>
                      <a:srgbClr val="121821"/>
                    </a:solidFill>
                  </a:tcPr>
                </a:tc>
                <a:tc>
                  <a:txBody>
                    <a:bodyPr wrap="square"/>
                    <a:lstStyle/>
                    <a:p>
                      <a:pPr>
                        <a:lnSpc>
                          <a:spcPct val="114000"/>
                        </a:lnSpc>
                      </a:pPr>
                      <a:r>
                        <a:rPr sz="1200" b="1" i="0">
                          <a:solidFill>
                            <a:srgbClr val="D4FF3A"/>
                          </a:solidFill>
                          <a:latin typeface="Arial"/>
                        </a:rPr>
                        <a:t>x ARPU</a:t>
                      </a:r>
                    </a:p>
                  </a:txBody>
                  <a:tcPr marL="64008" marR="64008" marT="41148" marB="41148" anchor="ctr">
                    <a:solidFill>
                      <a:srgbClr val="121821"/>
                    </a:solidFill>
                  </a:tcPr>
                </a:tc>
                <a:tc>
                  <a:txBody>
                    <a:bodyPr wrap="square"/>
                    <a:lstStyle/>
                    <a:p>
                      <a:pPr>
                        <a:lnSpc>
                          <a:spcPct val="114000"/>
                        </a:lnSpc>
                      </a:pPr>
                      <a:r>
                        <a:rPr sz="1200" b="1" i="0">
                          <a:solidFill>
                            <a:srgbClr val="D4FF3A"/>
                          </a:solidFill>
                          <a:latin typeface="Arial"/>
                        </a:rPr>
                        <a:t>Result</a:t>
                      </a:r>
                    </a:p>
                  </a:txBody>
                  <a:tcPr marL="64008" marR="64008" marT="41148" marB="41148" anchor="ctr">
                    <a:solidFill>
                      <a:srgbClr val="121821"/>
                    </a:solidFill>
                  </a:tcPr>
                </a:tc>
                <a:tc>
                  <a:txBody>
                    <a:bodyPr wrap="square"/>
                    <a:lstStyle/>
                    <a:p>
                      <a:pPr>
                        <a:lnSpc>
                          <a:spcPct val="114000"/>
                        </a:lnSpc>
                      </a:pPr>
                      <a:r>
                        <a:rPr sz="1200" b="1" i="0">
                          <a:solidFill>
                            <a:srgbClr val="D4FF3A"/>
                          </a:solidFill>
                          <a:latin typeface="Arial"/>
                        </a:rPr>
                        <a:t>Source of population</a:t>
                      </a:r>
                    </a:p>
                  </a:txBody>
                  <a:tcPr marL="64008" marR="64008" marT="41148" marB="41148" anchor="ctr">
                    <a:solidFill>
                      <a:srgbClr val="121821"/>
                    </a:solidFill>
                  </a:tcPr>
                </a:tc>
              </a:tr>
              <a:tr h="460857">
                <a:tc>
                  <a:txBody>
                    <a:bodyPr wrap="square"/>
                    <a:lstStyle/>
                    <a:p>
                      <a:pPr>
                        <a:lnSpc>
                          <a:spcPct val="114000"/>
                        </a:lnSpc>
                      </a:pPr>
                      <a:r>
                        <a:rPr sz="1200" b="1" i="0">
                          <a:solidFill>
                            <a:srgbClr val="F7F6EF"/>
                          </a:solidFill>
                          <a:latin typeface="Arial"/>
                        </a:rPr>
                        <a:t>TAM-A (on the slide)</a:t>
                      </a:r>
                    </a:p>
                  </a:txBody>
                  <a:tcPr marL="64008" marR="64008" marT="41148" marB="41148" anchor="ctr">
                    <a:solidFill>
                      <a:srgbClr val="121821"/>
                    </a:solidFill>
                  </a:tcPr>
                </a:tc>
                <a:tc>
                  <a:txBody>
                    <a:bodyPr wrap="square"/>
                    <a:lstStyle/>
                    <a:p>
                      <a:pPr>
                        <a:lnSpc>
                          <a:spcPct val="114000"/>
                        </a:lnSpc>
                      </a:pPr>
                      <a:r>
                        <a:rPr sz="1200" b="0" i="0">
                          <a:solidFill>
                            <a:srgbClr val="F7F6EF"/>
                          </a:solidFill>
                          <a:latin typeface="Arial"/>
                        </a:rPr>
                        <a:t>216.8M US second-screen adults</a:t>
                      </a:r>
                    </a:p>
                  </a:txBody>
                  <a:tcPr marL="64008" marR="64008" marT="41148" marB="41148" anchor="ctr">
                    <a:solidFill>
                      <a:srgbClr val="121821"/>
                    </a:solidFill>
                  </a:tcPr>
                </a:tc>
                <a:tc>
                  <a:txBody>
                    <a:bodyPr wrap="square"/>
                    <a:lstStyle/>
                    <a:p>
                      <a:pPr>
                        <a:lnSpc>
                          <a:spcPct val="114000"/>
                        </a:lnSpc>
                      </a:pPr>
                      <a:r>
                        <a:rPr sz="1200" b="0" i="0">
                          <a:solidFill>
                            <a:srgbClr val="FFC83D"/>
                          </a:solidFill>
                          <a:latin typeface="Arial"/>
                        </a:rPr>
                        <a:t>$7.80 - $13.07</a:t>
                      </a:r>
                    </a:p>
                  </a:txBody>
                  <a:tcPr marL="64008" marR="64008" marT="41148" marB="41148" anchor="ctr">
                    <a:solidFill>
                      <a:srgbClr val="121821"/>
                    </a:solidFill>
                  </a:tcPr>
                </a:tc>
                <a:tc>
                  <a:txBody>
                    <a:bodyPr wrap="square"/>
                    <a:lstStyle/>
                    <a:p>
                      <a:pPr>
                        <a:lnSpc>
                          <a:spcPct val="114000"/>
                        </a:lnSpc>
                      </a:pPr>
                      <a:r>
                        <a:rPr sz="1200" b="0" i="0">
                          <a:solidFill>
                            <a:srgbClr val="FFC83D"/>
                          </a:solidFill>
                          <a:latin typeface="Arial"/>
                        </a:rPr>
                        <a:t>$1.69bn - $2.83bn</a:t>
                      </a:r>
                    </a:p>
                  </a:txBody>
                  <a:tcPr marL="64008" marR="64008" marT="41148" marB="41148" anchor="ctr">
                    <a:solidFill>
                      <a:srgbClr val="121821"/>
                    </a:solidFill>
                  </a:tcPr>
                </a:tc>
                <a:tc>
                  <a:txBody>
                    <a:bodyPr wrap="square"/>
                    <a:lstStyle/>
                    <a:p>
                      <a:pPr>
                        <a:lnSpc>
                          <a:spcPct val="114000"/>
                        </a:lnSpc>
                      </a:pPr>
                      <a:r>
                        <a:rPr sz="1200" b="0" i="0">
                          <a:solidFill>
                            <a:srgbClr val="F7F6EF"/>
                          </a:solidFill>
                          <a:latin typeface="Arial"/>
                        </a:rPr>
                        <a:t>EMARKETER, 2026</a:t>
                      </a:r>
                    </a:p>
                  </a:txBody>
                  <a:tcPr marL="64008" marR="64008" marT="41148" marB="41148" anchor="ctr">
                    <a:solidFill>
                      <a:srgbClr val="121821"/>
                    </a:solidFill>
                  </a:tcPr>
                </a:tc>
              </a:tr>
              <a:tr h="460857">
                <a:tc>
                  <a:txBody>
                    <a:bodyPr wrap="square"/>
                    <a:lstStyle/>
                    <a:p>
                      <a:pPr>
                        <a:lnSpc>
                          <a:spcPct val="114000"/>
                        </a:lnSpc>
                      </a:pPr>
                      <a:r>
                        <a:rPr sz="1200" b="1" i="0">
                          <a:solidFill>
                            <a:srgbClr val="F7F6EF"/>
                          </a:solidFill>
                          <a:latin typeface="Arial"/>
                        </a:rPr>
                        <a:t>SAM</a:t>
                      </a:r>
                    </a:p>
                  </a:txBody>
                  <a:tcPr marL="64008" marR="64008" marT="41148" marB="41148" anchor="ctr">
                    <a:solidFill>
                      <a:srgbClr val="0D131B"/>
                    </a:solidFill>
                  </a:tcPr>
                </a:tc>
                <a:tc>
                  <a:txBody>
                    <a:bodyPr wrap="square"/>
                    <a:lstStyle/>
                    <a:p>
                      <a:pPr>
                        <a:lnSpc>
                          <a:spcPct val="114000"/>
                        </a:lnSpc>
                      </a:pPr>
                      <a:r>
                        <a:rPr sz="1200" b="0" i="0">
                          <a:solidFill>
                            <a:srgbClr val="F7F6EF"/>
                          </a:solidFill>
                          <a:latin typeface="Arial"/>
                        </a:rPr>
                        <a:t>90.3M NA fantasy/betting adults</a:t>
                      </a:r>
                    </a:p>
                  </a:txBody>
                  <a:tcPr marL="64008" marR="64008" marT="41148" marB="41148" anchor="ctr">
                    <a:solidFill>
                      <a:srgbClr val="0D131B"/>
                    </a:solidFill>
                  </a:tcPr>
                </a:tc>
                <a:tc>
                  <a:txBody>
                    <a:bodyPr wrap="square"/>
                    <a:lstStyle/>
                    <a:p>
                      <a:pPr>
                        <a:lnSpc>
                          <a:spcPct val="114000"/>
                        </a:lnSpc>
                      </a:pPr>
                      <a:r>
                        <a:rPr sz="1200" b="0" i="0">
                          <a:solidFill>
                            <a:srgbClr val="FFC83D"/>
                          </a:solidFill>
                          <a:latin typeface="Arial"/>
                        </a:rPr>
                        <a:t>$7.80 - $13.07</a:t>
                      </a:r>
                    </a:p>
                  </a:txBody>
                  <a:tcPr marL="64008" marR="64008" marT="41148" marB="41148" anchor="ctr">
                    <a:solidFill>
                      <a:srgbClr val="0D131B"/>
                    </a:solidFill>
                  </a:tcPr>
                </a:tc>
                <a:tc>
                  <a:txBody>
                    <a:bodyPr wrap="square"/>
                    <a:lstStyle/>
                    <a:p>
                      <a:pPr>
                        <a:lnSpc>
                          <a:spcPct val="114000"/>
                        </a:lnSpc>
                      </a:pPr>
                      <a:r>
                        <a:rPr sz="1200" b="0" i="0">
                          <a:solidFill>
                            <a:srgbClr val="FFC83D"/>
                          </a:solidFill>
                          <a:latin typeface="Arial"/>
                        </a:rPr>
                        <a:t>$704M - $1.18bn</a:t>
                      </a:r>
                    </a:p>
                  </a:txBody>
                  <a:tcPr marL="64008" marR="64008" marT="41148" marB="41148" anchor="ctr">
                    <a:solidFill>
                      <a:srgbClr val="0D131B"/>
                    </a:solidFill>
                  </a:tcPr>
                </a:tc>
                <a:tc>
                  <a:txBody>
                    <a:bodyPr wrap="square"/>
                    <a:lstStyle/>
                    <a:p>
                      <a:pPr>
                        <a:lnSpc>
                          <a:spcPct val="114000"/>
                        </a:lnSpc>
                      </a:pPr>
                      <a:r>
                        <a:rPr sz="1200" b="0" i="0">
                          <a:solidFill>
                            <a:srgbClr val="F7F6EF"/>
                          </a:solidFill>
                          <a:latin typeface="Arial"/>
                        </a:rPr>
                        <a:t>FSGA / Angus Reid, 2026</a:t>
                      </a:r>
                    </a:p>
                  </a:txBody>
                  <a:tcPr marL="64008" marR="64008" marT="41148" marB="41148" anchor="ctr">
                    <a:solidFill>
                      <a:srgbClr val="0D131B"/>
                    </a:solidFill>
                  </a:tcPr>
                </a:tc>
              </a:tr>
              <a:tr h="460857">
                <a:tc>
                  <a:txBody>
                    <a:bodyPr wrap="square"/>
                    <a:lstStyle/>
                    <a:p>
                      <a:pPr>
                        <a:lnSpc>
                          <a:spcPct val="114000"/>
                        </a:lnSpc>
                      </a:pPr>
                      <a:r>
                        <a:rPr sz="1200" b="1" i="0">
                          <a:solidFill>
                            <a:srgbClr val="F7F6EF"/>
                          </a:solidFill>
                          <a:latin typeface="Arial"/>
                        </a:rPr>
                        <a:t>SOM (P)</a:t>
                      </a:r>
                    </a:p>
                  </a:txBody>
                  <a:tcPr marL="64008" marR="64008" marT="41148" marB="41148" anchor="ctr">
                    <a:solidFill>
                      <a:srgbClr val="121821"/>
                    </a:solidFill>
                  </a:tcPr>
                </a:tc>
                <a:tc>
                  <a:txBody>
                    <a:bodyPr wrap="square"/>
                    <a:lstStyle/>
                    <a:p>
                      <a:pPr>
                        <a:lnSpc>
                          <a:spcPct val="114000"/>
                        </a:lnSpc>
                      </a:pPr>
                      <a:r>
                        <a:rPr sz="1200" b="0" i="0">
                          <a:solidFill>
                            <a:srgbClr val="F7F6EF"/>
                          </a:solidFill>
                          <a:latin typeface="Arial"/>
                        </a:rPr>
                        <a:t>~106,000 steady-state MAU</a:t>
                      </a:r>
                    </a:p>
                  </a:txBody>
                  <a:tcPr marL="64008" marR="64008" marT="41148" marB="41148" anchor="ctr">
                    <a:solidFill>
                      <a:srgbClr val="121821"/>
                    </a:solidFill>
                  </a:tcPr>
                </a:tc>
                <a:tc>
                  <a:txBody>
                    <a:bodyPr wrap="square"/>
                    <a:lstStyle/>
                    <a:p>
                      <a:pPr>
                        <a:lnSpc>
                          <a:spcPct val="114000"/>
                        </a:lnSpc>
                      </a:pPr>
                      <a:r>
                        <a:rPr sz="1200" b="0" i="0">
                          <a:solidFill>
                            <a:srgbClr val="F7F6EF"/>
                          </a:solidFill>
                          <a:latin typeface="Arial"/>
                        </a:rPr>
                        <a:t>base-case model</a:t>
                      </a:r>
                    </a:p>
                  </a:txBody>
                  <a:tcPr marL="64008" marR="64008" marT="41148" marB="41148" anchor="ctr">
                    <a:solidFill>
                      <a:srgbClr val="121821"/>
                    </a:solidFill>
                  </a:tcPr>
                </a:tc>
                <a:tc>
                  <a:txBody>
                    <a:bodyPr wrap="square"/>
                    <a:lstStyle/>
                    <a:p>
                      <a:pPr>
                        <a:lnSpc>
                          <a:spcPct val="114000"/>
                        </a:lnSpc>
                      </a:pPr>
                      <a:r>
                        <a:rPr sz="1200" b="0" i="0">
                          <a:solidFill>
                            <a:srgbClr val="FFC83D"/>
                          </a:solidFill>
                          <a:latin typeface="Arial"/>
                        </a:rPr>
                        <a:t>$0.4M - $1.6M (P)</a:t>
                      </a:r>
                    </a:p>
                  </a:txBody>
                  <a:tcPr marL="64008" marR="64008" marT="41148" marB="41148" anchor="ctr">
                    <a:solidFill>
                      <a:srgbClr val="121821"/>
                    </a:solidFill>
                  </a:tcPr>
                </a:tc>
                <a:tc>
                  <a:txBody>
                    <a:bodyPr wrap="square"/>
                    <a:lstStyle/>
                    <a:p>
                      <a:pPr>
                        <a:lnSpc>
                          <a:spcPct val="114000"/>
                        </a:lnSpc>
                      </a:pPr>
                      <a:r>
                        <a:rPr sz="1200" b="0" i="0">
                          <a:solidFill>
                            <a:srgbClr val="F7F6EF"/>
                          </a:solidFill>
                          <a:latin typeface="Arial"/>
                        </a:rPr>
                        <a:t>Chosen Year-3 plan target</a:t>
                      </a:r>
                    </a:p>
                  </a:txBody>
                  <a:tcPr marL="64008" marR="64008" marT="41148" marB="41148" anchor="ctr">
                    <a:solidFill>
                      <a:srgbClr val="121821"/>
                    </a:solidFill>
                  </a:tcPr>
                </a:tc>
              </a:tr>
              <a:tr h="460857">
                <a:tc>
                  <a:txBody>
                    <a:bodyPr wrap="square"/>
                    <a:lstStyle/>
                    <a:p>
                      <a:pPr>
                        <a:lnSpc>
                          <a:spcPct val="114000"/>
                        </a:lnSpc>
                      </a:pPr>
                      <a:r>
                        <a:rPr sz="1200" b="1" i="0">
                          <a:solidFill>
                            <a:srgbClr val="F7F6EF"/>
                          </a:solidFill>
                          <a:latin typeface="Arial"/>
                        </a:rPr>
                        <a:t>TAM-B (appendix only)</a:t>
                      </a:r>
                    </a:p>
                  </a:txBody>
                  <a:tcPr marL="64008" marR="64008" marT="41148" marB="41148" anchor="ctr">
                    <a:solidFill>
                      <a:srgbClr val="0D131B"/>
                    </a:solidFill>
                  </a:tcPr>
                </a:tc>
                <a:tc>
                  <a:txBody>
                    <a:bodyPr wrap="square"/>
                    <a:lstStyle/>
                    <a:p>
                      <a:pPr>
                        <a:lnSpc>
                          <a:spcPct val="114000"/>
                        </a:lnSpc>
                      </a:pPr>
                      <a:r>
                        <a:rPr sz="1200" b="0" i="0">
                          <a:solidFill>
                            <a:srgbClr val="F7F6EF"/>
                          </a:solidFill>
                          <a:latin typeface="Arial"/>
                        </a:rPr>
                        <a:t>1,216.8M incl. cricket bloc</a:t>
                      </a:r>
                    </a:p>
                  </a:txBody>
                  <a:tcPr marL="64008" marR="64008" marT="41148" marB="41148" anchor="ctr">
                    <a:solidFill>
                      <a:srgbClr val="0D131B"/>
                    </a:solidFill>
                  </a:tcPr>
                </a:tc>
                <a:tc>
                  <a:txBody>
                    <a:bodyPr wrap="square"/>
                    <a:lstStyle/>
                    <a:p>
                      <a:pPr>
                        <a:lnSpc>
                          <a:spcPct val="114000"/>
                        </a:lnSpc>
                      </a:pPr>
                      <a:r>
                        <a:rPr sz="1200" b="0" i="0">
                          <a:solidFill>
                            <a:srgbClr val="FFC83D"/>
                          </a:solidFill>
                          <a:latin typeface="Arial"/>
                        </a:rPr>
                        <a:t>$7.80 - $13.07</a:t>
                      </a:r>
                    </a:p>
                  </a:txBody>
                  <a:tcPr marL="64008" marR="64008" marT="41148" marB="41148" anchor="ctr">
                    <a:solidFill>
                      <a:srgbClr val="0D131B"/>
                    </a:solidFill>
                  </a:tcPr>
                </a:tc>
                <a:tc>
                  <a:txBody>
                    <a:bodyPr wrap="square"/>
                    <a:lstStyle/>
                    <a:p>
                      <a:pPr>
                        <a:lnSpc>
                          <a:spcPct val="114000"/>
                        </a:lnSpc>
                      </a:pPr>
                      <a:r>
                        <a:rPr sz="1200" b="0" i="0">
                          <a:solidFill>
                            <a:srgbClr val="FFC83D"/>
                          </a:solidFill>
                          <a:latin typeface="Arial"/>
                        </a:rPr>
                        <a:t>$9.49bn - $15.90bn</a:t>
                      </a:r>
                    </a:p>
                  </a:txBody>
                  <a:tcPr marL="64008" marR="64008" marT="41148" marB="41148" anchor="ctr">
                    <a:solidFill>
                      <a:srgbClr val="0D131B"/>
                    </a:solidFill>
                  </a:tcPr>
                </a:tc>
                <a:tc>
                  <a:txBody>
                    <a:bodyPr wrap="square"/>
                    <a:lstStyle/>
                    <a:p>
                      <a:pPr>
                        <a:lnSpc>
                          <a:spcPct val="114000"/>
                        </a:lnSpc>
                      </a:pPr>
                      <a:r>
                        <a:rPr sz="1200" b="0" i="0">
                          <a:solidFill>
                            <a:srgbClr val="F7F6EF"/>
                          </a:solidFill>
                          <a:latin typeface="Arial"/>
                        </a:rPr>
                        <a:t>ICC, 1bn+ fans aged 16-69</a:t>
                      </a:r>
                    </a:p>
                  </a:txBody>
                  <a:tcPr marL="64008" marR="64008" marT="41148" marB="41148" anchor="ctr">
                    <a:solidFill>
                      <a:srgbClr val="0D131B"/>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0E14"/>
        </a:solidFill>
        <a:effectLst/>
      </p:bgPr>
    </p:bg>
    <p:spTree>
      <p:nvGrpSpPr>
        <p:cNvPr id="1" name=""/>
        <p:cNvGrpSpPr/>
        <p:nvPr/>
      </p:nvGrpSpPr>
      <p:grpSpPr/>
      <p:sp>
        <p:nvSpPr>
          <p:cNvPr id="2" name="Title 1"/>
          <p:cNvSpPr>
            <a:spLocks noGrp="1"/>
          </p:cNvSpPr>
          <p:nvPr>
            <p:ph type="title"/>
          </p:nvPr>
        </p:nvSpPr>
        <p:spPr>
          <a:xfrm>
            <a:off x="566928" y="658368"/>
            <a:ext cx="11057839" cy="859536"/>
          </a:xfrm>
        </p:spPr>
        <p:txBody>
          <a:bodyPr wrap="square" lIns="0" rIns="0" tIns="0" bIns="0" anchor="t"/>
          <a:lstStyle/>
          <a:p>
            <a:pPr>
              <a:lnSpc>
                <a:spcPct val="108000"/>
              </a:lnSpc>
            </a:pPr>
            <a:r>
              <a:rPr sz="3000" b="1" i="0">
                <a:solidFill>
                  <a:srgbClr val="F7F6EF"/>
                </a:solidFill>
                <a:latin typeface="Arial"/>
              </a:rPr>
              <a:t>The graveyard in full, with capital raised and what it ended up worth.</a:t>
            </a:r>
          </a:p>
        </p:txBody>
      </p:sp>
      <p:sp>
        <p:nvSpPr>
          <p:cNvPr id="3" name="TextBox 2"/>
          <p:cNvSpPr txBox="1"/>
          <p:nvPr/>
        </p:nvSpPr>
        <p:spPr>
          <a:xfrm>
            <a:off x="566928" y="365760"/>
            <a:ext cx="11057839" cy="219456"/>
          </a:xfrm>
          <a:prstGeom prst="rect">
            <a:avLst/>
          </a:prstGeom>
          <a:noFill/>
        </p:spPr>
        <p:txBody>
          <a:bodyPr wrap="square" lIns="0" rIns="0" tIns="0" bIns="0" anchor="t">
            <a:spAutoFit/>
          </a:bodyPr>
          <a:lstStyle/>
          <a:p>
            <a:r>
              <a:rPr sz="1100" b="1" i="0" spc="160">
                <a:solidFill>
                  <a:srgbClr val="4EE1FF"/>
                </a:solidFill>
                <a:latin typeface="Arial"/>
              </a:rPr>
              <a:t>APPENDIX — WHAT HAPPENED BEFORE</a:t>
            </a:r>
          </a:p>
        </p:txBody>
      </p:sp>
      <p:sp>
        <p:nvSpPr>
          <p:cNvPr id="4" name="Rectangle 3"/>
          <p:cNvSpPr/>
          <p:nvPr/>
        </p:nvSpPr>
        <p:spPr>
          <a:xfrm>
            <a:off x="566928" y="6035040"/>
            <a:ext cx="11057839" cy="11887"/>
          </a:xfrm>
          <a:prstGeom prst="rect">
            <a:avLst/>
          </a:prstGeom>
          <a:solidFill>
            <a:srgbClr val="4EE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664647" y="6144768"/>
            <a:ext cx="960120" cy="274320"/>
          </a:xfrm>
          <a:prstGeom prst="rect">
            <a:avLst/>
          </a:prstGeom>
          <a:noFill/>
        </p:spPr>
        <p:txBody>
          <a:bodyPr wrap="square" lIns="0" rIns="0" tIns="0" bIns="0" anchor="t">
            <a:spAutoFit/>
          </a:bodyPr>
          <a:lstStyle/>
          <a:p>
            <a:pPr algn="r"/>
            <a:r>
              <a:rPr sz="950" b="1" i="0" spc="60">
                <a:solidFill>
                  <a:srgbClr val="A6ADBA"/>
                </a:solidFill>
                <a:latin typeface="Arial"/>
              </a:rPr>
              <a:t>17</a:t>
            </a:r>
          </a:p>
        </p:txBody>
      </p:sp>
      <p:sp>
        <p:nvSpPr>
          <p:cNvPr id="6" name="TextBox 5"/>
          <p:cNvSpPr txBox="1"/>
          <p:nvPr/>
        </p:nvSpPr>
        <p:spPr>
          <a:xfrm>
            <a:off x="566928" y="6144768"/>
            <a:ext cx="9869119" cy="548640"/>
          </a:xfrm>
          <a:prstGeom prst="rect">
            <a:avLst/>
          </a:prstGeom>
          <a:noFill/>
        </p:spPr>
        <p:txBody>
          <a:bodyPr wrap="square" lIns="0" rIns="0" tIns="0" bIns="0" anchor="t">
            <a:spAutoFit/>
          </a:bodyPr>
          <a:lstStyle/>
          <a:p>
            <a:pPr>
              <a:lnSpc>
                <a:spcPct val="115000"/>
              </a:lnSpc>
            </a:pPr>
            <a:r>
              <a:rPr sz="800" b="0" i="0">
                <a:solidFill>
                  <a:srgbClr val="A6ADBA"/>
                </a:solidFill>
                <a:latin typeface="Arial"/>
              </a:rPr>
              <a:t>Sources: TechCrunch — HQ Trivia shuts down  ·  SEC Form D — HQ Trivia  ·  SEC 10-K — Glu Mobile FY2016 (QuizUp mark)  ·  SEC 8-K — Glu Mobile / QuizUp acquisition</a:t>
            </a:r>
          </a:p>
          <a:p>
            <a:pPr>
              <a:lnSpc>
                <a:spcPct val="115000"/>
              </a:lnSpc>
            </a:pPr>
            <a:r>
              <a:rPr sz="800" b="0" i="0">
                <a:solidFill>
                  <a:srgbClr val="A6ADBA"/>
                </a:solidFill>
                <a:latin typeface="Arial"/>
              </a:rPr>
              <a:t>TechCrunch — Trivia Royale, 2.5M downloads in 3 weeks  ·  SEC Form D — Teatime Games (Trivia Royale)  ·  SEC 8-K — Skillz FY2022 results (FY2021 peak)  ·  SEC 8-K — Skillz FY2025 results</a:t>
            </a:r>
          </a:p>
        </p:txBody>
      </p:sp>
      <p:sp>
        <p:nvSpPr>
          <p:cNvPr id="7" name="TextBox 6"/>
          <p:cNvSpPr txBox="1"/>
          <p:nvPr/>
        </p:nvSpPr>
        <p:spPr>
          <a:xfrm>
            <a:off x="566928" y="1719072"/>
            <a:ext cx="11057839" cy="1057148"/>
          </a:xfrm>
          <a:prstGeom prst="rect">
            <a:avLst/>
          </a:prstGeom>
          <a:noFill/>
        </p:spPr>
        <p:txBody>
          <a:bodyPr wrap="square" lIns="0" rIns="0" tIns="0" bIns="0" anchor="t">
            <a:spAutoFit/>
          </a:bodyPr>
          <a:lstStyle/>
          <a:p>
            <a:pPr marL="238571" indent="-238571">
              <a:lnSpc>
                <a:spcPct val="116000"/>
              </a:lnSpc>
              <a:buClr>
                <a:srgbClr val="4EE1FF"/>
              </a:buClr>
              <a:buFont typeface="Arial"/>
              <a:buChar char="—"/>
            </a:pPr>
            <a:r>
              <a:rPr sz="1400" b="0" i="0">
                <a:solidFill>
                  <a:srgbClr val="F7F6EF"/>
                </a:solidFill>
                <a:latin typeface="Arial"/>
              </a:rPr>
              <a:t>Every row is from a filing or contemporaneous reporting. No estimate in this table is ours.</a:t>
            </a:r>
          </a:p>
          <a:p>
            <a:pPr marL="238571" indent="-238571">
              <a:lnSpc>
                <a:spcPct val="116000"/>
              </a:lnSpc>
              <a:spcBef>
                <a:spcPts val="770"/>
              </a:spcBef>
              <a:buClr>
                <a:srgbClr val="4EE1FF"/>
              </a:buClr>
              <a:buFont typeface="Arial"/>
              <a:buChar char="—"/>
            </a:pPr>
            <a:r>
              <a:rPr sz="1400" b="0" i="0">
                <a:solidFill>
                  <a:srgbClr val="F7F6EF"/>
                </a:solidFill>
                <a:latin typeface="Arial"/>
              </a:rPr>
              <a:t>The pattern: large audiences, cheap acquisition, no durable day-30 behaviour and no working price.</a:t>
            </a:r>
          </a:p>
          <a:p>
            <a:pPr marL="238571" indent="-238571">
              <a:lnSpc>
                <a:spcPct val="116000"/>
              </a:lnSpc>
              <a:spcBef>
                <a:spcPts val="770"/>
              </a:spcBef>
              <a:buClr>
                <a:srgbClr val="4EE1FF"/>
              </a:buClr>
              <a:buFont typeface="Arial"/>
              <a:buChar char="—"/>
            </a:pPr>
            <a:r>
              <a:rPr sz="1400" b="0" i="0">
                <a:solidFill>
                  <a:srgbClr val="F7F6EF"/>
                </a:solidFill>
                <a:latin typeface="Arial"/>
              </a:rPr>
              <a:t>QuizUp's </a:t>
            </a:r>
            <a:r>
              <a:rPr sz="1400" b="0" i="0">
                <a:solidFill>
                  <a:srgbClr val="FFC83D"/>
                </a:solidFill>
                <a:latin typeface="Arial"/>
              </a:rPr>
              <a:t>$3.2M</a:t>
            </a:r>
            <a:r>
              <a:rPr sz="1400" b="0" i="0">
                <a:solidFill>
                  <a:srgbClr val="F7F6EF"/>
                </a:solidFill>
                <a:latin typeface="Arial"/>
              </a:rPr>
              <a:t> fair-value mark is the honest ceiling for a large unmonetised trivia audience. Skillz is the live adjacent case: the money is real, and so is the churn.</a:t>
            </a:r>
          </a:p>
        </p:txBody>
      </p:sp>
      <p:graphicFrame>
        <p:nvGraphicFramePr>
          <p:cNvPr id="8" name="Table 7"/>
          <p:cNvGraphicFramePr>
            <a:graphicFrameLocks noGrp="1"/>
          </p:cNvGraphicFramePr>
          <p:nvPr/>
        </p:nvGraphicFramePr>
        <p:xfrm>
          <a:off x="566928" y="3013964"/>
          <a:ext cx="11057837" cy="2893058"/>
        </p:xfrm>
        <a:graphic>
          <a:graphicData uri="http://schemas.openxmlformats.org/drawingml/2006/table">
            <a:tbl>
              <a:tblPr>
                <a:tableStyleId>{2D5ABB26-0587-4C30-8999-92F81FD0307C}</a:tableStyleId>
              </a:tblPr>
              <a:tblGrid>
                <a:gridCol w="1510784"/>
                <a:gridCol w="3123091"/>
                <a:gridCol w="2796676"/>
                <a:gridCol w="3627286"/>
              </a:tblGrid>
              <a:tr h="375026">
                <a:tc>
                  <a:txBody>
                    <a:bodyPr wrap="square"/>
                    <a:lstStyle/>
                    <a:p>
                      <a:pPr>
                        <a:lnSpc>
                          <a:spcPct val="114000"/>
                        </a:lnSpc>
                      </a:pPr>
                      <a:r>
                        <a:rPr sz="1200" b="1" i="0">
                          <a:solidFill>
                            <a:srgbClr val="D4FF3A"/>
                          </a:solidFill>
                          <a:latin typeface="Arial"/>
                        </a:rPr>
                        <a:t>Product</a:t>
                      </a:r>
                    </a:p>
                  </a:txBody>
                  <a:tcPr marL="64008" marR="64008" marT="41148" marB="41148" anchor="ctr">
                    <a:solidFill>
                      <a:srgbClr val="121821"/>
                    </a:solidFill>
                  </a:tcPr>
                </a:tc>
                <a:tc>
                  <a:txBody>
                    <a:bodyPr wrap="square"/>
                    <a:lstStyle/>
                    <a:p>
                      <a:pPr>
                        <a:lnSpc>
                          <a:spcPct val="114000"/>
                        </a:lnSpc>
                      </a:pPr>
                      <a:r>
                        <a:rPr sz="1200" b="1" i="0">
                          <a:solidFill>
                            <a:srgbClr val="D4FF3A"/>
                          </a:solidFill>
                          <a:latin typeface="Arial"/>
                        </a:rPr>
                        <a:t>Peak</a:t>
                      </a:r>
                    </a:p>
                  </a:txBody>
                  <a:tcPr marL="64008" marR="64008" marT="41148" marB="41148" anchor="ctr">
                    <a:solidFill>
                      <a:srgbClr val="121821"/>
                    </a:solidFill>
                  </a:tcPr>
                </a:tc>
                <a:tc>
                  <a:txBody>
                    <a:bodyPr wrap="square"/>
                    <a:lstStyle/>
                    <a:p>
                      <a:pPr>
                        <a:lnSpc>
                          <a:spcPct val="114000"/>
                        </a:lnSpc>
                      </a:pPr>
                      <a:r>
                        <a:rPr sz="1200" b="1" i="0">
                          <a:solidFill>
                            <a:srgbClr val="D4FF3A"/>
                          </a:solidFill>
                          <a:latin typeface="Arial"/>
                        </a:rPr>
                        <a:t>Capital</a:t>
                      </a:r>
                    </a:p>
                  </a:txBody>
                  <a:tcPr marL="64008" marR="64008" marT="41148" marB="41148" anchor="ctr">
                    <a:solidFill>
                      <a:srgbClr val="121821"/>
                    </a:solidFill>
                  </a:tcPr>
                </a:tc>
                <a:tc>
                  <a:txBody>
                    <a:bodyPr wrap="square"/>
                    <a:lstStyle/>
                    <a:p>
                      <a:pPr>
                        <a:lnSpc>
                          <a:spcPct val="114000"/>
                        </a:lnSpc>
                      </a:pPr>
                      <a:r>
                        <a:rPr sz="1200" b="1" i="0">
                          <a:solidFill>
                            <a:srgbClr val="D4FF3A"/>
                          </a:solidFill>
                          <a:latin typeface="Arial"/>
                        </a:rPr>
                        <a:t>Ending</a:t>
                      </a:r>
                    </a:p>
                  </a:txBody>
                  <a:tcPr marL="64008" marR="64008" marT="41148" marB="41148" anchor="ctr">
                    <a:solidFill>
                      <a:srgbClr val="121821"/>
                    </a:solidFill>
                  </a:tcPr>
                </a:tc>
              </a:tr>
              <a:tr h="629508">
                <a:tc>
                  <a:txBody>
                    <a:bodyPr wrap="square"/>
                    <a:lstStyle/>
                    <a:p>
                      <a:pPr>
                        <a:lnSpc>
                          <a:spcPct val="114000"/>
                        </a:lnSpc>
                      </a:pPr>
                      <a:r>
                        <a:rPr sz="1200" b="1" i="0">
                          <a:solidFill>
                            <a:srgbClr val="F7F6EF"/>
                          </a:solidFill>
                          <a:latin typeface="Arial"/>
                        </a:rPr>
                        <a:t>HQ Trivia</a:t>
                      </a:r>
                    </a:p>
                  </a:txBody>
                  <a:tcPr marL="64008" marR="64008" marT="41148" marB="41148" anchor="ctr">
                    <a:solidFill>
                      <a:srgbClr val="121821"/>
                    </a:solidFill>
                  </a:tcPr>
                </a:tc>
                <a:tc>
                  <a:txBody>
                    <a:bodyPr wrap="square"/>
                    <a:lstStyle/>
                    <a:p>
                      <a:pPr>
                        <a:lnSpc>
                          <a:spcPct val="114000"/>
                        </a:lnSpc>
                      </a:pPr>
                      <a:r>
                        <a:rPr sz="1200" b="0" i="0">
                          <a:solidFill>
                            <a:srgbClr val="F7F6EF"/>
                          </a:solidFill>
                          <a:latin typeface="Arial"/>
                        </a:rPr>
                        <a:t>2.38M concurrent players, 28 Mar 2018</a:t>
                      </a:r>
                    </a:p>
                  </a:txBody>
                  <a:tcPr marL="64008" marR="64008" marT="41148" marB="41148" anchor="ctr">
                    <a:solidFill>
                      <a:srgbClr val="121821"/>
                    </a:solidFill>
                  </a:tcPr>
                </a:tc>
                <a:tc>
                  <a:txBody>
                    <a:bodyPr wrap="square"/>
                    <a:lstStyle/>
                    <a:p>
                      <a:pPr>
                        <a:lnSpc>
                          <a:spcPct val="114000"/>
                        </a:lnSpc>
                      </a:pPr>
                      <a:r>
                        <a:rPr sz="1200" b="0" i="0">
                          <a:solidFill>
                            <a:srgbClr val="FFC83D"/>
                          </a:solidFill>
                          <a:latin typeface="Arial"/>
                        </a:rPr>
                        <a:t>$12,539,999 sold of $15,000,001 offered</a:t>
                      </a:r>
                    </a:p>
                  </a:txBody>
                  <a:tcPr marL="64008" marR="64008" marT="41148" marB="41148" anchor="ctr">
                    <a:solidFill>
                      <a:srgbClr val="121821"/>
                    </a:solidFill>
                  </a:tcPr>
                </a:tc>
                <a:tc>
                  <a:txBody>
                    <a:bodyPr wrap="square"/>
                    <a:lstStyle/>
                    <a:p>
                      <a:pPr>
                        <a:lnSpc>
                          <a:spcPct val="114000"/>
                        </a:lnSpc>
                      </a:pPr>
                      <a:r>
                        <a:rPr sz="1200" b="0" i="0">
                          <a:solidFill>
                            <a:srgbClr val="F7F6EF"/>
                          </a:solidFill>
                          <a:latin typeface="Arial"/>
                        </a:rPr>
                        <a:t>67,000 installs in Jan 2020; shut 14 Feb 2020, 25 staff</a:t>
                      </a:r>
                    </a:p>
                  </a:txBody>
                  <a:tcPr marL="64008" marR="64008" marT="41148" marB="41148" anchor="ctr">
                    <a:solidFill>
                      <a:srgbClr val="121821"/>
                    </a:solidFill>
                  </a:tcPr>
                </a:tc>
              </a:tr>
              <a:tr h="629508">
                <a:tc>
                  <a:txBody>
                    <a:bodyPr wrap="square"/>
                    <a:lstStyle/>
                    <a:p>
                      <a:pPr>
                        <a:lnSpc>
                          <a:spcPct val="114000"/>
                        </a:lnSpc>
                      </a:pPr>
                      <a:r>
                        <a:rPr sz="1200" b="1" i="0">
                          <a:solidFill>
                            <a:srgbClr val="F7F6EF"/>
                          </a:solidFill>
                          <a:latin typeface="Arial"/>
                        </a:rPr>
                        <a:t>QuizUp</a:t>
                      </a:r>
                    </a:p>
                  </a:txBody>
                  <a:tcPr marL="64008" marR="64008" marT="41148" marB="41148" anchor="ctr">
                    <a:solidFill>
                      <a:srgbClr val="0D131B"/>
                    </a:solidFill>
                  </a:tcPr>
                </a:tc>
                <a:tc>
                  <a:txBody>
                    <a:bodyPr wrap="square"/>
                    <a:lstStyle/>
                    <a:p>
                      <a:pPr>
                        <a:lnSpc>
                          <a:spcPct val="114000"/>
                        </a:lnSpc>
                      </a:pPr>
                      <a:r>
                        <a:rPr sz="1200" b="0" i="0">
                          <a:solidFill>
                            <a:srgbClr val="F7F6EF"/>
                          </a:solidFill>
                          <a:latin typeface="Arial"/>
                        </a:rPr>
                        <a:t>~20M users claimed 19 May 2014; 1bn+ matches</a:t>
                      </a:r>
                    </a:p>
                  </a:txBody>
                  <a:tcPr marL="64008" marR="64008" marT="41148" marB="41148" anchor="ctr">
                    <a:solidFill>
                      <a:srgbClr val="0D131B"/>
                    </a:solidFill>
                  </a:tcPr>
                </a:tc>
                <a:tc>
                  <a:txBody>
                    <a:bodyPr wrap="square"/>
                    <a:lstStyle/>
                    <a:p>
                      <a:pPr>
                        <a:lnSpc>
                          <a:spcPct val="114000"/>
                        </a:lnSpc>
                      </a:pPr>
                      <a:r>
                        <a:rPr sz="1200" b="0" i="0">
                          <a:solidFill>
                            <a:srgbClr val="F7F6EF"/>
                          </a:solidFill>
                          <a:latin typeface="Arial"/>
                        </a:rPr>
                        <a:t>~$32.4M equity per SEC Form Ds</a:t>
                      </a:r>
                    </a:p>
                  </a:txBody>
                  <a:tcPr marL="64008" marR="64008" marT="41148" marB="41148" anchor="ctr">
                    <a:solidFill>
                      <a:srgbClr val="0D131B"/>
                    </a:solidFill>
                  </a:tcPr>
                </a:tc>
                <a:tc>
                  <a:txBody>
                    <a:bodyPr wrap="square"/>
                    <a:lstStyle/>
                    <a:p>
                      <a:pPr>
                        <a:lnSpc>
                          <a:spcPct val="114000"/>
                        </a:lnSpc>
                      </a:pPr>
                      <a:r>
                        <a:rPr sz="1200" b="0" i="0">
                          <a:solidFill>
                            <a:srgbClr val="F7F6EF"/>
                          </a:solidFill>
                          <a:latin typeface="Arial"/>
                        </a:rPr>
                        <a:t>Sold to Glu for $7.5M of cancelled notes, booked at $3.2M</a:t>
                      </a:r>
                    </a:p>
                  </a:txBody>
                  <a:tcPr marL="64008" marR="64008" marT="41148" marB="41148" anchor="ctr">
                    <a:solidFill>
                      <a:srgbClr val="0D131B"/>
                    </a:solidFill>
                  </a:tcPr>
                </a:tc>
              </a:tr>
              <a:tr h="629508">
                <a:tc>
                  <a:txBody>
                    <a:bodyPr wrap="square"/>
                    <a:lstStyle/>
                    <a:p>
                      <a:pPr>
                        <a:lnSpc>
                          <a:spcPct val="114000"/>
                        </a:lnSpc>
                      </a:pPr>
                      <a:r>
                        <a:rPr sz="1200" b="1" i="0">
                          <a:solidFill>
                            <a:srgbClr val="F7F6EF"/>
                          </a:solidFill>
                          <a:latin typeface="Arial"/>
                        </a:rPr>
                        <a:t>Trivia Royale</a:t>
                      </a:r>
                    </a:p>
                  </a:txBody>
                  <a:tcPr marL="64008" marR="64008" marT="41148" marB="41148" anchor="ctr">
                    <a:solidFill>
                      <a:srgbClr val="121821"/>
                    </a:solidFill>
                  </a:tcPr>
                </a:tc>
                <a:tc>
                  <a:txBody>
                    <a:bodyPr wrap="square"/>
                    <a:lstStyle/>
                    <a:p>
                      <a:pPr>
                        <a:lnSpc>
                          <a:spcPct val="114000"/>
                        </a:lnSpc>
                      </a:pPr>
                      <a:r>
                        <a:rPr sz="1200" b="0" i="0">
                          <a:solidFill>
                            <a:srgbClr val="F7F6EF"/>
                          </a:solidFill>
                          <a:latin typeface="Arial"/>
                        </a:rPr>
                        <a:t>2.5M downloads in ~3 weeks; 45% D1 iOS</a:t>
                      </a:r>
                    </a:p>
                  </a:txBody>
                  <a:tcPr marL="64008" marR="64008" marT="41148" marB="41148" anchor="ctr">
                    <a:solidFill>
                      <a:srgbClr val="121821"/>
                    </a:solidFill>
                  </a:tcPr>
                </a:tc>
                <a:tc>
                  <a:txBody>
                    <a:bodyPr wrap="square"/>
                    <a:lstStyle/>
                    <a:p>
                      <a:pPr>
                        <a:lnSpc>
                          <a:spcPct val="114000"/>
                        </a:lnSpc>
                      </a:pPr>
                      <a:r>
                        <a:rPr sz="1200" b="0" i="0">
                          <a:solidFill>
                            <a:srgbClr val="FFC83D"/>
                          </a:solidFill>
                          <a:latin typeface="Arial"/>
                        </a:rPr>
                        <a:t>$9,155,139 + $1,499,913 per SEC Form Ds</a:t>
                      </a:r>
                    </a:p>
                  </a:txBody>
                  <a:tcPr marL="64008" marR="64008" marT="41148" marB="41148" anchor="ctr">
                    <a:solidFill>
                      <a:srgbClr val="121821"/>
                    </a:solidFill>
                  </a:tcPr>
                </a:tc>
                <a:tc>
                  <a:txBody>
                    <a:bodyPr wrap="square"/>
                    <a:lstStyle/>
                    <a:p>
                      <a:pPr>
                        <a:lnSpc>
                          <a:spcPct val="114000"/>
                        </a:lnSpc>
                      </a:pPr>
                      <a:r>
                        <a:rPr sz="1200" b="0" i="0">
                          <a:solidFill>
                            <a:srgbClr val="F7F6EF"/>
                          </a:solidFill>
                          <a:latin typeface="Arial"/>
                        </a:rPr>
                        <a:t>Closed 23 Feb 2021, eight months after launch, 16 staff</a:t>
                      </a:r>
                    </a:p>
                  </a:txBody>
                  <a:tcPr marL="64008" marR="64008" marT="41148" marB="41148" anchor="ctr">
                    <a:solidFill>
                      <a:srgbClr val="121821"/>
                    </a:solidFill>
                  </a:tcPr>
                </a:tc>
              </a:tr>
              <a:tr h="629508">
                <a:tc>
                  <a:txBody>
                    <a:bodyPr wrap="square"/>
                    <a:lstStyle/>
                    <a:p>
                      <a:pPr>
                        <a:lnSpc>
                          <a:spcPct val="114000"/>
                        </a:lnSpc>
                      </a:pPr>
                      <a:r>
                        <a:rPr sz="1200" b="1" i="0">
                          <a:solidFill>
                            <a:srgbClr val="F7F6EF"/>
                          </a:solidFill>
                          <a:latin typeface="Arial"/>
                        </a:rPr>
                        <a:t>Skillz (live, adjacent)</a:t>
                      </a:r>
                    </a:p>
                  </a:txBody>
                  <a:tcPr marL="64008" marR="64008" marT="41148" marB="41148" anchor="ctr">
                    <a:solidFill>
                      <a:srgbClr val="0D131B"/>
                    </a:solidFill>
                  </a:tcPr>
                </a:tc>
                <a:tc>
                  <a:txBody>
                    <a:bodyPr wrap="square"/>
                    <a:lstStyle/>
                    <a:p>
                      <a:pPr>
                        <a:lnSpc>
                          <a:spcPct val="114000"/>
                        </a:lnSpc>
                      </a:pPr>
                      <a:r>
                        <a:rPr sz="1200" b="0" i="0">
                          <a:solidFill>
                            <a:srgbClr val="F7F6EF"/>
                          </a:solidFill>
                          <a:latin typeface="Arial"/>
                        </a:rPr>
                        <a:t>FY2021: $380.2M revenue, 513,000 paying MAU</a:t>
                      </a:r>
                    </a:p>
                  </a:txBody>
                  <a:tcPr marL="64008" marR="64008" marT="41148" marB="41148" anchor="ctr">
                    <a:solidFill>
                      <a:srgbClr val="0D131B"/>
                    </a:solidFill>
                  </a:tcPr>
                </a:tc>
                <a:tc>
                  <a:txBody>
                    <a:bodyPr wrap="square"/>
                    <a:lstStyle/>
                    <a:p>
                      <a:pPr>
                        <a:lnSpc>
                          <a:spcPct val="114000"/>
                        </a:lnSpc>
                      </a:pPr>
                      <a:r>
                        <a:rPr sz="1200" b="0" i="0">
                          <a:solidFill>
                            <a:srgbClr val="F7F6EF"/>
                          </a:solidFill>
                          <a:latin typeface="Arial"/>
                        </a:rPr>
                        <a:t>Public (NYSE: SKLZ)</a:t>
                      </a:r>
                    </a:p>
                  </a:txBody>
                  <a:tcPr marL="64008" marR="64008" marT="41148" marB="41148" anchor="ctr">
                    <a:solidFill>
                      <a:srgbClr val="0D131B"/>
                    </a:solidFill>
                  </a:tcPr>
                </a:tc>
                <a:tc>
                  <a:txBody>
                    <a:bodyPr wrap="square"/>
                    <a:lstStyle/>
                    <a:p>
                      <a:pPr>
                        <a:lnSpc>
                          <a:spcPct val="114000"/>
                        </a:lnSpc>
                      </a:pPr>
                      <a:r>
                        <a:rPr sz="1200" b="0" i="0">
                          <a:solidFill>
                            <a:srgbClr val="F7F6EF"/>
                          </a:solidFill>
                          <a:latin typeface="Arial"/>
                        </a:rPr>
                        <a:t>FY2025: $104.5M revenue, 141,000 paying MAU</a:t>
                      </a:r>
                    </a:p>
                  </a:txBody>
                  <a:tcPr marL="64008" marR="64008" marT="41148" marB="41148" anchor="ctr">
                    <a:solidFill>
                      <a:srgbClr val="0D131B"/>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0E14"/>
        </a:solidFill>
        <a:effectLst/>
      </p:bgPr>
    </p:bg>
    <p:spTree>
      <p:nvGrpSpPr>
        <p:cNvPr id="1" name=""/>
        <p:cNvGrpSpPr/>
        <p:nvPr/>
      </p:nvGrpSpPr>
      <p:grpSpPr/>
      <p:sp>
        <p:nvSpPr>
          <p:cNvPr id="2" name="Title 1"/>
          <p:cNvSpPr>
            <a:spLocks noGrp="1"/>
          </p:cNvSpPr>
          <p:nvPr>
            <p:ph type="title"/>
          </p:nvPr>
        </p:nvSpPr>
        <p:spPr>
          <a:xfrm>
            <a:off x="566928" y="658368"/>
            <a:ext cx="11057839" cy="448056"/>
          </a:xfrm>
        </p:spPr>
        <p:txBody>
          <a:bodyPr wrap="square" lIns="0" rIns="0" tIns="0" bIns="0" anchor="t"/>
          <a:lstStyle/>
          <a:p>
            <a:pPr>
              <a:lnSpc>
                <a:spcPct val="108000"/>
              </a:lnSpc>
            </a:pPr>
            <a:r>
              <a:rPr sz="3000" b="1" i="0">
                <a:solidFill>
                  <a:srgbClr val="F7F6EF"/>
                </a:solidFill>
                <a:latin typeface="Arial"/>
              </a:rPr>
              <a:t>What we do not know, and what would settle each of it.</a:t>
            </a:r>
          </a:p>
        </p:txBody>
      </p:sp>
      <p:sp>
        <p:nvSpPr>
          <p:cNvPr id="3" name="TextBox 2"/>
          <p:cNvSpPr txBox="1"/>
          <p:nvPr/>
        </p:nvSpPr>
        <p:spPr>
          <a:xfrm>
            <a:off x="566928" y="365760"/>
            <a:ext cx="11057839" cy="219456"/>
          </a:xfrm>
          <a:prstGeom prst="rect">
            <a:avLst/>
          </a:prstGeom>
          <a:noFill/>
        </p:spPr>
        <p:txBody>
          <a:bodyPr wrap="square" lIns="0" rIns="0" tIns="0" bIns="0" anchor="t">
            <a:spAutoFit/>
          </a:bodyPr>
          <a:lstStyle/>
          <a:p>
            <a:r>
              <a:rPr sz="1100" b="1" i="0" spc="160">
                <a:solidFill>
                  <a:srgbClr val="4EE1FF"/>
                </a:solidFill>
                <a:latin typeface="Arial"/>
              </a:rPr>
              <a:t>APPENDIX — LIMITS OF THE EVIDENCE</a:t>
            </a:r>
          </a:p>
        </p:txBody>
      </p:sp>
      <p:sp>
        <p:nvSpPr>
          <p:cNvPr id="4" name="Rectangle 3"/>
          <p:cNvSpPr/>
          <p:nvPr/>
        </p:nvSpPr>
        <p:spPr>
          <a:xfrm>
            <a:off x="566928" y="6035040"/>
            <a:ext cx="11057839" cy="11887"/>
          </a:xfrm>
          <a:prstGeom prst="rect">
            <a:avLst/>
          </a:prstGeom>
          <a:solidFill>
            <a:srgbClr val="4EE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664647" y="6144768"/>
            <a:ext cx="960120" cy="274320"/>
          </a:xfrm>
          <a:prstGeom prst="rect">
            <a:avLst/>
          </a:prstGeom>
          <a:noFill/>
        </p:spPr>
        <p:txBody>
          <a:bodyPr wrap="square" lIns="0" rIns="0" tIns="0" bIns="0" anchor="t">
            <a:spAutoFit/>
          </a:bodyPr>
          <a:lstStyle/>
          <a:p>
            <a:pPr algn="r"/>
            <a:r>
              <a:rPr sz="950" b="1" i="0" spc="60">
                <a:solidFill>
                  <a:srgbClr val="A6ADBA"/>
                </a:solidFill>
                <a:latin typeface="Arial"/>
              </a:rPr>
              <a:t>18</a:t>
            </a:r>
          </a:p>
        </p:txBody>
      </p:sp>
      <p:sp>
        <p:nvSpPr>
          <p:cNvPr id="6" name="TextBox 5"/>
          <p:cNvSpPr txBox="1"/>
          <p:nvPr/>
        </p:nvSpPr>
        <p:spPr>
          <a:xfrm>
            <a:off x="566928" y="6144768"/>
            <a:ext cx="9869119" cy="548640"/>
          </a:xfrm>
          <a:prstGeom prst="rect">
            <a:avLst/>
          </a:prstGeom>
          <a:noFill/>
        </p:spPr>
        <p:txBody>
          <a:bodyPr wrap="square" lIns="0" rIns="0" tIns="0" bIns="0" anchor="t">
            <a:spAutoFit/>
          </a:bodyPr>
          <a:lstStyle/>
          <a:p>
            <a:pPr>
              <a:lnSpc>
                <a:spcPct val="115000"/>
              </a:lnSpc>
            </a:pPr>
            <a:r>
              <a:rPr sz="800" b="0" i="0">
                <a:solidFill>
                  <a:srgbClr val="A6ADBA"/>
                </a:solidFill>
                <a:latin typeface="Arial"/>
              </a:rPr>
              <a:t>Sources: FACT//DUEL internal — numbers.md §5 (failed verification and unresolved items)  ·  MAG Interactive — Q3 2025/26 interim report  ·  TechCrunch — Trivia Royale, 2.5M downloads in 3 weeks</a:t>
            </a:r>
          </a:p>
          <a:p>
            <a:pPr>
              <a:lnSpc>
                <a:spcPct val="115000"/>
              </a:lnSpc>
            </a:pPr>
            <a:r>
              <a:rPr sz="800" b="0" i="0">
                <a:solidFill>
                  <a:srgbClr val="A6ADBA"/>
                </a:solidFill>
                <a:latin typeface="Arial"/>
              </a:rPr>
              <a:t>AppTweak — US store conversion benchmarks, CY2025  ·  FACT//DUEL internal — numbers.md §7.1 and §7.3</a:t>
            </a:r>
          </a:p>
        </p:txBody>
      </p:sp>
      <p:sp>
        <p:nvSpPr>
          <p:cNvPr id="7" name="TextBox 6"/>
          <p:cNvSpPr txBox="1"/>
          <p:nvPr/>
        </p:nvSpPr>
        <p:spPr>
          <a:xfrm>
            <a:off x="566928" y="1307592"/>
            <a:ext cx="11057839" cy="4599432"/>
          </a:xfrm>
          <a:prstGeom prst="rect">
            <a:avLst/>
          </a:prstGeom>
          <a:noFill/>
        </p:spPr>
        <p:txBody>
          <a:bodyPr wrap="square" lIns="0" rIns="0" tIns="0" bIns="0" anchor="t">
            <a:spAutoFit/>
          </a:bodyPr>
          <a:lstStyle/>
          <a:p>
            <a:pPr marL="306731" indent="-306731">
              <a:lnSpc>
                <a:spcPct val="116000"/>
              </a:lnSpc>
              <a:buClr>
                <a:srgbClr val="4EE1FF"/>
              </a:buClr>
              <a:buFont typeface="Arial"/>
              <a:buChar char="—"/>
            </a:pPr>
            <a:r>
              <a:rPr sz="1800" b="0" i="0">
                <a:solidFill>
                  <a:srgbClr val="F7F6EF"/>
                </a:solidFill>
                <a:latin typeface="Arial"/>
              </a:rPr>
              <a:t>Every number about FACT//DUEL: no DAU, no D1/D7/D30 rate, no session length, no conversion, no CAC, no LTV, no revenue. The instrument shipped; the players did not (§7.1).</a:t>
            </a:r>
          </a:p>
          <a:p>
            <a:pPr marL="306731" indent="-306731">
              <a:lnSpc>
                <a:spcPct val="116000"/>
              </a:lnSpc>
              <a:spcBef>
                <a:spcPts val="990"/>
              </a:spcBef>
              <a:buClr>
                <a:srgbClr val="4EE1FF"/>
              </a:buClr>
              <a:buFont typeface="Arial"/>
              <a:buChar char="—"/>
            </a:pPr>
            <a:r>
              <a:rPr sz="1800" b="0" i="0">
                <a:solidFill>
                  <a:srgbClr val="F7F6EF"/>
                </a:solidFill>
                <a:latin typeface="Arial"/>
              </a:rPr>
              <a:t>Unverified: whether app-store benchmarks transfer to a web product with no install step and no push notifications. They may not.</a:t>
            </a:r>
          </a:p>
          <a:p>
            <a:pPr marL="306731" indent="-306731">
              <a:lnSpc>
                <a:spcPct val="116000"/>
              </a:lnSpc>
              <a:spcBef>
                <a:spcPts val="990"/>
              </a:spcBef>
              <a:buClr>
                <a:srgbClr val="4EE1FF"/>
              </a:buClr>
              <a:buFont typeface="Arial"/>
              <a:buChar char="—"/>
            </a:pPr>
            <a:r>
              <a:rPr sz="1800" b="0" i="0">
                <a:solidFill>
                  <a:srgbClr val="F7F6EF"/>
                </a:solidFill>
                <a:latin typeface="Arial"/>
              </a:rPr>
              <a:t>No trivia CAC or CPI benchmark of any kind is in our evidence base; the circulated genre ARPDAU bands failed verification as citation laundering and are excluded.</a:t>
            </a:r>
          </a:p>
          <a:p>
            <a:pPr marL="306731" indent="-306731">
              <a:lnSpc>
                <a:spcPct val="116000"/>
              </a:lnSpc>
              <a:spcBef>
                <a:spcPts val="990"/>
              </a:spcBef>
              <a:buClr>
                <a:srgbClr val="4EE1FF"/>
              </a:buClr>
              <a:buFont typeface="Arial"/>
              <a:buChar char="—"/>
            </a:pPr>
            <a:r>
              <a:rPr sz="1800" b="0" i="0">
                <a:solidFill>
                  <a:srgbClr val="F7F6EF"/>
                </a:solidFill>
                <a:latin typeface="Arial"/>
              </a:rPr>
              <a:t>Whether consumer trivia monetises at scale at all: our own paid cohort settles it, and the round buys it.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0E14"/>
        </a:solidFill>
        <a:effectLst/>
      </p:bgPr>
    </p:bg>
    <p:spTree>
      <p:nvGrpSpPr>
        <p:cNvPr id="1" name=""/>
        <p:cNvGrpSpPr/>
        <p:nvPr/>
      </p:nvGrpSpPr>
      <p:grpSpPr/>
      <p:sp>
        <p:nvSpPr>
          <p:cNvPr id="2" name="Title 1"/>
          <p:cNvSpPr>
            <a:spLocks noGrp="1"/>
          </p:cNvSpPr>
          <p:nvPr>
            <p:ph type="title"/>
          </p:nvPr>
        </p:nvSpPr>
        <p:spPr>
          <a:xfrm>
            <a:off x="566928" y="658368"/>
            <a:ext cx="11057839" cy="859536"/>
          </a:xfrm>
        </p:spPr>
        <p:txBody>
          <a:bodyPr wrap="square" lIns="0" rIns="0" tIns="0" bIns="0" anchor="t"/>
          <a:lstStyle/>
          <a:p>
            <a:pPr>
              <a:lnSpc>
                <a:spcPct val="108000"/>
              </a:lnSpc>
            </a:pPr>
            <a:r>
              <a:rPr sz="3000" b="1" i="0">
                <a:solidFill>
                  <a:srgbClr val="F7F6EF"/>
                </a:solidFill>
                <a:latin typeface="Arial"/>
              </a:rPr>
              <a:t>The shipped surfaces, for anyone who would rather play it than read about it.</a:t>
            </a:r>
          </a:p>
        </p:txBody>
      </p:sp>
      <p:sp>
        <p:nvSpPr>
          <p:cNvPr id="3" name="TextBox 2"/>
          <p:cNvSpPr txBox="1"/>
          <p:nvPr/>
        </p:nvSpPr>
        <p:spPr>
          <a:xfrm>
            <a:off x="566928" y="365760"/>
            <a:ext cx="11057839" cy="219456"/>
          </a:xfrm>
          <a:prstGeom prst="rect">
            <a:avLst/>
          </a:prstGeom>
          <a:noFill/>
        </p:spPr>
        <p:txBody>
          <a:bodyPr wrap="square" lIns="0" rIns="0" tIns="0" bIns="0" anchor="t">
            <a:spAutoFit/>
          </a:bodyPr>
          <a:lstStyle/>
          <a:p>
            <a:r>
              <a:rPr sz="1100" b="1" i="0" spc="160">
                <a:solidFill>
                  <a:srgbClr val="4EE1FF"/>
                </a:solidFill>
                <a:latin typeface="Arial"/>
              </a:rPr>
              <a:t>APPENDIX — PRODUCT</a:t>
            </a:r>
          </a:p>
        </p:txBody>
      </p:sp>
      <p:sp>
        <p:nvSpPr>
          <p:cNvPr id="4" name="Rectangle 3"/>
          <p:cNvSpPr/>
          <p:nvPr/>
        </p:nvSpPr>
        <p:spPr>
          <a:xfrm>
            <a:off x="566928" y="6035040"/>
            <a:ext cx="11057839" cy="11887"/>
          </a:xfrm>
          <a:prstGeom prst="rect">
            <a:avLst/>
          </a:prstGeom>
          <a:solidFill>
            <a:srgbClr val="4EE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664647" y="6144768"/>
            <a:ext cx="960120" cy="274320"/>
          </a:xfrm>
          <a:prstGeom prst="rect">
            <a:avLst/>
          </a:prstGeom>
          <a:noFill/>
        </p:spPr>
        <p:txBody>
          <a:bodyPr wrap="square" lIns="0" rIns="0" tIns="0" bIns="0" anchor="t">
            <a:spAutoFit/>
          </a:bodyPr>
          <a:lstStyle/>
          <a:p>
            <a:pPr algn="r"/>
            <a:r>
              <a:rPr sz="950" b="1" i="0" spc="60">
                <a:solidFill>
                  <a:srgbClr val="A6ADBA"/>
                </a:solidFill>
                <a:latin typeface="Arial"/>
              </a:rPr>
              <a:t>19</a:t>
            </a:r>
          </a:p>
        </p:txBody>
      </p:sp>
      <p:sp>
        <p:nvSpPr>
          <p:cNvPr id="6" name="TextBox 5"/>
          <p:cNvSpPr txBox="1"/>
          <p:nvPr/>
        </p:nvSpPr>
        <p:spPr>
          <a:xfrm>
            <a:off x="566928" y="6144768"/>
            <a:ext cx="9869119" cy="548640"/>
          </a:xfrm>
          <a:prstGeom prst="rect">
            <a:avLst/>
          </a:prstGeom>
          <a:noFill/>
        </p:spPr>
        <p:txBody>
          <a:bodyPr wrap="square" lIns="0" rIns="0" tIns="0" bIns="0" anchor="t">
            <a:spAutoFit/>
          </a:bodyPr>
          <a:lstStyle/>
          <a:p>
            <a:pPr>
              <a:lnSpc>
                <a:spcPct val="115000"/>
              </a:lnSpc>
            </a:pPr>
            <a:r>
              <a:rPr sz="800" b="0" i="0">
                <a:solidFill>
                  <a:srgbClr val="A6ADBA"/>
                </a:solidFill>
                <a:latin typeface="Arial"/>
              </a:rPr>
              <a:t>Sources: FACT//DUEL internal — numbers.md — status paragraph, §7.1 and §7.2  ·  FACT//DUEL internal — repository — product code, unaudited</a:t>
            </a:r>
          </a:p>
        </p:txBody>
      </p:sp>
      <p:sp>
        <p:nvSpPr>
          <p:cNvPr id="7" name="TextBox 6"/>
          <p:cNvSpPr txBox="1"/>
          <p:nvPr/>
        </p:nvSpPr>
        <p:spPr>
          <a:xfrm>
            <a:off x="566928" y="1719072"/>
            <a:ext cx="4754880" cy="4187952"/>
          </a:xfrm>
          <a:prstGeom prst="rect">
            <a:avLst/>
          </a:prstGeom>
          <a:noFill/>
        </p:spPr>
        <p:txBody>
          <a:bodyPr wrap="square" lIns="0" rIns="0" tIns="0" bIns="0" anchor="t">
            <a:spAutoFit/>
          </a:bodyPr>
          <a:lstStyle/>
          <a:p>
            <a:pPr marL="255604" indent="-255604">
              <a:lnSpc>
                <a:spcPct val="116000"/>
              </a:lnSpc>
              <a:buClr>
                <a:srgbClr val="4EE1FF"/>
              </a:buClr>
              <a:buFont typeface="Arial"/>
              <a:buChar char="—"/>
            </a:pPr>
            <a:r>
              <a:rPr sz="1500" b="0" i="0">
                <a:solidFill>
                  <a:srgbClr val="F7F6EF"/>
                </a:solidFill>
                <a:latin typeface="Arial"/>
              </a:rPr>
              <a:t>Player record, badges, stamps and the Locker: the long-tail progression surface, all device-local. None of it is a ranked or verified record, none is sent to a server, and reset clears it.</a:t>
            </a:r>
          </a:p>
          <a:p>
            <a:pPr marL="255604" indent="-255604">
              <a:lnSpc>
                <a:spcPct val="116000"/>
              </a:lnSpc>
              <a:spcBef>
                <a:spcPts val="825"/>
              </a:spcBef>
              <a:buClr>
                <a:srgbClr val="4EE1FF"/>
              </a:buClr>
              <a:buFont typeface="Arial"/>
              <a:buChar char="—"/>
            </a:pPr>
            <a:r>
              <a:rPr sz="1500" b="0" i="0">
                <a:solidFill>
                  <a:srgbClr val="F7F6EF"/>
                </a:solidFill>
                <a:latin typeface="Arial"/>
              </a:rPr>
              <a:t>Every effect is generated at runtime — procedural audio with no audio files, 3D loaded lazily. Everything works without WebGL; reduced-motion settings override the effects layer toward less motion.</a:t>
            </a:r>
          </a:p>
          <a:p>
            <a:pPr marL="255604" indent="-255604">
              <a:lnSpc>
                <a:spcPct val="116000"/>
              </a:lnSpc>
              <a:spcBef>
                <a:spcPts val="825"/>
              </a:spcBef>
              <a:buClr>
                <a:srgbClr val="4EE1FF"/>
              </a:buClr>
              <a:buFont typeface="Arial"/>
              <a:buChar char="—"/>
            </a:pPr>
            <a:r>
              <a:rPr sz="1500" b="0" i="0">
                <a:solidFill>
                  <a:srgbClr val="F7F6EF"/>
                </a:solidFill>
                <a:latin typeface="Arial"/>
              </a:rPr>
              <a:t>Play it: https://occult-kranti.github.io/fact-duel/ — no install, no account, no server, no request to us.</a:t>
            </a:r>
          </a:p>
        </p:txBody>
      </p:sp>
      <p:sp>
        <p:nvSpPr>
          <p:cNvPr id="8" name="Rectangle 7"/>
          <p:cNvSpPr/>
          <p:nvPr/>
        </p:nvSpPr>
        <p:spPr>
          <a:xfrm>
            <a:off x="5669280" y="2140157"/>
            <a:ext cx="4325464" cy="3345781"/>
          </a:xfrm>
          <a:prstGeom prst="rect">
            <a:avLst/>
          </a:prstGeom>
          <a:solidFill>
            <a:srgbClr val="1218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desktop-passport.png"/>
          <p:cNvPicPr>
            <a:picLocks noChangeAspect="1"/>
          </p:cNvPicPr>
          <p:nvPr/>
        </p:nvPicPr>
        <p:blipFill>
          <a:blip r:embed="rId2"/>
          <a:stretch>
            <a:fillRect/>
          </a:stretch>
        </p:blipFill>
        <p:spPr>
          <a:xfrm>
            <a:off x="5769864" y="2240741"/>
            <a:ext cx="4124296" cy="2577685"/>
          </a:xfrm>
          <a:prstGeom prst="rect">
            <a:avLst/>
          </a:prstGeom>
        </p:spPr>
      </p:pic>
      <p:sp>
        <p:nvSpPr>
          <p:cNvPr id="10" name="TextBox 9"/>
          <p:cNvSpPr txBox="1"/>
          <p:nvPr/>
        </p:nvSpPr>
        <p:spPr>
          <a:xfrm>
            <a:off x="5769864" y="4882434"/>
            <a:ext cx="4124296" cy="457200"/>
          </a:xfrm>
          <a:prstGeom prst="rect">
            <a:avLst/>
          </a:prstGeom>
          <a:noFill/>
        </p:spPr>
        <p:txBody>
          <a:bodyPr wrap="square" lIns="0" rIns="0" tIns="0" bIns="0" anchor="t">
            <a:spAutoFit/>
          </a:bodyPr>
          <a:lstStyle/>
          <a:p>
            <a:pPr>
              <a:lnSpc>
                <a:spcPct val="112000"/>
              </a:lnSpc>
            </a:pPr>
            <a:r>
              <a:rPr sz="950" b="0" i="0">
                <a:solidFill>
                  <a:srgbClr val="A6ADBA"/>
                </a:solidFill>
                <a:latin typeface="Arial"/>
              </a:rPr>
              <a:t>The player record: level and XP, Arena Rank, day streak, mastery — all device-local.</a:t>
            </a:r>
          </a:p>
        </p:txBody>
      </p:sp>
      <p:sp>
        <p:nvSpPr>
          <p:cNvPr id="11" name="Rectangle 10"/>
          <p:cNvSpPr/>
          <p:nvPr/>
        </p:nvSpPr>
        <p:spPr>
          <a:xfrm>
            <a:off x="10232488" y="2140157"/>
            <a:ext cx="1392278" cy="3345781"/>
          </a:xfrm>
          <a:prstGeom prst="rect">
            <a:avLst/>
          </a:prstGeom>
          <a:solidFill>
            <a:srgbClr val="1218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phone-passport.png"/>
          <p:cNvPicPr>
            <a:picLocks noChangeAspect="1"/>
          </p:cNvPicPr>
          <p:nvPr/>
        </p:nvPicPr>
        <p:blipFill>
          <a:blip r:embed="rId3"/>
          <a:stretch>
            <a:fillRect/>
          </a:stretch>
        </p:blipFill>
        <p:spPr>
          <a:xfrm>
            <a:off x="10333072" y="2240741"/>
            <a:ext cx="1191110" cy="2577685"/>
          </a:xfrm>
          <a:prstGeom prst="rect">
            <a:avLst/>
          </a:prstGeom>
        </p:spPr>
      </p:pic>
      <p:sp>
        <p:nvSpPr>
          <p:cNvPr id="13" name="TextBox 12"/>
          <p:cNvSpPr txBox="1"/>
          <p:nvPr/>
        </p:nvSpPr>
        <p:spPr>
          <a:xfrm>
            <a:off x="10333072" y="4882434"/>
            <a:ext cx="1191110" cy="457200"/>
          </a:xfrm>
          <a:prstGeom prst="rect">
            <a:avLst/>
          </a:prstGeom>
          <a:noFill/>
        </p:spPr>
        <p:txBody>
          <a:bodyPr wrap="square" lIns="0" rIns="0" tIns="0" bIns="0" anchor="t">
            <a:spAutoFit/>
          </a:bodyPr>
          <a:lstStyle/>
          <a:p>
            <a:pPr>
              <a:lnSpc>
                <a:spcPct val="112000"/>
              </a:lnSpc>
            </a:pPr>
            <a:r>
              <a:rPr sz="950" b="0" i="0">
                <a:solidFill>
                  <a:srgbClr val="A6ADBA"/>
                </a:solidFill>
                <a:latin typeface="Arial"/>
              </a:rPr>
              <a:t>The record on a phone.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0E14"/>
        </a:solidFill>
        <a:effectLst/>
      </p:bgPr>
    </p:bg>
    <p:spTree>
      <p:nvGrpSpPr>
        <p:cNvPr id="1" name=""/>
        <p:cNvGrpSpPr/>
        <p:nvPr/>
      </p:nvGrpSpPr>
      <p:grpSpPr/>
      <p:sp>
        <p:nvSpPr>
          <p:cNvPr id="2" name="Title 1"/>
          <p:cNvSpPr>
            <a:spLocks noGrp="1"/>
          </p:cNvSpPr>
          <p:nvPr>
            <p:ph type="title"/>
          </p:nvPr>
        </p:nvSpPr>
        <p:spPr>
          <a:xfrm>
            <a:off x="566928" y="658368"/>
            <a:ext cx="11057839" cy="859536"/>
          </a:xfrm>
        </p:spPr>
        <p:txBody>
          <a:bodyPr wrap="square" lIns="0" rIns="0" tIns="0" bIns="0" anchor="t"/>
          <a:lstStyle/>
          <a:p>
            <a:pPr>
              <a:lnSpc>
                <a:spcPct val="108000"/>
              </a:lnSpc>
            </a:pPr>
            <a:r>
              <a:rPr sz="3000" b="1" i="0">
                <a:solidFill>
                  <a:srgbClr val="F7F6EF"/>
                </a:solidFill>
                <a:latin typeface="Arial"/>
              </a:rPr>
              <a:t>How retention is measured, what is not, and why the rate still needs players.</a:t>
            </a:r>
          </a:p>
        </p:txBody>
      </p:sp>
      <p:sp>
        <p:nvSpPr>
          <p:cNvPr id="3" name="TextBox 2"/>
          <p:cNvSpPr txBox="1"/>
          <p:nvPr/>
        </p:nvSpPr>
        <p:spPr>
          <a:xfrm>
            <a:off x="566928" y="365760"/>
            <a:ext cx="11057839" cy="219456"/>
          </a:xfrm>
          <a:prstGeom prst="rect">
            <a:avLst/>
          </a:prstGeom>
          <a:noFill/>
        </p:spPr>
        <p:txBody>
          <a:bodyPr wrap="square" lIns="0" rIns="0" tIns="0" bIns="0" anchor="t">
            <a:spAutoFit/>
          </a:bodyPr>
          <a:lstStyle/>
          <a:p>
            <a:r>
              <a:rPr sz="1100" b="1" i="0" spc="160">
                <a:solidFill>
                  <a:srgbClr val="4EE1FF"/>
                </a:solidFill>
                <a:latin typeface="Arial"/>
              </a:rPr>
              <a:t>APPENDIX — THE MEASUREMENT LAYER</a:t>
            </a:r>
          </a:p>
        </p:txBody>
      </p:sp>
      <p:sp>
        <p:nvSpPr>
          <p:cNvPr id="4" name="Rectangle 3"/>
          <p:cNvSpPr/>
          <p:nvPr/>
        </p:nvSpPr>
        <p:spPr>
          <a:xfrm>
            <a:off x="566928" y="6035040"/>
            <a:ext cx="11057839" cy="11887"/>
          </a:xfrm>
          <a:prstGeom prst="rect">
            <a:avLst/>
          </a:prstGeom>
          <a:solidFill>
            <a:srgbClr val="4EE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664647" y="6144768"/>
            <a:ext cx="960120" cy="274320"/>
          </a:xfrm>
          <a:prstGeom prst="rect">
            <a:avLst/>
          </a:prstGeom>
          <a:noFill/>
        </p:spPr>
        <p:txBody>
          <a:bodyPr wrap="square" lIns="0" rIns="0" tIns="0" bIns="0" anchor="t">
            <a:spAutoFit/>
          </a:bodyPr>
          <a:lstStyle/>
          <a:p>
            <a:pPr algn="r"/>
            <a:r>
              <a:rPr sz="950" b="1" i="0" spc="60">
                <a:solidFill>
                  <a:srgbClr val="A6ADBA"/>
                </a:solidFill>
                <a:latin typeface="Arial"/>
              </a:rPr>
              <a:t>20</a:t>
            </a:r>
          </a:p>
        </p:txBody>
      </p:sp>
      <p:sp>
        <p:nvSpPr>
          <p:cNvPr id="6" name="TextBox 5"/>
          <p:cNvSpPr txBox="1"/>
          <p:nvPr/>
        </p:nvSpPr>
        <p:spPr>
          <a:xfrm>
            <a:off x="566928" y="6144768"/>
            <a:ext cx="9869119" cy="548640"/>
          </a:xfrm>
          <a:prstGeom prst="rect">
            <a:avLst/>
          </a:prstGeom>
          <a:noFill/>
        </p:spPr>
        <p:txBody>
          <a:bodyPr wrap="square" lIns="0" rIns="0" tIns="0" bIns="0" anchor="t">
            <a:spAutoFit/>
          </a:bodyPr>
          <a:lstStyle/>
          <a:p>
            <a:pPr>
              <a:lnSpc>
                <a:spcPct val="115000"/>
              </a:lnSpc>
            </a:pPr>
            <a:r>
              <a:rPr sz="800" b="0" i="0">
                <a:solidFill>
                  <a:srgbClr val="A6ADBA"/>
                </a:solidFill>
                <a:latin typeface="Arial"/>
              </a:rPr>
              <a:t>Sources: FACT//DUEL internal — numbers.md §7.1 and §7.3  ·  FACT//DUEL internal — repository — product code, unaudited</a:t>
            </a:r>
          </a:p>
        </p:txBody>
      </p:sp>
      <p:sp>
        <p:nvSpPr>
          <p:cNvPr id="7" name="TextBox 6"/>
          <p:cNvSpPr txBox="1"/>
          <p:nvPr/>
        </p:nvSpPr>
        <p:spPr>
          <a:xfrm>
            <a:off x="566928" y="1719072"/>
            <a:ext cx="11057839" cy="4187952"/>
          </a:xfrm>
          <a:prstGeom prst="rect">
            <a:avLst/>
          </a:prstGeom>
          <a:noFill/>
        </p:spPr>
        <p:txBody>
          <a:bodyPr wrap="square" lIns="0" rIns="0" tIns="0" bIns="0" anchor="t">
            <a:spAutoFit/>
          </a:bodyPr>
          <a:lstStyle/>
          <a:p>
            <a:pPr marL="306731" indent="-306731">
              <a:lnSpc>
                <a:spcPct val="116000"/>
              </a:lnSpc>
              <a:buClr>
                <a:srgbClr val="4EE1FF"/>
              </a:buClr>
              <a:buFont typeface="Arial"/>
              <a:buChar char="—"/>
            </a:pPr>
            <a:r>
              <a:rPr sz="1800" b="0" i="0">
                <a:solidFill>
                  <a:srgbClr val="F7F6EF"/>
                </a:solidFill>
                <a:latin typeface="Arial"/>
              </a:rPr>
              <a:t>Per device: install day, active days, session count, engaged time and four counters — duel rounds, matches, expedition cards, quests (lib/analytics.mjs, 24 tests).</a:t>
            </a:r>
          </a:p>
          <a:p>
            <a:pPr marL="306731" indent="-306731">
              <a:lnSpc>
                <a:spcPct val="116000"/>
              </a:lnSpc>
              <a:spcBef>
                <a:spcPts val="990"/>
              </a:spcBef>
              <a:buClr>
                <a:srgbClr val="4EE1FF"/>
              </a:buClr>
              <a:buFont typeface="Arial"/>
              <a:buChar char="—"/>
            </a:pPr>
            <a:r>
              <a:rPr sz="1800" b="0" i="0">
                <a:solidFill>
                  <a:srgbClr val="F7F6EF"/>
                </a:solidFill>
                <a:latin typeface="Arial"/>
              </a:rPr>
              <a:t>Per device: D1 / D7 / D30 as true, false, or null while the window is still open. A test asserts an unfinished window can never read as a miss.</a:t>
            </a:r>
          </a:p>
          <a:p>
            <a:pPr marL="306731" indent="-306731">
              <a:lnSpc>
                <a:spcPct val="116000"/>
              </a:lnSpc>
              <a:spcBef>
                <a:spcPts val="990"/>
              </a:spcBef>
              <a:buClr>
                <a:srgbClr val="4EE1FF"/>
              </a:buClr>
              <a:buFont typeface="Arial"/>
              <a:buChar char="—"/>
            </a:pPr>
            <a:r>
              <a:rPr sz="1800" b="0" i="0">
                <a:solidFill>
                  <a:srgbClr val="F7F6EF"/>
                </a:solidFill>
                <a:latin typeface="Arial"/>
              </a:rPr>
              <a:t>One device is a sample of one; no export is shaped like a rate, and the screen says so. No third-party SDK, nothing personal, no network call; the player exports JSON or CSV, or erases, at /analytics.</a:t>
            </a:r>
          </a:p>
          <a:p>
            <a:pPr marL="306731" indent="-306731">
              <a:lnSpc>
                <a:spcPct val="116000"/>
              </a:lnSpc>
              <a:spcBef>
                <a:spcPts val="990"/>
              </a:spcBef>
              <a:buClr>
                <a:srgbClr val="4EE1FF"/>
              </a:buClr>
              <a:buFont typeface="Arial"/>
              <a:buChar char="—"/>
            </a:pPr>
            <a:r>
              <a:rPr sz="1800" b="0" i="0">
                <a:solidFill>
                  <a:srgbClr val="F7F6EF"/>
                </a:solidFill>
                <a:latin typeface="Arial"/>
              </a:rPr>
              <a:t>The cohort rate comes from an opt-in anonymous daily ping (cohort-ping / cohort-report, table cohort_days, 20 tests): aggregate-only, no per-device row, buckets under five devices suppressed.</a:t>
            </a:r>
          </a:p>
          <a:p>
            <a:pPr marL="306731" indent="-306731">
              <a:lnSpc>
                <a:spcPct val="116000"/>
              </a:lnSpc>
              <a:spcBef>
                <a:spcPts val="990"/>
              </a:spcBef>
              <a:buClr>
                <a:srgbClr val="4EE1FF"/>
              </a:buClr>
              <a:buFont typeface="Arial"/>
              <a:buChar char="—"/>
            </a:pPr>
            <a:r>
              <a:rPr sz="1800" b="0" i="0">
                <a:solidFill>
                  <a:srgbClr val="F7F6EF"/>
                </a:solidFill>
                <a:latin typeface="Arial"/>
              </a:rPr>
              <a:t>What none of this gives us today: a retention rate. That needs players. The instrument is what shipped; the cohort is what the round buys.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0E14"/>
        </a:solidFill>
        <a:effectLst/>
      </p:bgPr>
    </p:bg>
    <p:spTree>
      <p:nvGrpSpPr>
        <p:cNvPr id="1" name=""/>
        <p:cNvGrpSpPr/>
        <p:nvPr/>
      </p:nvGrpSpPr>
      <p:grpSpPr/>
      <p:sp>
        <p:nvSpPr>
          <p:cNvPr id="2" name="Title 1"/>
          <p:cNvSpPr>
            <a:spLocks noGrp="1"/>
          </p:cNvSpPr>
          <p:nvPr>
            <p:ph type="title"/>
          </p:nvPr>
        </p:nvSpPr>
        <p:spPr>
          <a:xfrm>
            <a:off x="566928" y="658368"/>
            <a:ext cx="11057839" cy="859536"/>
          </a:xfrm>
        </p:spPr>
        <p:txBody>
          <a:bodyPr wrap="square" lIns="0" rIns="0" tIns="0" bIns="0" anchor="t"/>
          <a:lstStyle/>
          <a:p>
            <a:pPr>
              <a:lnSpc>
                <a:spcPct val="108000"/>
              </a:lnSpc>
            </a:pPr>
            <a:r>
              <a:rPr sz="3000" b="1" i="0">
                <a:solidFill>
                  <a:srgbClr val="F7F6EF"/>
                </a:solidFill>
                <a:latin typeface="Arial"/>
              </a:rPr>
              <a:t>Appendix H — the whole model on one page. Every figure is (P).</a:t>
            </a:r>
          </a:p>
        </p:txBody>
      </p:sp>
      <p:sp>
        <p:nvSpPr>
          <p:cNvPr id="3" name="TextBox 2"/>
          <p:cNvSpPr txBox="1"/>
          <p:nvPr/>
        </p:nvSpPr>
        <p:spPr>
          <a:xfrm>
            <a:off x="566928" y="365760"/>
            <a:ext cx="11057839" cy="219456"/>
          </a:xfrm>
          <a:prstGeom prst="rect">
            <a:avLst/>
          </a:prstGeom>
          <a:noFill/>
        </p:spPr>
        <p:txBody>
          <a:bodyPr wrap="square" lIns="0" rIns="0" tIns="0" bIns="0" anchor="t">
            <a:spAutoFit/>
          </a:bodyPr>
          <a:lstStyle/>
          <a:p>
            <a:r>
              <a:rPr sz="1100" b="1" i="0" spc="160">
                <a:solidFill>
                  <a:srgbClr val="4EE1FF"/>
                </a:solidFill>
                <a:latin typeface="Arial"/>
              </a:rPr>
              <a:t>APPENDIX — THE MODEL, YEAR BY YEAR</a:t>
            </a:r>
          </a:p>
        </p:txBody>
      </p:sp>
      <p:sp>
        <p:nvSpPr>
          <p:cNvPr id="4" name="Rectangle 3"/>
          <p:cNvSpPr/>
          <p:nvPr/>
        </p:nvSpPr>
        <p:spPr>
          <a:xfrm>
            <a:off x="566928" y="6035040"/>
            <a:ext cx="11057839" cy="11887"/>
          </a:xfrm>
          <a:prstGeom prst="rect">
            <a:avLst/>
          </a:prstGeom>
          <a:solidFill>
            <a:srgbClr val="4EE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664647" y="6144768"/>
            <a:ext cx="960120" cy="274320"/>
          </a:xfrm>
          <a:prstGeom prst="rect">
            <a:avLst/>
          </a:prstGeom>
          <a:noFill/>
        </p:spPr>
        <p:txBody>
          <a:bodyPr wrap="square" lIns="0" rIns="0" tIns="0" bIns="0" anchor="t">
            <a:spAutoFit/>
          </a:bodyPr>
          <a:lstStyle/>
          <a:p>
            <a:pPr algn="r"/>
            <a:r>
              <a:rPr sz="950" b="1" i="0" spc="60">
                <a:solidFill>
                  <a:srgbClr val="A6ADBA"/>
                </a:solidFill>
                <a:latin typeface="Arial"/>
              </a:rPr>
              <a:t>21</a:t>
            </a:r>
          </a:p>
        </p:txBody>
      </p:sp>
      <p:sp>
        <p:nvSpPr>
          <p:cNvPr id="6" name="TextBox 5"/>
          <p:cNvSpPr txBox="1"/>
          <p:nvPr/>
        </p:nvSpPr>
        <p:spPr>
          <a:xfrm>
            <a:off x="566928" y="6144768"/>
            <a:ext cx="9869119" cy="548640"/>
          </a:xfrm>
          <a:prstGeom prst="rect">
            <a:avLst/>
          </a:prstGeom>
          <a:noFill/>
        </p:spPr>
        <p:txBody>
          <a:bodyPr wrap="square" lIns="0" rIns="0" tIns="0" bIns="0" anchor="t">
            <a:spAutoFit/>
          </a:bodyPr>
          <a:lstStyle/>
          <a:p>
            <a:pPr>
              <a:lnSpc>
                <a:spcPct val="115000"/>
              </a:lnSpc>
            </a:pPr>
            <a:r>
              <a:rPr sz="800" b="0" i="0">
                <a:solidFill>
                  <a:srgbClr val="A6ADBA"/>
                </a:solidFill>
                <a:latin typeface="Arial"/>
              </a:rPr>
              <a:t>Sources: GameAnalytics — 2026 Mobile &amp; PC Gaming Benchmarks  ·  AppsFlyer — State of App Monetization 2026  ·  FACT//DUEL internal — numbers.md §4.1-§4.3</a:t>
            </a:r>
          </a:p>
        </p:txBody>
      </p:sp>
      <p:sp>
        <p:nvSpPr>
          <p:cNvPr id="7" name="TextBox 6"/>
          <p:cNvSpPr txBox="1"/>
          <p:nvPr/>
        </p:nvSpPr>
        <p:spPr>
          <a:xfrm>
            <a:off x="566928" y="1719072"/>
            <a:ext cx="11057839" cy="1154938"/>
          </a:xfrm>
          <a:prstGeom prst="rect">
            <a:avLst/>
          </a:prstGeom>
          <a:noFill/>
        </p:spPr>
        <p:txBody>
          <a:bodyPr wrap="square" lIns="0" rIns="0" tIns="0" bIns="0" anchor="t">
            <a:spAutoFit/>
          </a:bodyPr>
          <a:lstStyle/>
          <a:p>
            <a:pPr marL="238571" indent="-238571">
              <a:lnSpc>
                <a:spcPct val="116000"/>
              </a:lnSpc>
              <a:buClr>
                <a:srgbClr val="4EE1FF"/>
              </a:buClr>
              <a:buFont typeface="Arial"/>
              <a:buChar char="—"/>
            </a:pPr>
            <a:r>
              <a:rPr sz="1400" b="0" i="0">
                <a:solidFill>
                  <a:srgbClr val="F7F6EF"/>
                </a:solidFill>
                <a:latin typeface="Arial"/>
              </a:rPr>
              <a:t>Revenue(year) = Installs x [ payer rate x ARPPU ] + Installs x ad revenue per install.</a:t>
            </a:r>
          </a:p>
          <a:p>
            <a:pPr marL="238571" indent="-238571">
              <a:lnSpc>
                <a:spcPct val="116000"/>
              </a:lnSpc>
              <a:spcBef>
                <a:spcPts val="770"/>
              </a:spcBef>
              <a:buClr>
                <a:srgbClr val="4EE1FF"/>
              </a:buClr>
              <a:buFont typeface="Arial"/>
              <a:buChar char="—"/>
            </a:pPr>
            <a:r>
              <a:rPr sz="1400" b="0" i="0">
                <a:solidFill>
                  <a:srgbClr val="F7F6EF"/>
                </a:solidFill>
                <a:latin typeface="Arial"/>
              </a:rPr>
              <a:t>Steady-state MAU = monthly installs + ( monthly installs x D30 / monthly churn ), churn fixed at 20%.</a:t>
            </a:r>
          </a:p>
          <a:p>
            <a:pPr marL="238571" indent="-238571">
              <a:lnSpc>
                <a:spcPct val="116000"/>
              </a:lnSpc>
              <a:spcBef>
                <a:spcPts val="770"/>
              </a:spcBef>
              <a:buClr>
                <a:srgbClr val="4EE1FF"/>
              </a:buClr>
              <a:buFont typeface="Arial"/>
              <a:buChar char="—"/>
            </a:pPr>
            <a:r>
              <a:rPr sz="1400" b="0" i="0">
                <a:solidFill>
                  <a:srgbClr val="F7F6EF"/>
                </a:solidFill>
                <a:latin typeface="Arial"/>
              </a:rPr>
              <a:t>There is nothing to mark (A): zero users and zero months of cohort data, so nothing here is an actual.</a:t>
            </a:r>
          </a:p>
          <a:p>
            <a:pPr marL="238571" indent="-238571">
              <a:lnSpc>
                <a:spcPct val="116000"/>
              </a:lnSpc>
              <a:spcBef>
                <a:spcPts val="770"/>
              </a:spcBef>
              <a:buClr>
                <a:srgbClr val="4EE1FF"/>
              </a:buClr>
              <a:buFont typeface="Arial"/>
              <a:buChar char="—"/>
            </a:pPr>
            <a:r>
              <a:rPr sz="1400" b="0" i="0">
                <a:solidFill>
                  <a:srgbClr val="F7F6EF"/>
                </a:solidFill>
                <a:latin typeface="Arial"/>
              </a:rPr>
              <a:t>Annual installs run about 11x steady-state MAU. Revenue per MAU is throughput, not intensity.</a:t>
            </a:r>
          </a:p>
        </p:txBody>
      </p:sp>
      <p:graphicFrame>
        <p:nvGraphicFramePr>
          <p:cNvPr id="8" name="Table 7"/>
          <p:cNvGraphicFramePr>
            <a:graphicFrameLocks noGrp="1"/>
          </p:cNvGraphicFramePr>
          <p:nvPr/>
        </p:nvGraphicFramePr>
        <p:xfrm>
          <a:off x="566928" y="3111754"/>
          <a:ext cx="11057837" cy="2795260"/>
        </p:xfrm>
        <a:graphic>
          <a:graphicData uri="http://schemas.openxmlformats.org/drawingml/2006/table">
            <a:tbl>
              <a:tblPr>
                <a:tableStyleId>{2D5ABB26-0587-4C30-8999-92F81FD0307C}</a:tableStyleId>
              </a:tblPr>
              <a:tblGrid>
                <a:gridCol w="1598344"/>
                <a:gridCol w="698293"/>
                <a:gridCol w="1202659"/>
                <a:gridCol w="1166010"/>
                <a:gridCol w="1322775"/>
                <a:gridCol w="1873772"/>
                <a:gridCol w="1501988"/>
                <a:gridCol w="1693996"/>
              </a:tblGrid>
              <a:tr h="215020">
                <a:tc>
                  <a:txBody>
                    <a:bodyPr wrap="square"/>
                    <a:lstStyle/>
                    <a:p>
                      <a:pPr>
                        <a:lnSpc>
                          <a:spcPct val="114000"/>
                        </a:lnSpc>
                      </a:pPr>
                      <a:r>
                        <a:rPr sz="900" b="1" i="0">
                          <a:solidFill>
                            <a:srgbClr val="D4FF3A"/>
                          </a:solidFill>
                          <a:latin typeface="Arial"/>
                        </a:rPr>
                        <a:t>Scenario (P)</a:t>
                      </a:r>
                    </a:p>
                  </a:txBody>
                  <a:tcPr marL="64008" marR="64008" marT="41148" marB="41148" anchor="ctr">
                    <a:solidFill>
                      <a:srgbClr val="121821"/>
                    </a:solidFill>
                  </a:tcPr>
                </a:tc>
                <a:tc>
                  <a:txBody>
                    <a:bodyPr wrap="square"/>
                    <a:lstStyle/>
                    <a:p>
                      <a:pPr>
                        <a:lnSpc>
                          <a:spcPct val="114000"/>
                        </a:lnSpc>
                      </a:pPr>
                      <a:r>
                        <a:rPr sz="900" b="1" i="0">
                          <a:solidFill>
                            <a:srgbClr val="D4FF3A"/>
                          </a:solidFill>
                          <a:latin typeface="Arial"/>
                        </a:rPr>
                        <a:t>Year</a:t>
                      </a:r>
                    </a:p>
                  </a:txBody>
                  <a:tcPr marL="64008" marR="64008" marT="41148" marB="41148" anchor="ctr">
                    <a:solidFill>
                      <a:srgbClr val="121821"/>
                    </a:solidFill>
                  </a:tcPr>
                </a:tc>
                <a:tc>
                  <a:txBody>
                    <a:bodyPr wrap="square"/>
                    <a:lstStyle/>
                    <a:p>
                      <a:pPr>
                        <a:lnSpc>
                          <a:spcPct val="114000"/>
                        </a:lnSpc>
                      </a:pPr>
                      <a:r>
                        <a:rPr sz="900" b="1" i="0">
                          <a:solidFill>
                            <a:srgbClr val="D4FF3A"/>
                          </a:solidFill>
                          <a:latin typeface="Arial"/>
                        </a:rPr>
                        <a:t>Installs</a:t>
                      </a:r>
                    </a:p>
                  </a:txBody>
                  <a:tcPr marL="64008" marR="64008" marT="41148" marB="41148" anchor="ctr">
                    <a:solidFill>
                      <a:srgbClr val="121821"/>
                    </a:solidFill>
                  </a:tcPr>
                </a:tc>
                <a:tc>
                  <a:txBody>
                    <a:bodyPr wrap="square"/>
                    <a:lstStyle/>
                    <a:p>
                      <a:pPr>
                        <a:lnSpc>
                          <a:spcPct val="114000"/>
                        </a:lnSpc>
                      </a:pPr>
                      <a:r>
                        <a:rPr sz="900" b="1" i="0">
                          <a:solidFill>
                            <a:srgbClr val="D4FF3A"/>
                          </a:solidFill>
                          <a:latin typeface="Arial"/>
                        </a:rPr>
                        <a:t>$ / install</a:t>
                      </a:r>
                    </a:p>
                  </a:txBody>
                  <a:tcPr marL="64008" marR="64008" marT="41148" marB="41148" anchor="ctr">
                    <a:solidFill>
                      <a:srgbClr val="121821"/>
                    </a:solidFill>
                  </a:tcPr>
                </a:tc>
                <a:tc>
                  <a:txBody>
                    <a:bodyPr wrap="square"/>
                    <a:lstStyle/>
                    <a:p>
                      <a:pPr>
                        <a:lnSpc>
                          <a:spcPct val="114000"/>
                        </a:lnSpc>
                      </a:pPr>
                      <a:r>
                        <a:rPr sz="900" b="1" i="0">
                          <a:solidFill>
                            <a:srgbClr val="D4FF3A"/>
                          </a:solidFill>
                          <a:latin typeface="Arial"/>
                        </a:rPr>
                        <a:t>Revenue</a:t>
                      </a:r>
                    </a:p>
                  </a:txBody>
                  <a:tcPr marL="64008" marR="64008" marT="41148" marB="41148" anchor="ctr">
                    <a:solidFill>
                      <a:srgbClr val="121821"/>
                    </a:solidFill>
                  </a:tcPr>
                </a:tc>
                <a:tc>
                  <a:txBody>
                    <a:bodyPr wrap="square"/>
                    <a:lstStyle/>
                    <a:p>
                      <a:pPr>
                        <a:lnSpc>
                          <a:spcPct val="114000"/>
                        </a:lnSpc>
                      </a:pPr>
                      <a:r>
                        <a:rPr sz="900" b="1" i="0">
                          <a:solidFill>
                            <a:srgbClr val="D4FF3A"/>
                          </a:solidFill>
                          <a:latin typeface="Arial"/>
                        </a:rPr>
                        <a:t>Monthly installs</a:t>
                      </a:r>
                    </a:p>
                  </a:txBody>
                  <a:tcPr marL="64008" marR="64008" marT="41148" marB="41148" anchor="ctr">
                    <a:solidFill>
                      <a:srgbClr val="121821"/>
                    </a:solidFill>
                  </a:tcPr>
                </a:tc>
                <a:tc>
                  <a:txBody>
                    <a:bodyPr wrap="square"/>
                    <a:lstStyle/>
                    <a:p>
                      <a:pPr>
                        <a:lnSpc>
                          <a:spcPct val="114000"/>
                        </a:lnSpc>
                      </a:pPr>
                      <a:r>
                        <a:rPr sz="900" b="1" i="0">
                          <a:solidFill>
                            <a:srgbClr val="D4FF3A"/>
                          </a:solidFill>
                          <a:latin typeface="Arial"/>
                        </a:rPr>
                        <a:t>Steady MAU</a:t>
                      </a:r>
                    </a:p>
                  </a:txBody>
                  <a:tcPr marL="64008" marR="64008" marT="41148" marB="41148" anchor="ctr">
                    <a:solidFill>
                      <a:srgbClr val="121821"/>
                    </a:solidFill>
                  </a:tcPr>
                </a:tc>
                <a:tc>
                  <a:txBody>
                    <a:bodyPr wrap="square"/>
                    <a:lstStyle/>
                    <a:p>
                      <a:pPr>
                        <a:lnSpc>
                          <a:spcPct val="114000"/>
                        </a:lnSpc>
                      </a:pPr>
                      <a:r>
                        <a:rPr sz="900" b="1" i="0">
                          <a:solidFill>
                            <a:srgbClr val="D4FF3A"/>
                          </a:solidFill>
                          <a:latin typeface="Arial"/>
                        </a:rPr>
                        <a:t>Rev / MAU / yr</a:t>
                      </a:r>
                    </a:p>
                  </a:txBody>
                  <a:tcPr marL="64008" marR="64008" marT="41148" marB="41148" anchor="ctr">
                    <a:solidFill>
                      <a:srgbClr val="121821"/>
                    </a:solidFill>
                  </a:tcPr>
                </a:tc>
              </a:tr>
              <a:tr h="215020">
                <a:tc>
                  <a:txBody>
                    <a:bodyPr wrap="square"/>
                    <a:lstStyle/>
                    <a:p>
                      <a:pPr>
                        <a:lnSpc>
                          <a:spcPct val="114000"/>
                        </a:lnSpc>
                      </a:pPr>
                      <a:r>
                        <a:rPr sz="900" b="1" i="0">
                          <a:solidFill>
                            <a:srgbClr val="F7F6EF"/>
                          </a:solidFill>
                          <a:latin typeface="Arial"/>
                        </a:rPr>
                        <a:t>Conservative</a:t>
                      </a:r>
                    </a:p>
                  </a:txBody>
                  <a:tcPr marL="64008" marR="64008" marT="41148" marB="41148" anchor="ctr">
                    <a:solidFill>
                      <a:srgbClr val="121821"/>
                    </a:solidFill>
                  </a:tcPr>
                </a:tc>
                <a:tc>
                  <a:txBody>
                    <a:bodyPr wrap="square"/>
                    <a:lstStyle/>
                    <a:p>
                      <a:pPr>
                        <a:lnSpc>
                          <a:spcPct val="114000"/>
                        </a:lnSpc>
                      </a:pPr>
                      <a:r>
                        <a:rPr sz="900" b="0" i="0">
                          <a:solidFill>
                            <a:srgbClr val="F7F6EF"/>
                          </a:solidFill>
                          <a:latin typeface="Arial"/>
                        </a:rPr>
                        <a:t>Y1</a:t>
                      </a:r>
                    </a:p>
                  </a:txBody>
                  <a:tcPr marL="64008" marR="64008" marT="41148" marB="41148" anchor="ctr">
                    <a:solidFill>
                      <a:srgbClr val="121821"/>
                    </a:solidFill>
                  </a:tcPr>
                </a:tc>
                <a:tc>
                  <a:txBody>
                    <a:bodyPr wrap="square"/>
                    <a:lstStyle/>
                    <a:p>
                      <a:pPr>
                        <a:lnSpc>
                          <a:spcPct val="114000"/>
                        </a:lnSpc>
                      </a:pPr>
                      <a:r>
                        <a:rPr sz="900" b="0" i="0">
                          <a:solidFill>
                            <a:srgbClr val="F7F6EF"/>
                          </a:solidFill>
                          <a:latin typeface="Arial"/>
                        </a:rPr>
                        <a:t>25,000</a:t>
                      </a:r>
                    </a:p>
                  </a:txBody>
                  <a:tcPr marL="64008" marR="64008" marT="41148" marB="41148" anchor="ctr">
                    <a:solidFill>
                      <a:srgbClr val="121821"/>
                    </a:solidFill>
                  </a:tcPr>
                </a:tc>
                <a:tc>
                  <a:txBody>
                    <a:bodyPr wrap="square"/>
                    <a:lstStyle/>
                    <a:p>
                      <a:pPr>
                        <a:lnSpc>
                          <a:spcPct val="114000"/>
                        </a:lnSpc>
                      </a:pPr>
                      <a:r>
                        <a:rPr sz="900" b="0" i="0">
                          <a:solidFill>
                            <a:srgbClr val="FFC83D"/>
                          </a:solidFill>
                          <a:latin typeface="Arial"/>
                        </a:rPr>
                        <a:t>$0.3688</a:t>
                      </a:r>
                    </a:p>
                  </a:txBody>
                  <a:tcPr marL="64008" marR="64008" marT="41148" marB="41148" anchor="ctr">
                    <a:solidFill>
                      <a:srgbClr val="121821"/>
                    </a:solidFill>
                  </a:tcPr>
                </a:tc>
                <a:tc>
                  <a:txBody>
                    <a:bodyPr wrap="square"/>
                    <a:lstStyle/>
                    <a:p>
                      <a:pPr>
                        <a:lnSpc>
                          <a:spcPct val="114000"/>
                        </a:lnSpc>
                      </a:pPr>
                      <a:r>
                        <a:rPr sz="900" b="0" i="0">
                          <a:solidFill>
                            <a:srgbClr val="FFC83D"/>
                          </a:solidFill>
                          <a:latin typeface="Arial"/>
                        </a:rPr>
                        <a:t>$9,220</a:t>
                      </a:r>
                    </a:p>
                  </a:txBody>
                  <a:tcPr marL="64008" marR="64008" marT="41148" marB="41148" anchor="ctr">
                    <a:solidFill>
                      <a:srgbClr val="121821"/>
                    </a:solidFill>
                  </a:tcPr>
                </a:tc>
                <a:tc>
                  <a:txBody>
                    <a:bodyPr wrap="square"/>
                    <a:lstStyle/>
                    <a:p>
                      <a:pPr>
                        <a:lnSpc>
                          <a:spcPct val="114000"/>
                        </a:lnSpc>
                      </a:pPr>
                      <a:r>
                        <a:rPr sz="900" b="0" i="0">
                          <a:solidFill>
                            <a:srgbClr val="F7F6EF"/>
                          </a:solidFill>
                          <a:latin typeface="Arial"/>
                        </a:rPr>
                        <a:t>2,083</a:t>
                      </a:r>
                    </a:p>
                  </a:txBody>
                  <a:tcPr marL="64008" marR="64008" marT="41148" marB="41148" anchor="ctr">
                    <a:solidFill>
                      <a:srgbClr val="121821"/>
                    </a:solidFill>
                  </a:tcPr>
                </a:tc>
                <a:tc>
                  <a:txBody>
                    <a:bodyPr wrap="square"/>
                    <a:lstStyle/>
                    <a:p>
                      <a:pPr>
                        <a:lnSpc>
                          <a:spcPct val="114000"/>
                        </a:lnSpc>
                      </a:pPr>
                      <a:r>
                        <a:rPr sz="900" b="0" i="0">
                          <a:solidFill>
                            <a:srgbClr val="F7F6EF"/>
                          </a:solidFill>
                          <a:latin typeface="Arial"/>
                        </a:rPr>
                        <a:t>2,154</a:t>
                      </a:r>
                    </a:p>
                  </a:txBody>
                  <a:tcPr marL="64008" marR="64008" marT="41148" marB="41148" anchor="ctr">
                    <a:solidFill>
                      <a:srgbClr val="121821"/>
                    </a:solidFill>
                  </a:tcPr>
                </a:tc>
                <a:tc>
                  <a:txBody>
                    <a:bodyPr wrap="square"/>
                    <a:lstStyle/>
                    <a:p>
                      <a:pPr>
                        <a:lnSpc>
                          <a:spcPct val="114000"/>
                        </a:lnSpc>
                      </a:pPr>
                      <a:r>
                        <a:rPr sz="900" b="0" i="0">
                          <a:solidFill>
                            <a:srgbClr val="FFC83D"/>
                          </a:solidFill>
                          <a:latin typeface="Arial"/>
                        </a:rPr>
                        <a:t>$4.28</a:t>
                      </a:r>
                    </a:p>
                  </a:txBody>
                  <a:tcPr marL="64008" marR="64008" marT="41148" marB="41148" anchor="ctr">
                    <a:solidFill>
                      <a:srgbClr val="121821"/>
                    </a:solidFill>
                  </a:tcPr>
                </a:tc>
              </a:tr>
              <a:tr h="215020">
                <a:tc>
                  <a:txBody>
                    <a:bodyPr wrap="square"/>
                    <a:lstStyle/>
                    <a:p>
                      <a:pPr>
                        <a:lnSpc>
                          <a:spcPct val="114000"/>
                        </a:lnSpc>
                      </a:pPr>
                      <a:r>
                        <a:rPr sz="900" b="1" i="0">
                          <a:solidFill>
                            <a:srgbClr val="F7F6EF"/>
                          </a:solidFill>
                          <a:latin typeface="Arial"/>
                        </a:rPr>
                        <a:t>Conservative</a:t>
                      </a:r>
                    </a:p>
                  </a:txBody>
                  <a:tcPr marL="64008" marR="64008" marT="41148" marB="41148" anchor="ctr">
                    <a:solidFill>
                      <a:srgbClr val="0D131B"/>
                    </a:solidFill>
                  </a:tcPr>
                </a:tc>
                <a:tc>
                  <a:txBody>
                    <a:bodyPr wrap="square"/>
                    <a:lstStyle/>
                    <a:p>
                      <a:pPr>
                        <a:lnSpc>
                          <a:spcPct val="114000"/>
                        </a:lnSpc>
                      </a:pPr>
                      <a:r>
                        <a:rPr sz="900" b="0" i="0">
                          <a:solidFill>
                            <a:srgbClr val="F7F6EF"/>
                          </a:solidFill>
                          <a:latin typeface="Arial"/>
                        </a:rPr>
                        <a:t>Y2</a:t>
                      </a:r>
                    </a:p>
                  </a:txBody>
                  <a:tcPr marL="64008" marR="64008" marT="41148" marB="41148" anchor="ctr">
                    <a:solidFill>
                      <a:srgbClr val="0D131B"/>
                    </a:solidFill>
                  </a:tcPr>
                </a:tc>
                <a:tc>
                  <a:txBody>
                    <a:bodyPr wrap="square"/>
                    <a:lstStyle/>
                    <a:p>
                      <a:pPr>
                        <a:lnSpc>
                          <a:spcPct val="114000"/>
                        </a:lnSpc>
                      </a:pPr>
                      <a:r>
                        <a:rPr sz="900" b="0" i="0">
                          <a:solidFill>
                            <a:srgbClr val="F7F6EF"/>
                          </a:solidFill>
                          <a:latin typeface="Arial"/>
                        </a:rPr>
                        <a:t>90,000</a:t>
                      </a:r>
                    </a:p>
                  </a:txBody>
                  <a:tcPr marL="64008" marR="64008" marT="41148" marB="41148" anchor="ctr">
                    <a:solidFill>
                      <a:srgbClr val="0D131B"/>
                    </a:solidFill>
                  </a:tcPr>
                </a:tc>
                <a:tc>
                  <a:txBody>
                    <a:bodyPr wrap="square"/>
                    <a:lstStyle/>
                    <a:p>
                      <a:pPr>
                        <a:lnSpc>
                          <a:spcPct val="114000"/>
                        </a:lnSpc>
                      </a:pPr>
                      <a:r>
                        <a:rPr sz="900" b="0" i="0">
                          <a:solidFill>
                            <a:srgbClr val="FFC83D"/>
                          </a:solidFill>
                          <a:latin typeface="Arial"/>
                        </a:rPr>
                        <a:t>$0.3688</a:t>
                      </a:r>
                    </a:p>
                  </a:txBody>
                  <a:tcPr marL="64008" marR="64008" marT="41148" marB="41148" anchor="ctr">
                    <a:solidFill>
                      <a:srgbClr val="0D131B"/>
                    </a:solidFill>
                  </a:tcPr>
                </a:tc>
                <a:tc>
                  <a:txBody>
                    <a:bodyPr wrap="square"/>
                    <a:lstStyle/>
                    <a:p>
                      <a:pPr>
                        <a:lnSpc>
                          <a:spcPct val="114000"/>
                        </a:lnSpc>
                      </a:pPr>
                      <a:r>
                        <a:rPr sz="900" b="0" i="0">
                          <a:solidFill>
                            <a:srgbClr val="FFC83D"/>
                          </a:solidFill>
                          <a:latin typeface="Arial"/>
                        </a:rPr>
                        <a:t>$33,193</a:t>
                      </a:r>
                    </a:p>
                  </a:txBody>
                  <a:tcPr marL="64008" marR="64008" marT="41148" marB="41148" anchor="ctr">
                    <a:solidFill>
                      <a:srgbClr val="0D131B"/>
                    </a:solidFill>
                  </a:tcPr>
                </a:tc>
                <a:tc>
                  <a:txBody>
                    <a:bodyPr wrap="square"/>
                    <a:lstStyle/>
                    <a:p>
                      <a:pPr>
                        <a:lnSpc>
                          <a:spcPct val="114000"/>
                        </a:lnSpc>
                      </a:pPr>
                      <a:r>
                        <a:rPr sz="900" b="0" i="0">
                          <a:solidFill>
                            <a:srgbClr val="F7F6EF"/>
                          </a:solidFill>
                          <a:latin typeface="Arial"/>
                        </a:rPr>
                        <a:t>7,500</a:t>
                      </a:r>
                    </a:p>
                  </a:txBody>
                  <a:tcPr marL="64008" marR="64008" marT="41148" marB="41148" anchor="ctr">
                    <a:solidFill>
                      <a:srgbClr val="0D131B"/>
                    </a:solidFill>
                  </a:tcPr>
                </a:tc>
                <a:tc>
                  <a:txBody>
                    <a:bodyPr wrap="square"/>
                    <a:lstStyle/>
                    <a:p>
                      <a:pPr>
                        <a:lnSpc>
                          <a:spcPct val="114000"/>
                        </a:lnSpc>
                      </a:pPr>
                      <a:r>
                        <a:rPr sz="900" b="0" i="0">
                          <a:solidFill>
                            <a:srgbClr val="F7F6EF"/>
                          </a:solidFill>
                          <a:latin typeface="Arial"/>
                        </a:rPr>
                        <a:t>7,755</a:t>
                      </a:r>
                    </a:p>
                  </a:txBody>
                  <a:tcPr marL="64008" marR="64008" marT="41148" marB="41148" anchor="ctr">
                    <a:solidFill>
                      <a:srgbClr val="0D131B"/>
                    </a:solidFill>
                  </a:tcPr>
                </a:tc>
                <a:tc>
                  <a:txBody>
                    <a:bodyPr wrap="square"/>
                    <a:lstStyle/>
                    <a:p>
                      <a:pPr>
                        <a:lnSpc>
                          <a:spcPct val="114000"/>
                        </a:lnSpc>
                      </a:pPr>
                      <a:r>
                        <a:rPr sz="900" b="0" i="0">
                          <a:solidFill>
                            <a:srgbClr val="FFC83D"/>
                          </a:solidFill>
                          <a:latin typeface="Arial"/>
                        </a:rPr>
                        <a:t>$4.28</a:t>
                      </a:r>
                    </a:p>
                  </a:txBody>
                  <a:tcPr marL="64008" marR="64008" marT="41148" marB="41148" anchor="ctr">
                    <a:solidFill>
                      <a:srgbClr val="0D131B"/>
                    </a:solidFill>
                  </a:tcPr>
                </a:tc>
              </a:tr>
              <a:tr h="215020">
                <a:tc>
                  <a:txBody>
                    <a:bodyPr wrap="square"/>
                    <a:lstStyle/>
                    <a:p>
                      <a:pPr>
                        <a:lnSpc>
                          <a:spcPct val="114000"/>
                        </a:lnSpc>
                      </a:pPr>
                      <a:r>
                        <a:rPr sz="900" b="1" i="0">
                          <a:solidFill>
                            <a:srgbClr val="F7F6EF"/>
                          </a:solidFill>
                          <a:latin typeface="Arial"/>
                        </a:rPr>
                        <a:t>Conservative</a:t>
                      </a:r>
                    </a:p>
                  </a:txBody>
                  <a:tcPr marL="64008" marR="64008" marT="41148" marB="41148" anchor="ctr">
                    <a:solidFill>
                      <a:srgbClr val="121821"/>
                    </a:solidFill>
                  </a:tcPr>
                </a:tc>
                <a:tc>
                  <a:txBody>
                    <a:bodyPr wrap="square"/>
                    <a:lstStyle/>
                    <a:p>
                      <a:pPr>
                        <a:lnSpc>
                          <a:spcPct val="114000"/>
                        </a:lnSpc>
                      </a:pPr>
                      <a:r>
                        <a:rPr sz="900" b="0" i="0">
                          <a:solidFill>
                            <a:srgbClr val="F7F6EF"/>
                          </a:solidFill>
                          <a:latin typeface="Arial"/>
                        </a:rPr>
                        <a:t>Y3</a:t>
                      </a:r>
                    </a:p>
                  </a:txBody>
                  <a:tcPr marL="64008" marR="64008" marT="41148" marB="41148" anchor="ctr">
                    <a:solidFill>
                      <a:srgbClr val="121821"/>
                    </a:solidFill>
                  </a:tcPr>
                </a:tc>
                <a:tc>
                  <a:txBody>
                    <a:bodyPr wrap="square"/>
                    <a:lstStyle/>
                    <a:p>
                      <a:pPr>
                        <a:lnSpc>
                          <a:spcPct val="114000"/>
                        </a:lnSpc>
                      </a:pPr>
                      <a:r>
                        <a:rPr sz="900" b="0" i="0">
                          <a:solidFill>
                            <a:srgbClr val="F7F6EF"/>
                          </a:solidFill>
                          <a:latin typeface="Arial"/>
                        </a:rPr>
                        <a:t>250,000</a:t>
                      </a:r>
                    </a:p>
                  </a:txBody>
                  <a:tcPr marL="64008" marR="64008" marT="41148" marB="41148" anchor="ctr">
                    <a:solidFill>
                      <a:srgbClr val="121821"/>
                    </a:solidFill>
                  </a:tcPr>
                </a:tc>
                <a:tc>
                  <a:txBody>
                    <a:bodyPr wrap="square"/>
                    <a:lstStyle/>
                    <a:p>
                      <a:pPr>
                        <a:lnSpc>
                          <a:spcPct val="114000"/>
                        </a:lnSpc>
                      </a:pPr>
                      <a:r>
                        <a:rPr sz="900" b="0" i="0">
                          <a:solidFill>
                            <a:srgbClr val="FFC83D"/>
                          </a:solidFill>
                          <a:latin typeface="Arial"/>
                        </a:rPr>
                        <a:t>$0.3688</a:t>
                      </a:r>
                    </a:p>
                  </a:txBody>
                  <a:tcPr marL="64008" marR="64008" marT="41148" marB="41148" anchor="ctr">
                    <a:solidFill>
                      <a:srgbClr val="121821"/>
                    </a:solidFill>
                  </a:tcPr>
                </a:tc>
                <a:tc>
                  <a:txBody>
                    <a:bodyPr wrap="square"/>
                    <a:lstStyle/>
                    <a:p>
                      <a:pPr>
                        <a:lnSpc>
                          <a:spcPct val="114000"/>
                        </a:lnSpc>
                      </a:pPr>
                      <a:r>
                        <a:rPr sz="900" b="0" i="0">
                          <a:solidFill>
                            <a:srgbClr val="FFC83D"/>
                          </a:solidFill>
                          <a:latin typeface="Arial"/>
                        </a:rPr>
                        <a:t>$92,202</a:t>
                      </a:r>
                    </a:p>
                  </a:txBody>
                  <a:tcPr marL="64008" marR="64008" marT="41148" marB="41148" anchor="ctr">
                    <a:solidFill>
                      <a:srgbClr val="121821"/>
                    </a:solidFill>
                  </a:tcPr>
                </a:tc>
                <a:tc>
                  <a:txBody>
                    <a:bodyPr wrap="square"/>
                    <a:lstStyle/>
                    <a:p>
                      <a:pPr>
                        <a:lnSpc>
                          <a:spcPct val="114000"/>
                        </a:lnSpc>
                      </a:pPr>
                      <a:r>
                        <a:rPr sz="900" b="0" i="0">
                          <a:solidFill>
                            <a:srgbClr val="F7F6EF"/>
                          </a:solidFill>
                          <a:latin typeface="Arial"/>
                        </a:rPr>
                        <a:t>20,833</a:t>
                      </a:r>
                    </a:p>
                  </a:txBody>
                  <a:tcPr marL="64008" marR="64008" marT="41148" marB="41148" anchor="ctr">
                    <a:solidFill>
                      <a:srgbClr val="121821"/>
                    </a:solidFill>
                  </a:tcPr>
                </a:tc>
                <a:tc>
                  <a:txBody>
                    <a:bodyPr wrap="square"/>
                    <a:lstStyle/>
                    <a:p>
                      <a:pPr>
                        <a:lnSpc>
                          <a:spcPct val="114000"/>
                        </a:lnSpc>
                      </a:pPr>
                      <a:r>
                        <a:rPr sz="900" b="0" i="0">
                          <a:solidFill>
                            <a:srgbClr val="F7F6EF"/>
                          </a:solidFill>
                          <a:latin typeface="Arial"/>
                        </a:rPr>
                        <a:t>21,542</a:t>
                      </a:r>
                    </a:p>
                  </a:txBody>
                  <a:tcPr marL="64008" marR="64008" marT="41148" marB="41148" anchor="ctr">
                    <a:solidFill>
                      <a:srgbClr val="121821"/>
                    </a:solidFill>
                  </a:tcPr>
                </a:tc>
                <a:tc>
                  <a:txBody>
                    <a:bodyPr wrap="square"/>
                    <a:lstStyle/>
                    <a:p>
                      <a:pPr>
                        <a:lnSpc>
                          <a:spcPct val="114000"/>
                        </a:lnSpc>
                      </a:pPr>
                      <a:r>
                        <a:rPr sz="900" b="0" i="0">
                          <a:solidFill>
                            <a:srgbClr val="FFC83D"/>
                          </a:solidFill>
                          <a:latin typeface="Arial"/>
                        </a:rPr>
                        <a:t>$4.28</a:t>
                      </a:r>
                    </a:p>
                  </a:txBody>
                  <a:tcPr marL="64008" marR="64008" marT="41148" marB="41148" anchor="ctr">
                    <a:solidFill>
                      <a:srgbClr val="121821"/>
                    </a:solidFill>
                  </a:tcPr>
                </a:tc>
              </a:tr>
              <a:tr h="215020">
                <a:tc>
                  <a:txBody>
                    <a:bodyPr wrap="square"/>
                    <a:lstStyle/>
                    <a:p>
                      <a:pPr>
                        <a:lnSpc>
                          <a:spcPct val="114000"/>
                        </a:lnSpc>
                      </a:pPr>
                      <a:r>
                        <a:rPr sz="900" b="1" i="0">
                          <a:solidFill>
                            <a:srgbClr val="F7F6EF"/>
                          </a:solidFill>
                          <a:latin typeface="Arial"/>
                        </a:rPr>
                        <a:t>Conservative</a:t>
                      </a:r>
                    </a:p>
                  </a:txBody>
                  <a:tcPr marL="64008" marR="64008" marT="41148" marB="41148" anchor="ctr">
                    <a:solidFill>
                      <a:srgbClr val="0D131B"/>
                    </a:solidFill>
                  </a:tcPr>
                </a:tc>
                <a:tc>
                  <a:txBody>
                    <a:bodyPr wrap="square"/>
                    <a:lstStyle/>
                    <a:p>
                      <a:pPr>
                        <a:lnSpc>
                          <a:spcPct val="114000"/>
                        </a:lnSpc>
                      </a:pPr>
                      <a:r>
                        <a:rPr sz="900" b="0" i="0">
                          <a:solidFill>
                            <a:srgbClr val="F7F6EF"/>
                          </a:solidFill>
                          <a:latin typeface="Arial"/>
                        </a:rPr>
                        <a:t>3-yr</a:t>
                      </a:r>
                    </a:p>
                  </a:txBody>
                  <a:tcPr marL="64008" marR="64008" marT="41148" marB="41148" anchor="ctr">
                    <a:solidFill>
                      <a:srgbClr val="0D131B"/>
                    </a:solidFill>
                  </a:tcPr>
                </a:tc>
                <a:tc>
                  <a:txBody>
                    <a:bodyPr wrap="square"/>
                    <a:lstStyle/>
                    <a:p>
                      <a:pPr>
                        <a:lnSpc>
                          <a:spcPct val="114000"/>
                        </a:lnSpc>
                      </a:pPr>
                      <a:r>
                        <a:rPr sz="900" b="0" i="0">
                          <a:solidFill>
                            <a:srgbClr val="F7F6EF"/>
                          </a:solidFill>
                          <a:latin typeface="Arial"/>
                        </a:rPr>
                        <a:t>365,000</a:t>
                      </a:r>
                    </a:p>
                  </a:txBody>
                  <a:tcPr marL="64008" marR="64008" marT="41148" marB="41148" anchor="ctr">
                    <a:solidFill>
                      <a:srgbClr val="0D131B"/>
                    </a:solidFill>
                  </a:tcPr>
                </a:tc>
                <a:tc>
                  <a:txBody>
                    <a:bodyPr wrap="square"/>
                    <a:lstStyle/>
                    <a:p>
                      <a:pPr>
                        <a:lnSpc>
                          <a:spcPct val="114000"/>
                        </a:lnSpc>
                      </a:pPr>
                      <a:r>
                        <a:rPr sz="900" b="0" i="0">
                          <a:solidFill>
                            <a:srgbClr val="F7F6EF"/>
                          </a:solidFill>
                          <a:latin typeface="Arial"/>
                        </a:rPr>
                        <a:t>—</a:t>
                      </a:r>
                    </a:p>
                  </a:txBody>
                  <a:tcPr marL="64008" marR="64008" marT="41148" marB="41148" anchor="ctr">
                    <a:solidFill>
                      <a:srgbClr val="0D131B"/>
                    </a:solidFill>
                  </a:tcPr>
                </a:tc>
                <a:tc>
                  <a:txBody>
                    <a:bodyPr wrap="square"/>
                    <a:lstStyle/>
                    <a:p>
                      <a:pPr>
                        <a:lnSpc>
                          <a:spcPct val="114000"/>
                        </a:lnSpc>
                      </a:pPr>
                      <a:r>
                        <a:rPr sz="900" b="0" i="0">
                          <a:solidFill>
                            <a:srgbClr val="FFC83D"/>
                          </a:solidFill>
                          <a:latin typeface="Arial"/>
                        </a:rPr>
                        <a:t>$134,615</a:t>
                      </a:r>
                    </a:p>
                  </a:txBody>
                  <a:tcPr marL="64008" marR="64008" marT="41148" marB="41148" anchor="ctr">
                    <a:solidFill>
                      <a:srgbClr val="0D131B"/>
                    </a:solidFill>
                  </a:tcPr>
                </a:tc>
                <a:tc>
                  <a:txBody>
                    <a:bodyPr wrap="square"/>
                    <a:lstStyle/>
                    <a:p>
                      <a:pPr>
                        <a:lnSpc>
                          <a:spcPct val="114000"/>
                        </a:lnSpc>
                      </a:pPr>
                      <a:r>
                        <a:rPr sz="900" b="0" i="0">
                          <a:solidFill>
                            <a:srgbClr val="F7F6EF"/>
                          </a:solidFill>
                          <a:latin typeface="Arial"/>
                        </a:rPr>
                        <a:t>—</a:t>
                      </a:r>
                    </a:p>
                  </a:txBody>
                  <a:tcPr marL="64008" marR="64008" marT="41148" marB="41148" anchor="ctr">
                    <a:solidFill>
                      <a:srgbClr val="0D131B"/>
                    </a:solidFill>
                  </a:tcPr>
                </a:tc>
                <a:tc>
                  <a:txBody>
                    <a:bodyPr wrap="square"/>
                    <a:lstStyle/>
                    <a:p>
                      <a:pPr>
                        <a:lnSpc>
                          <a:spcPct val="114000"/>
                        </a:lnSpc>
                      </a:pPr>
                      <a:r>
                        <a:rPr sz="900" b="0" i="0">
                          <a:solidFill>
                            <a:srgbClr val="F7F6EF"/>
                          </a:solidFill>
                          <a:latin typeface="Arial"/>
                        </a:rPr>
                        <a:t>—</a:t>
                      </a:r>
                    </a:p>
                  </a:txBody>
                  <a:tcPr marL="64008" marR="64008" marT="41148" marB="41148" anchor="ctr">
                    <a:solidFill>
                      <a:srgbClr val="0D131B"/>
                    </a:solidFill>
                  </a:tcPr>
                </a:tc>
                <a:tc>
                  <a:txBody>
                    <a:bodyPr wrap="square"/>
                    <a:lstStyle/>
                    <a:p>
                      <a:pPr>
                        <a:lnSpc>
                          <a:spcPct val="114000"/>
                        </a:lnSpc>
                      </a:pPr>
                      <a:r>
                        <a:rPr sz="900" b="0" i="0">
                          <a:solidFill>
                            <a:srgbClr val="F7F6EF"/>
                          </a:solidFill>
                          <a:latin typeface="Arial"/>
                        </a:rPr>
                        <a:t>—</a:t>
                      </a:r>
                    </a:p>
                  </a:txBody>
                  <a:tcPr marL="64008" marR="64008" marT="41148" marB="41148" anchor="ctr">
                    <a:solidFill>
                      <a:srgbClr val="0D131B"/>
                    </a:solidFill>
                  </a:tcPr>
                </a:tc>
              </a:tr>
              <a:tr h="215020">
                <a:tc>
                  <a:txBody>
                    <a:bodyPr wrap="square"/>
                    <a:lstStyle/>
                    <a:p>
                      <a:pPr>
                        <a:lnSpc>
                          <a:spcPct val="114000"/>
                        </a:lnSpc>
                      </a:pPr>
                      <a:r>
                        <a:rPr sz="900" b="1" i="0">
                          <a:solidFill>
                            <a:srgbClr val="F7F6EF"/>
                          </a:solidFill>
                          <a:latin typeface="Arial"/>
                        </a:rPr>
                        <a:t>Base</a:t>
                      </a:r>
                    </a:p>
                  </a:txBody>
                  <a:tcPr marL="64008" marR="64008" marT="41148" marB="41148" anchor="ctr">
                    <a:solidFill>
                      <a:srgbClr val="121821"/>
                    </a:solidFill>
                  </a:tcPr>
                </a:tc>
                <a:tc>
                  <a:txBody>
                    <a:bodyPr wrap="square"/>
                    <a:lstStyle/>
                    <a:p>
                      <a:pPr>
                        <a:lnSpc>
                          <a:spcPct val="114000"/>
                        </a:lnSpc>
                      </a:pPr>
                      <a:r>
                        <a:rPr sz="900" b="0" i="0">
                          <a:solidFill>
                            <a:srgbClr val="F7F6EF"/>
                          </a:solidFill>
                          <a:latin typeface="Arial"/>
                        </a:rPr>
                        <a:t>Y1</a:t>
                      </a:r>
                    </a:p>
                  </a:txBody>
                  <a:tcPr marL="64008" marR="64008" marT="41148" marB="41148" anchor="ctr">
                    <a:solidFill>
                      <a:srgbClr val="121821"/>
                    </a:solidFill>
                  </a:tcPr>
                </a:tc>
                <a:tc>
                  <a:txBody>
                    <a:bodyPr wrap="square"/>
                    <a:lstStyle/>
                    <a:p>
                      <a:pPr>
                        <a:lnSpc>
                          <a:spcPct val="114000"/>
                        </a:lnSpc>
                      </a:pPr>
                      <a:r>
                        <a:rPr sz="900" b="0" i="0">
                          <a:solidFill>
                            <a:srgbClr val="F7F6EF"/>
                          </a:solidFill>
                          <a:latin typeface="Arial"/>
                        </a:rPr>
                        <a:t>75,000</a:t>
                      </a:r>
                    </a:p>
                  </a:txBody>
                  <a:tcPr marL="64008" marR="64008" marT="41148" marB="41148" anchor="ctr">
                    <a:solidFill>
                      <a:srgbClr val="121821"/>
                    </a:solidFill>
                  </a:tcPr>
                </a:tc>
                <a:tc>
                  <a:txBody>
                    <a:bodyPr wrap="square"/>
                    <a:lstStyle/>
                    <a:p>
                      <a:pPr>
                        <a:lnSpc>
                          <a:spcPct val="114000"/>
                        </a:lnSpc>
                      </a:pPr>
                      <a:r>
                        <a:rPr sz="900" b="0" i="0">
                          <a:solidFill>
                            <a:srgbClr val="FFC83D"/>
                          </a:solidFill>
                          <a:latin typeface="Arial"/>
                        </a:rPr>
                        <a:t>$1.3588</a:t>
                      </a:r>
                    </a:p>
                  </a:txBody>
                  <a:tcPr marL="64008" marR="64008" marT="41148" marB="41148" anchor="ctr">
                    <a:solidFill>
                      <a:srgbClr val="121821"/>
                    </a:solidFill>
                  </a:tcPr>
                </a:tc>
                <a:tc>
                  <a:txBody>
                    <a:bodyPr wrap="square"/>
                    <a:lstStyle/>
                    <a:p>
                      <a:pPr>
                        <a:lnSpc>
                          <a:spcPct val="114000"/>
                        </a:lnSpc>
                      </a:pPr>
                      <a:r>
                        <a:rPr sz="900" b="0" i="0">
                          <a:solidFill>
                            <a:srgbClr val="FFC83D"/>
                          </a:solidFill>
                          <a:latin typeface="Arial"/>
                        </a:rPr>
                        <a:t>$101,907</a:t>
                      </a:r>
                    </a:p>
                  </a:txBody>
                  <a:tcPr marL="64008" marR="64008" marT="41148" marB="41148" anchor="ctr">
                    <a:solidFill>
                      <a:srgbClr val="121821"/>
                    </a:solidFill>
                  </a:tcPr>
                </a:tc>
                <a:tc>
                  <a:txBody>
                    <a:bodyPr wrap="square"/>
                    <a:lstStyle/>
                    <a:p>
                      <a:pPr>
                        <a:lnSpc>
                          <a:spcPct val="114000"/>
                        </a:lnSpc>
                      </a:pPr>
                      <a:r>
                        <a:rPr sz="900" b="0" i="0">
                          <a:solidFill>
                            <a:srgbClr val="F7F6EF"/>
                          </a:solidFill>
                          <a:latin typeface="Arial"/>
                        </a:rPr>
                        <a:t>6,250</a:t>
                      </a:r>
                    </a:p>
                  </a:txBody>
                  <a:tcPr marL="64008" marR="64008" marT="41148" marB="41148" anchor="ctr">
                    <a:solidFill>
                      <a:srgbClr val="121821"/>
                    </a:solidFill>
                  </a:tcPr>
                </a:tc>
                <a:tc>
                  <a:txBody>
                    <a:bodyPr wrap="square"/>
                    <a:lstStyle/>
                    <a:p>
                      <a:pPr>
                        <a:lnSpc>
                          <a:spcPct val="114000"/>
                        </a:lnSpc>
                      </a:pPr>
                      <a:r>
                        <a:rPr sz="900" b="0" i="0">
                          <a:solidFill>
                            <a:srgbClr val="F7F6EF"/>
                          </a:solidFill>
                          <a:latin typeface="Arial"/>
                        </a:rPr>
                        <a:t>6,619</a:t>
                      </a:r>
                    </a:p>
                  </a:txBody>
                  <a:tcPr marL="64008" marR="64008" marT="41148" marB="41148" anchor="ctr">
                    <a:solidFill>
                      <a:srgbClr val="121821"/>
                    </a:solidFill>
                  </a:tcPr>
                </a:tc>
                <a:tc>
                  <a:txBody>
                    <a:bodyPr wrap="square"/>
                    <a:lstStyle/>
                    <a:p>
                      <a:pPr>
                        <a:lnSpc>
                          <a:spcPct val="114000"/>
                        </a:lnSpc>
                      </a:pPr>
                      <a:r>
                        <a:rPr sz="900" b="0" i="0">
                          <a:solidFill>
                            <a:srgbClr val="FFC83D"/>
                          </a:solidFill>
                          <a:latin typeface="Arial"/>
                        </a:rPr>
                        <a:t>$15.40</a:t>
                      </a:r>
                    </a:p>
                  </a:txBody>
                  <a:tcPr marL="64008" marR="64008" marT="41148" marB="41148" anchor="ctr">
                    <a:solidFill>
                      <a:srgbClr val="121821"/>
                    </a:solidFill>
                  </a:tcPr>
                </a:tc>
              </a:tr>
              <a:tr h="215020">
                <a:tc>
                  <a:txBody>
                    <a:bodyPr wrap="square"/>
                    <a:lstStyle/>
                    <a:p>
                      <a:pPr>
                        <a:lnSpc>
                          <a:spcPct val="114000"/>
                        </a:lnSpc>
                      </a:pPr>
                      <a:r>
                        <a:rPr sz="900" b="1" i="0">
                          <a:solidFill>
                            <a:srgbClr val="F7F6EF"/>
                          </a:solidFill>
                          <a:latin typeface="Arial"/>
                        </a:rPr>
                        <a:t>Base</a:t>
                      </a:r>
                    </a:p>
                  </a:txBody>
                  <a:tcPr marL="64008" marR="64008" marT="41148" marB="41148" anchor="ctr">
                    <a:solidFill>
                      <a:srgbClr val="0D131B"/>
                    </a:solidFill>
                  </a:tcPr>
                </a:tc>
                <a:tc>
                  <a:txBody>
                    <a:bodyPr wrap="square"/>
                    <a:lstStyle/>
                    <a:p>
                      <a:pPr>
                        <a:lnSpc>
                          <a:spcPct val="114000"/>
                        </a:lnSpc>
                      </a:pPr>
                      <a:r>
                        <a:rPr sz="900" b="0" i="0">
                          <a:solidFill>
                            <a:srgbClr val="F7F6EF"/>
                          </a:solidFill>
                          <a:latin typeface="Arial"/>
                        </a:rPr>
                        <a:t>Y2</a:t>
                      </a:r>
                    </a:p>
                  </a:txBody>
                  <a:tcPr marL="64008" marR="64008" marT="41148" marB="41148" anchor="ctr">
                    <a:solidFill>
                      <a:srgbClr val="0D131B"/>
                    </a:solidFill>
                  </a:tcPr>
                </a:tc>
                <a:tc>
                  <a:txBody>
                    <a:bodyPr wrap="square"/>
                    <a:lstStyle/>
                    <a:p>
                      <a:pPr>
                        <a:lnSpc>
                          <a:spcPct val="114000"/>
                        </a:lnSpc>
                      </a:pPr>
                      <a:r>
                        <a:rPr sz="900" b="0" i="0">
                          <a:solidFill>
                            <a:srgbClr val="F7F6EF"/>
                          </a:solidFill>
                          <a:latin typeface="Arial"/>
                        </a:rPr>
                        <a:t>350,000</a:t>
                      </a:r>
                    </a:p>
                  </a:txBody>
                  <a:tcPr marL="64008" marR="64008" marT="41148" marB="41148" anchor="ctr">
                    <a:solidFill>
                      <a:srgbClr val="0D131B"/>
                    </a:solidFill>
                  </a:tcPr>
                </a:tc>
                <a:tc>
                  <a:txBody>
                    <a:bodyPr wrap="square"/>
                    <a:lstStyle/>
                    <a:p>
                      <a:pPr>
                        <a:lnSpc>
                          <a:spcPct val="114000"/>
                        </a:lnSpc>
                      </a:pPr>
                      <a:r>
                        <a:rPr sz="900" b="0" i="0">
                          <a:solidFill>
                            <a:srgbClr val="FFC83D"/>
                          </a:solidFill>
                          <a:latin typeface="Arial"/>
                        </a:rPr>
                        <a:t>$1.3588</a:t>
                      </a:r>
                    </a:p>
                  </a:txBody>
                  <a:tcPr marL="64008" marR="64008" marT="41148" marB="41148" anchor="ctr">
                    <a:solidFill>
                      <a:srgbClr val="0D131B"/>
                    </a:solidFill>
                  </a:tcPr>
                </a:tc>
                <a:tc>
                  <a:txBody>
                    <a:bodyPr wrap="square"/>
                    <a:lstStyle/>
                    <a:p>
                      <a:pPr>
                        <a:lnSpc>
                          <a:spcPct val="114000"/>
                        </a:lnSpc>
                      </a:pPr>
                      <a:r>
                        <a:rPr sz="900" b="0" i="0">
                          <a:solidFill>
                            <a:srgbClr val="FFC83D"/>
                          </a:solidFill>
                          <a:latin typeface="Arial"/>
                        </a:rPr>
                        <a:t>$475,567</a:t>
                      </a:r>
                    </a:p>
                  </a:txBody>
                  <a:tcPr marL="64008" marR="64008" marT="41148" marB="41148" anchor="ctr">
                    <a:solidFill>
                      <a:srgbClr val="0D131B"/>
                    </a:solidFill>
                  </a:tcPr>
                </a:tc>
                <a:tc>
                  <a:txBody>
                    <a:bodyPr wrap="square"/>
                    <a:lstStyle/>
                    <a:p>
                      <a:pPr>
                        <a:lnSpc>
                          <a:spcPct val="114000"/>
                        </a:lnSpc>
                      </a:pPr>
                      <a:r>
                        <a:rPr sz="900" b="0" i="0">
                          <a:solidFill>
                            <a:srgbClr val="F7F6EF"/>
                          </a:solidFill>
                          <a:latin typeface="Arial"/>
                        </a:rPr>
                        <a:t>29,167</a:t>
                      </a:r>
                    </a:p>
                  </a:txBody>
                  <a:tcPr marL="64008" marR="64008" marT="41148" marB="41148" anchor="ctr">
                    <a:solidFill>
                      <a:srgbClr val="0D131B"/>
                    </a:solidFill>
                  </a:tcPr>
                </a:tc>
                <a:tc>
                  <a:txBody>
                    <a:bodyPr wrap="square"/>
                    <a:lstStyle/>
                    <a:p>
                      <a:pPr>
                        <a:lnSpc>
                          <a:spcPct val="114000"/>
                        </a:lnSpc>
                      </a:pPr>
                      <a:r>
                        <a:rPr sz="900" b="0" i="0">
                          <a:solidFill>
                            <a:srgbClr val="F7F6EF"/>
                          </a:solidFill>
                          <a:latin typeface="Arial"/>
                        </a:rPr>
                        <a:t>30,888</a:t>
                      </a:r>
                    </a:p>
                  </a:txBody>
                  <a:tcPr marL="64008" marR="64008" marT="41148" marB="41148" anchor="ctr">
                    <a:solidFill>
                      <a:srgbClr val="0D131B"/>
                    </a:solidFill>
                  </a:tcPr>
                </a:tc>
                <a:tc>
                  <a:txBody>
                    <a:bodyPr wrap="square"/>
                    <a:lstStyle/>
                    <a:p>
                      <a:pPr>
                        <a:lnSpc>
                          <a:spcPct val="114000"/>
                        </a:lnSpc>
                      </a:pPr>
                      <a:r>
                        <a:rPr sz="900" b="0" i="0">
                          <a:solidFill>
                            <a:srgbClr val="FFC83D"/>
                          </a:solidFill>
                          <a:latin typeface="Arial"/>
                        </a:rPr>
                        <a:t>$15.40</a:t>
                      </a:r>
                    </a:p>
                  </a:txBody>
                  <a:tcPr marL="64008" marR="64008" marT="41148" marB="41148" anchor="ctr">
                    <a:solidFill>
                      <a:srgbClr val="0D131B"/>
                    </a:solidFill>
                  </a:tcPr>
                </a:tc>
              </a:tr>
              <a:tr h="215020">
                <a:tc>
                  <a:txBody>
                    <a:bodyPr wrap="square"/>
                    <a:lstStyle/>
                    <a:p>
                      <a:pPr>
                        <a:lnSpc>
                          <a:spcPct val="114000"/>
                        </a:lnSpc>
                      </a:pPr>
                      <a:r>
                        <a:rPr sz="900" b="1" i="0">
                          <a:solidFill>
                            <a:srgbClr val="F7F6EF"/>
                          </a:solidFill>
                          <a:latin typeface="Arial"/>
                        </a:rPr>
                        <a:t>Base</a:t>
                      </a:r>
                    </a:p>
                  </a:txBody>
                  <a:tcPr marL="64008" marR="64008" marT="41148" marB="41148" anchor="ctr">
                    <a:solidFill>
                      <a:srgbClr val="121821"/>
                    </a:solidFill>
                  </a:tcPr>
                </a:tc>
                <a:tc>
                  <a:txBody>
                    <a:bodyPr wrap="square"/>
                    <a:lstStyle/>
                    <a:p>
                      <a:pPr>
                        <a:lnSpc>
                          <a:spcPct val="114000"/>
                        </a:lnSpc>
                      </a:pPr>
                      <a:r>
                        <a:rPr sz="900" b="0" i="0">
                          <a:solidFill>
                            <a:srgbClr val="F7F6EF"/>
                          </a:solidFill>
                          <a:latin typeface="Arial"/>
                        </a:rPr>
                        <a:t>Y3</a:t>
                      </a:r>
                    </a:p>
                  </a:txBody>
                  <a:tcPr marL="64008" marR="64008" marT="41148" marB="41148" anchor="ctr">
                    <a:solidFill>
                      <a:srgbClr val="121821"/>
                    </a:solidFill>
                  </a:tcPr>
                </a:tc>
                <a:tc>
                  <a:txBody>
                    <a:bodyPr wrap="square"/>
                    <a:lstStyle/>
                    <a:p>
                      <a:pPr>
                        <a:lnSpc>
                          <a:spcPct val="114000"/>
                        </a:lnSpc>
                      </a:pPr>
                      <a:r>
                        <a:rPr sz="900" b="0" i="0">
                          <a:solidFill>
                            <a:srgbClr val="F7F6EF"/>
                          </a:solidFill>
                          <a:latin typeface="Arial"/>
                        </a:rPr>
                        <a:t>1,200,000</a:t>
                      </a:r>
                    </a:p>
                  </a:txBody>
                  <a:tcPr marL="64008" marR="64008" marT="41148" marB="41148" anchor="ctr">
                    <a:solidFill>
                      <a:srgbClr val="121821"/>
                    </a:solidFill>
                  </a:tcPr>
                </a:tc>
                <a:tc>
                  <a:txBody>
                    <a:bodyPr wrap="square"/>
                    <a:lstStyle/>
                    <a:p>
                      <a:pPr>
                        <a:lnSpc>
                          <a:spcPct val="114000"/>
                        </a:lnSpc>
                      </a:pPr>
                      <a:r>
                        <a:rPr sz="900" b="0" i="0">
                          <a:solidFill>
                            <a:srgbClr val="FFC83D"/>
                          </a:solidFill>
                          <a:latin typeface="Arial"/>
                        </a:rPr>
                        <a:t>$1.3588</a:t>
                      </a:r>
                    </a:p>
                  </a:txBody>
                  <a:tcPr marL="64008" marR="64008" marT="41148" marB="41148" anchor="ctr">
                    <a:solidFill>
                      <a:srgbClr val="121821"/>
                    </a:solidFill>
                  </a:tcPr>
                </a:tc>
                <a:tc>
                  <a:txBody>
                    <a:bodyPr wrap="square"/>
                    <a:lstStyle/>
                    <a:p>
                      <a:pPr>
                        <a:lnSpc>
                          <a:spcPct val="114000"/>
                        </a:lnSpc>
                      </a:pPr>
                      <a:r>
                        <a:rPr sz="900" b="0" i="0">
                          <a:solidFill>
                            <a:srgbClr val="FFC83D"/>
                          </a:solidFill>
                          <a:latin typeface="Arial"/>
                        </a:rPr>
                        <a:t>$1,630,517</a:t>
                      </a:r>
                    </a:p>
                  </a:txBody>
                  <a:tcPr marL="64008" marR="64008" marT="41148" marB="41148" anchor="ctr">
                    <a:solidFill>
                      <a:srgbClr val="121821"/>
                    </a:solidFill>
                  </a:tcPr>
                </a:tc>
                <a:tc>
                  <a:txBody>
                    <a:bodyPr wrap="square"/>
                    <a:lstStyle/>
                    <a:p>
                      <a:pPr>
                        <a:lnSpc>
                          <a:spcPct val="114000"/>
                        </a:lnSpc>
                      </a:pPr>
                      <a:r>
                        <a:rPr sz="900" b="0" i="0">
                          <a:solidFill>
                            <a:srgbClr val="F7F6EF"/>
                          </a:solidFill>
                          <a:latin typeface="Arial"/>
                        </a:rPr>
                        <a:t>100,000</a:t>
                      </a:r>
                    </a:p>
                  </a:txBody>
                  <a:tcPr marL="64008" marR="64008" marT="41148" marB="41148" anchor="ctr">
                    <a:solidFill>
                      <a:srgbClr val="121821"/>
                    </a:solidFill>
                  </a:tcPr>
                </a:tc>
                <a:tc>
                  <a:txBody>
                    <a:bodyPr wrap="square"/>
                    <a:lstStyle/>
                    <a:p>
                      <a:pPr>
                        <a:lnSpc>
                          <a:spcPct val="114000"/>
                        </a:lnSpc>
                      </a:pPr>
                      <a:r>
                        <a:rPr sz="900" b="0" i="0">
                          <a:solidFill>
                            <a:srgbClr val="F7F6EF"/>
                          </a:solidFill>
                          <a:latin typeface="Arial"/>
                        </a:rPr>
                        <a:t>105,900</a:t>
                      </a:r>
                    </a:p>
                  </a:txBody>
                  <a:tcPr marL="64008" marR="64008" marT="41148" marB="41148" anchor="ctr">
                    <a:solidFill>
                      <a:srgbClr val="121821"/>
                    </a:solidFill>
                  </a:tcPr>
                </a:tc>
                <a:tc>
                  <a:txBody>
                    <a:bodyPr wrap="square"/>
                    <a:lstStyle/>
                    <a:p>
                      <a:pPr>
                        <a:lnSpc>
                          <a:spcPct val="114000"/>
                        </a:lnSpc>
                      </a:pPr>
                      <a:r>
                        <a:rPr sz="900" b="0" i="0">
                          <a:solidFill>
                            <a:srgbClr val="FFC83D"/>
                          </a:solidFill>
                          <a:latin typeface="Arial"/>
                        </a:rPr>
                        <a:t>$15.40</a:t>
                      </a:r>
                    </a:p>
                  </a:txBody>
                  <a:tcPr marL="64008" marR="64008" marT="41148" marB="41148" anchor="ctr">
                    <a:solidFill>
                      <a:srgbClr val="121821"/>
                    </a:solidFill>
                  </a:tcPr>
                </a:tc>
              </a:tr>
              <a:tr h="215020">
                <a:tc>
                  <a:txBody>
                    <a:bodyPr wrap="square"/>
                    <a:lstStyle/>
                    <a:p>
                      <a:pPr>
                        <a:lnSpc>
                          <a:spcPct val="114000"/>
                        </a:lnSpc>
                      </a:pPr>
                      <a:r>
                        <a:rPr sz="900" b="1" i="0">
                          <a:solidFill>
                            <a:srgbClr val="F7F6EF"/>
                          </a:solidFill>
                          <a:latin typeface="Arial"/>
                        </a:rPr>
                        <a:t>Base</a:t>
                      </a:r>
                    </a:p>
                  </a:txBody>
                  <a:tcPr marL="64008" marR="64008" marT="41148" marB="41148" anchor="ctr">
                    <a:solidFill>
                      <a:srgbClr val="0D131B"/>
                    </a:solidFill>
                  </a:tcPr>
                </a:tc>
                <a:tc>
                  <a:txBody>
                    <a:bodyPr wrap="square"/>
                    <a:lstStyle/>
                    <a:p>
                      <a:pPr>
                        <a:lnSpc>
                          <a:spcPct val="114000"/>
                        </a:lnSpc>
                      </a:pPr>
                      <a:r>
                        <a:rPr sz="900" b="0" i="0">
                          <a:solidFill>
                            <a:srgbClr val="F7F6EF"/>
                          </a:solidFill>
                          <a:latin typeface="Arial"/>
                        </a:rPr>
                        <a:t>3-yr</a:t>
                      </a:r>
                    </a:p>
                  </a:txBody>
                  <a:tcPr marL="64008" marR="64008" marT="41148" marB="41148" anchor="ctr">
                    <a:solidFill>
                      <a:srgbClr val="0D131B"/>
                    </a:solidFill>
                  </a:tcPr>
                </a:tc>
                <a:tc>
                  <a:txBody>
                    <a:bodyPr wrap="square"/>
                    <a:lstStyle/>
                    <a:p>
                      <a:pPr>
                        <a:lnSpc>
                          <a:spcPct val="114000"/>
                        </a:lnSpc>
                      </a:pPr>
                      <a:r>
                        <a:rPr sz="900" b="0" i="0">
                          <a:solidFill>
                            <a:srgbClr val="F7F6EF"/>
                          </a:solidFill>
                          <a:latin typeface="Arial"/>
                        </a:rPr>
                        <a:t>1,625,000</a:t>
                      </a:r>
                    </a:p>
                  </a:txBody>
                  <a:tcPr marL="64008" marR="64008" marT="41148" marB="41148" anchor="ctr">
                    <a:solidFill>
                      <a:srgbClr val="0D131B"/>
                    </a:solidFill>
                  </a:tcPr>
                </a:tc>
                <a:tc>
                  <a:txBody>
                    <a:bodyPr wrap="square"/>
                    <a:lstStyle/>
                    <a:p>
                      <a:pPr>
                        <a:lnSpc>
                          <a:spcPct val="114000"/>
                        </a:lnSpc>
                      </a:pPr>
                      <a:r>
                        <a:rPr sz="900" b="0" i="0">
                          <a:solidFill>
                            <a:srgbClr val="F7F6EF"/>
                          </a:solidFill>
                          <a:latin typeface="Arial"/>
                        </a:rPr>
                        <a:t>—</a:t>
                      </a:r>
                    </a:p>
                  </a:txBody>
                  <a:tcPr marL="64008" marR="64008" marT="41148" marB="41148" anchor="ctr">
                    <a:solidFill>
                      <a:srgbClr val="0D131B"/>
                    </a:solidFill>
                  </a:tcPr>
                </a:tc>
                <a:tc>
                  <a:txBody>
                    <a:bodyPr wrap="square"/>
                    <a:lstStyle/>
                    <a:p>
                      <a:pPr>
                        <a:lnSpc>
                          <a:spcPct val="114000"/>
                        </a:lnSpc>
                      </a:pPr>
                      <a:r>
                        <a:rPr sz="900" b="0" i="0">
                          <a:solidFill>
                            <a:srgbClr val="FFC83D"/>
                          </a:solidFill>
                          <a:latin typeface="Arial"/>
                        </a:rPr>
                        <a:t>$2,207,992</a:t>
                      </a:r>
                    </a:p>
                  </a:txBody>
                  <a:tcPr marL="64008" marR="64008" marT="41148" marB="41148" anchor="ctr">
                    <a:solidFill>
                      <a:srgbClr val="0D131B"/>
                    </a:solidFill>
                  </a:tcPr>
                </a:tc>
                <a:tc>
                  <a:txBody>
                    <a:bodyPr wrap="square"/>
                    <a:lstStyle/>
                    <a:p>
                      <a:pPr>
                        <a:lnSpc>
                          <a:spcPct val="114000"/>
                        </a:lnSpc>
                      </a:pPr>
                      <a:r>
                        <a:rPr sz="900" b="0" i="0">
                          <a:solidFill>
                            <a:srgbClr val="F7F6EF"/>
                          </a:solidFill>
                          <a:latin typeface="Arial"/>
                        </a:rPr>
                        <a:t>—</a:t>
                      </a:r>
                    </a:p>
                  </a:txBody>
                  <a:tcPr marL="64008" marR="64008" marT="41148" marB="41148" anchor="ctr">
                    <a:solidFill>
                      <a:srgbClr val="0D131B"/>
                    </a:solidFill>
                  </a:tcPr>
                </a:tc>
                <a:tc>
                  <a:txBody>
                    <a:bodyPr wrap="square"/>
                    <a:lstStyle/>
                    <a:p>
                      <a:pPr>
                        <a:lnSpc>
                          <a:spcPct val="114000"/>
                        </a:lnSpc>
                      </a:pPr>
                      <a:r>
                        <a:rPr sz="900" b="0" i="0">
                          <a:solidFill>
                            <a:srgbClr val="F7F6EF"/>
                          </a:solidFill>
                          <a:latin typeface="Arial"/>
                        </a:rPr>
                        <a:t>—</a:t>
                      </a:r>
                    </a:p>
                  </a:txBody>
                  <a:tcPr marL="64008" marR="64008" marT="41148" marB="41148" anchor="ctr">
                    <a:solidFill>
                      <a:srgbClr val="0D131B"/>
                    </a:solidFill>
                  </a:tcPr>
                </a:tc>
                <a:tc>
                  <a:txBody>
                    <a:bodyPr wrap="square"/>
                    <a:lstStyle/>
                    <a:p>
                      <a:pPr>
                        <a:lnSpc>
                          <a:spcPct val="114000"/>
                        </a:lnSpc>
                      </a:pPr>
                      <a:r>
                        <a:rPr sz="900" b="0" i="0">
                          <a:solidFill>
                            <a:srgbClr val="F7F6EF"/>
                          </a:solidFill>
                          <a:latin typeface="Arial"/>
                        </a:rPr>
                        <a:t>—</a:t>
                      </a:r>
                    </a:p>
                  </a:txBody>
                  <a:tcPr marL="64008" marR="64008" marT="41148" marB="41148" anchor="ctr">
                    <a:solidFill>
                      <a:srgbClr val="0D131B"/>
                    </a:solidFill>
                  </a:tcPr>
                </a:tc>
              </a:tr>
              <a:tr h="215020">
                <a:tc>
                  <a:txBody>
                    <a:bodyPr wrap="square"/>
                    <a:lstStyle/>
                    <a:p>
                      <a:pPr>
                        <a:lnSpc>
                          <a:spcPct val="114000"/>
                        </a:lnSpc>
                      </a:pPr>
                      <a:r>
                        <a:rPr sz="900" b="1" i="0">
                          <a:solidFill>
                            <a:srgbClr val="F7F6EF"/>
                          </a:solidFill>
                          <a:latin typeface="Arial"/>
                        </a:rPr>
                        <a:t>Optimistic</a:t>
                      </a:r>
                    </a:p>
                  </a:txBody>
                  <a:tcPr marL="64008" marR="64008" marT="41148" marB="41148" anchor="ctr">
                    <a:solidFill>
                      <a:srgbClr val="121821"/>
                    </a:solidFill>
                  </a:tcPr>
                </a:tc>
                <a:tc>
                  <a:txBody>
                    <a:bodyPr wrap="square"/>
                    <a:lstStyle/>
                    <a:p>
                      <a:pPr>
                        <a:lnSpc>
                          <a:spcPct val="114000"/>
                        </a:lnSpc>
                      </a:pPr>
                      <a:r>
                        <a:rPr sz="900" b="0" i="0">
                          <a:solidFill>
                            <a:srgbClr val="F7F6EF"/>
                          </a:solidFill>
                          <a:latin typeface="Arial"/>
                        </a:rPr>
                        <a:t>Y1</a:t>
                      </a:r>
                    </a:p>
                  </a:txBody>
                  <a:tcPr marL="64008" marR="64008" marT="41148" marB="41148" anchor="ctr">
                    <a:solidFill>
                      <a:srgbClr val="121821"/>
                    </a:solidFill>
                  </a:tcPr>
                </a:tc>
                <a:tc>
                  <a:txBody>
                    <a:bodyPr wrap="square"/>
                    <a:lstStyle/>
                    <a:p>
                      <a:pPr>
                        <a:lnSpc>
                          <a:spcPct val="114000"/>
                        </a:lnSpc>
                      </a:pPr>
                      <a:r>
                        <a:rPr sz="900" b="0" i="0">
                          <a:solidFill>
                            <a:srgbClr val="F7F6EF"/>
                          </a:solidFill>
                          <a:latin typeface="Arial"/>
                        </a:rPr>
                        <a:t>200,000</a:t>
                      </a:r>
                    </a:p>
                  </a:txBody>
                  <a:tcPr marL="64008" marR="64008" marT="41148" marB="41148" anchor="ctr">
                    <a:solidFill>
                      <a:srgbClr val="121821"/>
                    </a:solidFill>
                  </a:tcPr>
                </a:tc>
                <a:tc>
                  <a:txBody>
                    <a:bodyPr wrap="square"/>
                    <a:lstStyle/>
                    <a:p>
                      <a:pPr>
                        <a:lnSpc>
                          <a:spcPct val="114000"/>
                        </a:lnSpc>
                      </a:pPr>
                      <a:r>
                        <a:rPr sz="900" b="0" i="0">
                          <a:solidFill>
                            <a:srgbClr val="FFC83D"/>
                          </a:solidFill>
                          <a:latin typeface="Arial"/>
                        </a:rPr>
                        <a:t>$1.8902</a:t>
                      </a:r>
                    </a:p>
                  </a:txBody>
                  <a:tcPr marL="64008" marR="64008" marT="41148" marB="41148" anchor="ctr">
                    <a:solidFill>
                      <a:srgbClr val="121821"/>
                    </a:solidFill>
                  </a:tcPr>
                </a:tc>
                <a:tc>
                  <a:txBody>
                    <a:bodyPr wrap="square"/>
                    <a:lstStyle/>
                    <a:p>
                      <a:pPr>
                        <a:lnSpc>
                          <a:spcPct val="114000"/>
                        </a:lnSpc>
                      </a:pPr>
                      <a:r>
                        <a:rPr sz="900" b="0" i="0">
                          <a:solidFill>
                            <a:srgbClr val="FFC83D"/>
                          </a:solidFill>
                          <a:latin typeface="Arial"/>
                        </a:rPr>
                        <a:t>$378,039</a:t>
                      </a:r>
                    </a:p>
                  </a:txBody>
                  <a:tcPr marL="64008" marR="64008" marT="41148" marB="41148" anchor="ctr">
                    <a:solidFill>
                      <a:srgbClr val="121821"/>
                    </a:solidFill>
                  </a:tcPr>
                </a:tc>
                <a:tc>
                  <a:txBody>
                    <a:bodyPr wrap="square"/>
                    <a:lstStyle/>
                    <a:p>
                      <a:pPr>
                        <a:lnSpc>
                          <a:spcPct val="114000"/>
                        </a:lnSpc>
                      </a:pPr>
                      <a:r>
                        <a:rPr sz="900" b="0" i="0">
                          <a:solidFill>
                            <a:srgbClr val="F7F6EF"/>
                          </a:solidFill>
                          <a:latin typeface="Arial"/>
                        </a:rPr>
                        <a:t>16,667</a:t>
                      </a:r>
                    </a:p>
                  </a:txBody>
                  <a:tcPr marL="64008" marR="64008" marT="41148" marB="41148" anchor="ctr">
                    <a:solidFill>
                      <a:srgbClr val="121821"/>
                    </a:solidFill>
                  </a:tcPr>
                </a:tc>
                <a:tc>
                  <a:txBody>
                    <a:bodyPr wrap="square"/>
                    <a:lstStyle/>
                    <a:p>
                      <a:pPr>
                        <a:lnSpc>
                          <a:spcPct val="114000"/>
                        </a:lnSpc>
                      </a:pPr>
                      <a:r>
                        <a:rPr sz="900" b="0" i="0">
                          <a:solidFill>
                            <a:srgbClr val="F7F6EF"/>
                          </a:solidFill>
                          <a:latin typeface="Arial"/>
                        </a:rPr>
                        <a:t>18,083</a:t>
                      </a:r>
                    </a:p>
                  </a:txBody>
                  <a:tcPr marL="64008" marR="64008" marT="41148" marB="41148" anchor="ctr">
                    <a:solidFill>
                      <a:srgbClr val="121821"/>
                    </a:solidFill>
                  </a:tcPr>
                </a:tc>
                <a:tc>
                  <a:txBody>
                    <a:bodyPr wrap="square"/>
                    <a:lstStyle/>
                    <a:p>
                      <a:pPr>
                        <a:lnSpc>
                          <a:spcPct val="114000"/>
                        </a:lnSpc>
                      </a:pPr>
                      <a:r>
                        <a:rPr sz="900" b="0" i="0">
                          <a:solidFill>
                            <a:srgbClr val="FFC83D"/>
                          </a:solidFill>
                          <a:latin typeface="Arial"/>
                        </a:rPr>
                        <a:t>$20.91</a:t>
                      </a:r>
                    </a:p>
                  </a:txBody>
                  <a:tcPr marL="64008" marR="64008" marT="41148" marB="41148" anchor="ctr">
                    <a:solidFill>
                      <a:srgbClr val="121821"/>
                    </a:solidFill>
                  </a:tcPr>
                </a:tc>
              </a:tr>
              <a:tr h="215020">
                <a:tc>
                  <a:txBody>
                    <a:bodyPr wrap="square"/>
                    <a:lstStyle/>
                    <a:p>
                      <a:pPr>
                        <a:lnSpc>
                          <a:spcPct val="114000"/>
                        </a:lnSpc>
                      </a:pPr>
                      <a:r>
                        <a:rPr sz="900" b="1" i="0">
                          <a:solidFill>
                            <a:srgbClr val="F7F6EF"/>
                          </a:solidFill>
                          <a:latin typeface="Arial"/>
                        </a:rPr>
                        <a:t>Optimistic</a:t>
                      </a:r>
                    </a:p>
                  </a:txBody>
                  <a:tcPr marL="64008" marR="64008" marT="41148" marB="41148" anchor="ctr">
                    <a:solidFill>
                      <a:srgbClr val="0D131B"/>
                    </a:solidFill>
                  </a:tcPr>
                </a:tc>
                <a:tc>
                  <a:txBody>
                    <a:bodyPr wrap="square"/>
                    <a:lstStyle/>
                    <a:p>
                      <a:pPr>
                        <a:lnSpc>
                          <a:spcPct val="114000"/>
                        </a:lnSpc>
                      </a:pPr>
                      <a:r>
                        <a:rPr sz="900" b="0" i="0">
                          <a:solidFill>
                            <a:srgbClr val="F7F6EF"/>
                          </a:solidFill>
                          <a:latin typeface="Arial"/>
                        </a:rPr>
                        <a:t>Y2</a:t>
                      </a:r>
                    </a:p>
                  </a:txBody>
                  <a:tcPr marL="64008" marR="64008" marT="41148" marB="41148" anchor="ctr">
                    <a:solidFill>
                      <a:srgbClr val="0D131B"/>
                    </a:solidFill>
                  </a:tcPr>
                </a:tc>
                <a:tc>
                  <a:txBody>
                    <a:bodyPr wrap="square"/>
                    <a:lstStyle/>
                    <a:p>
                      <a:pPr>
                        <a:lnSpc>
                          <a:spcPct val="114000"/>
                        </a:lnSpc>
                      </a:pPr>
                      <a:r>
                        <a:rPr sz="900" b="0" i="0">
                          <a:solidFill>
                            <a:srgbClr val="F7F6EF"/>
                          </a:solidFill>
                          <a:latin typeface="Arial"/>
                        </a:rPr>
                        <a:t>1,000,000</a:t>
                      </a:r>
                    </a:p>
                  </a:txBody>
                  <a:tcPr marL="64008" marR="64008" marT="41148" marB="41148" anchor="ctr">
                    <a:solidFill>
                      <a:srgbClr val="0D131B"/>
                    </a:solidFill>
                  </a:tcPr>
                </a:tc>
                <a:tc>
                  <a:txBody>
                    <a:bodyPr wrap="square"/>
                    <a:lstStyle/>
                    <a:p>
                      <a:pPr>
                        <a:lnSpc>
                          <a:spcPct val="114000"/>
                        </a:lnSpc>
                      </a:pPr>
                      <a:r>
                        <a:rPr sz="900" b="0" i="0">
                          <a:solidFill>
                            <a:srgbClr val="FFC83D"/>
                          </a:solidFill>
                          <a:latin typeface="Arial"/>
                        </a:rPr>
                        <a:t>$1.8902</a:t>
                      </a:r>
                    </a:p>
                  </a:txBody>
                  <a:tcPr marL="64008" marR="64008" marT="41148" marB="41148" anchor="ctr">
                    <a:solidFill>
                      <a:srgbClr val="0D131B"/>
                    </a:solidFill>
                  </a:tcPr>
                </a:tc>
                <a:tc>
                  <a:txBody>
                    <a:bodyPr wrap="square"/>
                    <a:lstStyle/>
                    <a:p>
                      <a:pPr>
                        <a:lnSpc>
                          <a:spcPct val="114000"/>
                        </a:lnSpc>
                      </a:pPr>
                      <a:r>
                        <a:rPr sz="900" b="0" i="0">
                          <a:solidFill>
                            <a:srgbClr val="FFC83D"/>
                          </a:solidFill>
                          <a:latin typeface="Arial"/>
                        </a:rPr>
                        <a:t>$1,890,196</a:t>
                      </a:r>
                    </a:p>
                  </a:txBody>
                  <a:tcPr marL="64008" marR="64008" marT="41148" marB="41148" anchor="ctr">
                    <a:solidFill>
                      <a:srgbClr val="0D131B"/>
                    </a:solidFill>
                  </a:tcPr>
                </a:tc>
                <a:tc>
                  <a:txBody>
                    <a:bodyPr wrap="square"/>
                    <a:lstStyle/>
                    <a:p>
                      <a:pPr>
                        <a:lnSpc>
                          <a:spcPct val="114000"/>
                        </a:lnSpc>
                      </a:pPr>
                      <a:r>
                        <a:rPr sz="900" b="0" i="0">
                          <a:solidFill>
                            <a:srgbClr val="F7F6EF"/>
                          </a:solidFill>
                          <a:latin typeface="Arial"/>
                        </a:rPr>
                        <a:t>83,333</a:t>
                      </a:r>
                    </a:p>
                  </a:txBody>
                  <a:tcPr marL="64008" marR="64008" marT="41148" marB="41148" anchor="ctr">
                    <a:solidFill>
                      <a:srgbClr val="0D131B"/>
                    </a:solidFill>
                  </a:tcPr>
                </a:tc>
                <a:tc>
                  <a:txBody>
                    <a:bodyPr wrap="square"/>
                    <a:lstStyle/>
                    <a:p>
                      <a:pPr>
                        <a:lnSpc>
                          <a:spcPct val="114000"/>
                        </a:lnSpc>
                      </a:pPr>
                      <a:r>
                        <a:rPr sz="900" b="0" i="0">
                          <a:solidFill>
                            <a:srgbClr val="F7F6EF"/>
                          </a:solidFill>
                          <a:latin typeface="Arial"/>
                        </a:rPr>
                        <a:t>90,417</a:t>
                      </a:r>
                    </a:p>
                  </a:txBody>
                  <a:tcPr marL="64008" marR="64008" marT="41148" marB="41148" anchor="ctr">
                    <a:solidFill>
                      <a:srgbClr val="0D131B"/>
                    </a:solidFill>
                  </a:tcPr>
                </a:tc>
                <a:tc>
                  <a:txBody>
                    <a:bodyPr wrap="square"/>
                    <a:lstStyle/>
                    <a:p>
                      <a:pPr>
                        <a:lnSpc>
                          <a:spcPct val="114000"/>
                        </a:lnSpc>
                      </a:pPr>
                      <a:r>
                        <a:rPr sz="900" b="0" i="0">
                          <a:solidFill>
                            <a:srgbClr val="FFC83D"/>
                          </a:solidFill>
                          <a:latin typeface="Arial"/>
                        </a:rPr>
                        <a:t>$20.91</a:t>
                      </a:r>
                    </a:p>
                  </a:txBody>
                  <a:tcPr marL="64008" marR="64008" marT="41148" marB="41148" anchor="ctr">
                    <a:solidFill>
                      <a:srgbClr val="0D131B"/>
                    </a:solidFill>
                  </a:tcPr>
                </a:tc>
              </a:tr>
              <a:tr h="215020">
                <a:tc>
                  <a:txBody>
                    <a:bodyPr wrap="square"/>
                    <a:lstStyle/>
                    <a:p>
                      <a:pPr>
                        <a:lnSpc>
                          <a:spcPct val="114000"/>
                        </a:lnSpc>
                      </a:pPr>
                      <a:r>
                        <a:rPr sz="900" b="1" i="0">
                          <a:solidFill>
                            <a:srgbClr val="F7F6EF"/>
                          </a:solidFill>
                          <a:latin typeface="Arial"/>
                        </a:rPr>
                        <a:t>Optimistic</a:t>
                      </a:r>
                    </a:p>
                  </a:txBody>
                  <a:tcPr marL="64008" marR="64008" marT="41148" marB="41148" anchor="ctr">
                    <a:solidFill>
                      <a:srgbClr val="121821"/>
                    </a:solidFill>
                  </a:tcPr>
                </a:tc>
                <a:tc>
                  <a:txBody>
                    <a:bodyPr wrap="square"/>
                    <a:lstStyle/>
                    <a:p>
                      <a:pPr>
                        <a:lnSpc>
                          <a:spcPct val="114000"/>
                        </a:lnSpc>
                      </a:pPr>
                      <a:r>
                        <a:rPr sz="900" b="0" i="0">
                          <a:solidFill>
                            <a:srgbClr val="F7F6EF"/>
                          </a:solidFill>
                          <a:latin typeface="Arial"/>
                        </a:rPr>
                        <a:t>Y3</a:t>
                      </a:r>
                    </a:p>
                  </a:txBody>
                  <a:tcPr marL="64008" marR="64008" marT="41148" marB="41148" anchor="ctr">
                    <a:solidFill>
                      <a:srgbClr val="121821"/>
                    </a:solidFill>
                  </a:tcPr>
                </a:tc>
                <a:tc>
                  <a:txBody>
                    <a:bodyPr wrap="square"/>
                    <a:lstStyle/>
                    <a:p>
                      <a:pPr>
                        <a:lnSpc>
                          <a:spcPct val="114000"/>
                        </a:lnSpc>
                      </a:pPr>
                      <a:r>
                        <a:rPr sz="900" b="0" i="0">
                          <a:solidFill>
                            <a:srgbClr val="F7F6EF"/>
                          </a:solidFill>
                          <a:latin typeface="Arial"/>
                        </a:rPr>
                        <a:t>4,000,000</a:t>
                      </a:r>
                    </a:p>
                  </a:txBody>
                  <a:tcPr marL="64008" marR="64008" marT="41148" marB="41148" anchor="ctr">
                    <a:solidFill>
                      <a:srgbClr val="121821"/>
                    </a:solidFill>
                  </a:tcPr>
                </a:tc>
                <a:tc>
                  <a:txBody>
                    <a:bodyPr wrap="square"/>
                    <a:lstStyle/>
                    <a:p>
                      <a:pPr>
                        <a:lnSpc>
                          <a:spcPct val="114000"/>
                        </a:lnSpc>
                      </a:pPr>
                      <a:r>
                        <a:rPr sz="900" b="0" i="0">
                          <a:solidFill>
                            <a:srgbClr val="FFC83D"/>
                          </a:solidFill>
                          <a:latin typeface="Arial"/>
                        </a:rPr>
                        <a:t>$1.8902</a:t>
                      </a:r>
                    </a:p>
                  </a:txBody>
                  <a:tcPr marL="64008" marR="64008" marT="41148" marB="41148" anchor="ctr">
                    <a:solidFill>
                      <a:srgbClr val="121821"/>
                    </a:solidFill>
                  </a:tcPr>
                </a:tc>
                <a:tc>
                  <a:txBody>
                    <a:bodyPr wrap="square"/>
                    <a:lstStyle/>
                    <a:p>
                      <a:pPr>
                        <a:lnSpc>
                          <a:spcPct val="114000"/>
                        </a:lnSpc>
                      </a:pPr>
                      <a:r>
                        <a:rPr sz="900" b="0" i="0">
                          <a:solidFill>
                            <a:srgbClr val="FFC83D"/>
                          </a:solidFill>
                          <a:latin typeface="Arial"/>
                        </a:rPr>
                        <a:t>$7,560,784</a:t>
                      </a:r>
                    </a:p>
                  </a:txBody>
                  <a:tcPr marL="64008" marR="64008" marT="41148" marB="41148" anchor="ctr">
                    <a:solidFill>
                      <a:srgbClr val="121821"/>
                    </a:solidFill>
                  </a:tcPr>
                </a:tc>
                <a:tc>
                  <a:txBody>
                    <a:bodyPr wrap="square"/>
                    <a:lstStyle/>
                    <a:p>
                      <a:pPr>
                        <a:lnSpc>
                          <a:spcPct val="114000"/>
                        </a:lnSpc>
                      </a:pPr>
                      <a:r>
                        <a:rPr sz="900" b="0" i="0">
                          <a:solidFill>
                            <a:srgbClr val="F7F6EF"/>
                          </a:solidFill>
                          <a:latin typeface="Arial"/>
                        </a:rPr>
                        <a:t>333,333</a:t>
                      </a:r>
                    </a:p>
                  </a:txBody>
                  <a:tcPr marL="64008" marR="64008" marT="41148" marB="41148" anchor="ctr">
                    <a:solidFill>
                      <a:srgbClr val="121821"/>
                    </a:solidFill>
                  </a:tcPr>
                </a:tc>
                <a:tc>
                  <a:txBody>
                    <a:bodyPr wrap="square"/>
                    <a:lstStyle/>
                    <a:p>
                      <a:pPr>
                        <a:lnSpc>
                          <a:spcPct val="114000"/>
                        </a:lnSpc>
                      </a:pPr>
                      <a:r>
                        <a:rPr sz="900" b="0" i="0">
                          <a:solidFill>
                            <a:srgbClr val="F7F6EF"/>
                          </a:solidFill>
                          <a:latin typeface="Arial"/>
                        </a:rPr>
                        <a:t>361,667</a:t>
                      </a:r>
                    </a:p>
                  </a:txBody>
                  <a:tcPr marL="64008" marR="64008" marT="41148" marB="41148" anchor="ctr">
                    <a:solidFill>
                      <a:srgbClr val="121821"/>
                    </a:solidFill>
                  </a:tcPr>
                </a:tc>
                <a:tc>
                  <a:txBody>
                    <a:bodyPr wrap="square"/>
                    <a:lstStyle/>
                    <a:p>
                      <a:pPr>
                        <a:lnSpc>
                          <a:spcPct val="114000"/>
                        </a:lnSpc>
                      </a:pPr>
                      <a:r>
                        <a:rPr sz="900" b="0" i="0">
                          <a:solidFill>
                            <a:srgbClr val="FFC83D"/>
                          </a:solidFill>
                          <a:latin typeface="Arial"/>
                        </a:rPr>
                        <a:t>$20.91</a:t>
                      </a:r>
                    </a:p>
                  </a:txBody>
                  <a:tcPr marL="64008" marR="64008" marT="41148" marB="41148" anchor="ctr">
                    <a:solidFill>
                      <a:srgbClr val="121821"/>
                    </a:solidFill>
                  </a:tcPr>
                </a:tc>
              </a:tr>
              <a:tr h="215020">
                <a:tc>
                  <a:txBody>
                    <a:bodyPr wrap="square"/>
                    <a:lstStyle/>
                    <a:p>
                      <a:pPr>
                        <a:lnSpc>
                          <a:spcPct val="114000"/>
                        </a:lnSpc>
                      </a:pPr>
                      <a:r>
                        <a:rPr sz="900" b="1" i="0">
                          <a:solidFill>
                            <a:srgbClr val="F7F6EF"/>
                          </a:solidFill>
                          <a:latin typeface="Arial"/>
                        </a:rPr>
                        <a:t>Optimistic</a:t>
                      </a:r>
                    </a:p>
                  </a:txBody>
                  <a:tcPr marL="64008" marR="64008" marT="41148" marB="41148" anchor="ctr">
                    <a:solidFill>
                      <a:srgbClr val="0D131B"/>
                    </a:solidFill>
                  </a:tcPr>
                </a:tc>
                <a:tc>
                  <a:txBody>
                    <a:bodyPr wrap="square"/>
                    <a:lstStyle/>
                    <a:p>
                      <a:pPr>
                        <a:lnSpc>
                          <a:spcPct val="114000"/>
                        </a:lnSpc>
                      </a:pPr>
                      <a:r>
                        <a:rPr sz="900" b="0" i="0">
                          <a:solidFill>
                            <a:srgbClr val="F7F6EF"/>
                          </a:solidFill>
                          <a:latin typeface="Arial"/>
                        </a:rPr>
                        <a:t>3-yr</a:t>
                      </a:r>
                    </a:p>
                  </a:txBody>
                  <a:tcPr marL="64008" marR="64008" marT="41148" marB="41148" anchor="ctr">
                    <a:solidFill>
                      <a:srgbClr val="0D131B"/>
                    </a:solidFill>
                  </a:tcPr>
                </a:tc>
                <a:tc>
                  <a:txBody>
                    <a:bodyPr wrap="square"/>
                    <a:lstStyle/>
                    <a:p>
                      <a:pPr>
                        <a:lnSpc>
                          <a:spcPct val="114000"/>
                        </a:lnSpc>
                      </a:pPr>
                      <a:r>
                        <a:rPr sz="900" b="0" i="0">
                          <a:solidFill>
                            <a:srgbClr val="F7F6EF"/>
                          </a:solidFill>
                          <a:latin typeface="Arial"/>
                        </a:rPr>
                        <a:t>5,200,000</a:t>
                      </a:r>
                    </a:p>
                  </a:txBody>
                  <a:tcPr marL="64008" marR="64008" marT="41148" marB="41148" anchor="ctr">
                    <a:solidFill>
                      <a:srgbClr val="0D131B"/>
                    </a:solidFill>
                  </a:tcPr>
                </a:tc>
                <a:tc>
                  <a:txBody>
                    <a:bodyPr wrap="square"/>
                    <a:lstStyle/>
                    <a:p>
                      <a:pPr>
                        <a:lnSpc>
                          <a:spcPct val="114000"/>
                        </a:lnSpc>
                      </a:pPr>
                      <a:r>
                        <a:rPr sz="900" b="0" i="0">
                          <a:solidFill>
                            <a:srgbClr val="F7F6EF"/>
                          </a:solidFill>
                          <a:latin typeface="Arial"/>
                        </a:rPr>
                        <a:t>—</a:t>
                      </a:r>
                    </a:p>
                  </a:txBody>
                  <a:tcPr marL="64008" marR="64008" marT="41148" marB="41148" anchor="ctr">
                    <a:solidFill>
                      <a:srgbClr val="0D131B"/>
                    </a:solidFill>
                  </a:tcPr>
                </a:tc>
                <a:tc>
                  <a:txBody>
                    <a:bodyPr wrap="square"/>
                    <a:lstStyle/>
                    <a:p>
                      <a:pPr>
                        <a:lnSpc>
                          <a:spcPct val="114000"/>
                        </a:lnSpc>
                      </a:pPr>
                      <a:r>
                        <a:rPr sz="900" b="0" i="0">
                          <a:solidFill>
                            <a:srgbClr val="FFC83D"/>
                          </a:solidFill>
                          <a:latin typeface="Arial"/>
                        </a:rPr>
                        <a:t>$9,829,019</a:t>
                      </a:r>
                    </a:p>
                  </a:txBody>
                  <a:tcPr marL="64008" marR="64008" marT="41148" marB="41148" anchor="ctr">
                    <a:solidFill>
                      <a:srgbClr val="0D131B"/>
                    </a:solidFill>
                  </a:tcPr>
                </a:tc>
                <a:tc>
                  <a:txBody>
                    <a:bodyPr wrap="square"/>
                    <a:lstStyle/>
                    <a:p>
                      <a:pPr>
                        <a:lnSpc>
                          <a:spcPct val="114000"/>
                        </a:lnSpc>
                      </a:pPr>
                      <a:r>
                        <a:rPr sz="900" b="0" i="0">
                          <a:solidFill>
                            <a:srgbClr val="F7F6EF"/>
                          </a:solidFill>
                          <a:latin typeface="Arial"/>
                        </a:rPr>
                        <a:t>—</a:t>
                      </a:r>
                    </a:p>
                  </a:txBody>
                  <a:tcPr marL="64008" marR="64008" marT="41148" marB="41148" anchor="ctr">
                    <a:solidFill>
                      <a:srgbClr val="0D131B"/>
                    </a:solidFill>
                  </a:tcPr>
                </a:tc>
                <a:tc>
                  <a:txBody>
                    <a:bodyPr wrap="square"/>
                    <a:lstStyle/>
                    <a:p>
                      <a:pPr>
                        <a:lnSpc>
                          <a:spcPct val="114000"/>
                        </a:lnSpc>
                      </a:pPr>
                      <a:r>
                        <a:rPr sz="900" b="0" i="0">
                          <a:solidFill>
                            <a:srgbClr val="F7F6EF"/>
                          </a:solidFill>
                          <a:latin typeface="Arial"/>
                        </a:rPr>
                        <a:t>—</a:t>
                      </a:r>
                    </a:p>
                  </a:txBody>
                  <a:tcPr marL="64008" marR="64008" marT="41148" marB="41148" anchor="ctr">
                    <a:solidFill>
                      <a:srgbClr val="0D131B"/>
                    </a:solidFill>
                  </a:tcPr>
                </a:tc>
                <a:tc>
                  <a:txBody>
                    <a:bodyPr wrap="square"/>
                    <a:lstStyle/>
                    <a:p>
                      <a:pPr>
                        <a:lnSpc>
                          <a:spcPct val="114000"/>
                        </a:lnSpc>
                      </a:pPr>
                      <a:r>
                        <a:rPr sz="900" b="0" i="0">
                          <a:solidFill>
                            <a:srgbClr val="F7F6EF"/>
                          </a:solidFill>
                          <a:latin typeface="Arial"/>
                        </a:rPr>
                        <a:t>—</a:t>
                      </a:r>
                    </a:p>
                  </a:txBody>
                  <a:tcPr marL="64008" marR="64008" marT="41148" marB="41148" anchor="ctr">
                    <a:solidFill>
                      <a:srgbClr val="0D131B"/>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0E14"/>
        </a:solidFill>
        <a:effectLst/>
      </p:bgPr>
    </p:bg>
    <p:spTree>
      <p:nvGrpSpPr>
        <p:cNvPr id="1" name=""/>
        <p:cNvGrpSpPr/>
        <p:nvPr/>
      </p:nvGrpSpPr>
      <p:grpSpPr/>
      <p:sp>
        <p:nvSpPr>
          <p:cNvPr id="2" name="Title 1"/>
          <p:cNvSpPr>
            <a:spLocks noGrp="1"/>
          </p:cNvSpPr>
          <p:nvPr>
            <p:ph type="title"/>
          </p:nvPr>
        </p:nvSpPr>
        <p:spPr>
          <a:xfrm>
            <a:off x="566928" y="658368"/>
            <a:ext cx="11057839" cy="859536"/>
          </a:xfrm>
        </p:spPr>
        <p:txBody>
          <a:bodyPr wrap="square" lIns="0" rIns="0" tIns="0" bIns="0" anchor="t"/>
          <a:lstStyle/>
          <a:p>
            <a:pPr>
              <a:lnSpc>
                <a:spcPct val="108000"/>
              </a:lnSpc>
            </a:pPr>
            <a:r>
              <a:rPr sz="3000" b="1" i="0">
                <a:solidFill>
                  <a:srgbClr val="F7F6EF"/>
                </a:solidFill>
                <a:latin typeface="Arial"/>
              </a:rPr>
              <a:t>Appendix I — every input, every assumption, and which of them has no source.</a:t>
            </a:r>
          </a:p>
        </p:txBody>
      </p:sp>
      <p:sp>
        <p:nvSpPr>
          <p:cNvPr id="3" name="TextBox 2"/>
          <p:cNvSpPr txBox="1"/>
          <p:nvPr/>
        </p:nvSpPr>
        <p:spPr>
          <a:xfrm>
            <a:off x="566928" y="365760"/>
            <a:ext cx="11057839" cy="219456"/>
          </a:xfrm>
          <a:prstGeom prst="rect">
            <a:avLst/>
          </a:prstGeom>
          <a:noFill/>
        </p:spPr>
        <p:txBody>
          <a:bodyPr wrap="square" lIns="0" rIns="0" tIns="0" bIns="0" anchor="t">
            <a:spAutoFit/>
          </a:bodyPr>
          <a:lstStyle/>
          <a:p>
            <a:r>
              <a:rPr sz="1100" b="1" i="0" spc="160">
                <a:solidFill>
                  <a:srgbClr val="4EE1FF"/>
                </a:solidFill>
                <a:latin typeface="Arial"/>
              </a:rPr>
              <a:t>APPENDIX — INPUTS AND ASSUMPTIONS</a:t>
            </a:r>
          </a:p>
        </p:txBody>
      </p:sp>
      <p:sp>
        <p:nvSpPr>
          <p:cNvPr id="4" name="Rectangle 3"/>
          <p:cNvSpPr/>
          <p:nvPr/>
        </p:nvSpPr>
        <p:spPr>
          <a:xfrm>
            <a:off x="566928" y="6035040"/>
            <a:ext cx="11057839" cy="11887"/>
          </a:xfrm>
          <a:prstGeom prst="rect">
            <a:avLst/>
          </a:prstGeom>
          <a:solidFill>
            <a:srgbClr val="4EE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664647" y="6144768"/>
            <a:ext cx="960120" cy="274320"/>
          </a:xfrm>
          <a:prstGeom prst="rect">
            <a:avLst/>
          </a:prstGeom>
          <a:noFill/>
        </p:spPr>
        <p:txBody>
          <a:bodyPr wrap="square" lIns="0" rIns="0" tIns="0" bIns="0" anchor="t">
            <a:spAutoFit/>
          </a:bodyPr>
          <a:lstStyle/>
          <a:p>
            <a:pPr algn="r"/>
            <a:r>
              <a:rPr sz="950" b="1" i="0" spc="60">
                <a:solidFill>
                  <a:srgbClr val="A6ADBA"/>
                </a:solidFill>
                <a:latin typeface="Arial"/>
              </a:rPr>
              <a:t>22</a:t>
            </a:r>
          </a:p>
        </p:txBody>
      </p:sp>
      <p:sp>
        <p:nvSpPr>
          <p:cNvPr id="6" name="TextBox 5"/>
          <p:cNvSpPr txBox="1"/>
          <p:nvPr/>
        </p:nvSpPr>
        <p:spPr>
          <a:xfrm>
            <a:off x="566928" y="6144768"/>
            <a:ext cx="9869119" cy="548640"/>
          </a:xfrm>
          <a:prstGeom prst="rect">
            <a:avLst/>
          </a:prstGeom>
          <a:noFill/>
        </p:spPr>
        <p:txBody>
          <a:bodyPr wrap="square" lIns="0" rIns="0" tIns="0" bIns="0" anchor="t">
            <a:spAutoFit/>
          </a:bodyPr>
          <a:lstStyle/>
          <a:p>
            <a:pPr>
              <a:lnSpc>
                <a:spcPct val="115000"/>
              </a:lnSpc>
            </a:pPr>
            <a:r>
              <a:rPr sz="800" b="0" i="0">
                <a:solidFill>
                  <a:srgbClr val="A6ADBA"/>
                </a:solidFill>
                <a:latin typeface="Arial"/>
              </a:rPr>
              <a:t>Sources: GameAnalytics — 2026 Mobile &amp; PC Gaming Benchmarks  ·  AppsFlyer — State of App Monetization 2026  ·  TechCrunch — Trivia Royale, 2.5M downloads in 3 weeks</a:t>
            </a:r>
          </a:p>
          <a:p>
            <a:pPr>
              <a:lnSpc>
                <a:spcPct val="115000"/>
              </a:lnSpc>
            </a:pPr>
            <a:r>
              <a:rPr sz="800" b="0" i="0">
                <a:solidFill>
                  <a:srgbClr val="A6ADBA"/>
                </a:solidFill>
                <a:latin typeface="Arial"/>
              </a:rPr>
              <a:t>SEC — Duolingo FY2025 shareholder letter  ·  MAG Interactive — Q3 2025/26 interim report  ·  FACT//DUEL internal — numbers.md §4.1-§4.3</a:t>
            </a:r>
          </a:p>
        </p:txBody>
      </p:sp>
      <p:sp>
        <p:nvSpPr>
          <p:cNvPr id="7" name="TextBox 6"/>
          <p:cNvSpPr txBox="1"/>
          <p:nvPr/>
        </p:nvSpPr>
        <p:spPr>
          <a:xfrm>
            <a:off x="566928" y="1719072"/>
            <a:ext cx="11057839" cy="1154938"/>
          </a:xfrm>
          <a:prstGeom prst="rect">
            <a:avLst/>
          </a:prstGeom>
          <a:noFill/>
        </p:spPr>
        <p:txBody>
          <a:bodyPr wrap="square" lIns="0" rIns="0" tIns="0" bIns="0" anchor="t">
            <a:spAutoFit/>
          </a:bodyPr>
          <a:lstStyle/>
          <a:p>
            <a:pPr marL="238571" indent="-238571">
              <a:lnSpc>
                <a:spcPct val="116000"/>
              </a:lnSpc>
              <a:buClr>
                <a:srgbClr val="4EE1FF"/>
              </a:buClr>
              <a:buFont typeface="Arial"/>
              <a:buChar char="—"/>
            </a:pPr>
            <a:r>
              <a:rPr sz="1400" b="0" i="0">
                <a:solidFill>
                  <a:srgbClr val="F7F6EF"/>
                </a:solidFill>
                <a:latin typeface="Arial"/>
              </a:rPr>
              <a:t>Two rows in this table are not sourced: monthly churn, and the install volumes. Both are labelled.</a:t>
            </a:r>
          </a:p>
          <a:p>
            <a:pPr marL="238571" indent="-238571">
              <a:lnSpc>
                <a:spcPct val="116000"/>
              </a:lnSpc>
              <a:spcBef>
                <a:spcPts val="770"/>
              </a:spcBef>
              <a:buClr>
                <a:srgbClr val="4EE1FF"/>
              </a:buClr>
              <a:buFont typeface="Arial"/>
              <a:buChar char="—"/>
            </a:pPr>
            <a:r>
              <a:rPr sz="1400" b="0" i="0">
                <a:solidFill>
                  <a:srgbClr val="F7F6EF"/>
                </a:solidFill>
                <a:latin typeface="Arial"/>
              </a:rPr>
              <a:t>The 18.46% payer rate is arithmetic on two published AppsFlyer figures, used only as a ceiling.</a:t>
            </a:r>
          </a:p>
          <a:p>
            <a:pPr marL="238571" indent="-238571">
              <a:lnSpc>
                <a:spcPct val="116000"/>
              </a:lnSpc>
              <a:spcBef>
                <a:spcPts val="770"/>
              </a:spcBef>
              <a:buClr>
                <a:srgbClr val="4EE1FF"/>
              </a:buClr>
              <a:buFont typeface="Arial"/>
              <a:buChar char="—"/>
            </a:pPr>
            <a:r>
              <a:rPr sz="1400" b="0" i="0">
                <a:solidFill>
                  <a:srgbClr val="F7F6EF"/>
                </a:solidFill>
                <a:latin typeface="Arial"/>
              </a:rPr>
              <a:t>Break-even blended cost per install: </a:t>
            </a:r>
            <a:r>
              <a:rPr sz="1400" b="0" i="0">
                <a:solidFill>
                  <a:srgbClr val="FFC83D"/>
                </a:solidFill>
                <a:latin typeface="Arial"/>
              </a:rPr>
              <a:t>$0.37</a:t>
            </a:r>
            <a:r>
              <a:rPr sz="1400" b="0" i="0">
                <a:solidFill>
                  <a:srgbClr val="F7F6EF"/>
                </a:solidFill>
                <a:latin typeface="Arial"/>
              </a:rPr>
              <a:t> / </a:t>
            </a:r>
            <a:r>
              <a:rPr sz="1400" b="0" i="0">
                <a:solidFill>
                  <a:srgbClr val="FFC83D"/>
                </a:solidFill>
                <a:latin typeface="Arial"/>
              </a:rPr>
              <a:t>$1.36</a:t>
            </a:r>
            <a:r>
              <a:rPr sz="1400" b="0" i="0">
                <a:solidFill>
                  <a:srgbClr val="F7F6EF"/>
                </a:solidFill>
                <a:latin typeface="Arial"/>
              </a:rPr>
              <a:t> / </a:t>
            </a:r>
            <a:r>
              <a:rPr sz="1400" b="0" i="0">
                <a:solidFill>
                  <a:srgbClr val="FFC83D"/>
                </a:solidFill>
                <a:latin typeface="Arial"/>
              </a:rPr>
              <a:t>$1.89</a:t>
            </a:r>
            <a:r>
              <a:rPr sz="1400" b="0" i="0">
                <a:solidFill>
                  <a:srgbClr val="F7F6EF"/>
                </a:solidFill>
                <a:latin typeface="Arial"/>
              </a:rPr>
              <a:t> </a:t>
            </a:r>
            <a:r>
              <a:rPr sz="1400" b="1" i="0">
                <a:solidFill>
                  <a:srgbClr val="4EE1FF"/>
                </a:solidFill>
                <a:latin typeface="Arial"/>
              </a:rPr>
              <a:t>(P)</a:t>
            </a:r>
            <a:r>
              <a:rPr sz="1400" b="0" i="0">
                <a:solidFill>
                  <a:srgbClr val="F7F6EF"/>
                </a:solidFill>
                <a:latin typeface="Arial"/>
              </a:rPr>
              <a:t>. Trivia Royale's was under </a:t>
            </a:r>
            <a:r>
              <a:rPr sz="1400" b="0" i="0">
                <a:solidFill>
                  <a:srgbClr val="FFC83D"/>
                </a:solidFill>
                <a:latin typeface="Arial"/>
              </a:rPr>
              <a:t>$0.20.</a:t>
            </a:r>
          </a:p>
          <a:p>
            <a:pPr marL="238571" indent="-238571">
              <a:lnSpc>
                <a:spcPct val="116000"/>
              </a:lnSpc>
              <a:spcBef>
                <a:spcPts val="770"/>
              </a:spcBef>
              <a:buClr>
                <a:srgbClr val="4EE1FF"/>
              </a:buClr>
              <a:buFont typeface="Arial"/>
              <a:buChar char="—"/>
            </a:pPr>
            <a:r>
              <a:rPr sz="1400" b="0" i="0">
                <a:solidFill>
                  <a:srgbClr val="F7F6EF"/>
                </a:solidFill>
                <a:latin typeface="Arial"/>
              </a:rPr>
              <a:t>Base-case revenue per MAU of </a:t>
            </a:r>
            <a:r>
              <a:rPr sz="1400" b="0" i="0">
                <a:solidFill>
                  <a:srgbClr val="FFC83D"/>
                </a:solidFill>
                <a:latin typeface="Arial"/>
              </a:rPr>
              <a:t>$15.40</a:t>
            </a:r>
            <a:r>
              <a:rPr sz="1400" b="0" i="0">
                <a:solidFill>
                  <a:srgbClr val="F7F6EF"/>
                </a:solidFill>
                <a:latin typeface="Arial"/>
              </a:rPr>
              <a:t> exceeds MAG's </a:t>
            </a:r>
            <a:r>
              <a:rPr sz="1400" b="0" i="0">
                <a:solidFill>
                  <a:srgbClr val="FFC83D"/>
                </a:solidFill>
                <a:latin typeface="Arial"/>
              </a:rPr>
              <a:t>$13.07</a:t>
            </a:r>
            <a:r>
              <a:rPr sz="1400" b="0" i="0">
                <a:solidFill>
                  <a:srgbClr val="F7F6EF"/>
                </a:solidFill>
                <a:latin typeface="Arial"/>
              </a:rPr>
              <a:t> and Duolingo's </a:t>
            </a:r>
            <a:r>
              <a:rPr sz="1400" b="0" i="0">
                <a:solidFill>
                  <a:srgbClr val="FFC83D"/>
                </a:solidFill>
                <a:latin typeface="Arial"/>
              </a:rPr>
              <a:t>$7.80.</a:t>
            </a:r>
            <a:r>
              <a:rPr sz="1400" b="0" i="0">
                <a:solidFill>
                  <a:srgbClr val="F7F6EF"/>
                </a:solidFill>
                <a:latin typeface="Arial"/>
              </a:rPr>
              <a:t> A ceiling, not a target.</a:t>
            </a:r>
          </a:p>
        </p:txBody>
      </p:sp>
      <p:graphicFrame>
        <p:nvGraphicFramePr>
          <p:cNvPr id="8" name="Table 7"/>
          <p:cNvGraphicFramePr>
            <a:graphicFrameLocks noGrp="1"/>
          </p:cNvGraphicFramePr>
          <p:nvPr/>
        </p:nvGraphicFramePr>
        <p:xfrm>
          <a:off x="566928" y="3111754"/>
          <a:ext cx="11057837" cy="2795265"/>
        </p:xfrm>
        <a:graphic>
          <a:graphicData uri="http://schemas.openxmlformats.org/drawingml/2006/table">
            <a:tbl>
              <a:tblPr>
                <a:tableStyleId>{2D5ABB26-0587-4C30-8999-92F81FD0307C}</a:tableStyleId>
              </a:tblPr>
              <a:tblGrid>
                <a:gridCol w="2059474"/>
                <a:gridCol w="1240372"/>
                <a:gridCol w="1201707"/>
                <a:gridCol w="1304556"/>
                <a:gridCol w="5251728"/>
              </a:tblGrid>
              <a:tr h="309357">
                <a:tc>
                  <a:txBody>
                    <a:bodyPr wrap="square"/>
                    <a:lstStyle/>
                    <a:p>
                      <a:pPr>
                        <a:lnSpc>
                          <a:spcPct val="114000"/>
                        </a:lnSpc>
                      </a:pPr>
                      <a:r>
                        <a:rPr sz="1200" b="1" i="0">
                          <a:solidFill>
                            <a:srgbClr val="D4FF3A"/>
                          </a:solidFill>
                          <a:latin typeface="Arial"/>
                        </a:rPr>
                        <a:t>Input</a:t>
                      </a:r>
                    </a:p>
                  </a:txBody>
                  <a:tcPr marL="64008" marR="64008" marT="41148" marB="41148" anchor="ctr">
                    <a:solidFill>
                      <a:srgbClr val="121821"/>
                    </a:solidFill>
                  </a:tcPr>
                </a:tc>
                <a:tc>
                  <a:txBody>
                    <a:bodyPr wrap="square"/>
                    <a:lstStyle/>
                    <a:p>
                      <a:pPr>
                        <a:lnSpc>
                          <a:spcPct val="114000"/>
                        </a:lnSpc>
                      </a:pPr>
                      <a:r>
                        <a:rPr sz="1200" b="1" i="0">
                          <a:solidFill>
                            <a:srgbClr val="D4FF3A"/>
                          </a:solidFill>
                          <a:latin typeface="Arial"/>
                        </a:rPr>
                        <a:t>Conservative</a:t>
                      </a:r>
                    </a:p>
                  </a:txBody>
                  <a:tcPr marL="64008" marR="64008" marT="41148" marB="41148" anchor="ctr">
                    <a:solidFill>
                      <a:srgbClr val="121821"/>
                    </a:solidFill>
                  </a:tcPr>
                </a:tc>
                <a:tc>
                  <a:txBody>
                    <a:bodyPr wrap="square"/>
                    <a:lstStyle/>
                    <a:p>
                      <a:pPr>
                        <a:lnSpc>
                          <a:spcPct val="114000"/>
                        </a:lnSpc>
                      </a:pPr>
                      <a:r>
                        <a:rPr sz="1200" b="1" i="0">
                          <a:solidFill>
                            <a:srgbClr val="D4FF3A"/>
                          </a:solidFill>
                          <a:latin typeface="Arial"/>
                        </a:rPr>
                        <a:t>Base</a:t>
                      </a:r>
                    </a:p>
                  </a:txBody>
                  <a:tcPr marL="64008" marR="64008" marT="41148" marB="41148" anchor="ctr">
                    <a:solidFill>
                      <a:srgbClr val="121821"/>
                    </a:solidFill>
                  </a:tcPr>
                </a:tc>
                <a:tc>
                  <a:txBody>
                    <a:bodyPr wrap="square"/>
                    <a:lstStyle/>
                    <a:p>
                      <a:pPr>
                        <a:lnSpc>
                          <a:spcPct val="114000"/>
                        </a:lnSpc>
                      </a:pPr>
                      <a:r>
                        <a:rPr sz="1200" b="1" i="0">
                          <a:solidFill>
                            <a:srgbClr val="D4FF3A"/>
                          </a:solidFill>
                          <a:latin typeface="Arial"/>
                        </a:rPr>
                        <a:t>Optimistic</a:t>
                      </a:r>
                    </a:p>
                  </a:txBody>
                  <a:tcPr marL="64008" marR="64008" marT="41148" marB="41148" anchor="ctr">
                    <a:solidFill>
                      <a:srgbClr val="121821"/>
                    </a:solidFill>
                  </a:tcPr>
                </a:tc>
                <a:tc>
                  <a:txBody>
                    <a:bodyPr wrap="square"/>
                    <a:lstStyle/>
                    <a:p>
                      <a:pPr>
                        <a:lnSpc>
                          <a:spcPct val="114000"/>
                        </a:lnSpc>
                      </a:pPr>
                      <a:r>
                        <a:rPr sz="1200" b="1" i="0">
                          <a:solidFill>
                            <a:srgbClr val="D4FF3A"/>
                          </a:solidFill>
                          <a:latin typeface="Arial"/>
                        </a:rPr>
                        <a:t>Where it comes from</a:t>
                      </a:r>
                    </a:p>
                  </a:txBody>
                  <a:tcPr marL="64008" marR="64008" marT="41148" marB="41148" anchor="ctr">
                    <a:solidFill>
                      <a:srgbClr val="121821"/>
                    </a:solidFill>
                  </a:tcPr>
                </a:tc>
              </a:tr>
              <a:tr h="309357">
                <a:tc>
                  <a:txBody>
                    <a:bodyPr wrap="square"/>
                    <a:lstStyle/>
                    <a:p>
                      <a:pPr>
                        <a:lnSpc>
                          <a:spcPct val="114000"/>
                        </a:lnSpc>
                      </a:pPr>
                      <a:r>
                        <a:rPr sz="1200" b="1" i="0">
                          <a:solidFill>
                            <a:srgbClr val="F7F6EF"/>
                          </a:solidFill>
                          <a:latin typeface="Arial"/>
                        </a:rPr>
                        <a:t>D30 retention</a:t>
                      </a:r>
                    </a:p>
                  </a:txBody>
                  <a:tcPr marL="64008" marR="64008" marT="41148" marB="41148" anchor="ctr">
                    <a:solidFill>
                      <a:srgbClr val="121821"/>
                    </a:solidFill>
                  </a:tcPr>
                </a:tc>
                <a:tc>
                  <a:txBody>
                    <a:bodyPr wrap="square"/>
                    <a:lstStyle/>
                    <a:p>
                      <a:pPr>
                        <a:lnSpc>
                          <a:spcPct val="114000"/>
                        </a:lnSpc>
                      </a:pPr>
                      <a:r>
                        <a:rPr sz="1200" b="0" i="0">
                          <a:solidFill>
                            <a:srgbClr val="F7F6EF"/>
                          </a:solidFill>
                          <a:latin typeface="Arial"/>
                        </a:rPr>
                        <a:t>0.68%</a:t>
                      </a:r>
                    </a:p>
                  </a:txBody>
                  <a:tcPr marL="64008" marR="64008" marT="41148" marB="41148" anchor="ctr">
                    <a:solidFill>
                      <a:srgbClr val="121821"/>
                    </a:solidFill>
                  </a:tcPr>
                </a:tc>
                <a:tc>
                  <a:txBody>
                    <a:bodyPr wrap="square"/>
                    <a:lstStyle/>
                    <a:p>
                      <a:pPr>
                        <a:lnSpc>
                          <a:spcPct val="114000"/>
                        </a:lnSpc>
                      </a:pPr>
                      <a:r>
                        <a:rPr sz="1200" b="0" i="0">
                          <a:solidFill>
                            <a:srgbClr val="F7F6EF"/>
                          </a:solidFill>
                          <a:latin typeface="Arial"/>
                        </a:rPr>
                        <a:t>1.18%</a:t>
                      </a:r>
                    </a:p>
                  </a:txBody>
                  <a:tcPr marL="64008" marR="64008" marT="41148" marB="41148" anchor="ctr">
                    <a:solidFill>
                      <a:srgbClr val="121821"/>
                    </a:solidFill>
                  </a:tcPr>
                </a:tc>
                <a:tc>
                  <a:txBody>
                    <a:bodyPr wrap="square"/>
                    <a:lstStyle/>
                    <a:p>
                      <a:pPr>
                        <a:lnSpc>
                          <a:spcPct val="114000"/>
                        </a:lnSpc>
                      </a:pPr>
                      <a:r>
                        <a:rPr sz="1200" b="0" i="0">
                          <a:solidFill>
                            <a:srgbClr val="F7F6EF"/>
                          </a:solidFill>
                          <a:latin typeface="Arial"/>
                        </a:rPr>
                        <a:t>1.70%</a:t>
                      </a:r>
                    </a:p>
                  </a:txBody>
                  <a:tcPr marL="64008" marR="64008" marT="41148" marB="41148" anchor="ctr">
                    <a:solidFill>
                      <a:srgbClr val="121821"/>
                    </a:solidFill>
                  </a:tcPr>
                </a:tc>
                <a:tc>
                  <a:txBody>
                    <a:bodyPr wrap="square"/>
                    <a:lstStyle/>
                    <a:p>
                      <a:pPr>
                        <a:lnSpc>
                          <a:spcPct val="114000"/>
                        </a:lnSpc>
                      </a:pPr>
                      <a:r>
                        <a:rPr sz="1200" b="0" i="0">
                          <a:solidFill>
                            <a:srgbClr val="F7F6EF"/>
                          </a:solidFill>
                          <a:latin typeface="Arial"/>
                        </a:rPr>
                        <a:t>GameAnalytics CY2025: global median low / NA median / global P75</a:t>
                      </a:r>
                    </a:p>
                  </a:txBody>
                  <a:tcPr marL="64008" marR="64008" marT="41148" marB="41148" anchor="ctr">
                    <a:solidFill>
                      <a:srgbClr val="121821"/>
                    </a:solidFill>
                  </a:tcPr>
                </a:tc>
              </a:tr>
              <a:tr h="309357">
                <a:tc>
                  <a:txBody>
                    <a:bodyPr wrap="square"/>
                    <a:lstStyle/>
                    <a:p>
                      <a:pPr>
                        <a:lnSpc>
                          <a:spcPct val="114000"/>
                        </a:lnSpc>
                      </a:pPr>
                      <a:r>
                        <a:rPr sz="1200" b="1" i="0">
                          <a:solidFill>
                            <a:srgbClr val="F7F6EF"/>
                          </a:solidFill>
                          <a:latin typeface="Arial"/>
                        </a:rPr>
                        <a:t>Install to payer</a:t>
                      </a:r>
                    </a:p>
                  </a:txBody>
                  <a:tcPr marL="64008" marR="64008" marT="41148" marB="41148" anchor="ctr">
                    <a:solidFill>
                      <a:srgbClr val="0D131B"/>
                    </a:solidFill>
                  </a:tcPr>
                </a:tc>
                <a:tc>
                  <a:txBody>
                    <a:bodyPr wrap="square"/>
                    <a:lstStyle/>
                    <a:p>
                      <a:pPr>
                        <a:lnSpc>
                          <a:spcPct val="114000"/>
                        </a:lnSpc>
                      </a:pPr>
                      <a:r>
                        <a:rPr sz="1200" b="0" i="0">
                          <a:solidFill>
                            <a:srgbClr val="F7F6EF"/>
                          </a:solidFill>
                          <a:latin typeface="Arial"/>
                        </a:rPr>
                        <a:t>5.08%</a:t>
                      </a:r>
                    </a:p>
                  </a:txBody>
                  <a:tcPr marL="64008" marR="64008" marT="41148" marB="41148" anchor="ctr">
                    <a:solidFill>
                      <a:srgbClr val="0D131B"/>
                    </a:solidFill>
                  </a:tcPr>
                </a:tc>
                <a:tc>
                  <a:txBody>
                    <a:bodyPr wrap="square"/>
                    <a:lstStyle/>
                    <a:p>
                      <a:pPr>
                        <a:lnSpc>
                          <a:spcPct val="114000"/>
                        </a:lnSpc>
                      </a:pPr>
                      <a:r>
                        <a:rPr sz="1200" b="0" i="0">
                          <a:solidFill>
                            <a:srgbClr val="F7F6EF"/>
                          </a:solidFill>
                          <a:latin typeface="Arial"/>
                        </a:rPr>
                        <a:t>11.14%</a:t>
                      </a:r>
                    </a:p>
                  </a:txBody>
                  <a:tcPr marL="64008" marR="64008" marT="41148" marB="41148" anchor="ctr">
                    <a:solidFill>
                      <a:srgbClr val="0D131B"/>
                    </a:solidFill>
                  </a:tcPr>
                </a:tc>
                <a:tc>
                  <a:txBody>
                    <a:bodyPr wrap="square"/>
                    <a:lstStyle/>
                    <a:p>
                      <a:pPr>
                        <a:lnSpc>
                          <a:spcPct val="114000"/>
                        </a:lnSpc>
                      </a:pPr>
                      <a:r>
                        <a:rPr sz="1200" b="0" i="0">
                          <a:solidFill>
                            <a:srgbClr val="F7F6EF"/>
                          </a:solidFill>
                          <a:latin typeface="Arial"/>
                        </a:rPr>
                        <a:t>18.46%</a:t>
                      </a:r>
                    </a:p>
                  </a:txBody>
                  <a:tcPr marL="64008" marR="64008" marT="41148" marB="41148" anchor="ctr">
                    <a:solidFill>
                      <a:srgbClr val="0D131B"/>
                    </a:solidFill>
                  </a:tcPr>
                </a:tc>
                <a:tc>
                  <a:txBody>
                    <a:bodyPr wrap="square"/>
                    <a:lstStyle/>
                    <a:p>
                      <a:pPr>
                        <a:lnSpc>
                          <a:spcPct val="114000"/>
                        </a:lnSpc>
                      </a:pPr>
                      <a:r>
                        <a:rPr sz="1200" b="0" i="0">
                          <a:solidFill>
                            <a:srgbClr val="F7F6EF"/>
                          </a:solidFill>
                          <a:latin typeface="Arial"/>
                        </a:rPr>
                        <a:t>AppsFlyer: NA repeat payer / NA one-time payer / derived $1.34 / $7.26</a:t>
                      </a:r>
                    </a:p>
                  </a:txBody>
                  <a:tcPr marL="64008" marR="64008" marT="41148" marB="41148" anchor="ctr">
                    <a:solidFill>
                      <a:srgbClr val="0D131B"/>
                    </a:solidFill>
                  </a:tcPr>
                </a:tc>
              </a:tr>
              <a:tr h="309357">
                <a:tc>
                  <a:txBody>
                    <a:bodyPr wrap="square"/>
                    <a:lstStyle/>
                    <a:p>
                      <a:pPr>
                        <a:lnSpc>
                          <a:spcPct val="114000"/>
                        </a:lnSpc>
                      </a:pPr>
                      <a:r>
                        <a:rPr sz="1200" b="1" i="0">
                          <a:solidFill>
                            <a:srgbClr val="F7F6EF"/>
                          </a:solidFill>
                          <a:latin typeface="Arial"/>
                        </a:rPr>
                        <a:t>ARPPU (D90)</a:t>
                      </a:r>
                    </a:p>
                  </a:txBody>
                  <a:tcPr marL="64008" marR="64008" marT="41148" marB="41148" anchor="ctr">
                    <a:solidFill>
                      <a:srgbClr val="121821"/>
                    </a:solidFill>
                  </a:tcPr>
                </a:tc>
                <a:tc>
                  <a:txBody>
                    <a:bodyPr wrap="square"/>
                    <a:lstStyle/>
                    <a:p>
                      <a:pPr>
                        <a:lnSpc>
                          <a:spcPct val="114000"/>
                        </a:lnSpc>
                      </a:pPr>
                      <a:r>
                        <a:rPr sz="1200" b="0" i="0">
                          <a:solidFill>
                            <a:srgbClr val="FFC83D"/>
                          </a:solidFill>
                          <a:latin typeface="Arial"/>
                        </a:rPr>
                        <a:t>$7.26</a:t>
                      </a:r>
                    </a:p>
                  </a:txBody>
                  <a:tcPr marL="64008" marR="64008" marT="41148" marB="41148" anchor="ctr">
                    <a:solidFill>
                      <a:srgbClr val="121821"/>
                    </a:solidFill>
                  </a:tcPr>
                </a:tc>
                <a:tc>
                  <a:txBody>
                    <a:bodyPr wrap="square"/>
                    <a:lstStyle/>
                    <a:p>
                      <a:pPr>
                        <a:lnSpc>
                          <a:spcPct val="114000"/>
                        </a:lnSpc>
                      </a:pPr>
                      <a:r>
                        <a:rPr sz="1200" b="0" i="0">
                          <a:solidFill>
                            <a:srgbClr val="FFC83D"/>
                          </a:solidFill>
                          <a:latin typeface="Arial"/>
                        </a:rPr>
                        <a:t>$7.26</a:t>
                      </a:r>
                    </a:p>
                  </a:txBody>
                  <a:tcPr marL="64008" marR="64008" marT="41148" marB="41148" anchor="ctr">
                    <a:solidFill>
                      <a:srgbClr val="121821"/>
                    </a:solidFill>
                  </a:tcPr>
                </a:tc>
                <a:tc>
                  <a:txBody>
                    <a:bodyPr wrap="square"/>
                    <a:lstStyle/>
                    <a:p>
                      <a:pPr>
                        <a:lnSpc>
                          <a:spcPct val="114000"/>
                        </a:lnSpc>
                      </a:pPr>
                      <a:r>
                        <a:rPr sz="1200" b="0" i="0">
                          <a:solidFill>
                            <a:srgbClr val="FFC83D"/>
                          </a:solidFill>
                          <a:latin typeface="Arial"/>
                        </a:rPr>
                        <a:t>$7.26</a:t>
                      </a:r>
                    </a:p>
                  </a:txBody>
                  <a:tcPr marL="64008" marR="64008" marT="41148" marB="41148" anchor="ctr">
                    <a:solidFill>
                      <a:srgbClr val="121821"/>
                    </a:solidFill>
                  </a:tcPr>
                </a:tc>
                <a:tc>
                  <a:txBody>
                    <a:bodyPr wrap="square"/>
                    <a:lstStyle/>
                    <a:p>
                      <a:pPr>
                        <a:lnSpc>
                          <a:spcPct val="114000"/>
                        </a:lnSpc>
                      </a:pPr>
                      <a:r>
                        <a:rPr sz="1200" b="0" i="0">
                          <a:solidFill>
                            <a:srgbClr val="F7F6EF"/>
                          </a:solidFill>
                          <a:latin typeface="Arial"/>
                        </a:rPr>
                        <a:t>AppsFlyer casual games D90 ARPPU</a:t>
                      </a:r>
                    </a:p>
                  </a:txBody>
                  <a:tcPr marL="64008" marR="64008" marT="41148" marB="41148" anchor="ctr">
                    <a:solidFill>
                      <a:srgbClr val="121821"/>
                    </a:solidFill>
                  </a:tcPr>
                </a:tc>
              </a:tr>
              <a:tr h="519279">
                <a:tc>
                  <a:txBody>
                    <a:bodyPr wrap="square"/>
                    <a:lstStyle/>
                    <a:p>
                      <a:pPr>
                        <a:lnSpc>
                          <a:spcPct val="114000"/>
                        </a:lnSpc>
                      </a:pPr>
                      <a:r>
                        <a:rPr sz="1200" b="1" i="0">
                          <a:solidFill>
                            <a:srgbClr val="F7F6EF"/>
                          </a:solidFill>
                          <a:latin typeface="Arial"/>
                        </a:rPr>
                        <a:t>Ad revenue per install</a:t>
                      </a:r>
                    </a:p>
                  </a:txBody>
                  <a:tcPr marL="64008" marR="64008" marT="41148" marB="41148" anchor="ctr">
                    <a:solidFill>
                      <a:srgbClr val="0D131B"/>
                    </a:solidFill>
                  </a:tcPr>
                </a:tc>
                <a:tc>
                  <a:txBody>
                    <a:bodyPr wrap="square"/>
                    <a:lstStyle/>
                    <a:p>
                      <a:pPr>
                        <a:lnSpc>
                          <a:spcPct val="114000"/>
                        </a:lnSpc>
                      </a:pPr>
                      <a:r>
                        <a:rPr sz="1200" b="0" i="0">
                          <a:solidFill>
                            <a:srgbClr val="FFC83D"/>
                          </a:solidFill>
                          <a:latin typeface="Arial"/>
                        </a:rPr>
                        <a:t>$0.00</a:t>
                      </a:r>
                    </a:p>
                  </a:txBody>
                  <a:tcPr marL="64008" marR="64008" marT="41148" marB="41148" anchor="ctr">
                    <a:solidFill>
                      <a:srgbClr val="0D131B"/>
                    </a:solidFill>
                  </a:tcPr>
                </a:tc>
                <a:tc>
                  <a:txBody>
                    <a:bodyPr wrap="square"/>
                    <a:lstStyle/>
                    <a:p>
                      <a:pPr>
                        <a:lnSpc>
                          <a:spcPct val="114000"/>
                        </a:lnSpc>
                      </a:pPr>
                      <a:r>
                        <a:rPr sz="1200" b="0" i="0">
                          <a:solidFill>
                            <a:srgbClr val="FFC83D"/>
                          </a:solidFill>
                          <a:latin typeface="Arial"/>
                        </a:rPr>
                        <a:t>$0.55</a:t>
                      </a:r>
                    </a:p>
                  </a:txBody>
                  <a:tcPr marL="64008" marR="64008" marT="41148" marB="41148" anchor="ctr">
                    <a:solidFill>
                      <a:srgbClr val="0D131B"/>
                    </a:solidFill>
                  </a:tcPr>
                </a:tc>
                <a:tc>
                  <a:txBody>
                    <a:bodyPr wrap="square"/>
                    <a:lstStyle/>
                    <a:p>
                      <a:pPr>
                        <a:lnSpc>
                          <a:spcPct val="114000"/>
                        </a:lnSpc>
                      </a:pPr>
                      <a:r>
                        <a:rPr sz="1200" b="0" i="0">
                          <a:solidFill>
                            <a:srgbClr val="FFC83D"/>
                          </a:solidFill>
                          <a:latin typeface="Arial"/>
                        </a:rPr>
                        <a:t>$0.55</a:t>
                      </a:r>
                    </a:p>
                  </a:txBody>
                  <a:tcPr marL="64008" marR="64008" marT="41148" marB="41148" anchor="ctr">
                    <a:solidFill>
                      <a:srgbClr val="0D131B"/>
                    </a:solidFill>
                  </a:tcPr>
                </a:tc>
                <a:tc>
                  <a:txBody>
                    <a:bodyPr wrap="square"/>
                    <a:lstStyle/>
                    <a:p>
                      <a:pPr>
                        <a:lnSpc>
                          <a:spcPct val="114000"/>
                        </a:lnSpc>
                      </a:pPr>
                      <a:r>
                        <a:rPr sz="1200" b="0" i="0">
                          <a:solidFill>
                            <a:srgbClr val="F7F6EF"/>
                          </a:solidFill>
                          <a:latin typeface="Arial"/>
                        </a:rPr>
                        <a:t>AppsFlyer casual D90 IAA ARPU; $0.00 assumes no mediation stack, which is today's state</a:t>
                      </a:r>
                    </a:p>
                  </a:txBody>
                  <a:tcPr marL="64008" marR="64008" marT="41148" marB="41148" anchor="ctr">
                    <a:solidFill>
                      <a:srgbClr val="0D131B"/>
                    </a:solidFill>
                  </a:tcPr>
                </a:tc>
              </a:tr>
              <a:tr h="519279">
                <a:tc>
                  <a:txBody>
                    <a:bodyPr wrap="square"/>
                    <a:lstStyle/>
                    <a:p>
                      <a:pPr>
                        <a:lnSpc>
                          <a:spcPct val="114000"/>
                        </a:lnSpc>
                      </a:pPr>
                      <a:r>
                        <a:rPr sz="1200" b="1" i="0">
                          <a:solidFill>
                            <a:srgbClr val="F7F6EF"/>
                          </a:solidFill>
                          <a:latin typeface="Arial"/>
                        </a:rPr>
                        <a:t>Monthly churn of retained base</a:t>
                      </a:r>
                    </a:p>
                  </a:txBody>
                  <a:tcPr marL="64008" marR="64008" marT="41148" marB="41148" anchor="ctr">
                    <a:solidFill>
                      <a:srgbClr val="121821"/>
                    </a:solidFill>
                  </a:tcPr>
                </a:tc>
                <a:tc>
                  <a:txBody>
                    <a:bodyPr wrap="square"/>
                    <a:lstStyle/>
                    <a:p>
                      <a:pPr>
                        <a:lnSpc>
                          <a:spcPct val="114000"/>
                        </a:lnSpc>
                      </a:pPr>
                      <a:r>
                        <a:rPr sz="1200" b="0" i="0">
                          <a:solidFill>
                            <a:srgbClr val="F7F6EF"/>
                          </a:solidFill>
                          <a:latin typeface="Arial"/>
                        </a:rPr>
                        <a:t>20%</a:t>
                      </a:r>
                    </a:p>
                  </a:txBody>
                  <a:tcPr marL="64008" marR="64008" marT="41148" marB="41148" anchor="ctr">
                    <a:solidFill>
                      <a:srgbClr val="121821"/>
                    </a:solidFill>
                  </a:tcPr>
                </a:tc>
                <a:tc>
                  <a:txBody>
                    <a:bodyPr wrap="square"/>
                    <a:lstStyle/>
                    <a:p>
                      <a:pPr>
                        <a:lnSpc>
                          <a:spcPct val="114000"/>
                        </a:lnSpc>
                      </a:pPr>
                      <a:r>
                        <a:rPr sz="1200" b="0" i="0">
                          <a:solidFill>
                            <a:srgbClr val="F7F6EF"/>
                          </a:solidFill>
                          <a:latin typeface="Arial"/>
                        </a:rPr>
                        <a:t>20%</a:t>
                      </a:r>
                    </a:p>
                  </a:txBody>
                  <a:tcPr marL="64008" marR="64008" marT="41148" marB="41148" anchor="ctr">
                    <a:solidFill>
                      <a:srgbClr val="121821"/>
                    </a:solidFill>
                  </a:tcPr>
                </a:tc>
                <a:tc>
                  <a:txBody>
                    <a:bodyPr wrap="square"/>
                    <a:lstStyle/>
                    <a:p>
                      <a:pPr>
                        <a:lnSpc>
                          <a:spcPct val="114000"/>
                        </a:lnSpc>
                      </a:pPr>
                      <a:r>
                        <a:rPr sz="1200" b="0" i="0">
                          <a:solidFill>
                            <a:srgbClr val="F7F6EF"/>
                          </a:solidFill>
                          <a:latin typeface="Arial"/>
                        </a:rPr>
                        <a:t>20%</a:t>
                      </a:r>
                    </a:p>
                  </a:txBody>
                  <a:tcPr marL="64008" marR="64008" marT="41148" marB="41148" anchor="ctr">
                    <a:solidFill>
                      <a:srgbClr val="121821"/>
                    </a:solidFill>
                  </a:tcPr>
                </a:tc>
                <a:tc>
                  <a:txBody>
                    <a:bodyPr wrap="square"/>
                    <a:lstStyle/>
                    <a:p>
                      <a:pPr>
                        <a:lnSpc>
                          <a:spcPct val="114000"/>
                        </a:lnSpc>
                      </a:pPr>
                      <a:r>
                        <a:rPr sz="1200" b="0" i="0">
                          <a:solidFill>
                            <a:srgbClr val="F7F6EF"/>
                          </a:solidFill>
                          <a:latin typeface="Arial"/>
                        </a:rPr>
                        <a:t>Assumption, unsourced. Held constant so it cannot flatter a scenario</a:t>
                      </a:r>
                    </a:p>
                  </a:txBody>
                  <a:tcPr marL="64008" marR="64008" marT="41148" marB="41148" anchor="ctr">
                    <a:solidFill>
                      <a:srgbClr val="121821"/>
                    </a:solidFill>
                  </a:tcPr>
                </a:tc>
              </a:tr>
              <a:tr h="519279">
                <a:tc>
                  <a:txBody>
                    <a:bodyPr wrap="square"/>
                    <a:lstStyle/>
                    <a:p>
                      <a:pPr>
                        <a:lnSpc>
                          <a:spcPct val="114000"/>
                        </a:lnSpc>
                      </a:pPr>
                      <a:r>
                        <a:rPr sz="1200" b="1" i="0">
                          <a:solidFill>
                            <a:srgbClr val="F7F6EF"/>
                          </a:solidFill>
                          <a:latin typeface="Arial"/>
                        </a:rPr>
                        <a:t>Installs Y1 / Y2 / Y3</a:t>
                      </a:r>
                    </a:p>
                  </a:txBody>
                  <a:tcPr marL="64008" marR="64008" marT="41148" marB="41148" anchor="ctr">
                    <a:solidFill>
                      <a:srgbClr val="0D131B"/>
                    </a:solidFill>
                  </a:tcPr>
                </a:tc>
                <a:tc>
                  <a:txBody>
                    <a:bodyPr wrap="square"/>
                    <a:lstStyle/>
                    <a:p>
                      <a:pPr>
                        <a:lnSpc>
                          <a:spcPct val="114000"/>
                        </a:lnSpc>
                      </a:pPr>
                      <a:r>
                        <a:rPr sz="1200" b="0" i="0">
                          <a:solidFill>
                            <a:srgbClr val="F7F6EF"/>
                          </a:solidFill>
                          <a:latin typeface="Arial"/>
                        </a:rPr>
                        <a:t>25K / 90K / 250K</a:t>
                      </a:r>
                    </a:p>
                  </a:txBody>
                  <a:tcPr marL="64008" marR="64008" marT="41148" marB="41148" anchor="ctr">
                    <a:solidFill>
                      <a:srgbClr val="0D131B"/>
                    </a:solidFill>
                  </a:tcPr>
                </a:tc>
                <a:tc>
                  <a:txBody>
                    <a:bodyPr wrap="square"/>
                    <a:lstStyle/>
                    <a:p>
                      <a:pPr>
                        <a:lnSpc>
                          <a:spcPct val="114000"/>
                        </a:lnSpc>
                      </a:pPr>
                      <a:r>
                        <a:rPr sz="1200" b="0" i="0">
                          <a:solidFill>
                            <a:srgbClr val="F7F6EF"/>
                          </a:solidFill>
                          <a:latin typeface="Arial"/>
                        </a:rPr>
                        <a:t>75K / 350K / 1.2M</a:t>
                      </a:r>
                    </a:p>
                  </a:txBody>
                  <a:tcPr marL="64008" marR="64008" marT="41148" marB="41148" anchor="ctr">
                    <a:solidFill>
                      <a:srgbClr val="0D131B"/>
                    </a:solidFill>
                  </a:tcPr>
                </a:tc>
                <a:tc>
                  <a:txBody>
                    <a:bodyPr wrap="square"/>
                    <a:lstStyle/>
                    <a:p>
                      <a:pPr>
                        <a:lnSpc>
                          <a:spcPct val="114000"/>
                        </a:lnSpc>
                      </a:pPr>
                      <a:r>
                        <a:rPr sz="1200" b="0" i="0">
                          <a:solidFill>
                            <a:srgbClr val="F7F6EF"/>
                          </a:solidFill>
                          <a:latin typeface="Arial"/>
                        </a:rPr>
                        <a:t>200K / 1.0M / 4.0M</a:t>
                      </a:r>
                    </a:p>
                  </a:txBody>
                  <a:tcPr marL="64008" marR="64008" marT="41148" marB="41148" anchor="ctr">
                    <a:solidFill>
                      <a:srgbClr val="0D131B"/>
                    </a:solidFill>
                  </a:tcPr>
                </a:tc>
                <a:tc>
                  <a:txBody>
                    <a:bodyPr wrap="square"/>
                    <a:lstStyle/>
                    <a:p>
                      <a:pPr>
                        <a:lnSpc>
                          <a:spcPct val="114000"/>
                        </a:lnSpc>
                      </a:pPr>
                      <a:r>
                        <a:rPr sz="1200" b="0" i="0">
                          <a:solidFill>
                            <a:srgbClr val="F7F6EF"/>
                          </a:solidFill>
                          <a:latin typeface="Arial"/>
                        </a:rPr>
                        <a:t>Assumptions. No company data behind them</a:t>
                      </a:r>
                    </a:p>
                  </a:txBody>
                  <a:tcPr marL="64008" marR="64008" marT="41148" marB="41148" anchor="ctr">
                    <a:solidFill>
                      <a:srgbClr val="0D131B"/>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0E14"/>
        </a:solidFill>
        <a:effectLst/>
      </p:bgPr>
    </p:bg>
    <p:spTree>
      <p:nvGrpSpPr>
        <p:cNvPr id="1" name=""/>
        <p:cNvGrpSpPr/>
        <p:nvPr/>
      </p:nvGrpSpPr>
      <p:grpSpPr/>
      <p:sp>
        <p:nvSpPr>
          <p:cNvPr id="2" name="Title 1"/>
          <p:cNvSpPr>
            <a:spLocks noGrp="1"/>
          </p:cNvSpPr>
          <p:nvPr>
            <p:ph type="title"/>
          </p:nvPr>
        </p:nvSpPr>
        <p:spPr>
          <a:xfrm>
            <a:off x="566928" y="658368"/>
            <a:ext cx="11057839" cy="859536"/>
          </a:xfrm>
        </p:spPr>
        <p:txBody>
          <a:bodyPr wrap="square" lIns="0" rIns="0" tIns="0" bIns="0" anchor="t"/>
          <a:lstStyle/>
          <a:p>
            <a:pPr>
              <a:lnSpc>
                <a:spcPct val="108000"/>
              </a:lnSpc>
            </a:pPr>
            <a:r>
              <a:rPr sz="3000" b="1" i="0">
                <a:solidFill>
                  <a:srgbClr val="F7F6EF"/>
                </a:solidFill>
                <a:latin typeface="Arial"/>
              </a:rPr>
              <a:t>Appendix J — every source cited in this deck, and what kind of evidence it is.</a:t>
            </a:r>
          </a:p>
        </p:txBody>
      </p:sp>
      <p:sp>
        <p:nvSpPr>
          <p:cNvPr id="3" name="TextBox 2"/>
          <p:cNvSpPr txBox="1"/>
          <p:nvPr/>
        </p:nvSpPr>
        <p:spPr>
          <a:xfrm>
            <a:off x="566928" y="365760"/>
            <a:ext cx="11057839" cy="219456"/>
          </a:xfrm>
          <a:prstGeom prst="rect">
            <a:avLst/>
          </a:prstGeom>
          <a:noFill/>
        </p:spPr>
        <p:txBody>
          <a:bodyPr wrap="square" lIns="0" rIns="0" tIns="0" bIns="0" anchor="t">
            <a:spAutoFit/>
          </a:bodyPr>
          <a:lstStyle/>
          <a:p>
            <a:r>
              <a:rPr sz="1100" b="1" i="0" spc="160">
                <a:solidFill>
                  <a:srgbClr val="4EE1FF"/>
                </a:solidFill>
                <a:latin typeface="Arial"/>
              </a:rPr>
              <a:t>APPENDIX — SOURCE REGISTER (1 OF 4)</a:t>
            </a:r>
          </a:p>
        </p:txBody>
      </p:sp>
      <p:sp>
        <p:nvSpPr>
          <p:cNvPr id="4" name="Rectangle 3"/>
          <p:cNvSpPr/>
          <p:nvPr/>
        </p:nvSpPr>
        <p:spPr>
          <a:xfrm>
            <a:off x="566928" y="6035040"/>
            <a:ext cx="11057839" cy="11887"/>
          </a:xfrm>
          <a:prstGeom prst="rect">
            <a:avLst/>
          </a:prstGeom>
          <a:solidFill>
            <a:srgbClr val="4EE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664647" y="6144768"/>
            <a:ext cx="960120" cy="274320"/>
          </a:xfrm>
          <a:prstGeom prst="rect">
            <a:avLst/>
          </a:prstGeom>
          <a:noFill/>
        </p:spPr>
        <p:txBody>
          <a:bodyPr wrap="square" lIns="0" rIns="0" tIns="0" bIns="0" anchor="t">
            <a:spAutoFit/>
          </a:bodyPr>
          <a:lstStyle/>
          <a:p>
            <a:pPr algn="r"/>
            <a:r>
              <a:rPr sz="950" b="1" i="0" spc="60">
                <a:solidFill>
                  <a:srgbClr val="A6ADBA"/>
                </a:solidFill>
                <a:latin typeface="Arial"/>
              </a:rPr>
              <a:t>23</a:t>
            </a:r>
          </a:p>
        </p:txBody>
      </p:sp>
      <p:sp>
        <p:nvSpPr>
          <p:cNvPr id="6" name="TextBox 5"/>
          <p:cNvSpPr txBox="1"/>
          <p:nvPr/>
        </p:nvSpPr>
        <p:spPr>
          <a:xfrm>
            <a:off x="566928" y="1719072"/>
            <a:ext cx="11057839" cy="618236"/>
          </a:xfrm>
          <a:prstGeom prst="rect">
            <a:avLst/>
          </a:prstGeom>
          <a:noFill/>
        </p:spPr>
        <p:txBody>
          <a:bodyPr wrap="square" lIns="0" rIns="0" tIns="0" bIns="0" anchor="t">
            <a:spAutoFit/>
          </a:bodyPr>
          <a:lstStyle/>
          <a:p>
            <a:pPr marL="170411" indent="-170411">
              <a:lnSpc>
                <a:spcPct val="116000"/>
              </a:lnSpc>
              <a:buClr>
                <a:srgbClr val="4EE1FF"/>
              </a:buClr>
              <a:buFont typeface="Arial"/>
              <a:buChar char="—"/>
            </a:pPr>
            <a:r>
              <a:rPr sz="1000" b="0" i="0">
                <a:solidFill>
                  <a:srgbClr val="F7F6EF"/>
                </a:solidFill>
                <a:latin typeface="Arial"/>
              </a:rPr>
              <a:t>68 distinct sources across 20 slides. Full URLs are in the speaker notes of every slide.</a:t>
            </a:r>
          </a:p>
          <a:p>
            <a:pPr marL="170411" indent="-170411">
              <a:lnSpc>
                <a:spcPct val="116000"/>
              </a:lnSpc>
              <a:spcBef>
                <a:spcPts val="550"/>
              </a:spcBef>
              <a:buClr>
                <a:srgbClr val="4EE1FF"/>
              </a:buClr>
              <a:buFont typeface="Arial"/>
              <a:buChar char="—"/>
            </a:pPr>
            <a:r>
              <a:rPr sz="1000" b="0" i="0">
                <a:solidFill>
                  <a:srgbClr val="F7F6EF"/>
                </a:solidFill>
                <a:latin typeface="Arial"/>
              </a:rPr>
              <a:t>Kind key: audited filing, company disclosure, third-party estimate, analyst estimate, press report.</a:t>
            </a:r>
          </a:p>
          <a:p>
            <a:pPr marL="170411" indent="-170411">
              <a:lnSpc>
                <a:spcPct val="116000"/>
              </a:lnSpc>
              <a:spcBef>
                <a:spcPts val="550"/>
              </a:spcBef>
              <a:buClr>
                <a:srgbClr val="4EE1FF"/>
              </a:buClr>
              <a:buFont typeface="Arial"/>
              <a:buChar char="—"/>
            </a:pPr>
            <a:r>
              <a:rPr sz="1000" b="0" i="0">
                <a:solidFill>
                  <a:srgbClr val="F7F6EF"/>
                </a:solidFill>
                <a:latin typeface="Arial"/>
              </a:rPr>
              <a:t>Nothing in this deck rests on a source that is not on this list, and nothing on this list is ours.</a:t>
            </a:r>
          </a:p>
        </p:txBody>
      </p:sp>
      <p:graphicFrame>
        <p:nvGraphicFramePr>
          <p:cNvPr id="7" name="Table 6"/>
          <p:cNvGraphicFramePr>
            <a:graphicFrameLocks noGrp="1"/>
          </p:cNvGraphicFramePr>
          <p:nvPr/>
        </p:nvGraphicFramePr>
        <p:xfrm>
          <a:off x="566928" y="2575051"/>
          <a:ext cx="11057838" cy="3331962"/>
        </p:xfrm>
        <a:graphic>
          <a:graphicData uri="http://schemas.openxmlformats.org/drawingml/2006/table">
            <a:tbl>
              <a:tblPr>
                <a:tableStyleId>{2D5ABB26-0587-4C30-8999-92F81FD0307C}</a:tableStyleId>
              </a:tblPr>
              <a:tblGrid>
                <a:gridCol w="6526338"/>
                <a:gridCol w="2845280"/>
                <a:gridCol w="1686220"/>
              </a:tblGrid>
              <a:tr h="185109">
                <a:tc>
                  <a:txBody>
                    <a:bodyPr wrap="square"/>
                    <a:lstStyle/>
                    <a:p>
                      <a:pPr>
                        <a:lnSpc>
                          <a:spcPct val="114000"/>
                        </a:lnSpc>
                      </a:pPr>
                      <a:r>
                        <a:rPr sz="700" b="1" i="0">
                          <a:solidFill>
                            <a:srgbClr val="D4FF3A"/>
                          </a:solidFill>
                          <a:latin typeface="Arial"/>
                        </a:rPr>
                        <a:t>Source</a:t>
                      </a:r>
                    </a:p>
                  </a:txBody>
                  <a:tcPr marL="64008" marR="64008" marT="41148" marB="41148" anchor="ctr">
                    <a:solidFill>
                      <a:srgbClr val="121821"/>
                    </a:solidFill>
                  </a:tcPr>
                </a:tc>
                <a:tc>
                  <a:txBody>
                    <a:bodyPr wrap="square"/>
                    <a:lstStyle/>
                    <a:p>
                      <a:pPr>
                        <a:lnSpc>
                          <a:spcPct val="114000"/>
                        </a:lnSpc>
                      </a:pPr>
                      <a:r>
                        <a:rPr sz="700" b="1" i="0">
                          <a:solidFill>
                            <a:srgbClr val="D4FF3A"/>
                          </a:solidFill>
                          <a:latin typeface="Arial"/>
                        </a:rPr>
                        <a:t>Kind</a:t>
                      </a:r>
                    </a:p>
                  </a:txBody>
                  <a:tcPr marL="64008" marR="64008" marT="41148" marB="41148" anchor="ctr">
                    <a:solidFill>
                      <a:srgbClr val="121821"/>
                    </a:solidFill>
                  </a:tcPr>
                </a:tc>
                <a:tc>
                  <a:txBody>
                    <a:bodyPr wrap="square"/>
                    <a:lstStyle/>
                    <a:p>
                      <a:pPr>
                        <a:lnSpc>
                          <a:spcPct val="114000"/>
                        </a:lnSpc>
                      </a:pPr>
                      <a:r>
                        <a:rPr sz="700" b="1" i="0">
                          <a:solidFill>
                            <a:srgbClr val="D4FF3A"/>
                          </a:solidFill>
                          <a:latin typeface="Arial"/>
                        </a:rPr>
                        <a:t>Cited on</a:t>
                      </a:r>
                    </a:p>
                  </a:txBody>
                  <a:tcPr marL="64008" marR="64008" marT="41148" marB="41148" anchor="ctr">
                    <a:solidFill>
                      <a:srgbClr val="121821"/>
                    </a:solidFill>
                  </a:tcPr>
                </a:tc>
              </a:tr>
              <a:tr h="185109">
                <a:tc>
                  <a:txBody>
                    <a:bodyPr wrap="square"/>
                    <a:lstStyle/>
                    <a:p>
                      <a:pPr>
                        <a:lnSpc>
                          <a:spcPct val="114000"/>
                        </a:lnSpc>
                      </a:pPr>
                      <a:r>
                        <a:rPr sz="700" b="1" i="0">
                          <a:solidFill>
                            <a:srgbClr val="F7F6EF"/>
                          </a:solidFill>
                          <a:latin typeface="Arial"/>
                        </a:rPr>
                        <a:t>FACT//DUEL internal — numbers.md — status paragraph and §5.15</a:t>
                      </a:r>
                    </a:p>
                  </a:txBody>
                  <a:tcPr marL="64008" marR="64008" marT="41148" marB="41148" anchor="ctr">
                    <a:solidFill>
                      <a:srgbClr val="121821"/>
                    </a:solidFill>
                  </a:tcPr>
                </a:tc>
                <a:tc>
                  <a:txBody>
                    <a:bodyPr wrap="square"/>
                    <a:lstStyle/>
                    <a:p>
                      <a:pPr>
                        <a:lnSpc>
                          <a:spcPct val="114000"/>
                        </a:lnSpc>
                      </a:pPr>
                      <a:r>
                        <a:rPr sz="700" b="0" i="0">
                          <a:solidFill>
                            <a:srgbClr val="F7F6EF"/>
                          </a:solidFill>
                          <a:latin typeface="Arial"/>
                        </a:rPr>
                        <a:t>internal (company disclosure)</a:t>
                      </a:r>
                    </a:p>
                  </a:txBody>
                  <a:tcPr marL="64008" marR="64008" marT="41148" marB="41148" anchor="ctr">
                    <a:solidFill>
                      <a:srgbClr val="121821"/>
                    </a:solidFill>
                  </a:tcPr>
                </a:tc>
                <a:tc>
                  <a:txBody>
                    <a:bodyPr wrap="square"/>
                    <a:lstStyle/>
                    <a:p>
                      <a:pPr>
                        <a:lnSpc>
                          <a:spcPct val="114000"/>
                        </a:lnSpc>
                      </a:pPr>
                      <a:r>
                        <a:rPr sz="700" b="0" i="0">
                          <a:solidFill>
                            <a:srgbClr val="F7F6EF"/>
                          </a:solidFill>
                          <a:latin typeface="Arial"/>
                        </a:rPr>
                        <a:t>1, 5, 10</a:t>
                      </a:r>
                    </a:p>
                  </a:txBody>
                  <a:tcPr marL="64008" marR="64008" marT="41148" marB="41148" anchor="ctr">
                    <a:solidFill>
                      <a:srgbClr val="121821"/>
                    </a:solidFill>
                  </a:tcPr>
                </a:tc>
              </a:tr>
              <a:tr h="185109">
                <a:tc>
                  <a:txBody>
                    <a:bodyPr wrap="square"/>
                    <a:lstStyle/>
                    <a:p>
                      <a:pPr>
                        <a:lnSpc>
                          <a:spcPct val="114000"/>
                        </a:lnSpc>
                      </a:pPr>
                      <a:r>
                        <a:rPr sz="700" b="1" i="0">
                          <a:solidFill>
                            <a:srgbClr val="F7F6EF"/>
                          </a:solidFill>
                          <a:latin typeface="Arial"/>
                        </a:rPr>
                        <a:t>Y Combinator — A guide to seed fundraising</a:t>
                      </a:r>
                    </a:p>
                  </a:txBody>
                  <a:tcPr marL="64008" marR="64008" marT="41148" marB="41148" anchor="ctr">
                    <a:solidFill>
                      <a:srgbClr val="0D131B"/>
                    </a:solidFill>
                  </a:tcPr>
                </a:tc>
                <a:tc>
                  <a:txBody>
                    <a:bodyPr wrap="square"/>
                    <a:lstStyle/>
                    <a:p>
                      <a:pPr>
                        <a:lnSpc>
                          <a:spcPct val="114000"/>
                        </a:lnSpc>
                      </a:pPr>
                      <a:r>
                        <a:rPr sz="700" b="0" i="0">
                          <a:solidFill>
                            <a:srgbClr val="F7F6EF"/>
                          </a:solidFill>
                          <a:latin typeface="Arial"/>
                        </a:rPr>
                        <a:t>company disclosure</a:t>
                      </a:r>
                    </a:p>
                  </a:txBody>
                  <a:tcPr marL="64008" marR="64008" marT="41148" marB="41148" anchor="ctr">
                    <a:solidFill>
                      <a:srgbClr val="0D131B"/>
                    </a:solidFill>
                  </a:tcPr>
                </a:tc>
                <a:tc>
                  <a:txBody>
                    <a:bodyPr wrap="square"/>
                    <a:lstStyle/>
                    <a:p>
                      <a:pPr>
                        <a:lnSpc>
                          <a:spcPct val="114000"/>
                        </a:lnSpc>
                      </a:pPr>
                      <a:r>
                        <a:rPr sz="700" b="0" i="0">
                          <a:solidFill>
                            <a:srgbClr val="F7F6EF"/>
                          </a:solidFill>
                          <a:latin typeface="Arial"/>
                        </a:rPr>
                        <a:t>1, 12, 13</a:t>
                      </a:r>
                    </a:p>
                  </a:txBody>
                  <a:tcPr marL="64008" marR="64008" marT="41148" marB="41148" anchor="ctr">
                    <a:solidFill>
                      <a:srgbClr val="0D131B"/>
                    </a:solidFill>
                  </a:tcPr>
                </a:tc>
              </a:tr>
              <a:tr h="185109">
                <a:tc>
                  <a:txBody>
                    <a:bodyPr wrap="square"/>
                    <a:lstStyle/>
                    <a:p>
                      <a:pPr>
                        <a:lnSpc>
                          <a:spcPct val="114000"/>
                        </a:lnSpc>
                      </a:pPr>
                      <a:r>
                        <a:rPr sz="700" b="1" i="0">
                          <a:solidFill>
                            <a:srgbClr val="F7F6EF"/>
                          </a:solidFill>
                          <a:latin typeface="Arial"/>
                        </a:rPr>
                        <a:t>Y Combinator — How to design a better pitch deck</a:t>
                      </a:r>
                    </a:p>
                  </a:txBody>
                  <a:tcPr marL="64008" marR="64008" marT="41148" marB="41148" anchor="ctr">
                    <a:solidFill>
                      <a:srgbClr val="121821"/>
                    </a:solidFill>
                  </a:tcPr>
                </a:tc>
                <a:tc>
                  <a:txBody>
                    <a:bodyPr wrap="square"/>
                    <a:lstStyle/>
                    <a:p>
                      <a:pPr>
                        <a:lnSpc>
                          <a:spcPct val="114000"/>
                        </a:lnSpc>
                      </a:pPr>
                      <a:r>
                        <a:rPr sz="700" b="0" i="0">
                          <a:solidFill>
                            <a:srgbClr val="F7F6EF"/>
                          </a:solidFill>
                          <a:latin typeface="Arial"/>
                        </a:rPr>
                        <a:t>company disclosure</a:t>
                      </a:r>
                    </a:p>
                  </a:txBody>
                  <a:tcPr marL="64008" marR="64008" marT="41148" marB="41148" anchor="ctr">
                    <a:solidFill>
                      <a:srgbClr val="121821"/>
                    </a:solidFill>
                  </a:tcPr>
                </a:tc>
                <a:tc>
                  <a:txBody>
                    <a:bodyPr wrap="square"/>
                    <a:lstStyle/>
                    <a:p>
                      <a:pPr>
                        <a:lnSpc>
                          <a:spcPct val="114000"/>
                        </a:lnSpc>
                      </a:pPr>
                      <a:r>
                        <a:rPr sz="700" b="0" i="0">
                          <a:solidFill>
                            <a:srgbClr val="F7F6EF"/>
                          </a:solidFill>
                          <a:latin typeface="Arial"/>
                        </a:rPr>
                        <a:t>1, 12</a:t>
                      </a:r>
                    </a:p>
                  </a:txBody>
                  <a:tcPr marL="64008" marR="64008" marT="41148" marB="41148" anchor="ctr">
                    <a:solidFill>
                      <a:srgbClr val="121821"/>
                    </a:solidFill>
                  </a:tcPr>
                </a:tc>
              </a:tr>
              <a:tr h="185109">
                <a:tc>
                  <a:txBody>
                    <a:bodyPr wrap="square"/>
                    <a:lstStyle/>
                    <a:p>
                      <a:pPr>
                        <a:lnSpc>
                          <a:spcPct val="114000"/>
                        </a:lnSpc>
                      </a:pPr>
                      <a:r>
                        <a:rPr sz="700" b="1" i="0">
                          <a:solidFill>
                            <a:srgbClr val="F7F6EF"/>
                          </a:solidFill>
                          <a:latin typeface="Arial"/>
                        </a:rPr>
                        <a:t>GameAnalytics — 2026 Mobile &amp; PC Gaming Benchmarks</a:t>
                      </a:r>
                    </a:p>
                  </a:txBody>
                  <a:tcPr marL="64008" marR="64008" marT="41148" marB="41148" anchor="ctr">
                    <a:solidFill>
                      <a:srgbClr val="0D131B"/>
                    </a:solidFill>
                  </a:tcPr>
                </a:tc>
                <a:tc>
                  <a:txBody>
                    <a:bodyPr wrap="square"/>
                    <a:lstStyle/>
                    <a:p>
                      <a:pPr>
                        <a:lnSpc>
                          <a:spcPct val="114000"/>
                        </a:lnSpc>
                      </a:pPr>
                      <a:r>
                        <a:rPr sz="700" b="0" i="0">
                          <a:solidFill>
                            <a:srgbClr val="F7F6EF"/>
                          </a:solidFill>
                          <a:latin typeface="Arial"/>
                        </a:rPr>
                        <a:t>third-party estimate</a:t>
                      </a:r>
                    </a:p>
                  </a:txBody>
                  <a:tcPr marL="64008" marR="64008" marT="41148" marB="41148" anchor="ctr">
                    <a:solidFill>
                      <a:srgbClr val="0D131B"/>
                    </a:solidFill>
                  </a:tcPr>
                </a:tc>
                <a:tc>
                  <a:txBody>
                    <a:bodyPr wrap="square"/>
                    <a:lstStyle/>
                    <a:p>
                      <a:pPr>
                        <a:lnSpc>
                          <a:spcPct val="114000"/>
                        </a:lnSpc>
                      </a:pPr>
                      <a:r>
                        <a:rPr sz="700" b="0" i="0">
                          <a:solidFill>
                            <a:srgbClr val="F7F6EF"/>
                          </a:solidFill>
                          <a:latin typeface="Arial"/>
                        </a:rPr>
                        <a:t>1, 4, 8, 9, 11, 15</a:t>
                      </a:r>
                    </a:p>
                  </a:txBody>
                  <a:tcPr marL="64008" marR="64008" marT="41148" marB="41148" anchor="ctr">
                    <a:solidFill>
                      <a:srgbClr val="0D131B"/>
                    </a:solidFill>
                  </a:tcPr>
                </a:tc>
              </a:tr>
              <a:tr h="185109">
                <a:tc>
                  <a:txBody>
                    <a:bodyPr wrap="square"/>
                    <a:lstStyle/>
                    <a:p>
                      <a:pPr>
                        <a:lnSpc>
                          <a:spcPct val="114000"/>
                        </a:lnSpc>
                      </a:pPr>
                      <a:r>
                        <a:rPr sz="700" b="1" i="0">
                          <a:solidFill>
                            <a:srgbClr val="F7F6EF"/>
                          </a:solidFill>
                          <a:latin typeface="Arial"/>
                        </a:rPr>
                        <a:t>DocSend — per-section dwell times</a:t>
                      </a:r>
                    </a:p>
                  </a:txBody>
                  <a:tcPr marL="64008" marR="64008" marT="41148" marB="41148" anchor="ctr">
                    <a:solidFill>
                      <a:srgbClr val="121821"/>
                    </a:solidFill>
                  </a:tcPr>
                </a:tc>
                <a:tc>
                  <a:txBody>
                    <a:bodyPr wrap="square"/>
                    <a:lstStyle/>
                    <a:p>
                      <a:pPr>
                        <a:lnSpc>
                          <a:spcPct val="114000"/>
                        </a:lnSpc>
                      </a:pPr>
                      <a:r>
                        <a:rPr sz="700" b="0" i="0">
                          <a:solidFill>
                            <a:srgbClr val="F7F6EF"/>
                          </a:solidFill>
                          <a:latin typeface="Arial"/>
                        </a:rPr>
                        <a:t>third-party estimate</a:t>
                      </a:r>
                    </a:p>
                  </a:txBody>
                  <a:tcPr marL="64008" marR="64008" marT="41148" marB="41148" anchor="ctr">
                    <a:solidFill>
                      <a:srgbClr val="121821"/>
                    </a:solidFill>
                  </a:tcPr>
                </a:tc>
                <a:tc>
                  <a:txBody>
                    <a:bodyPr wrap="square"/>
                    <a:lstStyle/>
                    <a:p>
                      <a:pPr>
                        <a:lnSpc>
                          <a:spcPct val="114000"/>
                        </a:lnSpc>
                      </a:pPr>
                      <a:r>
                        <a:rPr sz="700" b="0" i="0">
                          <a:solidFill>
                            <a:srgbClr val="F7F6EF"/>
                          </a:solidFill>
                          <a:latin typeface="Arial"/>
                        </a:rPr>
                        <a:t>1, 5, 12</a:t>
                      </a:r>
                    </a:p>
                  </a:txBody>
                  <a:tcPr marL="64008" marR="64008" marT="41148" marB="41148" anchor="ctr">
                    <a:solidFill>
                      <a:srgbClr val="121821"/>
                    </a:solidFill>
                  </a:tcPr>
                </a:tc>
              </a:tr>
              <a:tr h="185109">
                <a:tc>
                  <a:txBody>
                    <a:bodyPr wrap="square"/>
                    <a:lstStyle/>
                    <a:p>
                      <a:pPr>
                        <a:lnSpc>
                          <a:spcPct val="114000"/>
                        </a:lnSpc>
                      </a:pPr>
                      <a:r>
                        <a:rPr sz="700" b="1" i="0">
                          <a:solidFill>
                            <a:srgbClr val="F7F6EF"/>
                          </a:solidFill>
                          <a:latin typeface="Arial"/>
                        </a:rPr>
                        <a:t>DocSend — what VCs want inside a seed deck</a:t>
                      </a:r>
                    </a:p>
                  </a:txBody>
                  <a:tcPr marL="64008" marR="64008" marT="41148" marB="41148" anchor="ctr">
                    <a:solidFill>
                      <a:srgbClr val="0D131B"/>
                    </a:solidFill>
                  </a:tcPr>
                </a:tc>
                <a:tc>
                  <a:txBody>
                    <a:bodyPr wrap="square"/>
                    <a:lstStyle/>
                    <a:p>
                      <a:pPr>
                        <a:lnSpc>
                          <a:spcPct val="114000"/>
                        </a:lnSpc>
                      </a:pPr>
                      <a:r>
                        <a:rPr sz="700" b="0" i="0">
                          <a:solidFill>
                            <a:srgbClr val="F7F6EF"/>
                          </a:solidFill>
                          <a:latin typeface="Arial"/>
                        </a:rPr>
                        <a:t>third-party estimate</a:t>
                      </a:r>
                    </a:p>
                  </a:txBody>
                  <a:tcPr marL="64008" marR="64008" marT="41148" marB="41148" anchor="ctr">
                    <a:solidFill>
                      <a:srgbClr val="0D131B"/>
                    </a:solidFill>
                  </a:tcPr>
                </a:tc>
                <a:tc>
                  <a:txBody>
                    <a:bodyPr wrap="square"/>
                    <a:lstStyle/>
                    <a:p>
                      <a:pPr>
                        <a:lnSpc>
                          <a:spcPct val="114000"/>
                        </a:lnSpc>
                      </a:pPr>
                      <a:r>
                        <a:rPr sz="700" b="0" i="0">
                          <a:solidFill>
                            <a:srgbClr val="F7F6EF"/>
                          </a:solidFill>
                          <a:latin typeface="Arial"/>
                        </a:rPr>
                        <a:t>1, 8</a:t>
                      </a:r>
                    </a:p>
                  </a:txBody>
                  <a:tcPr marL="64008" marR="64008" marT="41148" marB="41148" anchor="ctr">
                    <a:solidFill>
                      <a:srgbClr val="0D131B"/>
                    </a:solidFill>
                  </a:tcPr>
                </a:tc>
              </a:tr>
              <a:tr h="185109">
                <a:tc>
                  <a:txBody>
                    <a:bodyPr wrap="square"/>
                    <a:lstStyle/>
                    <a:p>
                      <a:pPr>
                        <a:lnSpc>
                          <a:spcPct val="114000"/>
                        </a:lnSpc>
                      </a:pPr>
                      <a:r>
                        <a:rPr sz="700" b="1" i="0">
                          <a:solidFill>
                            <a:srgbClr val="F7F6EF"/>
                          </a:solidFill>
                          <a:latin typeface="Arial"/>
                        </a:rPr>
                        <a:t>FACT//DUEL internal — numbers.md §7.1 and §7.2</a:t>
                      </a:r>
                    </a:p>
                  </a:txBody>
                  <a:tcPr marL="64008" marR="64008" marT="41148" marB="41148" anchor="ctr">
                    <a:solidFill>
                      <a:srgbClr val="121821"/>
                    </a:solidFill>
                  </a:tcPr>
                </a:tc>
                <a:tc>
                  <a:txBody>
                    <a:bodyPr wrap="square"/>
                    <a:lstStyle/>
                    <a:p>
                      <a:pPr>
                        <a:lnSpc>
                          <a:spcPct val="114000"/>
                        </a:lnSpc>
                      </a:pPr>
                      <a:r>
                        <a:rPr sz="700" b="0" i="0">
                          <a:solidFill>
                            <a:srgbClr val="F7F6EF"/>
                          </a:solidFill>
                          <a:latin typeface="Arial"/>
                        </a:rPr>
                        <a:t>internal (company disclosure)</a:t>
                      </a:r>
                    </a:p>
                  </a:txBody>
                  <a:tcPr marL="64008" marR="64008" marT="41148" marB="41148" anchor="ctr">
                    <a:solidFill>
                      <a:srgbClr val="121821"/>
                    </a:solidFill>
                  </a:tcPr>
                </a:tc>
                <a:tc>
                  <a:txBody>
                    <a:bodyPr wrap="square"/>
                    <a:lstStyle/>
                    <a:p>
                      <a:pPr>
                        <a:lnSpc>
                          <a:spcPct val="114000"/>
                        </a:lnSpc>
                      </a:pPr>
                      <a:r>
                        <a:rPr sz="700" b="0" i="0">
                          <a:solidFill>
                            <a:srgbClr val="F7F6EF"/>
                          </a:solidFill>
                          <a:latin typeface="Arial"/>
                        </a:rPr>
                        <a:t>1, 4, 5, 10, 11</a:t>
                      </a:r>
                    </a:p>
                  </a:txBody>
                  <a:tcPr marL="64008" marR="64008" marT="41148" marB="41148" anchor="ctr">
                    <a:solidFill>
                      <a:srgbClr val="121821"/>
                    </a:solidFill>
                  </a:tcPr>
                </a:tc>
              </a:tr>
              <a:tr h="185109">
                <a:tc>
                  <a:txBody>
                    <a:bodyPr wrap="square"/>
                    <a:lstStyle/>
                    <a:p>
                      <a:pPr>
                        <a:lnSpc>
                          <a:spcPct val="114000"/>
                        </a:lnSpc>
                      </a:pPr>
                      <a:r>
                        <a:rPr sz="700" b="1" i="0">
                          <a:solidFill>
                            <a:srgbClr val="F7F6EF"/>
                          </a:solidFill>
                          <a:latin typeface="Arial"/>
                        </a:rPr>
                        <a:t>FACT//DUEL internal — numbers.md §4.4 and §4.5</a:t>
                      </a:r>
                    </a:p>
                  </a:txBody>
                  <a:tcPr marL="64008" marR="64008" marT="41148" marB="41148" anchor="ctr">
                    <a:solidFill>
                      <a:srgbClr val="0D131B"/>
                    </a:solidFill>
                  </a:tcPr>
                </a:tc>
                <a:tc>
                  <a:txBody>
                    <a:bodyPr wrap="square"/>
                    <a:lstStyle/>
                    <a:p>
                      <a:pPr>
                        <a:lnSpc>
                          <a:spcPct val="114000"/>
                        </a:lnSpc>
                      </a:pPr>
                      <a:r>
                        <a:rPr sz="700" b="0" i="0">
                          <a:solidFill>
                            <a:srgbClr val="F7F6EF"/>
                          </a:solidFill>
                          <a:latin typeface="Arial"/>
                        </a:rPr>
                        <a:t>internal (company disclosure)</a:t>
                      </a:r>
                    </a:p>
                  </a:txBody>
                  <a:tcPr marL="64008" marR="64008" marT="41148" marB="41148" anchor="ctr">
                    <a:solidFill>
                      <a:srgbClr val="0D131B"/>
                    </a:solidFill>
                  </a:tcPr>
                </a:tc>
                <a:tc>
                  <a:txBody>
                    <a:bodyPr wrap="square"/>
                    <a:lstStyle/>
                    <a:p>
                      <a:pPr>
                        <a:lnSpc>
                          <a:spcPct val="114000"/>
                        </a:lnSpc>
                      </a:pPr>
                      <a:r>
                        <a:rPr sz="700" b="0" i="0">
                          <a:solidFill>
                            <a:srgbClr val="F7F6EF"/>
                          </a:solidFill>
                          <a:latin typeface="Arial"/>
                        </a:rPr>
                        <a:t>1</a:t>
                      </a:r>
                    </a:p>
                  </a:txBody>
                  <a:tcPr marL="64008" marR="64008" marT="41148" marB="41148" anchor="ctr">
                    <a:solidFill>
                      <a:srgbClr val="0D131B"/>
                    </a:solidFill>
                  </a:tcPr>
                </a:tc>
              </a:tr>
              <a:tr h="185109">
                <a:tc>
                  <a:txBody>
                    <a:bodyPr wrap="square"/>
                    <a:lstStyle/>
                    <a:p>
                      <a:pPr>
                        <a:lnSpc>
                          <a:spcPct val="114000"/>
                        </a:lnSpc>
                      </a:pPr>
                      <a:r>
                        <a:rPr sz="700" b="1" i="0">
                          <a:solidFill>
                            <a:srgbClr val="F7F6EF"/>
                          </a:solidFill>
                          <a:latin typeface="Arial"/>
                        </a:rPr>
                        <a:t>Google Play — Trivia Crack listing</a:t>
                      </a:r>
                    </a:p>
                  </a:txBody>
                  <a:tcPr marL="64008" marR="64008" marT="41148" marB="41148" anchor="ctr">
                    <a:solidFill>
                      <a:srgbClr val="121821"/>
                    </a:solidFill>
                  </a:tcPr>
                </a:tc>
                <a:tc>
                  <a:txBody>
                    <a:bodyPr wrap="square"/>
                    <a:lstStyle/>
                    <a:p>
                      <a:pPr>
                        <a:lnSpc>
                          <a:spcPct val="114000"/>
                        </a:lnSpc>
                      </a:pPr>
                      <a:r>
                        <a:rPr sz="700" b="0" i="0">
                          <a:solidFill>
                            <a:srgbClr val="F7F6EF"/>
                          </a:solidFill>
                          <a:latin typeface="Arial"/>
                        </a:rPr>
                        <a:t>company disclosure</a:t>
                      </a:r>
                    </a:p>
                  </a:txBody>
                  <a:tcPr marL="64008" marR="64008" marT="41148" marB="41148" anchor="ctr">
                    <a:solidFill>
                      <a:srgbClr val="121821"/>
                    </a:solidFill>
                  </a:tcPr>
                </a:tc>
                <a:tc>
                  <a:txBody>
                    <a:bodyPr wrap="square"/>
                    <a:lstStyle/>
                    <a:p>
                      <a:pPr>
                        <a:lnSpc>
                          <a:spcPct val="114000"/>
                        </a:lnSpc>
                      </a:pPr>
                      <a:r>
                        <a:rPr sz="700" b="0" i="0">
                          <a:solidFill>
                            <a:srgbClr val="F7F6EF"/>
                          </a:solidFill>
                          <a:latin typeface="Arial"/>
                        </a:rPr>
                        <a:t>2, 7, 10, 14</a:t>
                      </a:r>
                    </a:p>
                  </a:txBody>
                  <a:tcPr marL="64008" marR="64008" marT="41148" marB="41148" anchor="ctr">
                    <a:solidFill>
                      <a:srgbClr val="121821"/>
                    </a:solidFill>
                  </a:tcPr>
                </a:tc>
              </a:tr>
              <a:tr h="185109">
                <a:tc>
                  <a:txBody>
                    <a:bodyPr wrap="square"/>
                    <a:lstStyle/>
                    <a:p>
                      <a:pPr>
                        <a:lnSpc>
                          <a:spcPct val="114000"/>
                        </a:lnSpc>
                      </a:pPr>
                      <a:r>
                        <a:rPr sz="700" b="1" i="0">
                          <a:solidFill>
                            <a:srgbClr val="F7F6EF"/>
                          </a:solidFill>
                          <a:latin typeface="Arial"/>
                        </a:rPr>
                        <a:t>MAG Interactive — Q3 2025/26 interim report</a:t>
                      </a:r>
                    </a:p>
                  </a:txBody>
                  <a:tcPr marL="64008" marR="64008" marT="41148" marB="41148" anchor="ctr">
                    <a:solidFill>
                      <a:srgbClr val="0D131B"/>
                    </a:solidFill>
                  </a:tcPr>
                </a:tc>
                <a:tc>
                  <a:txBody>
                    <a:bodyPr wrap="square"/>
                    <a:lstStyle/>
                    <a:p>
                      <a:pPr>
                        <a:lnSpc>
                          <a:spcPct val="114000"/>
                        </a:lnSpc>
                      </a:pPr>
                      <a:r>
                        <a:rPr sz="700" b="0" i="0">
                          <a:solidFill>
                            <a:srgbClr val="F7F6EF"/>
                          </a:solidFill>
                          <a:latin typeface="Arial"/>
                        </a:rPr>
                        <a:t>company disclosure</a:t>
                      </a:r>
                    </a:p>
                  </a:txBody>
                  <a:tcPr marL="64008" marR="64008" marT="41148" marB="41148" anchor="ctr">
                    <a:solidFill>
                      <a:srgbClr val="0D131B"/>
                    </a:solidFill>
                  </a:tcPr>
                </a:tc>
                <a:tc>
                  <a:txBody>
                    <a:bodyPr wrap="square"/>
                    <a:lstStyle/>
                    <a:p>
                      <a:pPr>
                        <a:lnSpc>
                          <a:spcPct val="114000"/>
                        </a:lnSpc>
                      </a:pPr>
                      <a:r>
                        <a:rPr sz="700" b="0" i="0">
                          <a:solidFill>
                            <a:srgbClr val="F7F6EF"/>
                          </a:solidFill>
                          <a:latin typeface="Arial"/>
                        </a:rPr>
                        <a:t>2, 6, 10, 18</a:t>
                      </a:r>
                    </a:p>
                  </a:txBody>
                  <a:tcPr marL="64008" marR="64008" marT="41148" marB="41148" anchor="ctr">
                    <a:solidFill>
                      <a:srgbClr val="0D131B"/>
                    </a:solidFill>
                  </a:tcPr>
                </a:tc>
              </a:tr>
              <a:tr h="185109">
                <a:tc>
                  <a:txBody>
                    <a:bodyPr wrap="square"/>
                    <a:lstStyle/>
                    <a:p>
                      <a:pPr>
                        <a:lnSpc>
                          <a:spcPct val="114000"/>
                        </a:lnSpc>
                      </a:pPr>
                      <a:r>
                        <a:rPr sz="700" b="1" i="0">
                          <a:solidFill>
                            <a:srgbClr val="F7F6EF"/>
                          </a:solidFill>
                          <a:latin typeface="Arial"/>
                        </a:rPr>
                        <a:t>Apple lookup API — QuizDuel listing (US storefront)</a:t>
                      </a:r>
                    </a:p>
                  </a:txBody>
                  <a:tcPr marL="64008" marR="64008" marT="41148" marB="41148" anchor="ctr">
                    <a:solidFill>
                      <a:srgbClr val="121821"/>
                    </a:solidFill>
                  </a:tcPr>
                </a:tc>
                <a:tc>
                  <a:txBody>
                    <a:bodyPr wrap="square"/>
                    <a:lstStyle/>
                    <a:p>
                      <a:pPr>
                        <a:lnSpc>
                          <a:spcPct val="114000"/>
                        </a:lnSpc>
                      </a:pPr>
                      <a:r>
                        <a:rPr sz="700" b="0" i="0">
                          <a:solidFill>
                            <a:srgbClr val="F7F6EF"/>
                          </a:solidFill>
                          <a:latin typeface="Arial"/>
                        </a:rPr>
                        <a:t>company disclosure</a:t>
                      </a:r>
                    </a:p>
                  </a:txBody>
                  <a:tcPr marL="64008" marR="64008" marT="41148" marB="41148" anchor="ctr">
                    <a:solidFill>
                      <a:srgbClr val="121821"/>
                    </a:solidFill>
                  </a:tcPr>
                </a:tc>
                <a:tc>
                  <a:txBody>
                    <a:bodyPr wrap="square"/>
                    <a:lstStyle/>
                    <a:p>
                      <a:pPr>
                        <a:lnSpc>
                          <a:spcPct val="114000"/>
                        </a:lnSpc>
                      </a:pPr>
                      <a:r>
                        <a:rPr sz="700" b="0" i="0">
                          <a:solidFill>
                            <a:srgbClr val="F7F6EF"/>
                          </a:solidFill>
                          <a:latin typeface="Arial"/>
                        </a:rPr>
                        <a:t>2, 10</a:t>
                      </a:r>
                    </a:p>
                  </a:txBody>
                  <a:tcPr marL="64008" marR="64008" marT="41148" marB="41148" anchor="ctr">
                    <a:solidFill>
                      <a:srgbClr val="121821"/>
                    </a:solidFill>
                  </a:tcPr>
                </a:tc>
              </a:tr>
              <a:tr h="185109">
                <a:tc>
                  <a:txBody>
                    <a:bodyPr wrap="square"/>
                    <a:lstStyle/>
                    <a:p>
                      <a:pPr>
                        <a:lnSpc>
                          <a:spcPct val="114000"/>
                        </a:lnSpc>
                      </a:pPr>
                      <a:r>
                        <a:rPr sz="700" b="1" i="0">
                          <a:solidFill>
                            <a:srgbClr val="F7F6EF"/>
                          </a:solidFill>
                          <a:latin typeface="Arial"/>
                        </a:rPr>
                        <a:t>Apple lookup API — QuizDuel listing</a:t>
                      </a:r>
                    </a:p>
                  </a:txBody>
                  <a:tcPr marL="64008" marR="64008" marT="41148" marB="41148" anchor="ctr">
                    <a:solidFill>
                      <a:srgbClr val="0D131B"/>
                    </a:solidFill>
                  </a:tcPr>
                </a:tc>
                <a:tc>
                  <a:txBody>
                    <a:bodyPr wrap="square"/>
                    <a:lstStyle/>
                    <a:p>
                      <a:pPr>
                        <a:lnSpc>
                          <a:spcPct val="114000"/>
                        </a:lnSpc>
                      </a:pPr>
                      <a:r>
                        <a:rPr sz="700" b="0" i="0">
                          <a:solidFill>
                            <a:srgbClr val="F7F6EF"/>
                          </a:solidFill>
                          <a:latin typeface="Arial"/>
                        </a:rPr>
                        <a:t>company disclosure</a:t>
                      </a:r>
                    </a:p>
                  </a:txBody>
                  <a:tcPr marL="64008" marR="64008" marT="41148" marB="41148" anchor="ctr">
                    <a:solidFill>
                      <a:srgbClr val="0D131B"/>
                    </a:solidFill>
                  </a:tcPr>
                </a:tc>
                <a:tc>
                  <a:txBody>
                    <a:bodyPr wrap="square"/>
                    <a:lstStyle/>
                    <a:p>
                      <a:pPr>
                        <a:lnSpc>
                          <a:spcPct val="114000"/>
                        </a:lnSpc>
                      </a:pPr>
                      <a:r>
                        <a:rPr sz="700" b="0" i="0">
                          <a:solidFill>
                            <a:srgbClr val="F7F6EF"/>
                          </a:solidFill>
                          <a:latin typeface="Arial"/>
                        </a:rPr>
                        <a:t>2, 10</a:t>
                      </a:r>
                    </a:p>
                  </a:txBody>
                  <a:tcPr marL="64008" marR="64008" marT="41148" marB="41148" anchor="ctr">
                    <a:solidFill>
                      <a:srgbClr val="0D131B"/>
                    </a:solidFill>
                  </a:tcPr>
                </a:tc>
              </a:tr>
              <a:tr h="185109">
                <a:tc>
                  <a:txBody>
                    <a:bodyPr wrap="square"/>
                    <a:lstStyle/>
                    <a:p>
                      <a:pPr>
                        <a:lnSpc>
                          <a:spcPct val="114000"/>
                        </a:lnSpc>
                      </a:pPr>
                      <a:r>
                        <a:rPr sz="700" b="1" i="0">
                          <a:solidFill>
                            <a:srgbClr val="F7F6EF"/>
                          </a:solidFill>
                          <a:latin typeface="Arial"/>
                        </a:rPr>
                        <a:t>Google Play — Quizion listing</a:t>
                      </a:r>
                    </a:p>
                  </a:txBody>
                  <a:tcPr marL="64008" marR="64008" marT="41148" marB="41148" anchor="ctr">
                    <a:solidFill>
                      <a:srgbClr val="121821"/>
                    </a:solidFill>
                  </a:tcPr>
                </a:tc>
                <a:tc>
                  <a:txBody>
                    <a:bodyPr wrap="square"/>
                    <a:lstStyle/>
                    <a:p>
                      <a:pPr>
                        <a:lnSpc>
                          <a:spcPct val="114000"/>
                        </a:lnSpc>
                      </a:pPr>
                      <a:r>
                        <a:rPr sz="700" b="0" i="0">
                          <a:solidFill>
                            <a:srgbClr val="F7F6EF"/>
                          </a:solidFill>
                          <a:latin typeface="Arial"/>
                        </a:rPr>
                        <a:t>company disclosure</a:t>
                      </a:r>
                    </a:p>
                  </a:txBody>
                  <a:tcPr marL="64008" marR="64008" marT="41148" marB="41148" anchor="ctr">
                    <a:solidFill>
                      <a:srgbClr val="121821"/>
                    </a:solidFill>
                  </a:tcPr>
                </a:tc>
                <a:tc>
                  <a:txBody>
                    <a:bodyPr wrap="square"/>
                    <a:lstStyle/>
                    <a:p>
                      <a:pPr>
                        <a:lnSpc>
                          <a:spcPct val="114000"/>
                        </a:lnSpc>
                      </a:pPr>
                      <a:r>
                        <a:rPr sz="700" b="0" i="0">
                          <a:solidFill>
                            <a:srgbClr val="F7F6EF"/>
                          </a:solidFill>
                          <a:latin typeface="Arial"/>
                        </a:rPr>
                        <a:t>2, 10</a:t>
                      </a:r>
                    </a:p>
                  </a:txBody>
                  <a:tcPr marL="64008" marR="64008" marT="41148" marB="41148" anchor="ctr">
                    <a:solidFill>
                      <a:srgbClr val="121821"/>
                    </a:solidFill>
                  </a:tcPr>
                </a:tc>
              </a:tr>
              <a:tr h="185109">
                <a:tc>
                  <a:txBody>
                    <a:bodyPr wrap="square"/>
                    <a:lstStyle/>
                    <a:p>
                      <a:pPr>
                        <a:lnSpc>
                          <a:spcPct val="114000"/>
                        </a:lnSpc>
                      </a:pPr>
                      <a:r>
                        <a:rPr sz="700" b="1" i="0">
                          <a:solidFill>
                            <a:srgbClr val="F7F6EF"/>
                          </a:solidFill>
                          <a:latin typeface="Arial"/>
                        </a:rPr>
                        <a:t>Google Play — TRIVIA GO! listing</a:t>
                      </a:r>
                    </a:p>
                  </a:txBody>
                  <a:tcPr marL="64008" marR="64008" marT="41148" marB="41148" anchor="ctr">
                    <a:solidFill>
                      <a:srgbClr val="0D131B"/>
                    </a:solidFill>
                  </a:tcPr>
                </a:tc>
                <a:tc>
                  <a:txBody>
                    <a:bodyPr wrap="square"/>
                    <a:lstStyle/>
                    <a:p>
                      <a:pPr>
                        <a:lnSpc>
                          <a:spcPct val="114000"/>
                        </a:lnSpc>
                      </a:pPr>
                      <a:r>
                        <a:rPr sz="700" b="0" i="0">
                          <a:solidFill>
                            <a:srgbClr val="F7F6EF"/>
                          </a:solidFill>
                          <a:latin typeface="Arial"/>
                        </a:rPr>
                        <a:t>company disclosure</a:t>
                      </a:r>
                    </a:p>
                  </a:txBody>
                  <a:tcPr marL="64008" marR="64008" marT="41148" marB="41148" anchor="ctr">
                    <a:solidFill>
                      <a:srgbClr val="0D131B"/>
                    </a:solidFill>
                  </a:tcPr>
                </a:tc>
                <a:tc>
                  <a:txBody>
                    <a:bodyPr wrap="square"/>
                    <a:lstStyle/>
                    <a:p>
                      <a:pPr>
                        <a:lnSpc>
                          <a:spcPct val="114000"/>
                        </a:lnSpc>
                      </a:pPr>
                      <a:r>
                        <a:rPr sz="700" b="0" i="0">
                          <a:solidFill>
                            <a:srgbClr val="F7F6EF"/>
                          </a:solidFill>
                          <a:latin typeface="Arial"/>
                        </a:rPr>
                        <a:t>2, 10</a:t>
                      </a:r>
                    </a:p>
                  </a:txBody>
                  <a:tcPr marL="64008" marR="64008" marT="41148" marB="41148" anchor="ctr">
                    <a:solidFill>
                      <a:srgbClr val="0D131B"/>
                    </a:solidFill>
                  </a:tcPr>
                </a:tc>
              </a:tr>
              <a:tr h="185109">
                <a:tc>
                  <a:txBody>
                    <a:bodyPr wrap="square"/>
                    <a:lstStyle/>
                    <a:p>
                      <a:pPr>
                        <a:lnSpc>
                          <a:spcPct val="114000"/>
                        </a:lnSpc>
                      </a:pPr>
                      <a:r>
                        <a:rPr sz="700" b="1" i="0">
                          <a:solidFill>
                            <a:srgbClr val="F7F6EF"/>
                          </a:solidFill>
                          <a:latin typeface="Arial"/>
                        </a:rPr>
                        <a:t>TechCrunch — Trivia Royale, 2.5M downloads in 3 weeks</a:t>
                      </a:r>
                    </a:p>
                  </a:txBody>
                  <a:tcPr marL="64008" marR="64008" marT="41148" marB="41148" anchor="ctr">
                    <a:solidFill>
                      <a:srgbClr val="121821"/>
                    </a:solidFill>
                  </a:tcPr>
                </a:tc>
                <a:tc>
                  <a:txBody>
                    <a:bodyPr wrap="square"/>
                    <a:lstStyle/>
                    <a:p>
                      <a:pPr>
                        <a:lnSpc>
                          <a:spcPct val="114000"/>
                        </a:lnSpc>
                      </a:pPr>
                      <a:r>
                        <a:rPr sz="700" b="0" i="0">
                          <a:solidFill>
                            <a:srgbClr val="F7F6EF"/>
                          </a:solidFill>
                          <a:latin typeface="Arial"/>
                        </a:rPr>
                        <a:t>press report</a:t>
                      </a:r>
                    </a:p>
                  </a:txBody>
                  <a:tcPr marL="64008" marR="64008" marT="41148" marB="41148" anchor="ctr">
                    <a:solidFill>
                      <a:srgbClr val="121821"/>
                    </a:solidFill>
                  </a:tcPr>
                </a:tc>
                <a:tc>
                  <a:txBody>
                    <a:bodyPr wrap="square"/>
                    <a:lstStyle/>
                    <a:p>
                      <a:pPr>
                        <a:lnSpc>
                          <a:spcPct val="114000"/>
                        </a:lnSpc>
                      </a:pPr>
                      <a:r>
                        <a:rPr sz="700" b="0" i="0">
                          <a:solidFill>
                            <a:srgbClr val="F7F6EF"/>
                          </a:solidFill>
                          <a:latin typeface="Arial"/>
                        </a:rPr>
                        <a:t>3, 11, 15, 17, 18</a:t>
                      </a:r>
                    </a:p>
                  </a:txBody>
                  <a:tcPr marL="64008" marR="64008" marT="41148" marB="41148" anchor="ctr">
                    <a:solidFill>
                      <a:srgbClr val="121821"/>
                    </a:solidFill>
                  </a:tcPr>
                </a:tc>
              </a:tr>
              <a:tr h="185109">
                <a:tc>
                  <a:txBody>
                    <a:bodyPr wrap="square"/>
                    <a:lstStyle/>
                    <a:p>
                      <a:pPr>
                        <a:lnSpc>
                          <a:spcPct val="114000"/>
                        </a:lnSpc>
                      </a:pPr>
                      <a:r>
                        <a:rPr sz="700" b="1" i="0">
                          <a:solidFill>
                            <a:srgbClr val="F7F6EF"/>
                          </a:solidFill>
                          <a:latin typeface="Arial"/>
                        </a:rPr>
                        <a:t>TechCrunch — HQ Trivia shuts down</a:t>
                      </a:r>
                    </a:p>
                  </a:txBody>
                  <a:tcPr marL="64008" marR="64008" marT="41148" marB="41148" anchor="ctr">
                    <a:solidFill>
                      <a:srgbClr val="0D131B"/>
                    </a:solidFill>
                  </a:tcPr>
                </a:tc>
                <a:tc>
                  <a:txBody>
                    <a:bodyPr wrap="square"/>
                    <a:lstStyle/>
                    <a:p>
                      <a:pPr>
                        <a:lnSpc>
                          <a:spcPct val="114000"/>
                        </a:lnSpc>
                      </a:pPr>
                      <a:r>
                        <a:rPr sz="700" b="0" i="0">
                          <a:solidFill>
                            <a:srgbClr val="F7F6EF"/>
                          </a:solidFill>
                          <a:latin typeface="Arial"/>
                        </a:rPr>
                        <a:t>press report</a:t>
                      </a:r>
                    </a:p>
                  </a:txBody>
                  <a:tcPr marL="64008" marR="64008" marT="41148" marB="41148" anchor="ctr">
                    <a:solidFill>
                      <a:srgbClr val="0D131B"/>
                    </a:solidFill>
                  </a:tcPr>
                </a:tc>
                <a:tc>
                  <a:txBody>
                    <a:bodyPr wrap="square"/>
                    <a:lstStyle/>
                    <a:p>
                      <a:pPr>
                        <a:lnSpc>
                          <a:spcPct val="114000"/>
                        </a:lnSpc>
                      </a:pPr>
                      <a:r>
                        <a:rPr sz="700" b="0" i="0">
                          <a:solidFill>
                            <a:srgbClr val="F7F6EF"/>
                          </a:solidFill>
                          <a:latin typeface="Arial"/>
                        </a:rPr>
                        <a:t>3, 17</a:t>
                      </a:r>
                    </a:p>
                  </a:txBody>
                  <a:tcPr marL="64008" marR="64008" marT="41148" marB="41148" anchor="ctr">
                    <a:solidFill>
                      <a:srgbClr val="0D131B"/>
                    </a:solidFill>
                  </a:tcPr>
                </a:tc>
              </a:tr>
              <a:tr h="185109">
                <a:tc>
                  <a:txBody>
                    <a:bodyPr wrap="square"/>
                    <a:lstStyle/>
                    <a:p>
                      <a:pPr>
                        <a:lnSpc>
                          <a:spcPct val="114000"/>
                        </a:lnSpc>
                      </a:pPr>
                      <a:r>
                        <a:rPr sz="700" b="1" i="0">
                          <a:solidFill>
                            <a:srgbClr val="F7F6EF"/>
                          </a:solidFill>
                          <a:latin typeface="Arial"/>
                        </a:rPr>
                        <a:t>TechCrunch — HQ Trivia peak concurrent record</a:t>
                      </a:r>
                    </a:p>
                  </a:txBody>
                  <a:tcPr marL="64008" marR="64008" marT="41148" marB="41148" anchor="ctr">
                    <a:solidFill>
                      <a:srgbClr val="121821"/>
                    </a:solidFill>
                  </a:tcPr>
                </a:tc>
                <a:tc>
                  <a:txBody>
                    <a:bodyPr wrap="square"/>
                    <a:lstStyle/>
                    <a:p>
                      <a:pPr>
                        <a:lnSpc>
                          <a:spcPct val="114000"/>
                        </a:lnSpc>
                      </a:pPr>
                      <a:r>
                        <a:rPr sz="700" b="0" i="0">
                          <a:solidFill>
                            <a:srgbClr val="F7F6EF"/>
                          </a:solidFill>
                          <a:latin typeface="Arial"/>
                        </a:rPr>
                        <a:t>press report</a:t>
                      </a:r>
                    </a:p>
                  </a:txBody>
                  <a:tcPr marL="64008" marR="64008" marT="41148" marB="41148" anchor="ctr">
                    <a:solidFill>
                      <a:srgbClr val="121821"/>
                    </a:solidFill>
                  </a:tcPr>
                </a:tc>
                <a:tc>
                  <a:txBody>
                    <a:bodyPr wrap="square"/>
                    <a:lstStyle/>
                    <a:p>
                      <a:pPr>
                        <a:lnSpc>
                          <a:spcPct val="114000"/>
                        </a:lnSpc>
                      </a:pPr>
                      <a:r>
                        <a:rPr sz="700" b="0" i="0">
                          <a:solidFill>
                            <a:srgbClr val="F7F6EF"/>
                          </a:solidFill>
                          <a:latin typeface="Arial"/>
                        </a:rPr>
                        <a:t>3</a:t>
                      </a:r>
                    </a:p>
                  </a:txBody>
                  <a:tcPr marL="64008" marR="64008" marT="41148" marB="41148" anchor="ctr">
                    <a:solidFill>
                      <a:srgbClr val="121821"/>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0E14"/>
        </a:solidFill>
        <a:effectLst/>
      </p:bgPr>
    </p:bg>
    <p:spTree>
      <p:nvGrpSpPr>
        <p:cNvPr id="1" name=""/>
        <p:cNvGrpSpPr/>
        <p:nvPr/>
      </p:nvGrpSpPr>
      <p:grpSpPr/>
      <p:sp>
        <p:nvSpPr>
          <p:cNvPr id="2" name="Title 1"/>
          <p:cNvSpPr>
            <a:spLocks noGrp="1"/>
          </p:cNvSpPr>
          <p:nvPr>
            <p:ph type="title"/>
          </p:nvPr>
        </p:nvSpPr>
        <p:spPr>
          <a:xfrm>
            <a:off x="566928" y="658368"/>
            <a:ext cx="11057839" cy="859536"/>
          </a:xfrm>
        </p:spPr>
        <p:txBody>
          <a:bodyPr wrap="square" lIns="0" rIns="0" tIns="0" bIns="0" anchor="t"/>
          <a:lstStyle/>
          <a:p>
            <a:pPr>
              <a:lnSpc>
                <a:spcPct val="108000"/>
              </a:lnSpc>
            </a:pPr>
            <a:r>
              <a:rPr sz="3000" b="1" i="0">
                <a:solidFill>
                  <a:srgbClr val="F7F6EF"/>
                </a:solidFill>
                <a:latin typeface="Arial"/>
              </a:rPr>
              <a:t>Appendix J — every source cited in this deck, and what kind of evidence it is.</a:t>
            </a:r>
          </a:p>
        </p:txBody>
      </p:sp>
      <p:sp>
        <p:nvSpPr>
          <p:cNvPr id="3" name="TextBox 2"/>
          <p:cNvSpPr txBox="1"/>
          <p:nvPr/>
        </p:nvSpPr>
        <p:spPr>
          <a:xfrm>
            <a:off x="566928" y="365760"/>
            <a:ext cx="11057839" cy="219456"/>
          </a:xfrm>
          <a:prstGeom prst="rect">
            <a:avLst/>
          </a:prstGeom>
          <a:noFill/>
        </p:spPr>
        <p:txBody>
          <a:bodyPr wrap="square" lIns="0" rIns="0" tIns="0" bIns="0" anchor="t">
            <a:spAutoFit/>
          </a:bodyPr>
          <a:lstStyle/>
          <a:p>
            <a:r>
              <a:rPr sz="1100" b="1" i="0" spc="160">
                <a:solidFill>
                  <a:srgbClr val="4EE1FF"/>
                </a:solidFill>
                <a:latin typeface="Arial"/>
              </a:rPr>
              <a:t>APPENDIX — SOURCE REGISTER (2 OF 4)</a:t>
            </a:r>
          </a:p>
        </p:txBody>
      </p:sp>
      <p:sp>
        <p:nvSpPr>
          <p:cNvPr id="4" name="Rectangle 3"/>
          <p:cNvSpPr/>
          <p:nvPr/>
        </p:nvSpPr>
        <p:spPr>
          <a:xfrm>
            <a:off x="566928" y="6035040"/>
            <a:ext cx="11057839" cy="11887"/>
          </a:xfrm>
          <a:prstGeom prst="rect">
            <a:avLst/>
          </a:prstGeom>
          <a:solidFill>
            <a:srgbClr val="4EE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664647" y="6144768"/>
            <a:ext cx="960120" cy="274320"/>
          </a:xfrm>
          <a:prstGeom prst="rect">
            <a:avLst/>
          </a:prstGeom>
          <a:noFill/>
        </p:spPr>
        <p:txBody>
          <a:bodyPr wrap="square" lIns="0" rIns="0" tIns="0" bIns="0" anchor="t">
            <a:spAutoFit/>
          </a:bodyPr>
          <a:lstStyle/>
          <a:p>
            <a:pPr algn="r"/>
            <a:r>
              <a:rPr sz="950" b="1" i="0" spc="60">
                <a:solidFill>
                  <a:srgbClr val="A6ADBA"/>
                </a:solidFill>
                <a:latin typeface="Arial"/>
              </a:rPr>
              <a:t>24</a:t>
            </a:r>
          </a:p>
        </p:txBody>
      </p:sp>
      <p:sp>
        <p:nvSpPr>
          <p:cNvPr id="6" name="TextBox 5"/>
          <p:cNvSpPr txBox="1"/>
          <p:nvPr/>
        </p:nvSpPr>
        <p:spPr>
          <a:xfrm>
            <a:off x="566928" y="1719072"/>
            <a:ext cx="11057839" cy="242824"/>
          </a:xfrm>
          <a:prstGeom prst="rect">
            <a:avLst/>
          </a:prstGeom>
          <a:noFill/>
        </p:spPr>
        <p:txBody>
          <a:bodyPr wrap="square" lIns="0" rIns="0" tIns="0" bIns="0" anchor="t">
            <a:spAutoFit/>
          </a:bodyPr>
          <a:lstStyle/>
          <a:p>
            <a:pPr marL="238571" indent="-238571">
              <a:lnSpc>
                <a:spcPct val="116000"/>
              </a:lnSpc>
              <a:buClr>
                <a:srgbClr val="4EE1FF"/>
              </a:buClr>
              <a:buFont typeface="Arial"/>
              <a:buChar char="—"/>
            </a:pPr>
            <a:r>
              <a:rPr sz="1400" b="0" i="0">
                <a:solidFill>
                  <a:srgbClr val="F7F6EF"/>
                </a:solidFill>
                <a:latin typeface="Arial"/>
              </a:rPr>
              <a:t>Continued. Kinds are taken from the fact-check register, not assigned by us.</a:t>
            </a:r>
          </a:p>
        </p:txBody>
      </p:sp>
      <p:graphicFrame>
        <p:nvGraphicFramePr>
          <p:cNvPr id="7" name="Table 6"/>
          <p:cNvGraphicFramePr>
            <a:graphicFrameLocks noGrp="1"/>
          </p:cNvGraphicFramePr>
          <p:nvPr/>
        </p:nvGraphicFramePr>
        <p:xfrm>
          <a:off x="566928" y="2199640"/>
          <a:ext cx="11057838" cy="3707370"/>
        </p:xfrm>
        <a:graphic>
          <a:graphicData uri="http://schemas.openxmlformats.org/drawingml/2006/table">
            <a:tbl>
              <a:tblPr>
                <a:tableStyleId>{2D5ABB26-0587-4C30-8999-92F81FD0307C}</a:tableStyleId>
              </a:tblPr>
              <a:tblGrid>
                <a:gridCol w="7004197"/>
                <a:gridCol w="2680107"/>
                <a:gridCol w="1373534"/>
              </a:tblGrid>
              <a:tr h="205965">
                <a:tc>
                  <a:txBody>
                    <a:bodyPr wrap="square"/>
                    <a:lstStyle/>
                    <a:p>
                      <a:pPr>
                        <a:lnSpc>
                          <a:spcPct val="114000"/>
                        </a:lnSpc>
                      </a:pPr>
                      <a:r>
                        <a:rPr sz="850" b="1" i="0">
                          <a:solidFill>
                            <a:srgbClr val="D4FF3A"/>
                          </a:solidFill>
                          <a:latin typeface="Arial"/>
                        </a:rPr>
                        <a:t>Source</a:t>
                      </a:r>
                    </a:p>
                  </a:txBody>
                  <a:tcPr marL="64008" marR="64008" marT="41148" marB="41148" anchor="ctr">
                    <a:solidFill>
                      <a:srgbClr val="121821"/>
                    </a:solidFill>
                  </a:tcPr>
                </a:tc>
                <a:tc>
                  <a:txBody>
                    <a:bodyPr wrap="square"/>
                    <a:lstStyle/>
                    <a:p>
                      <a:pPr>
                        <a:lnSpc>
                          <a:spcPct val="114000"/>
                        </a:lnSpc>
                      </a:pPr>
                      <a:r>
                        <a:rPr sz="850" b="1" i="0">
                          <a:solidFill>
                            <a:srgbClr val="D4FF3A"/>
                          </a:solidFill>
                          <a:latin typeface="Arial"/>
                        </a:rPr>
                        <a:t>Kind</a:t>
                      </a:r>
                    </a:p>
                  </a:txBody>
                  <a:tcPr marL="64008" marR="64008" marT="41148" marB="41148" anchor="ctr">
                    <a:solidFill>
                      <a:srgbClr val="121821"/>
                    </a:solidFill>
                  </a:tcPr>
                </a:tc>
                <a:tc>
                  <a:txBody>
                    <a:bodyPr wrap="square"/>
                    <a:lstStyle/>
                    <a:p>
                      <a:pPr>
                        <a:lnSpc>
                          <a:spcPct val="114000"/>
                        </a:lnSpc>
                      </a:pPr>
                      <a:r>
                        <a:rPr sz="850" b="1" i="0">
                          <a:solidFill>
                            <a:srgbClr val="D4FF3A"/>
                          </a:solidFill>
                          <a:latin typeface="Arial"/>
                        </a:rPr>
                        <a:t>Cited on</a:t>
                      </a:r>
                    </a:p>
                  </a:txBody>
                  <a:tcPr marL="64008" marR="64008" marT="41148" marB="41148" anchor="ctr">
                    <a:solidFill>
                      <a:srgbClr val="121821"/>
                    </a:solidFill>
                  </a:tcPr>
                </a:tc>
              </a:tr>
              <a:tr h="205965">
                <a:tc>
                  <a:txBody>
                    <a:bodyPr wrap="square"/>
                    <a:lstStyle/>
                    <a:p>
                      <a:pPr>
                        <a:lnSpc>
                          <a:spcPct val="114000"/>
                        </a:lnSpc>
                      </a:pPr>
                      <a:r>
                        <a:rPr sz="850" b="1" i="0">
                          <a:solidFill>
                            <a:srgbClr val="F7F6EF"/>
                          </a:solidFill>
                          <a:latin typeface="Arial"/>
                        </a:rPr>
                        <a:t>SEC 10-K — Glu Mobile FY2016 (QuizUp mark)</a:t>
                      </a:r>
                    </a:p>
                  </a:txBody>
                  <a:tcPr marL="64008" marR="64008" marT="41148" marB="41148" anchor="ctr">
                    <a:solidFill>
                      <a:srgbClr val="121821"/>
                    </a:solidFill>
                  </a:tcPr>
                </a:tc>
                <a:tc>
                  <a:txBody>
                    <a:bodyPr wrap="square"/>
                    <a:lstStyle/>
                    <a:p>
                      <a:pPr>
                        <a:lnSpc>
                          <a:spcPct val="114000"/>
                        </a:lnSpc>
                      </a:pPr>
                      <a:r>
                        <a:rPr sz="850" b="0" i="0">
                          <a:solidFill>
                            <a:srgbClr val="F7F6EF"/>
                          </a:solidFill>
                          <a:latin typeface="Arial"/>
                        </a:rPr>
                        <a:t>third-party estimate</a:t>
                      </a:r>
                    </a:p>
                  </a:txBody>
                  <a:tcPr marL="64008" marR="64008" marT="41148" marB="41148" anchor="ctr">
                    <a:solidFill>
                      <a:srgbClr val="121821"/>
                    </a:solidFill>
                  </a:tcPr>
                </a:tc>
                <a:tc>
                  <a:txBody>
                    <a:bodyPr wrap="square"/>
                    <a:lstStyle/>
                    <a:p>
                      <a:pPr>
                        <a:lnSpc>
                          <a:spcPct val="114000"/>
                        </a:lnSpc>
                      </a:pPr>
                      <a:r>
                        <a:rPr sz="850" b="0" i="0">
                          <a:solidFill>
                            <a:srgbClr val="F7F6EF"/>
                          </a:solidFill>
                          <a:latin typeface="Arial"/>
                        </a:rPr>
                        <a:t>3, 17</a:t>
                      </a:r>
                    </a:p>
                  </a:txBody>
                  <a:tcPr marL="64008" marR="64008" marT="41148" marB="41148" anchor="ctr">
                    <a:solidFill>
                      <a:srgbClr val="121821"/>
                    </a:solidFill>
                  </a:tcPr>
                </a:tc>
              </a:tr>
              <a:tr h="205965">
                <a:tc>
                  <a:txBody>
                    <a:bodyPr wrap="square"/>
                    <a:lstStyle/>
                    <a:p>
                      <a:pPr>
                        <a:lnSpc>
                          <a:spcPct val="114000"/>
                        </a:lnSpc>
                      </a:pPr>
                      <a:r>
                        <a:rPr sz="850" b="1" i="0">
                          <a:solidFill>
                            <a:srgbClr val="F7F6EF"/>
                          </a:solidFill>
                          <a:latin typeface="Arial"/>
                        </a:rPr>
                        <a:t>SEC 8-K — Glu Mobile / QuizUp acquisition</a:t>
                      </a:r>
                    </a:p>
                  </a:txBody>
                  <a:tcPr marL="64008" marR="64008" marT="41148" marB="41148" anchor="ctr">
                    <a:solidFill>
                      <a:srgbClr val="0D131B"/>
                    </a:solidFill>
                  </a:tcPr>
                </a:tc>
                <a:tc>
                  <a:txBody>
                    <a:bodyPr wrap="square"/>
                    <a:lstStyle/>
                    <a:p>
                      <a:pPr>
                        <a:lnSpc>
                          <a:spcPct val="114000"/>
                        </a:lnSpc>
                      </a:pPr>
                      <a:r>
                        <a:rPr sz="850" b="0" i="0">
                          <a:solidFill>
                            <a:srgbClr val="F7F6EF"/>
                          </a:solidFill>
                          <a:latin typeface="Arial"/>
                        </a:rPr>
                        <a:t>press report</a:t>
                      </a:r>
                    </a:p>
                  </a:txBody>
                  <a:tcPr marL="64008" marR="64008" marT="41148" marB="41148" anchor="ctr">
                    <a:solidFill>
                      <a:srgbClr val="0D131B"/>
                    </a:solidFill>
                  </a:tcPr>
                </a:tc>
                <a:tc>
                  <a:txBody>
                    <a:bodyPr wrap="square"/>
                    <a:lstStyle/>
                    <a:p>
                      <a:pPr>
                        <a:lnSpc>
                          <a:spcPct val="114000"/>
                        </a:lnSpc>
                      </a:pPr>
                      <a:r>
                        <a:rPr sz="850" b="0" i="0">
                          <a:solidFill>
                            <a:srgbClr val="F7F6EF"/>
                          </a:solidFill>
                          <a:latin typeface="Arial"/>
                        </a:rPr>
                        <a:t>3, 17</a:t>
                      </a:r>
                    </a:p>
                  </a:txBody>
                  <a:tcPr marL="64008" marR="64008" marT="41148" marB="41148" anchor="ctr">
                    <a:solidFill>
                      <a:srgbClr val="0D131B"/>
                    </a:solidFill>
                  </a:tcPr>
                </a:tc>
              </a:tr>
              <a:tr h="205965">
                <a:tc>
                  <a:txBody>
                    <a:bodyPr wrap="square"/>
                    <a:lstStyle/>
                    <a:p>
                      <a:pPr>
                        <a:lnSpc>
                          <a:spcPct val="114000"/>
                        </a:lnSpc>
                      </a:pPr>
                      <a:r>
                        <a:rPr sz="850" b="1" i="0">
                          <a:solidFill>
                            <a:srgbClr val="F7F6EF"/>
                          </a:solidFill>
                          <a:latin typeface="Arial"/>
                        </a:rPr>
                        <a:t>FACT//DUEL internal — numbers.md §3.2, status paragraph and §5.15</a:t>
                      </a:r>
                    </a:p>
                  </a:txBody>
                  <a:tcPr marL="64008" marR="64008" marT="41148" marB="41148" anchor="ctr">
                    <a:solidFill>
                      <a:srgbClr val="121821"/>
                    </a:solidFill>
                  </a:tcPr>
                </a:tc>
                <a:tc>
                  <a:txBody>
                    <a:bodyPr wrap="square"/>
                    <a:lstStyle/>
                    <a:p>
                      <a:pPr>
                        <a:lnSpc>
                          <a:spcPct val="114000"/>
                        </a:lnSpc>
                      </a:pPr>
                      <a:r>
                        <a:rPr sz="850" b="0" i="0">
                          <a:solidFill>
                            <a:srgbClr val="F7F6EF"/>
                          </a:solidFill>
                          <a:latin typeface="Arial"/>
                        </a:rPr>
                        <a:t>internal (company disclosure)</a:t>
                      </a:r>
                    </a:p>
                  </a:txBody>
                  <a:tcPr marL="64008" marR="64008" marT="41148" marB="41148" anchor="ctr">
                    <a:solidFill>
                      <a:srgbClr val="121821"/>
                    </a:solidFill>
                  </a:tcPr>
                </a:tc>
                <a:tc>
                  <a:txBody>
                    <a:bodyPr wrap="square"/>
                    <a:lstStyle/>
                    <a:p>
                      <a:pPr>
                        <a:lnSpc>
                          <a:spcPct val="114000"/>
                        </a:lnSpc>
                      </a:pPr>
                      <a:r>
                        <a:rPr sz="850" b="0" i="0">
                          <a:solidFill>
                            <a:srgbClr val="F7F6EF"/>
                          </a:solidFill>
                          <a:latin typeface="Arial"/>
                        </a:rPr>
                        <a:t>4</a:t>
                      </a:r>
                    </a:p>
                  </a:txBody>
                  <a:tcPr marL="64008" marR="64008" marT="41148" marB="41148" anchor="ctr">
                    <a:solidFill>
                      <a:srgbClr val="121821"/>
                    </a:solidFill>
                  </a:tcPr>
                </a:tc>
              </a:tr>
              <a:tr h="205965">
                <a:tc>
                  <a:txBody>
                    <a:bodyPr wrap="square"/>
                    <a:lstStyle/>
                    <a:p>
                      <a:pPr>
                        <a:lnSpc>
                          <a:spcPct val="114000"/>
                        </a:lnSpc>
                      </a:pPr>
                      <a:r>
                        <a:rPr sz="850" b="1" i="0">
                          <a:solidFill>
                            <a:srgbClr val="F7F6EF"/>
                          </a:solidFill>
                          <a:latin typeface="Arial"/>
                        </a:rPr>
                        <a:t>FACT//DUEL internal — repository — product code, unaudited</a:t>
                      </a:r>
                    </a:p>
                  </a:txBody>
                  <a:tcPr marL="64008" marR="64008" marT="41148" marB="41148" anchor="ctr">
                    <a:solidFill>
                      <a:srgbClr val="0D131B"/>
                    </a:solidFill>
                  </a:tcPr>
                </a:tc>
                <a:tc>
                  <a:txBody>
                    <a:bodyPr wrap="square"/>
                    <a:lstStyle/>
                    <a:p>
                      <a:pPr>
                        <a:lnSpc>
                          <a:spcPct val="114000"/>
                        </a:lnSpc>
                      </a:pPr>
                      <a:r>
                        <a:rPr sz="850" b="0" i="0">
                          <a:solidFill>
                            <a:srgbClr val="F7F6EF"/>
                          </a:solidFill>
                          <a:latin typeface="Arial"/>
                        </a:rPr>
                        <a:t>internal (company disclosure)</a:t>
                      </a:r>
                    </a:p>
                  </a:txBody>
                  <a:tcPr marL="64008" marR="64008" marT="41148" marB="41148" anchor="ctr">
                    <a:solidFill>
                      <a:srgbClr val="0D131B"/>
                    </a:solidFill>
                  </a:tcPr>
                </a:tc>
                <a:tc>
                  <a:txBody>
                    <a:bodyPr wrap="square"/>
                    <a:lstStyle/>
                    <a:p>
                      <a:pPr>
                        <a:lnSpc>
                          <a:spcPct val="114000"/>
                        </a:lnSpc>
                      </a:pPr>
                      <a:r>
                        <a:rPr sz="850" b="0" i="0">
                          <a:solidFill>
                            <a:srgbClr val="F7F6EF"/>
                          </a:solidFill>
                          <a:latin typeface="Arial"/>
                        </a:rPr>
                        <a:t>4, 5, 8, 19, 20</a:t>
                      </a:r>
                    </a:p>
                  </a:txBody>
                  <a:tcPr marL="64008" marR="64008" marT="41148" marB="41148" anchor="ctr">
                    <a:solidFill>
                      <a:srgbClr val="0D131B"/>
                    </a:solidFill>
                  </a:tcPr>
                </a:tc>
              </a:tr>
              <a:tr h="205965">
                <a:tc>
                  <a:txBody>
                    <a:bodyPr wrap="square"/>
                    <a:lstStyle/>
                    <a:p>
                      <a:pPr>
                        <a:lnSpc>
                          <a:spcPct val="114000"/>
                        </a:lnSpc>
                      </a:pPr>
                      <a:r>
                        <a:rPr sz="850" b="1" i="0">
                          <a:solidFill>
                            <a:srgbClr val="F7F6EF"/>
                          </a:solidFill>
                          <a:latin typeface="Arial"/>
                        </a:rPr>
                        <a:t>SEC — Duolingo FY2025 shareholder letter</a:t>
                      </a:r>
                    </a:p>
                  </a:txBody>
                  <a:tcPr marL="64008" marR="64008" marT="41148" marB="41148" anchor="ctr">
                    <a:solidFill>
                      <a:srgbClr val="121821"/>
                    </a:solidFill>
                  </a:tcPr>
                </a:tc>
                <a:tc>
                  <a:txBody>
                    <a:bodyPr wrap="square"/>
                    <a:lstStyle/>
                    <a:p>
                      <a:pPr>
                        <a:lnSpc>
                          <a:spcPct val="114000"/>
                        </a:lnSpc>
                      </a:pPr>
                      <a:r>
                        <a:rPr sz="850" b="0" i="0">
                          <a:solidFill>
                            <a:srgbClr val="F7F6EF"/>
                          </a:solidFill>
                          <a:latin typeface="Arial"/>
                        </a:rPr>
                        <a:t>audited filing</a:t>
                      </a:r>
                    </a:p>
                  </a:txBody>
                  <a:tcPr marL="64008" marR="64008" marT="41148" marB="41148" anchor="ctr">
                    <a:solidFill>
                      <a:srgbClr val="121821"/>
                    </a:solidFill>
                  </a:tcPr>
                </a:tc>
                <a:tc>
                  <a:txBody>
                    <a:bodyPr wrap="square"/>
                    <a:lstStyle/>
                    <a:p>
                      <a:pPr>
                        <a:lnSpc>
                          <a:spcPct val="114000"/>
                        </a:lnSpc>
                      </a:pPr>
                      <a:r>
                        <a:rPr sz="850" b="0" i="0">
                          <a:solidFill>
                            <a:srgbClr val="F7F6EF"/>
                          </a:solidFill>
                          <a:latin typeface="Arial"/>
                        </a:rPr>
                        <a:t>4, 6, 7, 9</a:t>
                      </a:r>
                    </a:p>
                  </a:txBody>
                  <a:tcPr marL="64008" marR="64008" marT="41148" marB="41148" anchor="ctr">
                    <a:solidFill>
                      <a:srgbClr val="121821"/>
                    </a:solidFill>
                  </a:tcPr>
                </a:tc>
              </a:tr>
              <a:tr h="205965">
                <a:tc>
                  <a:txBody>
                    <a:bodyPr wrap="square"/>
                    <a:lstStyle/>
                    <a:p>
                      <a:pPr>
                        <a:lnSpc>
                          <a:spcPct val="114000"/>
                        </a:lnSpc>
                      </a:pPr>
                      <a:r>
                        <a:rPr sz="850" b="1" i="0">
                          <a:solidFill>
                            <a:srgbClr val="F7F6EF"/>
                          </a:solidFill>
                          <a:latin typeface="Arial"/>
                        </a:rPr>
                        <a:t>FACT//DUEL internal — numbers.md §1.1 and §1.6</a:t>
                      </a:r>
                    </a:p>
                  </a:txBody>
                  <a:tcPr marL="64008" marR="64008" marT="41148" marB="41148" anchor="ctr">
                    <a:solidFill>
                      <a:srgbClr val="0D131B"/>
                    </a:solidFill>
                  </a:tcPr>
                </a:tc>
                <a:tc>
                  <a:txBody>
                    <a:bodyPr wrap="square"/>
                    <a:lstStyle/>
                    <a:p>
                      <a:pPr>
                        <a:lnSpc>
                          <a:spcPct val="114000"/>
                        </a:lnSpc>
                      </a:pPr>
                      <a:r>
                        <a:rPr sz="850" b="0" i="0">
                          <a:solidFill>
                            <a:srgbClr val="F7F6EF"/>
                          </a:solidFill>
                          <a:latin typeface="Arial"/>
                        </a:rPr>
                        <a:t>internal (company disclosure)</a:t>
                      </a:r>
                    </a:p>
                  </a:txBody>
                  <a:tcPr marL="64008" marR="64008" marT="41148" marB="41148" anchor="ctr">
                    <a:solidFill>
                      <a:srgbClr val="0D131B"/>
                    </a:solidFill>
                  </a:tcPr>
                </a:tc>
                <a:tc>
                  <a:txBody>
                    <a:bodyPr wrap="square"/>
                    <a:lstStyle/>
                    <a:p>
                      <a:pPr>
                        <a:lnSpc>
                          <a:spcPct val="114000"/>
                        </a:lnSpc>
                      </a:pPr>
                      <a:r>
                        <a:rPr sz="850" b="0" i="0">
                          <a:solidFill>
                            <a:srgbClr val="F7F6EF"/>
                          </a:solidFill>
                          <a:latin typeface="Arial"/>
                        </a:rPr>
                        <a:t>4</a:t>
                      </a:r>
                    </a:p>
                  </a:txBody>
                  <a:tcPr marL="64008" marR="64008" marT="41148" marB="41148" anchor="ctr">
                    <a:solidFill>
                      <a:srgbClr val="0D131B"/>
                    </a:solidFill>
                  </a:tcPr>
                </a:tc>
              </a:tr>
              <a:tr h="205965">
                <a:tc>
                  <a:txBody>
                    <a:bodyPr wrap="square"/>
                    <a:lstStyle/>
                    <a:p>
                      <a:pPr>
                        <a:lnSpc>
                          <a:spcPct val="114000"/>
                        </a:lnSpc>
                      </a:pPr>
                      <a:r>
                        <a:rPr sz="850" b="1" i="0">
                          <a:solidFill>
                            <a:srgbClr val="F7F6EF"/>
                          </a:solidFill>
                          <a:latin typeface="Arial"/>
                        </a:rPr>
                        <a:t>FACT//DUEL internal — numbers.md — status paragraph, §4.4 and §7.1-§7.2</a:t>
                      </a:r>
                    </a:p>
                  </a:txBody>
                  <a:tcPr marL="64008" marR="64008" marT="41148" marB="41148" anchor="ctr">
                    <a:solidFill>
                      <a:srgbClr val="121821"/>
                    </a:solidFill>
                  </a:tcPr>
                </a:tc>
                <a:tc>
                  <a:txBody>
                    <a:bodyPr wrap="square"/>
                    <a:lstStyle/>
                    <a:p>
                      <a:pPr>
                        <a:lnSpc>
                          <a:spcPct val="114000"/>
                        </a:lnSpc>
                      </a:pPr>
                      <a:r>
                        <a:rPr sz="850" b="0" i="0">
                          <a:solidFill>
                            <a:srgbClr val="F7F6EF"/>
                          </a:solidFill>
                          <a:latin typeface="Arial"/>
                        </a:rPr>
                        <a:t>internal (company disclosure)</a:t>
                      </a:r>
                    </a:p>
                  </a:txBody>
                  <a:tcPr marL="64008" marR="64008" marT="41148" marB="41148" anchor="ctr">
                    <a:solidFill>
                      <a:srgbClr val="121821"/>
                    </a:solidFill>
                  </a:tcPr>
                </a:tc>
                <a:tc>
                  <a:txBody>
                    <a:bodyPr wrap="square"/>
                    <a:lstStyle/>
                    <a:p>
                      <a:pPr>
                        <a:lnSpc>
                          <a:spcPct val="114000"/>
                        </a:lnSpc>
                      </a:pPr>
                      <a:r>
                        <a:rPr sz="850" b="0" i="0">
                          <a:solidFill>
                            <a:srgbClr val="F7F6EF"/>
                          </a:solidFill>
                          <a:latin typeface="Arial"/>
                        </a:rPr>
                        <a:t>5</a:t>
                      </a:r>
                    </a:p>
                  </a:txBody>
                  <a:tcPr marL="64008" marR="64008" marT="41148" marB="41148" anchor="ctr">
                    <a:solidFill>
                      <a:srgbClr val="121821"/>
                    </a:solidFill>
                  </a:tcPr>
                </a:tc>
              </a:tr>
              <a:tr h="205965">
                <a:tc>
                  <a:txBody>
                    <a:bodyPr wrap="square"/>
                    <a:lstStyle/>
                    <a:p>
                      <a:pPr>
                        <a:lnSpc>
                          <a:spcPct val="114000"/>
                        </a:lnSpc>
                      </a:pPr>
                      <a:r>
                        <a:rPr sz="850" b="1" i="0">
                          <a:solidFill>
                            <a:srgbClr val="F7F6EF"/>
                          </a:solidFill>
                          <a:latin typeface="Arial"/>
                        </a:rPr>
                        <a:t>FACT//DUEL internal — numbers.md §2.3, §4.3 and §4.4</a:t>
                      </a:r>
                    </a:p>
                  </a:txBody>
                  <a:tcPr marL="64008" marR="64008" marT="41148" marB="41148" anchor="ctr">
                    <a:solidFill>
                      <a:srgbClr val="0D131B"/>
                    </a:solidFill>
                  </a:tcPr>
                </a:tc>
                <a:tc>
                  <a:txBody>
                    <a:bodyPr wrap="square"/>
                    <a:lstStyle/>
                    <a:p>
                      <a:pPr>
                        <a:lnSpc>
                          <a:spcPct val="114000"/>
                        </a:lnSpc>
                      </a:pPr>
                      <a:r>
                        <a:rPr sz="850" b="0" i="0">
                          <a:solidFill>
                            <a:srgbClr val="F7F6EF"/>
                          </a:solidFill>
                          <a:latin typeface="Arial"/>
                        </a:rPr>
                        <a:t>internal (company disclosure)</a:t>
                      </a:r>
                    </a:p>
                  </a:txBody>
                  <a:tcPr marL="64008" marR="64008" marT="41148" marB="41148" anchor="ctr">
                    <a:solidFill>
                      <a:srgbClr val="0D131B"/>
                    </a:solidFill>
                  </a:tcPr>
                </a:tc>
                <a:tc>
                  <a:txBody>
                    <a:bodyPr wrap="square"/>
                    <a:lstStyle/>
                    <a:p>
                      <a:pPr>
                        <a:lnSpc>
                          <a:spcPct val="114000"/>
                        </a:lnSpc>
                      </a:pPr>
                      <a:r>
                        <a:rPr sz="850" b="0" i="0">
                          <a:solidFill>
                            <a:srgbClr val="F7F6EF"/>
                          </a:solidFill>
                          <a:latin typeface="Arial"/>
                        </a:rPr>
                        <a:t>5, 11</a:t>
                      </a:r>
                    </a:p>
                  </a:txBody>
                  <a:tcPr marL="64008" marR="64008" marT="41148" marB="41148" anchor="ctr">
                    <a:solidFill>
                      <a:srgbClr val="0D131B"/>
                    </a:solidFill>
                  </a:tcPr>
                </a:tc>
              </a:tr>
              <a:tr h="205965">
                <a:tc>
                  <a:txBody>
                    <a:bodyPr wrap="square"/>
                    <a:lstStyle/>
                    <a:p>
                      <a:pPr>
                        <a:lnSpc>
                          <a:spcPct val="114000"/>
                        </a:lnSpc>
                      </a:pPr>
                      <a:r>
                        <a:rPr sz="850" b="1" i="0">
                          <a:solidFill>
                            <a:srgbClr val="F7F6EF"/>
                          </a:solidFill>
                          <a:latin typeface="Arial"/>
                        </a:rPr>
                        <a:t>EMARKETER — second-screen engagement during live sport</a:t>
                      </a:r>
                    </a:p>
                  </a:txBody>
                  <a:tcPr marL="64008" marR="64008" marT="41148" marB="41148" anchor="ctr">
                    <a:solidFill>
                      <a:srgbClr val="121821"/>
                    </a:solidFill>
                  </a:tcPr>
                </a:tc>
                <a:tc>
                  <a:txBody>
                    <a:bodyPr wrap="square"/>
                    <a:lstStyle/>
                    <a:p>
                      <a:pPr>
                        <a:lnSpc>
                          <a:spcPct val="114000"/>
                        </a:lnSpc>
                      </a:pPr>
                      <a:r>
                        <a:rPr sz="850" b="0" i="0">
                          <a:solidFill>
                            <a:srgbClr val="F7F6EF"/>
                          </a:solidFill>
                          <a:latin typeface="Arial"/>
                        </a:rPr>
                        <a:t>third-party estimate</a:t>
                      </a:r>
                    </a:p>
                  </a:txBody>
                  <a:tcPr marL="64008" marR="64008" marT="41148" marB="41148" anchor="ctr">
                    <a:solidFill>
                      <a:srgbClr val="121821"/>
                    </a:solidFill>
                  </a:tcPr>
                </a:tc>
                <a:tc>
                  <a:txBody>
                    <a:bodyPr wrap="square"/>
                    <a:lstStyle/>
                    <a:p>
                      <a:pPr>
                        <a:lnSpc>
                          <a:spcPct val="114000"/>
                        </a:lnSpc>
                      </a:pPr>
                      <a:r>
                        <a:rPr sz="850" b="0" i="0">
                          <a:solidFill>
                            <a:srgbClr val="F7F6EF"/>
                          </a:solidFill>
                          <a:latin typeface="Arial"/>
                        </a:rPr>
                        <a:t>6, 16</a:t>
                      </a:r>
                    </a:p>
                  </a:txBody>
                  <a:tcPr marL="64008" marR="64008" marT="41148" marB="41148" anchor="ctr">
                    <a:solidFill>
                      <a:srgbClr val="121821"/>
                    </a:solidFill>
                  </a:tcPr>
                </a:tc>
              </a:tr>
              <a:tr h="205965">
                <a:tc>
                  <a:txBody>
                    <a:bodyPr wrap="square"/>
                    <a:lstStyle/>
                    <a:p>
                      <a:pPr>
                        <a:lnSpc>
                          <a:spcPct val="114000"/>
                        </a:lnSpc>
                      </a:pPr>
                      <a:r>
                        <a:rPr sz="850" b="1" i="0">
                          <a:solidFill>
                            <a:srgbClr val="F7F6EF"/>
                          </a:solidFill>
                          <a:latin typeface="Arial"/>
                        </a:rPr>
                        <a:t>AppTweak — US store conversion benchmarks, CY2025</a:t>
                      </a:r>
                    </a:p>
                  </a:txBody>
                  <a:tcPr marL="64008" marR="64008" marT="41148" marB="41148" anchor="ctr">
                    <a:solidFill>
                      <a:srgbClr val="0D131B"/>
                    </a:solidFill>
                  </a:tcPr>
                </a:tc>
                <a:tc>
                  <a:txBody>
                    <a:bodyPr wrap="square"/>
                    <a:lstStyle/>
                    <a:p>
                      <a:pPr>
                        <a:lnSpc>
                          <a:spcPct val="114000"/>
                        </a:lnSpc>
                      </a:pPr>
                      <a:r>
                        <a:rPr sz="850" b="0" i="0">
                          <a:solidFill>
                            <a:srgbClr val="F7F6EF"/>
                          </a:solidFill>
                          <a:latin typeface="Arial"/>
                        </a:rPr>
                        <a:t>third-party estimate</a:t>
                      </a:r>
                    </a:p>
                  </a:txBody>
                  <a:tcPr marL="64008" marR="64008" marT="41148" marB="41148" anchor="ctr">
                    <a:solidFill>
                      <a:srgbClr val="0D131B"/>
                    </a:solidFill>
                  </a:tcPr>
                </a:tc>
                <a:tc>
                  <a:txBody>
                    <a:bodyPr wrap="square"/>
                    <a:lstStyle/>
                    <a:p>
                      <a:pPr>
                        <a:lnSpc>
                          <a:spcPct val="114000"/>
                        </a:lnSpc>
                      </a:pPr>
                      <a:r>
                        <a:rPr sz="850" b="0" i="0">
                          <a:solidFill>
                            <a:srgbClr val="F7F6EF"/>
                          </a:solidFill>
                          <a:latin typeface="Arial"/>
                        </a:rPr>
                        <a:t>7, 18</a:t>
                      </a:r>
                    </a:p>
                  </a:txBody>
                  <a:tcPr marL="64008" marR="64008" marT="41148" marB="41148" anchor="ctr">
                    <a:solidFill>
                      <a:srgbClr val="0D131B"/>
                    </a:solidFill>
                  </a:tcPr>
                </a:tc>
              </a:tr>
              <a:tr h="205965">
                <a:tc>
                  <a:txBody>
                    <a:bodyPr wrap="square"/>
                    <a:lstStyle/>
                    <a:p>
                      <a:pPr>
                        <a:lnSpc>
                          <a:spcPct val="114000"/>
                        </a:lnSpc>
                      </a:pPr>
                      <a:r>
                        <a:rPr sz="850" b="1" i="0">
                          <a:solidFill>
                            <a:srgbClr val="F7F6EF"/>
                          </a:solidFill>
                          <a:latin typeface="Arial"/>
                        </a:rPr>
                        <a:t>FACT//DUEL internal — numbers.md §3.5, §5.2 and §5.14</a:t>
                      </a:r>
                    </a:p>
                  </a:txBody>
                  <a:tcPr marL="64008" marR="64008" marT="41148" marB="41148" anchor="ctr">
                    <a:solidFill>
                      <a:srgbClr val="121821"/>
                    </a:solidFill>
                  </a:tcPr>
                </a:tc>
                <a:tc>
                  <a:txBody>
                    <a:bodyPr wrap="square"/>
                    <a:lstStyle/>
                    <a:p>
                      <a:pPr>
                        <a:lnSpc>
                          <a:spcPct val="114000"/>
                        </a:lnSpc>
                      </a:pPr>
                      <a:r>
                        <a:rPr sz="850" b="0" i="0">
                          <a:solidFill>
                            <a:srgbClr val="F7F6EF"/>
                          </a:solidFill>
                          <a:latin typeface="Arial"/>
                        </a:rPr>
                        <a:t>internal (company disclosure)</a:t>
                      </a:r>
                    </a:p>
                  </a:txBody>
                  <a:tcPr marL="64008" marR="64008" marT="41148" marB="41148" anchor="ctr">
                    <a:solidFill>
                      <a:srgbClr val="121821"/>
                    </a:solidFill>
                  </a:tcPr>
                </a:tc>
                <a:tc>
                  <a:txBody>
                    <a:bodyPr wrap="square"/>
                    <a:lstStyle/>
                    <a:p>
                      <a:pPr>
                        <a:lnSpc>
                          <a:spcPct val="114000"/>
                        </a:lnSpc>
                      </a:pPr>
                      <a:r>
                        <a:rPr sz="850" b="0" i="0">
                          <a:solidFill>
                            <a:srgbClr val="F7F6EF"/>
                          </a:solidFill>
                          <a:latin typeface="Arial"/>
                        </a:rPr>
                        <a:t>7, 11</a:t>
                      </a:r>
                    </a:p>
                  </a:txBody>
                  <a:tcPr marL="64008" marR="64008" marT="41148" marB="41148" anchor="ctr">
                    <a:solidFill>
                      <a:srgbClr val="121821"/>
                    </a:solidFill>
                  </a:tcPr>
                </a:tc>
              </a:tr>
              <a:tr h="205965">
                <a:tc>
                  <a:txBody>
                    <a:bodyPr wrap="square"/>
                    <a:lstStyle/>
                    <a:p>
                      <a:pPr>
                        <a:lnSpc>
                          <a:spcPct val="114000"/>
                        </a:lnSpc>
                      </a:pPr>
                      <a:r>
                        <a:rPr sz="850" b="1" i="0">
                          <a:solidFill>
                            <a:srgbClr val="F7F6EF"/>
                          </a:solidFill>
                          <a:latin typeface="Arial"/>
                        </a:rPr>
                        <a:t>FACT//DUEL internal — numbers.md — status paragraph, §4.4 and §7.1</a:t>
                      </a:r>
                    </a:p>
                  </a:txBody>
                  <a:tcPr marL="64008" marR="64008" marT="41148" marB="41148" anchor="ctr">
                    <a:solidFill>
                      <a:srgbClr val="0D131B"/>
                    </a:solidFill>
                  </a:tcPr>
                </a:tc>
                <a:tc>
                  <a:txBody>
                    <a:bodyPr wrap="square"/>
                    <a:lstStyle/>
                    <a:p>
                      <a:pPr>
                        <a:lnSpc>
                          <a:spcPct val="114000"/>
                        </a:lnSpc>
                      </a:pPr>
                      <a:r>
                        <a:rPr sz="850" b="0" i="0">
                          <a:solidFill>
                            <a:srgbClr val="F7F6EF"/>
                          </a:solidFill>
                          <a:latin typeface="Arial"/>
                        </a:rPr>
                        <a:t>internal (company disclosure)</a:t>
                      </a:r>
                    </a:p>
                  </a:txBody>
                  <a:tcPr marL="64008" marR="64008" marT="41148" marB="41148" anchor="ctr">
                    <a:solidFill>
                      <a:srgbClr val="0D131B"/>
                    </a:solidFill>
                  </a:tcPr>
                </a:tc>
                <a:tc>
                  <a:txBody>
                    <a:bodyPr wrap="square"/>
                    <a:lstStyle/>
                    <a:p>
                      <a:pPr>
                        <a:lnSpc>
                          <a:spcPct val="114000"/>
                        </a:lnSpc>
                      </a:pPr>
                      <a:r>
                        <a:rPr sz="850" b="0" i="0">
                          <a:solidFill>
                            <a:srgbClr val="F7F6EF"/>
                          </a:solidFill>
                          <a:latin typeface="Arial"/>
                        </a:rPr>
                        <a:t>8</a:t>
                      </a:r>
                    </a:p>
                  </a:txBody>
                  <a:tcPr marL="64008" marR="64008" marT="41148" marB="41148" anchor="ctr">
                    <a:solidFill>
                      <a:srgbClr val="0D131B"/>
                    </a:solidFill>
                  </a:tcPr>
                </a:tc>
              </a:tr>
              <a:tr h="205965">
                <a:tc>
                  <a:txBody>
                    <a:bodyPr wrap="square"/>
                    <a:lstStyle/>
                    <a:p>
                      <a:pPr>
                        <a:lnSpc>
                          <a:spcPct val="114000"/>
                        </a:lnSpc>
                      </a:pPr>
                      <a:r>
                        <a:rPr sz="850" b="1" i="0">
                          <a:solidFill>
                            <a:srgbClr val="F7F6EF"/>
                          </a:solidFill>
                          <a:latin typeface="Arial"/>
                        </a:rPr>
                        <a:t>Sensor Tower — Q2 2025 US iOS trivia revenue (est.)</a:t>
                      </a:r>
                    </a:p>
                  </a:txBody>
                  <a:tcPr marL="64008" marR="64008" marT="41148" marB="41148" anchor="ctr">
                    <a:solidFill>
                      <a:srgbClr val="121821"/>
                    </a:solidFill>
                  </a:tcPr>
                </a:tc>
                <a:tc>
                  <a:txBody>
                    <a:bodyPr wrap="square"/>
                    <a:lstStyle/>
                    <a:p>
                      <a:pPr>
                        <a:lnSpc>
                          <a:spcPct val="114000"/>
                        </a:lnSpc>
                      </a:pPr>
                      <a:r>
                        <a:rPr sz="850" b="0" i="0">
                          <a:solidFill>
                            <a:srgbClr val="F7F6EF"/>
                          </a:solidFill>
                          <a:latin typeface="Arial"/>
                        </a:rPr>
                        <a:t>third-party estimate</a:t>
                      </a:r>
                    </a:p>
                  </a:txBody>
                  <a:tcPr marL="64008" marR="64008" marT="41148" marB="41148" anchor="ctr">
                    <a:solidFill>
                      <a:srgbClr val="121821"/>
                    </a:solidFill>
                  </a:tcPr>
                </a:tc>
                <a:tc>
                  <a:txBody>
                    <a:bodyPr wrap="square"/>
                    <a:lstStyle/>
                    <a:p>
                      <a:pPr>
                        <a:lnSpc>
                          <a:spcPct val="114000"/>
                        </a:lnSpc>
                      </a:pPr>
                      <a:r>
                        <a:rPr sz="850" b="0" i="0">
                          <a:solidFill>
                            <a:srgbClr val="F7F6EF"/>
                          </a:solidFill>
                          <a:latin typeface="Arial"/>
                        </a:rPr>
                        <a:t>9, 10, 14</a:t>
                      </a:r>
                    </a:p>
                  </a:txBody>
                  <a:tcPr marL="64008" marR="64008" marT="41148" marB="41148" anchor="ctr">
                    <a:solidFill>
                      <a:srgbClr val="121821"/>
                    </a:solidFill>
                  </a:tcPr>
                </a:tc>
              </a:tr>
              <a:tr h="205965">
                <a:tc>
                  <a:txBody>
                    <a:bodyPr wrap="square"/>
                    <a:lstStyle/>
                    <a:p>
                      <a:pPr>
                        <a:lnSpc>
                          <a:spcPct val="114000"/>
                        </a:lnSpc>
                      </a:pPr>
                      <a:r>
                        <a:rPr sz="850" b="1" i="0">
                          <a:solidFill>
                            <a:srgbClr val="F7F6EF"/>
                          </a:solidFill>
                          <a:latin typeface="Arial"/>
                        </a:rPr>
                        <a:t>SEC — Duolingo Q2 FY2026 10-Q (user counts at 30 Jun 2026)</a:t>
                      </a:r>
                    </a:p>
                  </a:txBody>
                  <a:tcPr marL="64008" marR="64008" marT="41148" marB="41148" anchor="ctr">
                    <a:solidFill>
                      <a:srgbClr val="0D131B"/>
                    </a:solidFill>
                  </a:tcPr>
                </a:tc>
                <a:tc>
                  <a:txBody>
                    <a:bodyPr wrap="square"/>
                    <a:lstStyle/>
                    <a:p>
                      <a:pPr>
                        <a:lnSpc>
                          <a:spcPct val="114000"/>
                        </a:lnSpc>
                      </a:pPr>
                      <a:r>
                        <a:rPr sz="850" b="0" i="0">
                          <a:solidFill>
                            <a:srgbClr val="F7F6EF"/>
                          </a:solidFill>
                          <a:latin typeface="Arial"/>
                        </a:rPr>
                        <a:t>company disclosure</a:t>
                      </a:r>
                    </a:p>
                  </a:txBody>
                  <a:tcPr marL="64008" marR="64008" marT="41148" marB="41148" anchor="ctr">
                    <a:solidFill>
                      <a:srgbClr val="0D131B"/>
                    </a:solidFill>
                  </a:tcPr>
                </a:tc>
                <a:tc>
                  <a:txBody>
                    <a:bodyPr wrap="square"/>
                    <a:lstStyle/>
                    <a:p>
                      <a:pPr>
                        <a:lnSpc>
                          <a:spcPct val="114000"/>
                        </a:lnSpc>
                      </a:pPr>
                      <a:r>
                        <a:rPr sz="850" b="0" i="0">
                          <a:solidFill>
                            <a:srgbClr val="F7F6EF"/>
                          </a:solidFill>
                          <a:latin typeface="Arial"/>
                        </a:rPr>
                        <a:t>9</a:t>
                      </a:r>
                    </a:p>
                  </a:txBody>
                  <a:tcPr marL="64008" marR="64008" marT="41148" marB="41148" anchor="ctr">
                    <a:solidFill>
                      <a:srgbClr val="0D131B"/>
                    </a:solidFill>
                  </a:tcPr>
                </a:tc>
              </a:tr>
              <a:tr h="205965">
                <a:tc>
                  <a:txBody>
                    <a:bodyPr wrap="square"/>
                    <a:lstStyle/>
                    <a:p>
                      <a:pPr>
                        <a:lnSpc>
                          <a:spcPct val="114000"/>
                        </a:lnSpc>
                      </a:pPr>
                      <a:r>
                        <a:rPr sz="850" b="1" i="0">
                          <a:solidFill>
                            <a:srgbClr val="F7F6EF"/>
                          </a:solidFill>
                          <a:latin typeface="Arial"/>
                        </a:rPr>
                        <a:t>SEC — Duolingo Q2 FY2026 shareholder letter</a:t>
                      </a:r>
                    </a:p>
                  </a:txBody>
                  <a:tcPr marL="64008" marR="64008" marT="41148" marB="41148" anchor="ctr">
                    <a:solidFill>
                      <a:srgbClr val="121821"/>
                    </a:solidFill>
                  </a:tcPr>
                </a:tc>
                <a:tc>
                  <a:txBody>
                    <a:bodyPr wrap="square"/>
                    <a:lstStyle/>
                    <a:p>
                      <a:pPr>
                        <a:lnSpc>
                          <a:spcPct val="114000"/>
                        </a:lnSpc>
                      </a:pPr>
                      <a:r>
                        <a:rPr sz="850" b="0" i="0">
                          <a:solidFill>
                            <a:srgbClr val="F7F6EF"/>
                          </a:solidFill>
                          <a:latin typeface="Arial"/>
                        </a:rPr>
                        <a:t>company disclosure</a:t>
                      </a:r>
                    </a:p>
                  </a:txBody>
                  <a:tcPr marL="64008" marR="64008" marT="41148" marB="41148" anchor="ctr">
                    <a:solidFill>
                      <a:srgbClr val="121821"/>
                    </a:solidFill>
                  </a:tcPr>
                </a:tc>
                <a:tc>
                  <a:txBody>
                    <a:bodyPr wrap="square"/>
                    <a:lstStyle/>
                    <a:p>
                      <a:pPr>
                        <a:lnSpc>
                          <a:spcPct val="114000"/>
                        </a:lnSpc>
                      </a:pPr>
                      <a:r>
                        <a:rPr sz="850" b="0" i="0">
                          <a:solidFill>
                            <a:srgbClr val="F7F6EF"/>
                          </a:solidFill>
                          <a:latin typeface="Arial"/>
                        </a:rPr>
                        <a:t>9, 11, 15</a:t>
                      </a:r>
                    </a:p>
                  </a:txBody>
                  <a:tcPr marL="64008" marR="64008" marT="41148" marB="41148" anchor="ctr">
                    <a:solidFill>
                      <a:srgbClr val="121821"/>
                    </a:solidFill>
                  </a:tcPr>
                </a:tc>
              </a:tr>
              <a:tr h="205965">
                <a:tc>
                  <a:txBody>
                    <a:bodyPr wrap="square"/>
                    <a:lstStyle/>
                    <a:p>
                      <a:pPr>
                        <a:lnSpc>
                          <a:spcPct val="114000"/>
                        </a:lnSpc>
                      </a:pPr>
                      <a:r>
                        <a:rPr sz="850" b="1" i="0">
                          <a:solidFill>
                            <a:srgbClr val="F7F6EF"/>
                          </a:solidFill>
                          <a:latin typeface="Arial"/>
                        </a:rPr>
                        <a:t>Kahoot! — Q4 2022 quarterly report</a:t>
                      </a:r>
                    </a:p>
                  </a:txBody>
                  <a:tcPr marL="64008" marR="64008" marT="41148" marB="41148" anchor="ctr">
                    <a:solidFill>
                      <a:srgbClr val="0D131B"/>
                    </a:solidFill>
                  </a:tcPr>
                </a:tc>
                <a:tc>
                  <a:txBody>
                    <a:bodyPr wrap="square"/>
                    <a:lstStyle/>
                    <a:p>
                      <a:pPr>
                        <a:lnSpc>
                          <a:spcPct val="114000"/>
                        </a:lnSpc>
                      </a:pPr>
                      <a:r>
                        <a:rPr sz="850" b="0" i="0">
                          <a:solidFill>
                            <a:srgbClr val="F7F6EF"/>
                          </a:solidFill>
                          <a:latin typeface="Arial"/>
                        </a:rPr>
                        <a:t>company disclosure</a:t>
                      </a:r>
                    </a:p>
                  </a:txBody>
                  <a:tcPr marL="64008" marR="64008" marT="41148" marB="41148" anchor="ctr">
                    <a:solidFill>
                      <a:srgbClr val="0D131B"/>
                    </a:solidFill>
                  </a:tcPr>
                </a:tc>
                <a:tc>
                  <a:txBody>
                    <a:bodyPr wrap="square"/>
                    <a:lstStyle/>
                    <a:p>
                      <a:pPr>
                        <a:lnSpc>
                          <a:spcPct val="114000"/>
                        </a:lnSpc>
                      </a:pPr>
                      <a:r>
                        <a:rPr sz="850" b="0" i="0">
                          <a:solidFill>
                            <a:srgbClr val="F7F6EF"/>
                          </a:solidFill>
                          <a:latin typeface="Arial"/>
                        </a:rPr>
                        <a:t>9, 10</a:t>
                      </a:r>
                    </a:p>
                  </a:txBody>
                  <a:tcPr marL="64008" marR="64008" marT="41148" marB="41148" anchor="ctr">
                    <a:solidFill>
                      <a:srgbClr val="0D131B"/>
                    </a:solidFill>
                  </a:tcPr>
                </a:tc>
              </a:tr>
              <a:tr h="205965">
                <a:tc>
                  <a:txBody>
                    <a:bodyPr wrap="square"/>
                    <a:lstStyle/>
                    <a:p>
                      <a:pPr>
                        <a:lnSpc>
                          <a:spcPct val="114000"/>
                        </a:lnSpc>
                      </a:pPr>
                      <a:r>
                        <a:rPr sz="850" b="1" i="0">
                          <a:solidFill>
                            <a:srgbClr val="F7F6EF"/>
                          </a:solidFill>
                          <a:latin typeface="Arial"/>
                        </a:rPr>
                        <a:t>Sporcle — Orange membership pricing</a:t>
                      </a:r>
                    </a:p>
                  </a:txBody>
                  <a:tcPr marL="64008" marR="64008" marT="41148" marB="41148" anchor="ctr">
                    <a:solidFill>
                      <a:srgbClr val="121821"/>
                    </a:solidFill>
                  </a:tcPr>
                </a:tc>
                <a:tc>
                  <a:txBody>
                    <a:bodyPr wrap="square"/>
                    <a:lstStyle/>
                    <a:p>
                      <a:pPr>
                        <a:lnSpc>
                          <a:spcPct val="114000"/>
                        </a:lnSpc>
                      </a:pPr>
                      <a:r>
                        <a:rPr sz="850" b="0" i="0">
                          <a:solidFill>
                            <a:srgbClr val="F7F6EF"/>
                          </a:solidFill>
                          <a:latin typeface="Arial"/>
                        </a:rPr>
                        <a:t>company disclosure</a:t>
                      </a:r>
                    </a:p>
                  </a:txBody>
                  <a:tcPr marL="64008" marR="64008" marT="41148" marB="41148" anchor="ctr">
                    <a:solidFill>
                      <a:srgbClr val="121821"/>
                    </a:solidFill>
                  </a:tcPr>
                </a:tc>
                <a:tc>
                  <a:txBody>
                    <a:bodyPr wrap="square"/>
                    <a:lstStyle/>
                    <a:p>
                      <a:pPr>
                        <a:lnSpc>
                          <a:spcPct val="114000"/>
                        </a:lnSpc>
                      </a:pPr>
                      <a:r>
                        <a:rPr sz="850" b="0" i="0">
                          <a:solidFill>
                            <a:srgbClr val="F7F6EF"/>
                          </a:solidFill>
                          <a:latin typeface="Arial"/>
                        </a:rPr>
                        <a:t>9, 11, 15</a:t>
                      </a:r>
                    </a:p>
                  </a:txBody>
                  <a:tcPr marL="64008" marR="64008" marT="41148" marB="41148" anchor="ctr">
                    <a:solidFill>
                      <a:srgbClr val="121821"/>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0E14"/>
        </a:solidFill>
        <a:effectLst/>
      </p:bgPr>
    </p:bg>
    <p:spTree>
      <p:nvGrpSpPr>
        <p:cNvPr id="1" name=""/>
        <p:cNvGrpSpPr/>
        <p:nvPr/>
      </p:nvGrpSpPr>
      <p:grpSpPr/>
      <p:sp>
        <p:nvSpPr>
          <p:cNvPr id="2" name="Title 1"/>
          <p:cNvSpPr>
            <a:spLocks noGrp="1"/>
          </p:cNvSpPr>
          <p:nvPr>
            <p:ph type="title"/>
          </p:nvPr>
        </p:nvSpPr>
        <p:spPr>
          <a:xfrm>
            <a:off x="566928" y="658368"/>
            <a:ext cx="11057839" cy="859536"/>
          </a:xfrm>
        </p:spPr>
        <p:txBody>
          <a:bodyPr wrap="square" lIns="0" rIns="0" tIns="0" bIns="0" anchor="t"/>
          <a:lstStyle/>
          <a:p>
            <a:pPr>
              <a:lnSpc>
                <a:spcPct val="108000"/>
              </a:lnSpc>
            </a:pPr>
            <a:r>
              <a:rPr sz="3000" b="1" i="0">
                <a:solidFill>
                  <a:srgbClr val="F7F6EF"/>
                </a:solidFill>
                <a:latin typeface="Arial"/>
              </a:rPr>
              <a:t>Appendix J — every source cited in this deck, and what kind of evidence it is.</a:t>
            </a:r>
          </a:p>
        </p:txBody>
      </p:sp>
      <p:sp>
        <p:nvSpPr>
          <p:cNvPr id="3" name="TextBox 2"/>
          <p:cNvSpPr txBox="1"/>
          <p:nvPr/>
        </p:nvSpPr>
        <p:spPr>
          <a:xfrm>
            <a:off x="566928" y="365760"/>
            <a:ext cx="11057839" cy="219456"/>
          </a:xfrm>
          <a:prstGeom prst="rect">
            <a:avLst/>
          </a:prstGeom>
          <a:noFill/>
        </p:spPr>
        <p:txBody>
          <a:bodyPr wrap="square" lIns="0" rIns="0" tIns="0" bIns="0" anchor="t">
            <a:spAutoFit/>
          </a:bodyPr>
          <a:lstStyle/>
          <a:p>
            <a:r>
              <a:rPr sz="1100" b="1" i="0" spc="160">
                <a:solidFill>
                  <a:srgbClr val="4EE1FF"/>
                </a:solidFill>
                <a:latin typeface="Arial"/>
              </a:rPr>
              <a:t>APPENDIX — SOURCE REGISTER (3 OF 4)</a:t>
            </a:r>
          </a:p>
        </p:txBody>
      </p:sp>
      <p:sp>
        <p:nvSpPr>
          <p:cNvPr id="4" name="Rectangle 3"/>
          <p:cNvSpPr/>
          <p:nvPr/>
        </p:nvSpPr>
        <p:spPr>
          <a:xfrm>
            <a:off x="566928" y="6035040"/>
            <a:ext cx="11057839" cy="11887"/>
          </a:xfrm>
          <a:prstGeom prst="rect">
            <a:avLst/>
          </a:prstGeom>
          <a:solidFill>
            <a:srgbClr val="4EE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664647" y="6144768"/>
            <a:ext cx="960120" cy="274320"/>
          </a:xfrm>
          <a:prstGeom prst="rect">
            <a:avLst/>
          </a:prstGeom>
          <a:noFill/>
        </p:spPr>
        <p:txBody>
          <a:bodyPr wrap="square" lIns="0" rIns="0" tIns="0" bIns="0" anchor="t">
            <a:spAutoFit/>
          </a:bodyPr>
          <a:lstStyle/>
          <a:p>
            <a:pPr algn="r"/>
            <a:r>
              <a:rPr sz="950" b="1" i="0" spc="60">
                <a:solidFill>
                  <a:srgbClr val="A6ADBA"/>
                </a:solidFill>
                <a:latin typeface="Arial"/>
              </a:rPr>
              <a:t>25</a:t>
            </a:r>
          </a:p>
        </p:txBody>
      </p:sp>
      <p:sp>
        <p:nvSpPr>
          <p:cNvPr id="6" name="TextBox 5"/>
          <p:cNvSpPr txBox="1"/>
          <p:nvPr/>
        </p:nvSpPr>
        <p:spPr>
          <a:xfrm>
            <a:off x="566928" y="1719072"/>
            <a:ext cx="11057839" cy="242824"/>
          </a:xfrm>
          <a:prstGeom prst="rect">
            <a:avLst/>
          </a:prstGeom>
          <a:noFill/>
        </p:spPr>
        <p:txBody>
          <a:bodyPr wrap="square" lIns="0" rIns="0" tIns="0" bIns="0" anchor="t">
            <a:spAutoFit/>
          </a:bodyPr>
          <a:lstStyle/>
          <a:p>
            <a:pPr marL="238571" indent="-238571">
              <a:lnSpc>
                <a:spcPct val="116000"/>
              </a:lnSpc>
              <a:buClr>
                <a:srgbClr val="4EE1FF"/>
              </a:buClr>
              <a:buFont typeface="Arial"/>
              <a:buChar char="—"/>
            </a:pPr>
            <a:r>
              <a:rPr sz="1400" b="0" i="0">
                <a:solidFill>
                  <a:srgbClr val="F7F6EF"/>
                </a:solidFill>
                <a:latin typeface="Arial"/>
              </a:rPr>
              <a:t>Continued. Kinds are taken from the fact-check register, not assigned by us.</a:t>
            </a:r>
          </a:p>
        </p:txBody>
      </p:sp>
      <p:graphicFrame>
        <p:nvGraphicFramePr>
          <p:cNvPr id="7" name="Table 6"/>
          <p:cNvGraphicFramePr>
            <a:graphicFrameLocks noGrp="1"/>
          </p:cNvGraphicFramePr>
          <p:nvPr/>
        </p:nvGraphicFramePr>
        <p:xfrm>
          <a:off x="566928" y="2199640"/>
          <a:ext cx="11057837" cy="3707370"/>
        </p:xfrm>
        <a:graphic>
          <a:graphicData uri="http://schemas.openxmlformats.org/drawingml/2006/table">
            <a:tbl>
              <a:tblPr>
                <a:tableStyleId>{2D5ABB26-0587-4C30-8999-92F81FD0307C}</a:tableStyleId>
              </a:tblPr>
              <a:tblGrid>
                <a:gridCol w="8423326"/>
                <a:gridCol w="1887924"/>
                <a:gridCol w="746587"/>
              </a:tblGrid>
              <a:tr h="205965">
                <a:tc>
                  <a:txBody>
                    <a:bodyPr wrap="square"/>
                    <a:lstStyle/>
                    <a:p>
                      <a:pPr>
                        <a:lnSpc>
                          <a:spcPct val="114000"/>
                        </a:lnSpc>
                      </a:pPr>
                      <a:r>
                        <a:rPr sz="850" b="1" i="0">
                          <a:solidFill>
                            <a:srgbClr val="D4FF3A"/>
                          </a:solidFill>
                          <a:latin typeface="Arial"/>
                        </a:rPr>
                        <a:t>Source</a:t>
                      </a:r>
                    </a:p>
                  </a:txBody>
                  <a:tcPr marL="64008" marR="64008" marT="41148" marB="41148" anchor="ctr">
                    <a:solidFill>
                      <a:srgbClr val="121821"/>
                    </a:solidFill>
                  </a:tcPr>
                </a:tc>
                <a:tc>
                  <a:txBody>
                    <a:bodyPr wrap="square"/>
                    <a:lstStyle/>
                    <a:p>
                      <a:pPr>
                        <a:lnSpc>
                          <a:spcPct val="114000"/>
                        </a:lnSpc>
                      </a:pPr>
                      <a:r>
                        <a:rPr sz="850" b="1" i="0">
                          <a:solidFill>
                            <a:srgbClr val="D4FF3A"/>
                          </a:solidFill>
                          <a:latin typeface="Arial"/>
                        </a:rPr>
                        <a:t>Kind</a:t>
                      </a:r>
                    </a:p>
                  </a:txBody>
                  <a:tcPr marL="64008" marR="64008" marT="41148" marB="41148" anchor="ctr">
                    <a:solidFill>
                      <a:srgbClr val="121821"/>
                    </a:solidFill>
                  </a:tcPr>
                </a:tc>
                <a:tc>
                  <a:txBody>
                    <a:bodyPr wrap="square"/>
                    <a:lstStyle/>
                    <a:p>
                      <a:pPr>
                        <a:lnSpc>
                          <a:spcPct val="114000"/>
                        </a:lnSpc>
                      </a:pPr>
                      <a:r>
                        <a:rPr sz="850" b="1" i="0">
                          <a:solidFill>
                            <a:srgbClr val="D4FF3A"/>
                          </a:solidFill>
                          <a:latin typeface="Arial"/>
                        </a:rPr>
                        <a:t>Cited on</a:t>
                      </a:r>
                    </a:p>
                  </a:txBody>
                  <a:tcPr marL="64008" marR="64008" marT="41148" marB="41148" anchor="ctr">
                    <a:solidFill>
                      <a:srgbClr val="121821"/>
                    </a:solidFill>
                  </a:tcPr>
                </a:tc>
              </a:tr>
              <a:tr h="205965">
                <a:tc>
                  <a:txBody>
                    <a:bodyPr wrap="square"/>
                    <a:lstStyle/>
                    <a:p>
                      <a:pPr>
                        <a:lnSpc>
                          <a:spcPct val="114000"/>
                        </a:lnSpc>
                      </a:pPr>
                      <a:r>
                        <a:rPr sz="850" b="1" i="0">
                          <a:solidFill>
                            <a:srgbClr val="F7F6EF"/>
                          </a:solidFill>
                          <a:latin typeface="Arial"/>
                        </a:rPr>
                        <a:t>AppsFlyer — State of App Monetization 2026</a:t>
                      </a:r>
                    </a:p>
                  </a:txBody>
                  <a:tcPr marL="64008" marR="64008" marT="41148" marB="41148" anchor="ctr">
                    <a:solidFill>
                      <a:srgbClr val="121821"/>
                    </a:solidFill>
                  </a:tcPr>
                </a:tc>
                <a:tc>
                  <a:txBody>
                    <a:bodyPr wrap="square"/>
                    <a:lstStyle/>
                    <a:p>
                      <a:pPr>
                        <a:lnSpc>
                          <a:spcPct val="114000"/>
                        </a:lnSpc>
                      </a:pPr>
                      <a:r>
                        <a:rPr sz="850" b="0" i="0">
                          <a:solidFill>
                            <a:srgbClr val="F7F6EF"/>
                          </a:solidFill>
                          <a:latin typeface="Arial"/>
                        </a:rPr>
                        <a:t>third-party estimate</a:t>
                      </a:r>
                    </a:p>
                  </a:txBody>
                  <a:tcPr marL="64008" marR="64008" marT="41148" marB="41148" anchor="ctr">
                    <a:solidFill>
                      <a:srgbClr val="121821"/>
                    </a:solidFill>
                  </a:tcPr>
                </a:tc>
                <a:tc>
                  <a:txBody>
                    <a:bodyPr wrap="square"/>
                    <a:lstStyle/>
                    <a:p>
                      <a:pPr>
                        <a:lnSpc>
                          <a:spcPct val="114000"/>
                        </a:lnSpc>
                      </a:pPr>
                      <a:r>
                        <a:rPr sz="850" b="0" i="0">
                          <a:solidFill>
                            <a:srgbClr val="F7F6EF"/>
                          </a:solidFill>
                          <a:latin typeface="Arial"/>
                        </a:rPr>
                        <a:t>9, 15</a:t>
                      </a:r>
                    </a:p>
                  </a:txBody>
                  <a:tcPr marL="64008" marR="64008" marT="41148" marB="41148" anchor="ctr">
                    <a:solidFill>
                      <a:srgbClr val="121821"/>
                    </a:solidFill>
                  </a:tcPr>
                </a:tc>
              </a:tr>
              <a:tr h="205965">
                <a:tc>
                  <a:txBody>
                    <a:bodyPr wrap="square"/>
                    <a:lstStyle/>
                    <a:p>
                      <a:pPr>
                        <a:lnSpc>
                          <a:spcPct val="114000"/>
                        </a:lnSpc>
                      </a:pPr>
                      <a:r>
                        <a:rPr sz="850" b="1" i="0">
                          <a:solidFill>
                            <a:srgbClr val="F7F6EF"/>
                          </a:solidFill>
                          <a:latin typeface="Arial"/>
                        </a:rPr>
                        <a:t>FACT//DUEL internal — numbers.md §4.1-§4.3</a:t>
                      </a:r>
                    </a:p>
                  </a:txBody>
                  <a:tcPr marL="64008" marR="64008" marT="41148" marB="41148" anchor="ctr">
                    <a:solidFill>
                      <a:srgbClr val="0D131B"/>
                    </a:solidFill>
                  </a:tcPr>
                </a:tc>
                <a:tc>
                  <a:txBody>
                    <a:bodyPr wrap="square"/>
                    <a:lstStyle/>
                    <a:p>
                      <a:pPr>
                        <a:lnSpc>
                          <a:spcPct val="114000"/>
                        </a:lnSpc>
                      </a:pPr>
                      <a:r>
                        <a:rPr sz="850" b="0" i="0">
                          <a:solidFill>
                            <a:srgbClr val="F7F6EF"/>
                          </a:solidFill>
                          <a:latin typeface="Arial"/>
                        </a:rPr>
                        <a:t>internal (company disclosure)</a:t>
                      </a:r>
                    </a:p>
                  </a:txBody>
                  <a:tcPr marL="64008" marR="64008" marT="41148" marB="41148" anchor="ctr">
                    <a:solidFill>
                      <a:srgbClr val="0D131B"/>
                    </a:solidFill>
                  </a:tcPr>
                </a:tc>
                <a:tc>
                  <a:txBody>
                    <a:bodyPr wrap="square"/>
                    <a:lstStyle/>
                    <a:p>
                      <a:pPr>
                        <a:lnSpc>
                          <a:spcPct val="114000"/>
                        </a:lnSpc>
                      </a:pPr>
                      <a:r>
                        <a:rPr sz="850" b="0" i="0">
                          <a:solidFill>
                            <a:srgbClr val="F7F6EF"/>
                          </a:solidFill>
                          <a:latin typeface="Arial"/>
                        </a:rPr>
                        <a:t>9, 15</a:t>
                      </a:r>
                    </a:p>
                  </a:txBody>
                  <a:tcPr marL="64008" marR="64008" marT="41148" marB="41148" anchor="ctr">
                    <a:solidFill>
                      <a:srgbClr val="0D131B"/>
                    </a:solidFill>
                  </a:tcPr>
                </a:tc>
              </a:tr>
              <a:tr h="205965">
                <a:tc>
                  <a:txBody>
                    <a:bodyPr wrap="square"/>
                    <a:lstStyle/>
                    <a:p>
                      <a:pPr>
                        <a:lnSpc>
                          <a:spcPct val="114000"/>
                        </a:lnSpc>
                      </a:pPr>
                      <a:r>
                        <a:rPr sz="850" b="1" i="0">
                          <a:solidFill>
                            <a:srgbClr val="F7F6EF"/>
                          </a:solidFill>
                          <a:latin typeface="Arial"/>
                        </a:rPr>
                        <a:t>FACT//DUEL internal — numbers.md §4.4b (company disclosure — the founder’s named monetisation route and what it would take)</a:t>
                      </a:r>
                    </a:p>
                  </a:txBody>
                  <a:tcPr marL="64008" marR="64008" marT="41148" marB="41148" anchor="ctr">
                    <a:solidFill>
                      <a:srgbClr val="121821"/>
                    </a:solidFill>
                  </a:tcPr>
                </a:tc>
                <a:tc>
                  <a:txBody>
                    <a:bodyPr wrap="square"/>
                    <a:lstStyle/>
                    <a:p>
                      <a:pPr>
                        <a:lnSpc>
                          <a:spcPct val="114000"/>
                        </a:lnSpc>
                      </a:pPr>
                      <a:r>
                        <a:rPr sz="850" b="0" i="0">
                          <a:solidFill>
                            <a:srgbClr val="F7F6EF"/>
                          </a:solidFill>
                          <a:latin typeface="Arial"/>
                        </a:rPr>
                        <a:t>internal (company disclosure)</a:t>
                      </a:r>
                    </a:p>
                  </a:txBody>
                  <a:tcPr marL="64008" marR="64008" marT="41148" marB="41148" anchor="ctr">
                    <a:solidFill>
                      <a:srgbClr val="121821"/>
                    </a:solidFill>
                  </a:tcPr>
                </a:tc>
                <a:tc>
                  <a:txBody>
                    <a:bodyPr wrap="square"/>
                    <a:lstStyle/>
                    <a:p>
                      <a:pPr>
                        <a:lnSpc>
                          <a:spcPct val="114000"/>
                        </a:lnSpc>
                      </a:pPr>
                      <a:r>
                        <a:rPr sz="850" b="0" i="0">
                          <a:solidFill>
                            <a:srgbClr val="F7F6EF"/>
                          </a:solidFill>
                          <a:latin typeface="Arial"/>
                        </a:rPr>
                        <a:t>9</a:t>
                      </a:r>
                    </a:p>
                  </a:txBody>
                  <a:tcPr marL="64008" marR="64008" marT="41148" marB="41148" anchor="ctr">
                    <a:solidFill>
                      <a:srgbClr val="121821"/>
                    </a:solidFill>
                  </a:tcPr>
                </a:tc>
              </a:tr>
              <a:tr h="205965">
                <a:tc>
                  <a:txBody>
                    <a:bodyPr wrap="square"/>
                    <a:lstStyle/>
                    <a:p>
                      <a:pPr>
                        <a:lnSpc>
                          <a:spcPct val="114000"/>
                        </a:lnSpc>
                      </a:pPr>
                      <a:r>
                        <a:rPr sz="850" b="1" i="0">
                          <a:solidFill>
                            <a:srgbClr val="F7F6EF"/>
                          </a:solidFill>
                          <a:latin typeface="Arial"/>
                        </a:rPr>
                        <a:t>Google Play — Kahoot! listing</a:t>
                      </a:r>
                    </a:p>
                  </a:txBody>
                  <a:tcPr marL="64008" marR="64008" marT="41148" marB="41148" anchor="ctr">
                    <a:solidFill>
                      <a:srgbClr val="0D131B"/>
                    </a:solidFill>
                  </a:tcPr>
                </a:tc>
                <a:tc>
                  <a:txBody>
                    <a:bodyPr wrap="square"/>
                    <a:lstStyle/>
                    <a:p>
                      <a:pPr>
                        <a:lnSpc>
                          <a:spcPct val="114000"/>
                        </a:lnSpc>
                      </a:pPr>
                      <a:r>
                        <a:rPr sz="850" b="0" i="0">
                          <a:solidFill>
                            <a:srgbClr val="F7F6EF"/>
                          </a:solidFill>
                          <a:latin typeface="Arial"/>
                        </a:rPr>
                        <a:t>company disclosure</a:t>
                      </a:r>
                    </a:p>
                  </a:txBody>
                  <a:tcPr marL="64008" marR="64008" marT="41148" marB="41148" anchor="ctr">
                    <a:solidFill>
                      <a:srgbClr val="0D131B"/>
                    </a:solidFill>
                  </a:tcPr>
                </a:tc>
                <a:tc>
                  <a:txBody>
                    <a:bodyPr wrap="square"/>
                    <a:lstStyle/>
                    <a:p>
                      <a:pPr>
                        <a:lnSpc>
                          <a:spcPct val="114000"/>
                        </a:lnSpc>
                      </a:pPr>
                      <a:r>
                        <a:rPr sz="850" b="0" i="0">
                          <a:solidFill>
                            <a:srgbClr val="F7F6EF"/>
                          </a:solidFill>
                          <a:latin typeface="Arial"/>
                        </a:rPr>
                        <a:t>10</a:t>
                      </a:r>
                    </a:p>
                  </a:txBody>
                  <a:tcPr marL="64008" marR="64008" marT="41148" marB="41148" anchor="ctr">
                    <a:solidFill>
                      <a:srgbClr val="0D131B"/>
                    </a:solidFill>
                  </a:tcPr>
                </a:tc>
              </a:tr>
              <a:tr h="205965">
                <a:tc>
                  <a:txBody>
                    <a:bodyPr wrap="square"/>
                    <a:lstStyle/>
                    <a:p>
                      <a:pPr>
                        <a:lnSpc>
                          <a:spcPct val="114000"/>
                        </a:lnSpc>
                      </a:pPr>
                      <a:r>
                        <a:rPr sz="850" b="1" i="0">
                          <a:solidFill>
                            <a:srgbClr val="F7F6EF"/>
                          </a:solidFill>
                          <a:latin typeface="Arial"/>
                        </a:rPr>
                        <a:t>Oslo Børs — Kahoot! delisting notice</a:t>
                      </a:r>
                    </a:p>
                  </a:txBody>
                  <a:tcPr marL="64008" marR="64008" marT="41148" marB="41148" anchor="ctr">
                    <a:solidFill>
                      <a:srgbClr val="121821"/>
                    </a:solidFill>
                  </a:tcPr>
                </a:tc>
                <a:tc>
                  <a:txBody>
                    <a:bodyPr wrap="square"/>
                    <a:lstStyle/>
                    <a:p>
                      <a:pPr>
                        <a:lnSpc>
                          <a:spcPct val="114000"/>
                        </a:lnSpc>
                      </a:pPr>
                      <a:r>
                        <a:rPr sz="850" b="0" i="0">
                          <a:solidFill>
                            <a:srgbClr val="F7F6EF"/>
                          </a:solidFill>
                          <a:latin typeface="Arial"/>
                        </a:rPr>
                        <a:t>company disclosure</a:t>
                      </a:r>
                    </a:p>
                  </a:txBody>
                  <a:tcPr marL="64008" marR="64008" marT="41148" marB="41148" anchor="ctr">
                    <a:solidFill>
                      <a:srgbClr val="121821"/>
                    </a:solidFill>
                  </a:tcPr>
                </a:tc>
                <a:tc>
                  <a:txBody>
                    <a:bodyPr wrap="square"/>
                    <a:lstStyle/>
                    <a:p>
                      <a:pPr>
                        <a:lnSpc>
                          <a:spcPct val="114000"/>
                        </a:lnSpc>
                      </a:pPr>
                      <a:r>
                        <a:rPr sz="850" b="0" i="0">
                          <a:solidFill>
                            <a:srgbClr val="F7F6EF"/>
                          </a:solidFill>
                          <a:latin typeface="Arial"/>
                        </a:rPr>
                        <a:t>10</a:t>
                      </a:r>
                    </a:p>
                  </a:txBody>
                  <a:tcPr marL="64008" marR="64008" marT="41148" marB="41148" anchor="ctr">
                    <a:solidFill>
                      <a:srgbClr val="121821"/>
                    </a:solidFill>
                  </a:tcPr>
                </a:tc>
              </a:tr>
              <a:tr h="205965">
                <a:tc>
                  <a:txBody>
                    <a:bodyPr wrap="square"/>
                    <a:lstStyle/>
                    <a:p>
                      <a:pPr>
                        <a:lnSpc>
                          <a:spcPct val="114000"/>
                        </a:lnSpc>
                      </a:pPr>
                      <a:r>
                        <a:rPr sz="850" b="1" i="0">
                          <a:solidFill>
                            <a:srgbClr val="F7F6EF"/>
                          </a:solidFill>
                          <a:latin typeface="Arial"/>
                        </a:rPr>
                        <a:t>PR Newswire — Quizizz $31.5M Series B</a:t>
                      </a:r>
                    </a:p>
                  </a:txBody>
                  <a:tcPr marL="64008" marR="64008" marT="41148" marB="41148" anchor="ctr">
                    <a:solidFill>
                      <a:srgbClr val="0D131B"/>
                    </a:solidFill>
                  </a:tcPr>
                </a:tc>
                <a:tc>
                  <a:txBody>
                    <a:bodyPr wrap="square"/>
                    <a:lstStyle/>
                    <a:p>
                      <a:pPr>
                        <a:lnSpc>
                          <a:spcPct val="114000"/>
                        </a:lnSpc>
                      </a:pPr>
                      <a:r>
                        <a:rPr sz="850" b="0" i="0">
                          <a:solidFill>
                            <a:srgbClr val="F7F6EF"/>
                          </a:solidFill>
                          <a:latin typeface="Arial"/>
                        </a:rPr>
                        <a:t>press report</a:t>
                      </a:r>
                    </a:p>
                  </a:txBody>
                  <a:tcPr marL="64008" marR="64008" marT="41148" marB="41148" anchor="ctr">
                    <a:solidFill>
                      <a:srgbClr val="0D131B"/>
                    </a:solidFill>
                  </a:tcPr>
                </a:tc>
                <a:tc>
                  <a:txBody>
                    <a:bodyPr wrap="square"/>
                    <a:lstStyle/>
                    <a:p>
                      <a:pPr>
                        <a:lnSpc>
                          <a:spcPct val="114000"/>
                        </a:lnSpc>
                      </a:pPr>
                      <a:r>
                        <a:rPr sz="850" b="0" i="0">
                          <a:solidFill>
                            <a:srgbClr val="F7F6EF"/>
                          </a:solidFill>
                          <a:latin typeface="Arial"/>
                        </a:rPr>
                        <a:t>10</a:t>
                      </a:r>
                    </a:p>
                  </a:txBody>
                  <a:tcPr marL="64008" marR="64008" marT="41148" marB="41148" anchor="ctr">
                    <a:solidFill>
                      <a:srgbClr val="0D131B"/>
                    </a:solidFill>
                  </a:tcPr>
                </a:tc>
              </a:tr>
              <a:tr h="205965">
                <a:tc>
                  <a:txBody>
                    <a:bodyPr wrap="square"/>
                    <a:lstStyle/>
                    <a:p>
                      <a:pPr>
                        <a:lnSpc>
                          <a:spcPct val="114000"/>
                        </a:lnSpc>
                      </a:pPr>
                      <a:r>
                        <a:rPr sz="850" b="1" i="0">
                          <a:solidFill>
                            <a:srgbClr val="F7F6EF"/>
                          </a:solidFill>
                          <a:latin typeface="Arial"/>
                        </a:rPr>
                        <a:t>Apple lookup API — Wayground listing</a:t>
                      </a:r>
                    </a:p>
                  </a:txBody>
                  <a:tcPr marL="64008" marR="64008" marT="41148" marB="41148" anchor="ctr">
                    <a:solidFill>
                      <a:srgbClr val="121821"/>
                    </a:solidFill>
                  </a:tcPr>
                </a:tc>
                <a:tc>
                  <a:txBody>
                    <a:bodyPr wrap="square"/>
                    <a:lstStyle/>
                    <a:p>
                      <a:pPr>
                        <a:lnSpc>
                          <a:spcPct val="114000"/>
                        </a:lnSpc>
                      </a:pPr>
                      <a:r>
                        <a:rPr sz="850" b="0" i="0">
                          <a:solidFill>
                            <a:srgbClr val="F7F6EF"/>
                          </a:solidFill>
                          <a:latin typeface="Arial"/>
                        </a:rPr>
                        <a:t>company disclosure</a:t>
                      </a:r>
                    </a:p>
                  </a:txBody>
                  <a:tcPr marL="64008" marR="64008" marT="41148" marB="41148" anchor="ctr">
                    <a:solidFill>
                      <a:srgbClr val="121821"/>
                    </a:solidFill>
                  </a:tcPr>
                </a:tc>
                <a:tc>
                  <a:txBody>
                    <a:bodyPr wrap="square"/>
                    <a:lstStyle/>
                    <a:p>
                      <a:pPr>
                        <a:lnSpc>
                          <a:spcPct val="114000"/>
                        </a:lnSpc>
                      </a:pPr>
                      <a:r>
                        <a:rPr sz="850" b="0" i="0">
                          <a:solidFill>
                            <a:srgbClr val="F7F6EF"/>
                          </a:solidFill>
                          <a:latin typeface="Arial"/>
                        </a:rPr>
                        <a:t>10</a:t>
                      </a:r>
                    </a:p>
                  </a:txBody>
                  <a:tcPr marL="64008" marR="64008" marT="41148" marB="41148" anchor="ctr">
                    <a:solidFill>
                      <a:srgbClr val="121821"/>
                    </a:solidFill>
                  </a:tcPr>
                </a:tc>
              </a:tr>
              <a:tr h="205965">
                <a:tc>
                  <a:txBody>
                    <a:bodyPr wrap="square"/>
                    <a:lstStyle/>
                    <a:p>
                      <a:pPr>
                        <a:lnSpc>
                          <a:spcPct val="114000"/>
                        </a:lnSpc>
                      </a:pPr>
                      <a:r>
                        <a:rPr sz="850" b="1" i="0">
                          <a:solidFill>
                            <a:srgbClr val="F7F6EF"/>
                          </a:solidFill>
                          <a:latin typeface="Arial"/>
                        </a:rPr>
                        <a:t>SEC 8-K — Skillz FY2025 results</a:t>
                      </a:r>
                    </a:p>
                  </a:txBody>
                  <a:tcPr marL="64008" marR="64008" marT="41148" marB="41148" anchor="ctr">
                    <a:solidFill>
                      <a:srgbClr val="0D131B"/>
                    </a:solidFill>
                  </a:tcPr>
                </a:tc>
                <a:tc>
                  <a:txBody>
                    <a:bodyPr wrap="square"/>
                    <a:lstStyle/>
                    <a:p>
                      <a:pPr>
                        <a:lnSpc>
                          <a:spcPct val="114000"/>
                        </a:lnSpc>
                      </a:pPr>
                      <a:r>
                        <a:rPr sz="850" b="0" i="0">
                          <a:solidFill>
                            <a:srgbClr val="F7F6EF"/>
                          </a:solidFill>
                          <a:latin typeface="Arial"/>
                        </a:rPr>
                        <a:t>company disclosure</a:t>
                      </a:r>
                    </a:p>
                  </a:txBody>
                  <a:tcPr marL="64008" marR="64008" marT="41148" marB="41148" anchor="ctr">
                    <a:solidFill>
                      <a:srgbClr val="0D131B"/>
                    </a:solidFill>
                  </a:tcPr>
                </a:tc>
                <a:tc>
                  <a:txBody>
                    <a:bodyPr wrap="square"/>
                    <a:lstStyle/>
                    <a:p>
                      <a:pPr>
                        <a:lnSpc>
                          <a:spcPct val="114000"/>
                        </a:lnSpc>
                      </a:pPr>
                      <a:r>
                        <a:rPr sz="850" b="0" i="0">
                          <a:solidFill>
                            <a:srgbClr val="F7F6EF"/>
                          </a:solidFill>
                          <a:latin typeface="Arial"/>
                        </a:rPr>
                        <a:t>10, 17</a:t>
                      </a:r>
                    </a:p>
                  </a:txBody>
                  <a:tcPr marL="64008" marR="64008" marT="41148" marB="41148" anchor="ctr">
                    <a:solidFill>
                      <a:srgbClr val="0D131B"/>
                    </a:solidFill>
                  </a:tcPr>
                </a:tc>
              </a:tr>
              <a:tr h="205965">
                <a:tc>
                  <a:txBody>
                    <a:bodyPr wrap="square"/>
                    <a:lstStyle/>
                    <a:p>
                      <a:pPr>
                        <a:lnSpc>
                          <a:spcPct val="114000"/>
                        </a:lnSpc>
                      </a:pPr>
                      <a:r>
                        <a:rPr sz="850" b="1" i="0">
                          <a:solidFill>
                            <a:srgbClr val="F7F6EF"/>
                          </a:solidFill>
                          <a:latin typeface="Arial"/>
                        </a:rPr>
                        <a:t>SEC 8-K — Skillz FY2022 results (FY2021 peak)</a:t>
                      </a:r>
                    </a:p>
                  </a:txBody>
                  <a:tcPr marL="64008" marR="64008" marT="41148" marB="41148" anchor="ctr">
                    <a:solidFill>
                      <a:srgbClr val="121821"/>
                    </a:solidFill>
                  </a:tcPr>
                </a:tc>
                <a:tc>
                  <a:txBody>
                    <a:bodyPr wrap="square"/>
                    <a:lstStyle/>
                    <a:p>
                      <a:pPr>
                        <a:lnSpc>
                          <a:spcPct val="114000"/>
                        </a:lnSpc>
                      </a:pPr>
                      <a:r>
                        <a:rPr sz="850" b="0" i="0">
                          <a:solidFill>
                            <a:srgbClr val="F7F6EF"/>
                          </a:solidFill>
                          <a:latin typeface="Arial"/>
                        </a:rPr>
                        <a:t>audited filing</a:t>
                      </a:r>
                    </a:p>
                  </a:txBody>
                  <a:tcPr marL="64008" marR="64008" marT="41148" marB="41148" anchor="ctr">
                    <a:solidFill>
                      <a:srgbClr val="121821"/>
                    </a:solidFill>
                  </a:tcPr>
                </a:tc>
                <a:tc>
                  <a:txBody>
                    <a:bodyPr wrap="square"/>
                    <a:lstStyle/>
                    <a:p>
                      <a:pPr>
                        <a:lnSpc>
                          <a:spcPct val="114000"/>
                        </a:lnSpc>
                      </a:pPr>
                      <a:r>
                        <a:rPr sz="850" b="0" i="0">
                          <a:solidFill>
                            <a:srgbClr val="F7F6EF"/>
                          </a:solidFill>
                          <a:latin typeface="Arial"/>
                        </a:rPr>
                        <a:t>10, 17</a:t>
                      </a:r>
                    </a:p>
                  </a:txBody>
                  <a:tcPr marL="64008" marR="64008" marT="41148" marB="41148" anchor="ctr">
                    <a:solidFill>
                      <a:srgbClr val="121821"/>
                    </a:solidFill>
                  </a:tcPr>
                </a:tc>
              </a:tr>
              <a:tr h="205965">
                <a:tc>
                  <a:txBody>
                    <a:bodyPr wrap="square"/>
                    <a:lstStyle/>
                    <a:p>
                      <a:pPr>
                        <a:lnSpc>
                          <a:spcPct val="114000"/>
                        </a:lnSpc>
                      </a:pPr>
                      <a:r>
                        <a:rPr sz="850" b="1" i="0">
                          <a:solidFill>
                            <a:srgbClr val="F7F6EF"/>
                          </a:solidFill>
                          <a:latin typeface="Arial"/>
                        </a:rPr>
                        <a:t>SEC 10-K — Skillz FY2023 (Skillz v. AviaGames)</a:t>
                      </a:r>
                    </a:p>
                  </a:txBody>
                  <a:tcPr marL="64008" marR="64008" marT="41148" marB="41148" anchor="ctr">
                    <a:solidFill>
                      <a:srgbClr val="0D131B"/>
                    </a:solidFill>
                  </a:tcPr>
                </a:tc>
                <a:tc>
                  <a:txBody>
                    <a:bodyPr wrap="square"/>
                    <a:lstStyle/>
                    <a:p>
                      <a:pPr>
                        <a:lnSpc>
                          <a:spcPct val="114000"/>
                        </a:lnSpc>
                      </a:pPr>
                      <a:r>
                        <a:rPr sz="850" b="0" i="0">
                          <a:solidFill>
                            <a:srgbClr val="F7F6EF"/>
                          </a:solidFill>
                          <a:latin typeface="Arial"/>
                        </a:rPr>
                        <a:t>press report</a:t>
                      </a:r>
                    </a:p>
                  </a:txBody>
                  <a:tcPr marL="64008" marR="64008" marT="41148" marB="41148" anchor="ctr">
                    <a:solidFill>
                      <a:srgbClr val="0D131B"/>
                    </a:solidFill>
                  </a:tcPr>
                </a:tc>
                <a:tc>
                  <a:txBody>
                    <a:bodyPr wrap="square"/>
                    <a:lstStyle/>
                    <a:p>
                      <a:pPr>
                        <a:lnSpc>
                          <a:spcPct val="114000"/>
                        </a:lnSpc>
                      </a:pPr>
                      <a:r>
                        <a:rPr sz="850" b="0" i="0">
                          <a:solidFill>
                            <a:srgbClr val="F7F6EF"/>
                          </a:solidFill>
                          <a:latin typeface="Arial"/>
                        </a:rPr>
                        <a:t>11</a:t>
                      </a:r>
                    </a:p>
                  </a:txBody>
                  <a:tcPr marL="64008" marR="64008" marT="41148" marB="41148" anchor="ctr">
                    <a:solidFill>
                      <a:srgbClr val="0D131B"/>
                    </a:solidFill>
                  </a:tcPr>
                </a:tc>
              </a:tr>
              <a:tr h="205965">
                <a:tc>
                  <a:txBody>
                    <a:bodyPr wrap="square"/>
                    <a:lstStyle/>
                    <a:p>
                      <a:pPr>
                        <a:lnSpc>
                          <a:spcPct val="114000"/>
                        </a:lnSpc>
                      </a:pPr>
                      <a:r>
                        <a:rPr sz="850" b="1" i="0">
                          <a:solidFill>
                            <a:srgbClr val="F7F6EF"/>
                          </a:solidFill>
                          <a:latin typeface="Arial"/>
                        </a:rPr>
                        <a:t>FACT//DUEL internal — numbers.md §4.4b</a:t>
                      </a:r>
                    </a:p>
                  </a:txBody>
                  <a:tcPr marL="64008" marR="64008" marT="41148" marB="41148" anchor="ctr">
                    <a:solidFill>
                      <a:srgbClr val="121821"/>
                    </a:solidFill>
                  </a:tcPr>
                </a:tc>
                <a:tc>
                  <a:txBody>
                    <a:bodyPr wrap="square"/>
                    <a:lstStyle/>
                    <a:p>
                      <a:pPr>
                        <a:lnSpc>
                          <a:spcPct val="114000"/>
                        </a:lnSpc>
                      </a:pPr>
                      <a:r>
                        <a:rPr sz="850" b="0" i="0">
                          <a:solidFill>
                            <a:srgbClr val="F7F6EF"/>
                          </a:solidFill>
                          <a:latin typeface="Arial"/>
                        </a:rPr>
                        <a:t>internal (company disclosure)</a:t>
                      </a:r>
                    </a:p>
                  </a:txBody>
                  <a:tcPr marL="64008" marR="64008" marT="41148" marB="41148" anchor="ctr">
                    <a:solidFill>
                      <a:srgbClr val="121821"/>
                    </a:solidFill>
                  </a:tcPr>
                </a:tc>
                <a:tc>
                  <a:txBody>
                    <a:bodyPr wrap="square"/>
                    <a:lstStyle/>
                    <a:p>
                      <a:pPr>
                        <a:lnSpc>
                          <a:spcPct val="114000"/>
                        </a:lnSpc>
                      </a:pPr>
                      <a:r>
                        <a:rPr sz="850" b="0" i="0">
                          <a:solidFill>
                            <a:srgbClr val="F7F6EF"/>
                          </a:solidFill>
                          <a:latin typeface="Arial"/>
                        </a:rPr>
                        <a:t>11</a:t>
                      </a:r>
                    </a:p>
                  </a:txBody>
                  <a:tcPr marL="64008" marR="64008" marT="41148" marB="41148" anchor="ctr">
                    <a:solidFill>
                      <a:srgbClr val="121821"/>
                    </a:solidFill>
                  </a:tcPr>
                </a:tc>
              </a:tr>
              <a:tr h="205965">
                <a:tc>
                  <a:txBody>
                    <a:bodyPr wrap="square"/>
                    <a:lstStyle/>
                    <a:p>
                      <a:pPr>
                        <a:lnSpc>
                          <a:spcPct val="114000"/>
                        </a:lnSpc>
                      </a:pPr>
                      <a:r>
                        <a:rPr sz="850" b="1" i="0">
                          <a:solidFill>
                            <a:srgbClr val="F7F6EF"/>
                          </a:solidFill>
                          <a:latin typeface="Arial"/>
                        </a:rPr>
                        <a:t>FACT//DUEL internal — numbers.md §4.4 and §4.5</a:t>
                      </a:r>
                    </a:p>
                  </a:txBody>
                  <a:tcPr marL="64008" marR="64008" marT="41148" marB="41148" anchor="ctr">
                    <a:solidFill>
                      <a:srgbClr val="0D131B"/>
                    </a:solidFill>
                  </a:tcPr>
                </a:tc>
                <a:tc>
                  <a:txBody>
                    <a:bodyPr wrap="square"/>
                    <a:lstStyle/>
                    <a:p>
                      <a:pPr>
                        <a:lnSpc>
                          <a:spcPct val="114000"/>
                        </a:lnSpc>
                      </a:pPr>
                      <a:r>
                        <a:rPr sz="850" b="0" i="0">
                          <a:solidFill>
                            <a:srgbClr val="F7F6EF"/>
                          </a:solidFill>
                          <a:latin typeface="Arial"/>
                        </a:rPr>
                        <a:t>internal (company disclosure)</a:t>
                      </a:r>
                    </a:p>
                  </a:txBody>
                  <a:tcPr marL="64008" marR="64008" marT="41148" marB="41148" anchor="ctr">
                    <a:solidFill>
                      <a:srgbClr val="0D131B"/>
                    </a:solidFill>
                  </a:tcPr>
                </a:tc>
                <a:tc>
                  <a:txBody>
                    <a:bodyPr wrap="square"/>
                    <a:lstStyle/>
                    <a:p>
                      <a:pPr>
                        <a:lnSpc>
                          <a:spcPct val="114000"/>
                        </a:lnSpc>
                      </a:pPr>
                      <a:r>
                        <a:rPr sz="850" b="0" i="0">
                          <a:solidFill>
                            <a:srgbClr val="F7F6EF"/>
                          </a:solidFill>
                          <a:latin typeface="Arial"/>
                        </a:rPr>
                        <a:t>12</a:t>
                      </a:r>
                    </a:p>
                  </a:txBody>
                  <a:tcPr marL="64008" marR="64008" marT="41148" marB="41148" anchor="ctr">
                    <a:solidFill>
                      <a:srgbClr val="0D131B"/>
                    </a:solidFill>
                  </a:tcPr>
                </a:tc>
              </a:tr>
              <a:tr h="205965">
                <a:tc>
                  <a:txBody>
                    <a:bodyPr wrap="square"/>
                    <a:lstStyle/>
                    <a:p>
                      <a:pPr>
                        <a:lnSpc>
                          <a:spcPct val="114000"/>
                        </a:lnSpc>
                      </a:pPr>
                      <a:r>
                        <a:rPr sz="850" b="1" i="0">
                          <a:solidFill>
                            <a:srgbClr val="F7F6EF"/>
                          </a:solidFill>
                          <a:latin typeface="Arial"/>
                        </a:rPr>
                        <a:t>Carta — State of Private Markets, Q3 2025</a:t>
                      </a:r>
                    </a:p>
                  </a:txBody>
                  <a:tcPr marL="64008" marR="64008" marT="41148" marB="41148" anchor="ctr">
                    <a:solidFill>
                      <a:srgbClr val="121821"/>
                    </a:solidFill>
                  </a:tcPr>
                </a:tc>
                <a:tc>
                  <a:txBody>
                    <a:bodyPr wrap="square"/>
                    <a:lstStyle/>
                    <a:p>
                      <a:pPr>
                        <a:lnSpc>
                          <a:spcPct val="114000"/>
                        </a:lnSpc>
                      </a:pPr>
                      <a:r>
                        <a:rPr sz="850" b="0" i="0">
                          <a:solidFill>
                            <a:srgbClr val="F7F6EF"/>
                          </a:solidFill>
                          <a:latin typeface="Arial"/>
                        </a:rPr>
                        <a:t>third-party estimate</a:t>
                      </a:r>
                    </a:p>
                  </a:txBody>
                  <a:tcPr marL="64008" marR="64008" marT="41148" marB="41148" anchor="ctr">
                    <a:solidFill>
                      <a:srgbClr val="121821"/>
                    </a:solidFill>
                  </a:tcPr>
                </a:tc>
                <a:tc>
                  <a:txBody>
                    <a:bodyPr wrap="square"/>
                    <a:lstStyle/>
                    <a:p>
                      <a:pPr>
                        <a:lnSpc>
                          <a:spcPct val="114000"/>
                        </a:lnSpc>
                      </a:pPr>
                      <a:r>
                        <a:rPr sz="850" b="0" i="0">
                          <a:solidFill>
                            <a:srgbClr val="F7F6EF"/>
                          </a:solidFill>
                          <a:latin typeface="Arial"/>
                        </a:rPr>
                        <a:t>13</a:t>
                      </a:r>
                    </a:p>
                  </a:txBody>
                  <a:tcPr marL="64008" marR="64008" marT="41148" marB="41148" anchor="ctr">
                    <a:solidFill>
                      <a:srgbClr val="121821"/>
                    </a:solidFill>
                  </a:tcPr>
                </a:tc>
              </a:tr>
              <a:tr h="205965">
                <a:tc>
                  <a:txBody>
                    <a:bodyPr wrap="square"/>
                    <a:lstStyle/>
                    <a:p>
                      <a:pPr>
                        <a:lnSpc>
                          <a:spcPct val="114000"/>
                        </a:lnSpc>
                      </a:pPr>
                      <a:r>
                        <a:rPr sz="850" b="1" i="0">
                          <a:solidFill>
                            <a:srgbClr val="F7F6EF"/>
                          </a:solidFill>
                          <a:latin typeface="Arial"/>
                        </a:rPr>
                        <a:t>Crunchbase — US seed funding, 2025</a:t>
                      </a:r>
                    </a:p>
                  </a:txBody>
                  <a:tcPr marL="64008" marR="64008" marT="41148" marB="41148" anchor="ctr">
                    <a:solidFill>
                      <a:srgbClr val="0D131B"/>
                    </a:solidFill>
                  </a:tcPr>
                </a:tc>
                <a:tc>
                  <a:txBody>
                    <a:bodyPr wrap="square"/>
                    <a:lstStyle/>
                    <a:p>
                      <a:pPr>
                        <a:lnSpc>
                          <a:spcPct val="114000"/>
                        </a:lnSpc>
                      </a:pPr>
                      <a:r>
                        <a:rPr sz="850" b="0" i="0">
                          <a:solidFill>
                            <a:srgbClr val="F7F6EF"/>
                          </a:solidFill>
                          <a:latin typeface="Arial"/>
                        </a:rPr>
                        <a:t>press report</a:t>
                      </a:r>
                    </a:p>
                  </a:txBody>
                  <a:tcPr marL="64008" marR="64008" marT="41148" marB="41148" anchor="ctr">
                    <a:solidFill>
                      <a:srgbClr val="0D131B"/>
                    </a:solidFill>
                  </a:tcPr>
                </a:tc>
                <a:tc>
                  <a:txBody>
                    <a:bodyPr wrap="square"/>
                    <a:lstStyle/>
                    <a:p>
                      <a:pPr>
                        <a:lnSpc>
                          <a:spcPct val="114000"/>
                        </a:lnSpc>
                      </a:pPr>
                      <a:r>
                        <a:rPr sz="850" b="0" i="0">
                          <a:solidFill>
                            <a:srgbClr val="F7F6EF"/>
                          </a:solidFill>
                          <a:latin typeface="Arial"/>
                        </a:rPr>
                        <a:t>13</a:t>
                      </a:r>
                    </a:p>
                  </a:txBody>
                  <a:tcPr marL="64008" marR="64008" marT="41148" marB="41148" anchor="ctr">
                    <a:solidFill>
                      <a:srgbClr val="0D131B"/>
                    </a:solidFill>
                  </a:tcPr>
                </a:tc>
              </a:tr>
              <a:tr h="205965">
                <a:tc>
                  <a:txBody>
                    <a:bodyPr wrap="square"/>
                    <a:lstStyle/>
                    <a:p>
                      <a:pPr>
                        <a:lnSpc>
                          <a:spcPct val="114000"/>
                        </a:lnSpc>
                      </a:pPr>
                      <a:r>
                        <a:rPr sz="850" b="1" i="0">
                          <a:solidFill>
                            <a:srgbClr val="F7F6EF"/>
                          </a:solidFill>
                          <a:latin typeface="Arial"/>
                        </a:rPr>
                        <a:t>FACT//DUEL internal — numbers.md §4.4, §4.5 and §5.8</a:t>
                      </a:r>
                    </a:p>
                  </a:txBody>
                  <a:tcPr marL="64008" marR="64008" marT="41148" marB="41148" anchor="ctr">
                    <a:solidFill>
                      <a:srgbClr val="121821"/>
                    </a:solidFill>
                  </a:tcPr>
                </a:tc>
                <a:tc>
                  <a:txBody>
                    <a:bodyPr wrap="square"/>
                    <a:lstStyle/>
                    <a:p>
                      <a:pPr>
                        <a:lnSpc>
                          <a:spcPct val="114000"/>
                        </a:lnSpc>
                      </a:pPr>
                      <a:r>
                        <a:rPr sz="850" b="0" i="0">
                          <a:solidFill>
                            <a:srgbClr val="F7F6EF"/>
                          </a:solidFill>
                          <a:latin typeface="Arial"/>
                        </a:rPr>
                        <a:t>internal (company disclosure)</a:t>
                      </a:r>
                    </a:p>
                  </a:txBody>
                  <a:tcPr marL="64008" marR="64008" marT="41148" marB="41148" anchor="ctr">
                    <a:solidFill>
                      <a:srgbClr val="121821"/>
                    </a:solidFill>
                  </a:tcPr>
                </a:tc>
                <a:tc>
                  <a:txBody>
                    <a:bodyPr wrap="square"/>
                    <a:lstStyle/>
                    <a:p>
                      <a:pPr>
                        <a:lnSpc>
                          <a:spcPct val="114000"/>
                        </a:lnSpc>
                      </a:pPr>
                      <a:r>
                        <a:rPr sz="850" b="0" i="0">
                          <a:solidFill>
                            <a:srgbClr val="F7F6EF"/>
                          </a:solidFill>
                          <a:latin typeface="Arial"/>
                        </a:rPr>
                        <a:t>13</a:t>
                      </a:r>
                    </a:p>
                  </a:txBody>
                  <a:tcPr marL="64008" marR="64008" marT="41148" marB="41148" anchor="ctr">
                    <a:solidFill>
                      <a:srgbClr val="121821"/>
                    </a:solidFill>
                  </a:tcPr>
                </a:tc>
              </a:tr>
              <a:tr h="205965">
                <a:tc>
                  <a:txBody>
                    <a:bodyPr wrap="square"/>
                    <a:lstStyle/>
                    <a:p>
                      <a:pPr>
                        <a:lnSpc>
                          <a:spcPct val="114000"/>
                        </a:lnSpc>
                      </a:pPr>
                      <a:r>
                        <a:rPr sz="850" b="1" i="0">
                          <a:solidFill>
                            <a:srgbClr val="F7F6EF"/>
                          </a:solidFill>
                          <a:latin typeface="Arial"/>
                        </a:rPr>
                        <a:t>FACT//DUEL internal — numbers.md §7.1 and §7.3</a:t>
                      </a:r>
                    </a:p>
                  </a:txBody>
                  <a:tcPr marL="64008" marR="64008" marT="41148" marB="41148" anchor="ctr">
                    <a:solidFill>
                      <a:srgbClr val="0D131B"/>
                    </a:solidFill>
                  </a:tcPr>
                </a:tc>
                <a:tc>
                  <a:txBody>
                    <a:bodyPr wrap="square"/>
                    <a:lstStyle/>
                    <a:p>
                      <a:pPr>
                        <a:lnSpc>
                          <a:spcPct val="114000"/>
                        </a:lnSpc>
                      </a:pPr>
                      <a:r>
                        <a:rPr sz="850" b="0" i="0">
                          <a:solidFill>
                            <a:srgbClr val="F7F6EF"/>
                          </a:solidFill>
                          <a:latin typeface="Arial"/>
                        </a:rPr>
                        <a:t>internal (company disclosure)</a:t>
                      </a:r>
                    </a:p>
                  </a:txBody>
                  <a:tcPr marL="64008" marR="64008" marT="41148" marB="41148" anchor="ctr">
                    <a:solidFill>
                      <a:srgbClr val="0D131B"/>
                    </a:solidFill>
                  </a:tcPr>
                </a:tc>
                <a:tc>
                  <a:txBody>
                    <a:bodyPr wrap="square"/>
                    <a:lstStyle/>
                    <a:p>
                      <a:pPr>
                        <a:lnSpc>
                          <a:spcPct val="114000"/>
                        </a:lnSpc>
                      </a:pPr>
                      <a:r>
                        <a:rPr sz="850" b="0" i="0">
                          <a:solidFill>
                            <a:srgbClr val="F7F6EF"/>
                          </a:solidFill>
                          <a:latin typeface="Arial"/>
                        </a:rPr>
                        <a:t>13, 18, 20</a:t>
                      </a:r>
                    </a:p>
                  </a:txBody>
                  <a:tcPr marL="64008" marR="64008" marT="41148" marB="41148" anchor="ctr">
                    <a:solidFill>
                      <a:srgbClr val="0D131B"/>
                    </a:solidFill>
                  </a:tcPr>
                </a:tc>
              </a:tr>
              <a:tr h="205965">
                <a:tc>
                  <a:txBody>
                    <a:bodyPr wrap="square"/>
                    <a:lstStyle/>
                    <a:p>
                      <a:pPr>
                        <a:lnSpc>
                          <a:spcPct val="114000"/>
                        </a:lnSpc>
                      </a:pPr>
                      <a:r>
                        <a:rPr sz="850" b="1" i="0">
                          <a:solidFill>
                            <a:srgbClr val="F7F6EF"/>
                          </a:solidFill>
                          <a:latin typeface="Arial"/>
                        </a:rPr>
                        <a:t>Fact.MR — second-screen sports apps market</a:t>
                      </a:r>
                    </a:p>
                  </a:txBody>
                  <a:tcPr marL="64008" marR="64008" marT="41148" marB="41148" anchor="ctr">
                    <a:solidFill>
                      <a:srgbClr val="121821"/>
                    </a:solidFill>
                  </a:tcPr>
                </a:tc>
                <a:tc>
                  <a:txBody>
                    <a:bodyPr wrap="square"/>
                    <a:lstStyle/>
                    <a:p>
                      <a:pPr>
                        <a:lnSpc>
                          <a:spcPct val="114000"/>
                        </a:lnSpc>
                      </a:pPr>
                      <a:r>
                        <a:rPr sz="850" b="0" i="0">
                          <a:solidFill>
                            <a:srgbClr val="F7F6EF"/>
                          </a:solidFill>
                          <a:latin typeface="Arial"/>
                        </a:rPr>
                        <a:t>third-party estimate</a:t>
                      </a:r>
                    </a:p>
                  </a:txBody>
                  <a:tcPr marL="64008" marR="64008" marT="41148" marB="41148" anchor="ctr">
                    <a:solidFill>
                      <a:srgbClr val="121821"/>
                    </a:solidFill>
                  </a:tcPr>
                </a:tc>
                <a:tc>
                  <a:txBody>
                    <a:bodyPr wrap="square"/>
                    <a:lstStyle/>
                    <a:p>
                      <a:pPr>
                        <a:lnSpc>
                          <a:spcPct val="114000"/>
                        </a:lnSpc>
                      </a:pPr>
                      <a:r>
                        <a:rPr sz="850" b="0" i="0">
                          <a:solidFill>
                            <a:srgbClr val="F7F6EF"/>
                          </a:solidFill>
                          <a:latin typeface="Arial"/>
                        </a:rPr>
                        <a:t>14</a:t>
                      </a:r>
                    </a:p>
                  </a:txBody>
                  <a:tcPr marL="64008" marR="64008" marT="41148" marB="41148" anchor="ctr">
                    <a:solidFill>
                      <a:srgbClr val="121821"/>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0E14"/>
        </a:solidFill>
        <a:effectLst/>
      </p:bgPr>
    </p:bg>
    <p:spTree>
      <p:nvGrpSpPr>
        <p:cNvPr id="1" name=""/>
        <p:cNvGrpSpPr/>
        <p:nvPr/>
      </p:nvGrpSpPr>
      <p:grpSpPr/>
      <p:sp>
        <p:nvSpPr>
          <p:cNvPr id="2" name="Title 1"/>
          <p:cNvSpPr>
            <a:spLocks noGrp="1"/>
          </p:cNvSpPr>
          <p:nvPr>
            <p:ph type="title"/>
          </p:nvPr>
        </p:nvSpPr>
        <p:spPr>
          <a:xfrm>
            <a:off x="566928" y="658368"/>
            <a:ext cx="11057839" cy="859536"/>
          </a:xfrm>
        </p:spPr>
        <p:txBody>
          <a:bodyPr wrap="square" lIns="0" rIns="0" tIns="0" bIns="0" anchor="t"/>
          <a:lstStyle/>
          <a:p>
            <a:pPr>
              <a:lnSpc>
                <a:spcPct val="108000"/>
              </a:lnSpc>
            </a:pPr>
            <a:r>
              <a:rPr sz="3000" b="1" i="0">
                <a:solidFill>
                  <a:srgbClr val="F7F6EF"/>
                </a:solidFill>
                <a:latin typeface="Arial"/>
              </a:rPr>
              <a:t>Appendix J — every source cited in this deck, and what kind of evidence it is.</a:t>
            </a:r>
          </a:p>
        </p:txBody>
      </p:sp>
      <p:sp>
        <p:nvSpPr>
          <p:cNvPr id="3" name="TextBox 2"/>
          <p:cNvSpPr txBox="1"/>
          <p:nvPr/>
        </p:nvSpPr>
        <p:spPr>
          <a:xfrm>
            <a:off x="566928" y="365760"/>
            <a:ext cx="11057839" cy="219456"/>
          </a:xfrm>
          <a:prstGeom prst="rect">
            <a:avLst/>
          </a:prstGeom>
          <a:noFill/>
        </p:spPr>
        <p:txBody>
          <a:bodyPr wrap="square" lIns="0" rIns="0" tIns="0" bIns="0" anchor="t">
            <a:spAutoFit/>
          </a:bodyPr>
          <a:lstStyle/>
          <a:p>
            <a:r>
              <a:rPr sz="1100" b="1" i="0" spc="160">
                <a:solidFill>
                  <a:srgbClr val="4EE1FF"/>
                </a:solidFill>
                <a:latin typeface="Arial"/>
              </a:rPr>
              <a:t>APPENDIX — SOURCE REGISTER (4 OF 4)</a:t>
            </a:r>
          </a:p>
        </p:txBody>
      </p:sp>
      <p:sp>
        <p:nvSpPr>
          <p:cNvPr id="4" name="Rectangle 3"/>
          <p:cNvSpPr/>
          <p:nvPr/>
        </p:nvSpPr>
        <p:spPr>
          <a:xfrm>
            <a:off x="566928" y="6035040"/>
            <a:ext cx="11057839" cy="11887"/>
          </a:xfrm>
          <a:prstGeom prst="rect">
            <a:avLst/>
          </a:prstGeom>
          <a:solidFill>
            <a:srgbClr val="4EE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664647" y="6144768"/>
            <a:ext cx="960120" cy="274320"/>
          </a:xfrm>
          <a:prstGeom prst="rect">
            <a:avLst/>
          </a:prstGeom>
          <a:noFill/>
        </p:spPr>
        <p:txBody>
          <a:bodyPr wrap="square" lIns="0" rIns="0" tIns="0" bIns="0" anchor="t">
            <a:spAutoFit/>
          </a:bodyPr>
          <a:lstStyle/>
          <a:p>
            <a:pPr algn="r"/>
            <a:r>
              <a:rPr sz="950" b="1" i="0" spc="60">
                <a:solidFill>
                  <a:srgbClr val="A6ADBA"/>
                </a:solidFill>
                <a:latin typeface="Arial"/>
              </a:rPr>
              <a:t>26</a:t>
            </a:r>
          </a:p>
        </p:txBody>
      </p:sp>
      <p:sp>
        <p:nvSpPr>
          <p:cNvPr id="6" name="TextBox 5"/>
          <p:cNvSpPr txBox="1"/>
          <p:nvPr/>
        </p:nvSpPr>
        <p:spPr>
          <a:xfrm>
            <a:off x="566928" y="1719072"/>
            <a:ext cx="11057839" cy="242824"/>
          </a:xfrm>
          <a:prstGeom prst="rect">
            <a:avLst/>
          </a:prstGeom>
          <a:noFill/>
        </p:spPr>
        <p:txBody>
          <a:bodyPr wrap="square" lIns="0" rIns="0" tIns="0" bIns="0" anchor="t">
            <a:spAutoFit/>
          </a:bodyPr>
          <a:lstStyle/>
          <a:p>
            <a:pPr marL="238571" indent="-238571">
              <a:lnSpc>
                <a:spcPct val="116000"/>
              </a:lnSpc>
              <a:buClr>
                <a:srgbClr val="4EE1FF"/>
              </a:buClr>
              <a:buFont typeface="Arial"/>
              <a:buChar char="—"/>
            </a:pPr>
            <a:r>
              <a:rPr sz="1400" b="0" i="0">
                <a:solidFill>
                  <a:srgbClr val="F7F6EF"/>
                </a:solidFill>
                <a:latin typeface="Arial"/>
              </a:rPr>
              <a:t>Continued. Kinds are taken from the fact-check register, not assigned by us.</a:t>
            </a:r>
          </a:p>
        </p:txBody>
      </p:sp>
      <p:graphicFrame>
        <p:nvGraphicFramePr>
          <p:cNvPr id="7" name="Table 6"/>
          <p:cNvGraphicFramePr>
            <a:graphicFrameLocks noGrp="1"/>
          </p:cNvGraphicFramePr>
          <p:nvPr/>
        </p:nvGraphicFramePr>
        <p:xfrm>
          <a:off x="566928" y="2199640"/>
          <a:ext cx="11057838" cy="3707370"/>
        </p:xfrm>
        <a:graphic>
          <a:graphicData uri="http://schemas.openxmlformats.org/drawingml/2006/table">
            <a:tbl>
              <a:tblPr>
                <a:tableStyleId>{2D5ABB26-0587-4C30-8999-92F81FD0307C}</a:tableStyleId>
              </a:tblPr>
              <a:tblGrid>
                <a:gridCol w="7419042"/>
                <a:gridCol w="2667800"/>
                <a:gridCol w="970996"/>
              </a:tblGrid>
              <a:tr h="205965">
                <a:tc>
                  <a:txBody>
                    <a:bodyPr wrap="square"/>
                    <a:lstStyle/>
                    <a:p>
                      <a:pPr>
                        <a:lnSpc>
                          <a:spcPct val="114000"/>
                        </a:lnSpc>
                      </a:pPr>
                      <a:r>
                        <a:rPr sz="850" b="1" i="0">
                          <a:solidFill>
                            <a:srgbClr val="D4FF3A"/>
                          </a:solidFill>
                          <a:latin typeface="Arial"/>
                        </a:rPr>
                        <a:t>Source</a:t>
                      </a:r>
                    </a:p>
                  </a:txBody>
                  <a:tcPr marL="64008" marR="64008" marT="41148" marB="41148" anchor="ctr">
                    <a:solidFill>
                      <a:srgbClr val="121821"/>
                    </a:solidFill>
                  </a:tcPr>
                </a:tc>
                <a:tc>
                  <a:txBody>
                    <a:bodyPr wrap="square"/>
                    <a:lstStyle/>
                    <a:p>
                      <a:pPr>
                        <a:lnSpc>
                          <a:spcPct val="114000"/>
                        </a:lnSpc>
                      </a:pPr>
                      <a:r>
                        <a:rPr sz="850" b="1" i="0">
                          <a:solidFill>
                            <a:srgbClr val="D4FF3A"/>
                          </a:solidFill>
                          <a:latin typeface="Arial"/>
                        </a:rPr>
                        <a:t>Kind</a:t>
                      </a:r>
                    </a:p>
                  </a:txBody>
                  <a:tcPr marL="64008" marR="64008" marT="41148" marB="41148" anchor="ctr">
                    <a:solidFill>
                      <a:srgbClr val="121821"/>
                    </a:solidFill>
                  </a:tcPr>
                </a:tc>
                <a:tc>
                  <a:txBody>
                    <a:bodyPr wrap="square"/>
                    <a:lstStyle/>
                    <a:p>
                      <a:pPr>
                        <a:lnSpc>
                          <a:spcPct val="114000"/>
                        </a:lnSpc>
                      </a:pPr>
                      <a:r>
                        <a:rPr sz="850" b="1" i="0">
                          <a:solidFill>
                            <a:srgbClr val="D4FF3A"/>
                          </a:solidFill>
                          <a:latin typeface="Arial"/>
                        </a:rPr>
                        <a:t>Cited on</a:t>
                      </a:r>
                    </a:p>
                  </a:txBody>
                  <a:tcPr marL="64008" marR="64008" marT="41148" marB="41148" anchor="ctr">
                    <a:solidFill>
                      <a:srgbClr val="121821"/>
                    </a:solidFill>
                  </a:tcPr>
                </a:tc>
              </a:tr>
              <a:tr h="205965">
                <a:tc>
                  <a:txBody>
                    <a:bodyPr wrap="square"/>
                    <a:lstStyle/>
                    <a:p>
                      <a:pPr>
                        <a:lnSpc>
                          <a:spcPct val="114000"/>
                        </a:lnSpc>
                      </a:pPr>
                      <a:r>
                        <a:rPr sz="850" b="1" i="0">
                          <a:solidFill>
                            <a:srgbClr val="F7F6EF"/>
                          </a:solidFill>
                          <a:latin typeface="Arial"/>
                        </a:rPr>
                        <a:t>The Business Research Company — fan engagement</a:t>
                      </a:r>
                    </a:p>
                  </a:txBody>
                  <a:tcPr marL="64008" marR="64008" marT="41148" marB="41148" anchor="ctr">
                    <a:solidFill>
                      <a:srgbClr val="121821"/>
                    </a:solidFill>
                  </a:tcPr>
                </a:tc>
                <a:tc>
                  <a:txBody>
                    <a:bodyPr wrap="square"/>
                    <a:lstStyle/>
                    <a:p>
                      <a:pPr>
                        <a:lnSpc>
                          <a:spcPct val="114000"/>
                        </a:lnSpc>
                      </a:pPr>
                      <a:r>
                        <a:rPr sz="850" b="0" i="0">
                          <a:solidFill>
                            <a:srgbClr val="F7F6EF"/>
                          </a:solidFill>
                          <a:latin typeface="Arial"/>
                        </a:rPr>
                        <a:t>third-party estimate</a:t>
                      </a:r>
                    </a:p>
                  </a:txBody>
                  <a:tcPr marL="64008" marR="64008" marT="41148" marB="41148" anchor="ctr">
                    <a:solidFill>
                      <a:srgbClr val="121821"/>
                    </a:solidFill>
                  </a:tcPr>
                </a:tc>
                <a:tc>
                  <a:txBody>
                    <a:bodyPr wrap="square"/>
                    <a:lstStyle/>
                    <a:p>
                      <a:pPr>
                        <a:lnSpc>
                          <a:spcPct val="114000"/>
                        </a:lnSpc>
                      </a:pPr>
                      <a:r>
                        <a:rPr sz="850" b="0" i="0">
                          <a:solidFill>
                            <a:srgbClr val="F7F6EF"/>
                          </a:solidFill>
                          <a:latin typeface="Arial"/>
                        </a:rPr>
                        <a:t>14</a:t>
                      </a:r>
                    </a:p>
                  </a:txBody>
                  <a:tcPr marL="64008" marR="64008" marT="41148" marB="41148" anchor="ctr">
                    <a:solidFill>
                      <a:srgbClr val="121821"/>
                    </a:solidFill>
                  </a:tcPr>
                </a:tc>
              </a:tr>
              <a:tr h="205965">
                <a:tc>
                  <a:txBody>
                    <a:bodyPr wrap="square"/>
                    <a:lstStyle/>
                    <a:p>
                      <a:pPr>
                        <a:lnSpc>
                          <a:spcPct val="114000"/>
                        </a:lnSpc>
                      </a:pPr>
                      <a:r>
                        <a:rPr sz="850" b="1" i="0">
                          <a:solidFill>
                            <a:srgbClr val="F7F6EF"/>
                          </a:solidFill>
                          <a:latin typeface="Arial"/>
                        </a:rPr>
                        <a:t>market.us — fan engagement market</a:t>
                      </a:r>
                    </a:p>
                  </a:txBody>
                  <a:tcPr marL="64008" marR="64008" marT="41148" marB="41148" anchor="ctr">
                    <a:solidFill>
                      <a:srgbClr val="0D131B"/>
                    </a:solidFill>
                  </a:tcPr>
                </a:tc>
                <a:tc>
                  <a:txBody>
                    <a:bodyPr wrap="square"/>
                    <a:lstStyle/>
                    <a:p>
                      <a:pPr>
                        <a:lnSpc>
                          <a:spcPct val="114000"/>
                        </a:lnSpc>
                      </a:pPr>
                      <a:r>
                        <a:rPr sz="850" b="0" i="0">
                          <a:solidFill>
                            <a:srgbClr val="F7F6EF"/>
                          </a:solidFill>
                          <a:latin typeface="Arial"/>
                        </a:rPr>
                        <a:t>third-party estimate</a:t>
                      </a:r>
                    </a:p>
                  </a:txBody>
                  <a:tcPr marL="64008" marR="64008" marT="41148" marB="41148" anchor="ctr">
                    <a:solidFill>
                      <a:srgbClr val="0D131B"/>
                    </a:solidFill>
                  </a:tcPr>
                </a:tc>
                <a:tc>
                  <a:txBody>
                    <a:bodyPr wrap="square"/>
                    <a:lstStyle/>
                    <a:p>
                      <a:pPr>
                        <a:lnSpc>
                          <a:spcPct val="114000"/>
                        </a:lnSpc>
                      </a:pPr>
                      <a:r>
                        <a:rPr sz="850" b="0" i="0">
                          <a:solidFill>
                            <a:srgbClr val="F7F6EF"/>
                          </a:solidFill>
                          <a:latin typeface="Arial"/>
                        </a:rPr>
                        <a:t>14</a:t>
                      </a:r>
                    </a:p>
                  </a:txBody>
                  <a:tcPr marL="64008" marR="64008" marT="41148" marB="41148" anchor="ctr">
                    <a:solidFill>
                      <a:srgbClr val="0D131B"/>
                    </a:solidFill>
                  </a:tcPr>
                </a:tc>
              </a:tr>
              <a:tr h="205965">
                <a:tc>
                  <a:txBody>
                    <a:bodyPr wrap="square"/>
                    <a:lstStyle/>
                    <a:p>
                      <a:pPr>
                        <a:lnSpc>
                          <a:spcPct val="114000"/>
                        </a:lnSpc>
                      </a:pPr>
                      <a:r>
                        <a:rPr sz="850" b="1" i="0">
                          <a:solidFill>
                            <a:srgbClr val="F7F6EF"/>
                          </a:solidFill>
                          <a:latin typeface="Arial"/>
                        </a:rPr>
                        <a:t>MarketsandMarkets — game-based learning</a:t>
                      </a:r>
                    </a:p>
                  </a:txBody>
                  <a:tcPr marL="64008" marR="64008" marT="41148" marB="41148" anchor="ctr">
                    <a:solidFill>
                      <a:srgbClr val="121821"/>
                    </a:solidFill>
                  </a:tcPr>
                </a:tc>
                <a:tc>
                  <a:txBody>
                    <a:bodyPr wrap="square"/>
                    <a:lstStyle/>
                    <a:p>
                      <a:pPr>
                        <a:lnSpc>
                          <a:spcPct val="114000"/>
                        </a:lnSpc>
                      </a:pPr>
                      <a:r>
                        <a:rPr sz="850" b="0" i="0">
                          <a:solidFill>
                            <a:srgbClr val="F7F6EF"/>
                          </a:solidFill>
                          <a:latin typeface="Arial"/>
                        </a:rPr>
                        <a:t>third-party estimate</a:t>
                      </a:r>
                    </a:p>
                  </a:txBody>
                  <a:tcPr marL="64008" marR="64008" marT="41148" marB="41148" anchor="ctr">
                    <a:solidFill>
                      <a:srgbClr val="121821"/>
                    </a:solidFill>
                  </a:tcPr>
                </a:tc>
                <a:tc>
                  <a:txBody>
                    <a:bodyPr wrap="square"/>
                    <a:lstStyle/>
                    <a:p>
                      <a:pPr>
                        <a:lnSpc>
                          <a:spcPct val="114000"/>
                        </a:lnSpc>
                      </a:pPr>
                      <a:r>
                        <a:rPr sz="850" b="0" i="0">
                          <a:solidFill>
                            <a:srgbClr val="F7F6EF"/>
                          </a:solidFill>
                          <a:latin typeface="Arial"/>
                        </a:rPr>
                        <a:t>14</a:t>
                      </a:r>
                    </a:p>
                  </a:txBody>
                  <a:tcPr marL="64008" marR="64008" marT="41148" marB="41148" anchor="ctr">
                    <a:solidFill>
                      <a:srgbClr val="121821"/>
                    </a:solidFill>
                  </a:tcPr>
                </a:tc>
              </a:tr>
              <a:tr h="205965">
                <a:tc>
                  <a:txBody>
                    <a:bodyPr wrap="square"/>
                    <a:lstStyle/>
                    <a:p>
                      <a:pPr>
                        <a:lnSpc>
                          <a:spcPct val="114000"/>
                        </a:lnSpc>
                      </a:pPr>
                      <a:r>
                        <a:rPr sz="850" b="1" i="0">
                          <a:solidFill>
                            <a:srgbClr val="F7F6EF"/>
                          </a:solidFill>
                          <a:latin typeface="Arial"/>
                        </a:rPr>
                        <a:t>IMARC — game-based learning</a:t>
                      </a:r>
                    </a:p>
                  </a:txBody>
                  <a:tcPr marL="64008" marR="64008" marT="41148" marB="41148" anchor="ctr">
                    <a:solidFill>
                      <a:srgbClr val="0D131B"/>
                    </a:solidFill>
                  </a:tcPr>
                </a:tc>
                <a:tc>
                  <a:txBody>
                    <a:bodyPr wrap="square"/>
                    <a:lstStyle/>
                    <a:p>
                      <a:pPr>
                        <a:lnSpc>
                          <a:spcPct val="114000"/>
                        </a:lnSpc>
                      </a:pPr>
                      <a:r>
                        <a:rPr sz="850" b="0" i="0">
                          <a:solidFill>
                            <a:srgbClr val="F7F6EF"/>
                          </a:solidFill>
                          <a:latin typeface="Arial"/>
                        </a:rPr>
                        <a:t>third-party estimate</a:t>
                      </a:r>
                    </a:p>
                  </a:txBody>
                  <a:tcPr marL="64008" marR="64008" marT="41148" marB="41148" anchor="ctr">
                    <a:solidFill>
                      <a:srgbClr val="0D131B"/>
                    </a:solidFill>
                  </a:tcPr>
                </a:tc>
                <a:tc>
                  <a:txBody>
                    <a:bodyPr wrap="square"/>
                    <a:lstStyle/>
                    <a:p>
                      <a:pPr>
                        <a:lnSpc>
                          <a:spcPct val="114000"/>
                        </a:lnSpc>
                      </a:pPr>
                      <a:r>
                        <a:rPr sz="850" b="0" i="0">
                          <a:solidFill>
                            <a:srgbClr val="F7F6EF"/>
                          </a:solidFill>
                          <a:latin typeface="Arial"/>
                        </a:rPr>
                        <a:t>14</a:t>
                      </a:r>
                    </a:p>
                  </a:txBody>
                  <a:tcPr marL="64008" marR="64008" marT="41148" marB="41148" anchor="ctr">
                    <a:solidFill>
                      <a:srgbClr val="0D131B"/>
                    </a:solidFill>
                  </a:tcPr>
                </a:tc>
              </a:tr>
              <a:tr h="205965">
                <a:tc>
                  <a:txBody>
                    <a:bodyPr wrap="square"/>
                    <a:lstStyle/>
                    <a:p>
                      <a:pPr>
                        <a:lnSpc>
                          <a:spcPct val="114000"/>
                        </a:lnSpc>
                      </a:pPr>
                      <a:r>
                        <a:rPr sz="850" b="1" i="0">
                          <a:solidFill>
                            <a:srgbClr val="F7F6EF"/>
                          </a:solidFill>
                          <a:latin typeface="Arial"/>
                        </a:rPr>
                        <a:t>Sensor Tower — State of Mobile 2026</a:t>
                      </a:r>
                    </a:p>
                  </a:txBody>
                  <a:tcPr marL="64008" marR="64008" marT="41148" marB="41148" anchor="ctr">
                    <a:solidFill>
                      <a:srgbClr val="121821"/>
                    </a:solidFill>
                  </a:tcPr>
                </a:tc>
                <a:tc>
                  <a:txBody>
                    <a:bodyPr wrap="square"/>
                    <a:lstStyle/>
                    <a:p>
                      <a:pPr>
                        <a:lnSpc>
                          <a:spcPct val="114000"/>
                        </a:lnSpc>
                      </a:pPr>
                      <a:r>
                        <a:rPr sz="850" b="0" i="0">
                          <a:solidFill>
                            <a:srgbClr val="F7F6EF"/>
                          </a:solidFill>
                          <a:latin typeface="Arial"/>
                        </a:rPr>
                        <a:t>third-party estimate</a:t>
                      </a:r>
                    </a:p>
                  </a:txBody>
                  <a:tcPr marL="64008" marR="64008" marT="41148" marB="41148" anchor="ctr">
                    <a:solidFill>
                      <a:srgbClr val="121821"/>
                    </a:solidFill>
                  </a:tcPr>
                </a:tc>
                <a:tc>
                  <a:txBody>
                    <a:bodyPr wrap="square"/>
                    <a:lstStyle/>
                    <a:p>
                      <a:pPr>
                        <a:lnSpc>
                          <a:spcPct val="114000"/>
                        </a:lnSpc>
                      </a:pPr>
                      <a:r>
                        <a:rPr sz="850" b="0" i="0">
                          <a:solidFill>
                            <a:srgbClr val="F7F6EF"/>
                          </a:solidFill>
                          <a:latin typeface="Arial"/>
                        </a:rPr>
                        <a:t>14</a:t>
                      </a:r>
                    </a:p>
                  </a:txBody>
                  <a:tcPr marL="64008" marR="64008" marT="41148" marB="41148" anchor="ctr">
                    <a:solidFill>
                      <a:srgbClr val="121821"/>
                    </a:solidFill>
                  </a:tcPr>
                </a:tc>
              </a:tr>
              <a:tr h="205965">
                <a:tc>
                  <a:txBody>
                    <a:bodyPr wrap="square"/>
                    <a:lstStyle/>
                    <a:p>
                      <a:pPr>
                        <a:lnSpc>
                          <a:spcPct val="114000"/>
                        </a:lnSpc>
                      </a:pPr>
                      <a:r>
                        <a:rPr sz="850" b="1" i="0">
                          <a:solidFill>
                            <a:srgbClr val="F7F6EF"/>
                          </a:solidFill>
                          <a:latin typeface="Arial"/>
                        </a:rPr>
                        <a:t>a16z — The Insider's Guide to Data Rooms</a:t>
                      </a:r>
                    </a:p>
                  </a:txBody>
                  <a:tcPr marL="64008" marR="64008" marT="41148" marB="41148" anchor="ctr">
                    <a:solidFill>
                      <a:srgbClr val="0D131B"/>
                    </a:solidFill>
                  </a:tcPr>
                </a:tc>
                <a:tc>
                  <a:txBody>
                    <a:bodyPr wrap="square"/>
                    <a:lstStyle/>
                    <a:p>
                      <a:pPr>
                        <a:lnSpc>
                          <a:spcPct val="114000"/>
                        </a:lnSpc>
                      </a:pPr>
                      <a:r>
                        <a:rPr sz="850" b="0" i="0">
                          <a:solidFill>
                            <a:srgbClr val="F7F6EF"/>
                          </a:solidFill>
                          <a:latin typeface="Arial"/>
                        </a:rPr>
                        <a:t>company disclosure</a:t>
                      </a:r>
                    </a:p>
                  </a:txBody>
                  <a:tcPr marL="64008" marR="64008" marT="41148" marB="41148" anchor="ctr">
                    <a:solidFill>
                      <a:srgbClr val="0D131B"/>
                    </a:solidFill>
                  </a:tcPr>
                </a:tc>
                <a:tc>
                  <a:txBody>
                    <a:bodyPr wrap="square"/>
                    <a:lstStyle/>
                    <a:p>
                      <a:pPr>
                        <a:lnSpc>
                          <a:spcPct val="114000"/>
                        </a:lnSpc>
                      </a:pPr>
                      <a:r>
                        <a:rPr sz="850" b="0" i="0">
                          <a:solidFill>
                            <a:srgbClr val="F7F6EF"/>
                          </a:solidFill>
                          <a:latin typeface="Arial"/>
                        </a:rPr>
                        <a:t>15</a:t>
                      </a:r>
                    </a:p>
                  </a:txBody>
                  <a:tcPr marL="64008" marR="64008" marT="41148" marB="41148" anchor="ctr">
                    <a:solidFill>
                      <a:srgbClr val="0D131B"/>
                    </a:solidFill>
                  </a:tcPr>
                </a:tc>
              </a:tr>
              <a:tr h="205965">
                <a:tc>
                  <a:txBody>
                    <a:bodyPr wrap="square"/>
                    <a:lstStyle/>
                    <a:p>
                      <a:pPr>
                        <a:lnSpc>
                          <a:spcPct val="114000"/>
                        </a:lnSpc>
                      </a:pPr>
                      <a:r>
                        <a:rPr sz="850" b="1" i="0">
                          <a:solidFill>
                            <a:srgbClr val="F7F6EF"/>
                          </a:solidFill>
                          <a:latin typeface="Arial"/>
                        </a:rPr>
                        <a:t>FSGA / Angus Reid 2026 — participation research</a:t>
                      </a:r>
                    </a:p>
                  </a:txBody>
                  <a:tcPr marL="64008" marR="64008" marT="41148" marB="41148" anchor="ctr">
                    <a:solidFill>
                      <a:srgbClr val="121821"/>
                    </a:solidFill>
                  </a:tcPr>
                </a:tc>
                <a:tc>
                  <a:txBody>
                    <a:bodyPr wrap="square"/>
                    <a:lstStyle/>
                    <a:p>
                      <a:pPr>
                        <a:lnSpc>
                          <a:spcPct val="114000"/>
                        </a:lnSpc>
                      </a:pPr>
                      <a:r>
                        <a:rPr sz="850" b="0" i="0">
                          <a:solidFill>
                            <a:srgbClr val="F7F6EF"/>
                          </a:solidFill>
                          <a:latin typeface="Arial"/>
                        </a:rPr>
                        <a:t>third-party estimate</a:t>
                      </a:r>
                    </a:p>
                  </a:txBody>
                  <a:tcPr marL="64008" marR="64008" marT="41148" marB="41148" anchor="ctr">
                    <a:solidFill>
                      <a:srgbClr val="121821"/>
                    </a:solidFill>
                  </a:tcPr>
                </a:tc>
                <a:tc>
                  <a:txBody>
                    <a:bodyPr wrap="square"/>
                    <a:lstStyle/>
                    <a:p>
                      <a:pPr>
                        <a:lnSpc>
                          <a:spcPct val="114000"/>
                        </a:lnSpc>
                      </a:pPr>
                      <a:r>
                        <a:rPr sz="850" b="0" i="0">
                          <a:solidFill>
                            <a:srgbClr val="F7F6EF"/>
                          </a:solidFill>
                          <a:latin typeface="Arial"/>
                        </a:rPr>
                        <a:t>16</a:t>
                      </a:r>
                    </a:p>
                  </a:txBody>
                  <a:tcPr marL="64008" marR="64008" marT="41148" marB="41148" anchor="ctr">
                    <a:solidFill>
                      <a:srgbClr val="121821"/>
                    </a:solidFill>
                  </a:tcPr>
                </a:tc>
              </a:tr>
              <a:tr h="205965">
                <a:tc>
                  <a:txBody>
                    <a:bodyPr wrap="square"/>
                    <a:lstStyle/>
                    <a:p>
                      <a:pPr>
                        <a:lnSpc>
                          <a:spcPct val="114000"/>
                        </a:lnSpc>
                      </a:pPr>
                      <a:r>
                        <a:rPr sz="850" b="1" i="0">
                          <a:solidFill>
                            <a:srgbClr val="F7F6EF"/>
                          </a:solidFill>
                          <a:latin typeface="Arial"/>
                        </a:rPr>
                        <a:t>FSGA 2025 — next-generation engagement research</a:t>
                      </a:r>
                    </a:p>
                  </a:txBody>
                  <a:tcPr marL="64008" marR="64008" marT="41148" marB="41148" anchor="ctr">
                    <a:solidFill>
                      <a:srgbClr val="0D131B"/>
                    </a:solidFill>
                  </a:tcPr>
                </a:tc>
                <a:tc>
                  <a:txBody>
                    <a:bodyPr wrap="square"/>
                    <a:lstStyle/>
                    <a:p>
                      <a:pPr>
                        <a:lnSpc>
                          <a:spcPct val="114000"/>
                        </a:lnSpc>
                      </a:pPr>
                      <a:r>
                        <a:rPr sz="850" b="0" i="0">
                          <a:solidFill>
                            <a:srgbClr val="F7F6EF"/>
                          </a:solidFill>
                          <a:latin typeface="Arial"/>
                        </a:rPr>
                        <a:t>third-party estimate</a:t>
                      </a:r>
                    </a:p>
                  </a:txBody>
                  <a:tcPr marL="64008" marR="64008" marT="41148" marB="41148" anchor="ctr">
                    <a:solidFill>
                      <a:srgbClr val="0D131B"/>
                    </a:solidFill>
                  </a:tcPr>
                </a:tc>
                <a:tc>
                  <a:txBody>
                    <a:bodyPr wrap="square"/>
                    <a:lstStyle/>
                    <a:p>
                      <a:pPr>
                        <a:lnSpc>
                          <a:spcPct val="114000"/>
                        </a:lnSpc>
                      </a:pPr>
                      <a:r>
                        <a:rPr sz="850" b="0" i="0">
                          <a:solidFill>
                            <a:srgbClr val="F7F6EF"/>
                          </a:solidFill>
                          <a:latin typeface="Arial"/>
                        </a:rPr>
                        <a:t>16</a:t>
                      </a:r>
                    </a:p>
                  </a:txBody>
                  <a:tcPr marL="64008" marR="64008" marT="41148" marB="41148" anchor="ctr">
                    <a:solidFill>
                      <a:srgbClr val="0D131B"/>
                    </a:solidFill>
                  </a:tcPr>
                </a:tc>
              </a:tr>
              <a:tr h="205965">
                <a:tc>
                  <a:txBody>
                    <a:bodyPr wrap="square"/>
                    <a:lstStyle/>
                    <a:p>
                      <a:pPr>
                        <a:lnSpc>
                          <a:spcPct val="114000"/>
                        </a:lnSpc>
                      </a:pPr>
                      <a:r>
                        <a:rPr sz="850" b="1" i="0">
                          <a:solidFill>
                            <a:srgbClr val="F7F6EF"/>
                          </a:solidFill>
                          <a:latin typeface="Arial"/>
                        </a:rPr>
                        <a:t>ICC — global cricket market research</a:t>
                      </a:r>
                    </a:p>
                  </a:txBody>
                  <a:tcPr marL="64008" marR="64008" marT="41148" marB="41148" anchor="ctr">
                    <a:solidFill>
                      <a:srgbClr val="121821"/>
                    </a:solidFill>
                  </a:tcPr>
                </a:tc>
                <a:tc>
                  <a:txBody>
                    <a:bodyPr wrap="square"/>
                    <a:lstStyle/>
                    <a:p>
                      <a:pPr>
                        <a:lnSpc>
                          <a:spcPct val="114000"/>
                        </a:lnSpc>
                      </a:pPr>
                      <a:r>
                        <a:rPr sz="850" b="0" i="0">
                          <a:solidFill>
                            <a:srgbClr val="F7F6EF"/>
                          </a:solidFill>
                          <a:latin typeface="Arial"/>
                        </a:rPr>
                        <a:t>company disclosure</a:t>
                      </a:r>
                    </a:p>
                  </a:txBody>
                  <a:tcPr marL="64008" marR="64008" marT="41148" marB="41148" anchor="ctr">
                    <a:solidFill>
                      <a:srgbClr val="121821"/>
                    </a:solidFill>
                  </a:tcPr>
                </a:tc>
                <a:tc>
                  <a:txBody>
                    <a:bodyPr wrap="square"/>
                    <a:lstStyle/>
                    <a:p>
                      <a:pPr>
                        <a:lnSpc>
                          <a:spcPct val="114000"/>
                        </a:lnSpc>
                      </a:pPr>
                      <a:r>
                        <a:rPr sz="850" b="0" i="0">
                          <a:solidFill>
                            <a:srgbClr val="F7F6EF"/>
                          </a:solidFill>
                          <a:latin typeface="Arial"/>
                        </a:rPr>
                        <a:t>16</a:t>
                      </a:r>
                    </a:p>
                  </a:txBody>
                  <a:tcPr marL="64008" marR="64008" marT="41148" marB="41148" anchor="ctr">
                    <a:solidFill>
                      <a:srgbClr val="121821"/>
                    </a:solidFill>
                  </a:tcPr>
                </a:tc>
              </a:tr>
              <a:tr h="205965">
                <a:tc>
                  <a:txBody>
                    <a:bodyPr wrap="square"/>
                    <a:lstStyle/>
                    <a:p>
                      <a:pPr>
                        <a:lnSpc>
                          <a:spcPct val="114000"/>
                        </a:lnSpc>
                      </a:pPr>
                      <a:r>
                        <a:rPr sz="850" b="1" i="0">
                          <a:solidFill>
                            <a:srgbClr val="F7F6EF"/>
                          </a:solidFill>
                          <a:latin typeface="Arial"/>
                        </a:rPr>
                        <a:t>Nielsen — 2025 Global Sports Report</a:t>
                      </a:r>
                    </a:p>
                  </a:txBody>
                  <a:tcPr marL="64008" marR="64008" marT="41148" marB="41148" anchor="ctr">
                    <a:solidFill>
                      <a:srgbClr val="0D131B"/>
                    </a:solidFill>
                  </a:tcPr>
                </a:tc>
                <a:tc>
                  <a:txBody>
                    <a:bodyPr wrap="square"/>
                    <a:lstStyle/>
                    <a:p>
                      <a:pPr>
                        <a:lnSpc>
                          <a:spcPct val="114000"/>
                        </a:lnSpc>
                      </a:pPr>
                      <a:r>
                        <a:rPr sz="850" b="0" i="0">
                          <a:solidFill>
                            <a:srgbClr val="F7F6EF"/>
                          </a:solidFill>
                          <a:latin typeface="Arial"/>
                        </a:rPr>
                        <a:t>third-party estimate</a:t>
                      </a:r>
                    </a:p>
                  </a:txBody>
                  <a:tcPr marL="64008" marR="64008" marT="41148" marB="41148" anchor="ctr">
                    <a:solidFill>
                      <a:srgbClr val="0D131B"/>
                    </a:solidFill>
                  </a:tcPr>
                </a:tc>
                <a:tc>
                  <a:txBody>
                    <a:bodyPr wrap="square"/>
                    <a:lstStyle/>
                    <a:p>
                      <a:pPr>
                        <a:lnSpc>
                          <a:spcPct val="114000"/>
                        </a:lnSpc>
                      </a:pPr>
                      <a:r>
                        <a:rPr sz="850" b="0" i="0">
                          <a:solidFill>
                            <a:srgbClr val="F7F6EF"/>
                          </a:solidFill>
                          <a:latin typeface="Arial"/>
                        </a:rPr>
                        <a:t>16</a:t>
                      </a:r>
                    </a:p>
                  </a:txBody>
                  <a:tcPr marL="64008" marR="64008" marT="41148" marB="41148" anchor="ctr">
                    <a:solidFill>
                      <a:srgbClr val="0D131B"/>
                    </a:solidFill>
                  </a:tcPr>
                </a:tc>
              </a:tr>
              <a:tr h="205965">
                <a:tc>
                  <a:txBody>
                    <a:bodyPr wrap="square"/>
                    <a:lstStyle/>
                    <a:p>
                      <a:pPr>
                        <a:lnSpc>
                          <a:spcPct val="114000"/>
                        </a:lnSpc>
                      </a:pPr>
                      <a:r>
                        <a:rPr sz="850" b="1" i="0">
                          <a:solidFill>
                            <a:srgbClr val="F7F6EF"/>
                          </a:solidFill>
                          <a:latin typeface="Arial"/>
                        </a:rPr>
                        <a:t>Newzoo — Global Games Market 2025</a:t>
                      </a:r>
                    </a:p>
                  </a:txBody>
                  <a:tcPr marL="64008" marR="64008" marT="41148" marB="41148" anchor="ctr">
                    <a:solidFill>
                      <a:srgbClr val="121821"/>
                    </a:solidFill>
                  </a:tcPr>
                </a:tc>
                <a:tc>
                  <a:txBody>
                    <a:bodyPr wrap="square"/>
                    <a:lstStyle/>
                    <a:p>
                      <a:pPr>
                        <a:lnSpc>
                          <a:spcPct val="114000"/>
                        </a:lnSpc>
                      </a:pPr>
                      <a:r>
                        <a:rPr sz="850" b="0" i="0">
                          <a:solidFill>
                            <a:srgbClr val="F7F6EF"/>
                          </a:solidFill>
                          <a:latin typeface="Arial"/>
                        </a:rPr>
                        <a:t>third-party estimate</a:t>
                      </a:r>
                    </a:p>
                  </a:txBody>
                  <a:tcPr marL="64008" marR="64008" marT="41148" marB="41148" anchor="ctr">
                    <a:solidFill>
                      <a:srgbClr val="121821"/>
                    </a:solidFill>
                  </a:tcPr>
                </a:tc>
                <a:tc>
                  <a:txBody>
                    <a:bodyPr wrap="square"/>
                    <a:lstStyle/>
                    <a:p>
                      <a:pPr>
                        <a:lnSpc>
                          <a:spcPct val="114000"/>
                        </a:lnSpc>
                      </a:pPr>
                      <a:r>
                        <a:rPr sz="850" b="0" i="0">
                          <a:solidFill>
                            <a:srgbClr val="F7F6EF"/>
                          </a:solidFill>
                          <a:latin typeface="Arial"/>
                        </a:rPr>
                        <a:t>16</a:t>
                      </a:r>
                    </a:p>
                  </a:txBody>
                  <a:tcPr marL="64008" marR="64008" marT="41148" marB="41148" anchor="ctr">
                    <a:solidFill>
                      <a:srgbClr val="121821"/>
                    </a:solidFill>
                  </a:tcPr>
                </a:tc>
              </a:tr>
              <a:tr h="205965">
                <a:tc>
                  <a:txBody>
                    <a:bodyPr wrap="square"/>
                    <a:lstStyle/>
                    <a:p>
                      <a:pPr>
                        <a:lnSpc>
                          <a:spcPct val="114000"/>
                        </a:lnSpc>
                      </a:pPr>
                      <a:r>
                        <a:rPr sz="850" b="1" i="0">
                          <a:solidFill>
                            <a:srgbClr val="F7F6EF"/>
                          </a:solidFill>
                          <a:latin typeface="Arial"/>
                        </a:rPr>
                        <a:t>Paul Graham — How to convince investors</a:t>
                      </a:r>
                    </a:p>
                  </a:txBody>
                  <a:tcPr marL="64008" marR="64008" marT="41148" marB="41148" anchor="ctr">
                    <a:solidFill>
                      <a:srgbClr val="0D131B"/>
                    </a:solidFill>
                  </a:tcPr>
                </a:tc>
                <a:tc>
                  <a:txBody>
                    <a:bodyPr wrap="square"/>
                    <a:lstStyle/>
                    <a:p>
                      <a:pPr>
                        <a:lnSpc>
                          <a:spcPct val="114000"/>
                        </a:lnSpc>
                      </a:pPr>
                      <a:r>
                        <a:rPr sz="850" b="0" i="0">
                          <a:solidFill>
                            <a:srgbClr val="F7F6EF"/>
                          </a:solidFill>
                          <a:latin typeface="Arial"/>
                        </a:rPr>
                        <a:t>company disclosure</a:t>
                      </a:r>
                    </a:p>
                  </a:txBody>
                  <a:tcPr marL="64008" marR="64008" marT="41148" marB="41148" anchor="ctr">
                    <a:solidFill>
                      <a:srgbClr val="0D131B"/>
                    </a:solidFill>
                  </a:tcPr>
                </a:tc>
                <a:tc>
                  <a:txBody>
                    <a:bodyPr wrap="square"/>
                    <a:lstStyle/>
                    <a:p>
                      <a:pPr>
                        <a:lnSpc>
                          <a:spcPct val="114000"/>
                        </a:lnSpc>
                      </a:pPr>
                      <a:r>
                        <a:rPr sz="850" b="0" i="0">
                          <a:solidFill>
                            <a:srgbClr val="F7F6EF"/>
                          </a:solidFill>
                          <a:latin typeface="Arial"/>
                        </a:rPr>
                        <a:t>16</a:t>
                      </a:r>
                    </a:p>
                  </a:txBody>
                  <a:tcPr marL="64008" marR="64008" marT="41148" marB="41148" anchor="ctr">
                    <a:solidFill>
                      <a:srgbClr val="0D131B"/>
                    </a:solidFill>
                  </a:tcPr>
                </a:tc>
              </a:tr>
              <a:tr h="205965">
                <a:tc>
                  <a:txBody>
                    <a:bodyPr wrap="square"/>
                    <a:lstStyle/>
                    <a:p>
                      <a:pPr>
                        <a:lnSpc>
                          <a:spcPct val="114000"/>
                        </a:lnSpc>
                      </a:pPr>
                      <a:r>
                        <a:rPr sz="850" b="1" i="0">
                          <a:solidFill>
                            <a:srgbClr val="F7F6EF"/>
                          </a:solidFill>
                          <a:latin typeface="Arial"/>
                        </a:rPr>
                        <a:t>a16z — 16 More Startup Metrics</a:t>
                      </a:r>
                    </a:p>
                  </a:txBody>
                  <a:tcPr marL="64008" marR="64008" marT="41148" marB="41148" anchor="ctr">
                    <a:solidFill>
                      <a:srgbClr val="121821"/>
                    </a:solidFill>
                  </a:tcPr>
                </a:tc>
                <a:tc>
                  <a:txBody>
                    <a:bodyPr wrap="square"/>
                    <a:lstStyle/>
                    <a:p>
                      <a:pPr>
                        <a:lnSpc>
                          <a:spcPct val="114000"/>
                        </a:lnSpc>
                      </a:pPr>
                      <a:r>
                        <a:rPr sz="850" b="0" i="0">
                          <a:solidFill>
                            <a:srgbClr val="F7F6EF"/>
                          </a:solidFill>
                          <a:latin typeface="Arial"/>
                        </a:rPr>
                        <a:t>company disclosure</a:t>
                      </a:r>
                    </a:p>
                  </a:txBody>
                  <a:tcPr marL="64008" marR="64008" marT="41148" marB="41148" anchor="ctr">
                    <a:solidFill>
                      <a:srgbClr val="121821"/>
                    </a:solidFill>
                  </a:tcPr>
                </a:tc>
                <a:tc>
                  <a:txBody>
                    <a:bodyPr wrap="square"/>
                    <a:lstStyle/>
                    <a:p>
                      <a:pPr>
                        <a:lnSpc>
                          <a:spcPct val="114000"/>
                        </a:lnSpc>
                      </a:pPr>
                      <a:r>
                        <a:rPr sz="850" b="0" i="0">
                          <a:solidFill>
                            <a:srgbClr val="F7F6EF"/>
                          </a:solidFill>
                          <a:latin typeface="Arial"/>
                        </a:rPr>
                        <a:t>16</a:t>
                      </a:r>
                    </a:p>
                  </a:txBody>
                  <a:tcPr marL="64008" marR="64008" marT="41148" marB="41148" anchor="ctr">
                    <a:solidFill>
                      <a:srgbClr val="121821"/>
                    </a:solidFill>
                  </a:tcPr>
                </a:tc>
              </a:tr>
              <a:tr h="205965">
                <a:tc>
                  <a:txBody>
                    <a:bodyPr wrap="square"/>
                    <a:lstStyle/>
                    <a:p>
                      <a:pPr>
                        <a:lnSpc>
                          <a:spcPct val="114000"/>
                        </a:lnSpc>
                      </a:pPr>
                      <a:r>
                        <a:rPr sz="850" b="1" i="0">
                          <a:solidFill>
                            <a:srgbClr val="F7F6EF"/>
                          </a:solidFill>
                          <a:latin typeface="Arial"/>
                        </a:rPr>
                        <a:t>SEC Form D — HQ Trivia</a:t>
                      </a:r>
                    </a:p>
                  </a:txBody>
                  <a:tcPr marL="64008" marR="64008" marT="41148" marB="41148" anchor="ctr">
                    <a:solidFill>
                      <a:srgbClr val="0D131B"/>
                    </a:solidFill>
                  </a:tcPr>
                </a:tc>
                <a:tc>
                  <a:txBody>
                    <a:bodyPr wrap="square"/>
                    <a:lstStyle/>
                    <a:p>
                      <a:pPr>
                        <a:lnSpc>
                          <a:spcPct val="114000"/>
                        </a:lnSpc>
                      </a:pPr>
                      <a:r>
                        <a:rPr sz="850" b="0" i="0">
                          <a:solidFill>
                            <a:srgbClr val="F7F6EF"/>
                          </a:solidFill>
                          <a:latin typeface="Arial"/>
                        </a:rPr>
                        <a:t>press report</a:t>
                      </a:r>
                    </a:p>
                  </a:txBody>
                  <a:tcPr marL="64008" marR="64008" marT="41148" marB="41148" anchor="ctr">
                    <a:solidFill>
                      <a:srgbClr val="0D131B"/>
                    </a:solidFill>
                  </a:tcPr>
                </a:tc>
                <a:tc>
                  <a:txBody>
                    <a:bodyPr wrap="square"/>
                    <a:lstStyle/>
                    <a:p>
                      <a:pPr>
                        <a:lnSpc>
                          <a:spcPct val="114000"/>
                        </a:lnSpc>
                      </a:pPr>
                      <a:r>
                        <a:rPr sz="850" b="0" i="0">
                          <a:solidFill>
                            <a:srgbClr val="F7F6EF"/>
                          </a:solidFill>
                          <a:latin typeface="Arial"/>
                        </a:rPr>
                        <a:t>17</a:t>
                      </a:r>
                    </a:p>
                  </a:txBody>
                  <a:tcPr marL="64008" marR="64008" marT="41148" marB="41148" anchor="ctr">
                    <a:solidFill>
                      <a:srgbClr val="0D131B"/>
                    </a:solidFill>
                  </a:tcPr>
                </a:tc>
              </a:tr>
              <a:tr h="205965">
                <a:tc>
                  <a:txBody>
                    <a:bodyPr wrap="square"/>
                    <a:lstStyle/>
                    <a:p>
                      <a:pPr>
                        <a:lnSpc>
                          <a:spcPct val="114000"/>
                        </a:lnSpc>
                      </a:pPr>
                      <a:r>
                        <a:rPr sz="850" b="1" i="0">
                          <a:solidFill>
                            <a:srgbClr val="F7F6EF"/>
                          </a:solidFill>
                          <a:latin typeface="Arial"/>
                        </a:rPr>
                        <a:t>SEC Form D — Teatime Games (Trivia Royale)</a:t>
                      </a:r>
                    </a:p>
                  </a:txBody>
                  <a:tcPr marL="64008" marR="64008" marT="41148" marB="41148" anchor="ctr">
                    <a:solidFill>
                      <a:srgbClr val="121821"/>
                    </a:solidFill>
                  </a:tcPr>
                </a:tc>
                <a:tc>
                  <a:txBody>
                    <a:bodyPr wrap="square"/>
                    <a:lstStyle/>
                    <a:p>
                      <a:pPr>
                        <a:lnSpc>
                          <a:spcPct val="114000"/>
                        </a:lnSpc>
                      </a:pPr>
                      <a:r>
                        <a:rPr sz="850" b="0" i="0">
                          <a:solidFill>
                            <a:srgbClr val="F7F6EF"/>
                          </a:solidFill>
                          <a:latin typeface="Arial"/>
                        </a:rPr>
                        <a:t>press report</a:t>
                      </a:r>
                    </a:p>
                  </a:txBody>
                  <a:tcPr marL="64008" marR="64008" marT="41148" marB="41148" anchor="ctr">
                    <a:solidFill>
                      <a:srgbClr val="121821"/>
                    </a:solidFill>
                  </a:tcPr>
                </a:tc>
                <a:tc>
                  <a:txBody>
                    <a:bodyPr wrap="square"/>
                    <a:lstStyle/>
                    <a:p>
                      <a:pPr>
                        <a:lnSpc>
                          <a:spcPct val="114000"/>
                        </a:lnSpc>
                      </a:pPr>
                      <a:r>
                        <a:rPr sz="850" b="0" i="0">
                          <a:solidFill>
                            <a:srgbClr val="F7F6EF"/>
                          </a:solidFill>
                          <a:latin typeface="Arial"/>
                        </a:rPr>
                        <a:t>17</a:t>
                      </a:r>
                    </a:p>
                  </a:txBody>
                  <a:tcPr marL="64008" marR="64008" marT="41148" marB="41148" anchor="ctr">
                    <a:solidFill>
                      <a:srgbClr val="121821"/>
                    </a:solidFill>
                  </a:tcPr>
                </a:tc>
              </a:tr>
              <a:tr h="205965">
                <a:tc>
                  <a:txBody>
                    <a:bodyPr wrap="square"/>
                    <a:lstStyle/>
                    <a:p>
                      <a:pPr>
                        <a:lnSpc>
                          <a:spcPct val="114000"/>
                        </a:lnSpc>
                      </a:pPr>
                      <a:r>
                        <a:rPr sz="850" b="1" i="0">
                          <a:solidFill>
                            <a:srgbClr val="F7F6EF"/>
                          </a:solidFill>
                          <a:latin typeface="Arial"/>
                        </a:rPr>
                        <a:t>FACT//DUEL internal — numbers.md §5 (failed verification and unresolved items)</a:t>
                      </a:r>
                    </a:p>
                  </a:txBody>
                  <a:tcPr marL="64008" marR="64008" marT="41148" marB="41148" anchor="ctr">
                    <a:solidFill>
                      <a:srgbClr val="0D131B"/>
                    </a:solidFill>
                  </a:tcPr>
                </a:tc>
                <a:tc>
                  <a:txBody>
                    <a:bodyPr wrap="square"/>
                    <a:lstStyle/>
                    <a:p>
                      <a:pPr>
                        <a:lnSpc>
                          <a:spcPct val="114000"/>
                        </a:lnSpc>
                      </a:pPr>
                      <a:r>
                        <a:rPr sz="850" b="0" i="0">
                          <a:solidFill>
                            <a:srgbClr val="F7F6EF"/>
                          </a:solidFill>
                          <a:latin typeface="Arial"/>
                        </a:rPr>
                        <a:t>internal (company disclosure)</a:t>
                      </a:r>
                    </a:p>
                  </a:txBody>
                  <a:tcPr marL="64008" marR="64008" marT="41148" marB="41148" anchor="ctr">
                    <a:solidFill>
                      <a:srgbClr val="0D131B"/>
                    </a:solidFill>
                  </a:tcPr>
                </a:tc>
                <a:tc>
                  <a:txBody>
                    <a:bodyPr wrap="square"/>
                    <a:lstStyle/>
                    <a:p>
                      <a:pPr>
                        <a:lnSpc>
                          <a:spcPct val="114000"/>
                        </a:lnSpc>
                      </a:pPr>
                      <a:r>
                        <a:rPr sz="850" b="0" i="0">
                          <a:solidFill>
                            <a:srgbClr val="F7F6EF"/>
                          </a:solidFill>
                          <a:latin typeface="Arial"/>
                        </a:rPr>
                        <a:t>18</a:t>
                      </a:r>
                    </a:p>
                  </a:txBody>
                  <a:tcPr marL="64008" marR="64008" marT="41148" marB="41148" anchor="ctr">
                    <a:solidFill>
                      <a:srgbClr val="0D131B"/>
                    </a:solidFill>
                  </a:tcPr>
                </a:tc>
              </a:tr>
              <a:tr h="205965">
                <a:tc>
                  <a:txBody>
                    <a:bodyPr wrap="square"/>
                    <a:lstStyle/>
                    <a:p>
                      <a:pPr>
                        <a:lnSpc>
                          <a:spcPct val="114000"/>
                        </a:lnSpc>
                      </a:pPr>
                      <a:r>
                        <a:rPr sz="850" b="1" i="0">
                          <a:solidFill>
                            <a:srgbClr val="F7F6EF"/>
                          </a:solidFill>
                          <a:latin typeface="Arial"/>
                        </a:rPr>
                        <a:t>FACT//DUEL internal — numbers.md — status paragraph, §7.1 and §7.2</a:t>
                      </a:r>
                    </a:p>
                  </a:txBody>
                  <a:tcPr marL="64008" marR="64008" marT="41148" marB="41148" anchor="ctr">
                    <a:solidFill>
                      <a:srgbClr val="121821"/>
                    </a:solidFill>
                  </a:tcPr>
                </a:tc>
                <a:tc>
                  <a:txBody>
                    <a:bodyPr wrap="square"/>
                    <a:lstStyle/>
                    <a:p>
                      <a:pPr>
                        <a:lnSpc>
                          <a:spcPct val="114000"/>
                        </a:lnSpc>
                      </a:pPr>
                      <a:r>
                        <a:rPr sz="850" b="0" i="0">
                          <a:solidFill>
                            <a:srgbClr val="F7F6EF"/>
                          </a:solidFill>
                          <a:latin typeface="Arial"/>
                        </a:rPr>
                        <a:t>internal (company disclosure)</a:t>
                      </a:r>
                    </a:p>
                  </a:txBody>
                  <a:tcPr marL="64008" marR="64008" marT="41148" marB="41148" anchor="ctr">
                    <a:solidFill>
                      <a:srgbClr val="121821"/>
                    </a:solidFill>
                  </a:tcPr>
                </a:tc>
                <a:tc>
                  <a:txBody>
                    <a:bodyPr wrap="square"/>
                    <a:lstStyle/>
                    <a:p>
                      <a:pPr>
                        <a:lnSpc>
                          <a:spcPct val="114000"/>
                        </a:lnSpc>
                      </a:pPr>
                      <a:r>
                        <a:rPr sz="850" b="0" i="0">
                          <a:solidFill>
                            <a:srgbClr val="F7F6EF"/>
                          </a:solidFill>
                          <a:latin typeface="Arial"/>
                        </a:rPr>
                        <a:t>19</a:t>
                      </a:r>
                    </a:p>
                  </a:txBody>
                  <a:tcPr marL="64008" marR="64008" marT="41148" marB="41148" anchor="ctr">
                    <a:solidFill>
                      <a:srgbClr val="121821"/>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